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328" r:id="rId2"/>
    <p:sldId id="329" r:id="rId3"/>
    <p:sldId id="330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366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5" r:id="rId47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HY견고딕" panose="02030600000101010101" pitchFamily="18" charset="-127"/>
      <p:regular r:id="rId54"/>
    </p:embeddedFont>
    <p:embeddedFont>
      <p:font typeface="Pretendard ExtraBold" panose="02000903000000020004" pitchFamily="50" charset="-127"/>
      <p:bold r:id="rId55"/>
    </p:embeddedFont>
    <p:embeddedFont>
      <p:font typeface="가을체" panose="02030600000101010101" pitchFamily="18" charset="-127"/>
      <p:regular r:id="rId56"/>
    </p:embeddedFont>
    <p:embeddedFont>
      <p:font typeface="나눔고딕 ExtraBold" panose="020D0904000000000000" pitchFamily="50" charset="-127"/>
      <p:bold r:id="rId57"/>
    </p:embeddedFont>
    <p:embeddedFont>
      <p:font typeface="나눔바른고딕" panose="020B0603020101020101" pitchFamily="50" charset="-127"/>
      <p:regular r:id="rId58"/>
      <p:bold r:id="rId59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FAFAFA"/>
    <a:srgbClr val="3399FF"/>
    <a:srgbClr val="EFEFED"/>
    <a:srgbClr val="C18401"/>
    <a:srgbClr val="CC00CC"/>
    <a:srgbClr val="FF9900"/>
    <a:srgbClr val="CC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52" autoAdjust="0"/>
    <p:restoredTop sz="94582" autoAdjust="0"/>
  </p:normalViewPr>
  <p:slideViewPr>
    <p:cSldViewPr>
      <p:cViewPr>
        <p:scale>
          <a:sx n="100" d="100"/>
          <a:sy n="100" d="100"/>
        </p:scale>
        <p:origin x="2226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6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A2FCDCC-75BC-443E-E33D-96FB3B93C7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EC5783-C421-C2A7-6C8A-427BD3E44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3F608-D938-42A6-9A0B-23DC3D655BD5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BFB7D-E523-05DD-7599-0B8AE06D2A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A37456-DBCD-50BC-A8E2-5D301F7B0F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4F7A42-FA84-4141-97EA-F328B808C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553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ko-KR" dirty="0"/>
              <a:t>0. 템플릿과 제네릭 프로그래밍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ECB3D-9C42-4F88-5D0F-714C6492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10. 템플릿과 제네릭 프로그래밍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2BB54F-EF09-91EC-CF1A-BEECE0217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제네릭 프로그래밍</a:t>
            </a:r>
          </a:p>
          <a:p>
            <a:pPr lvl="0"/>
            <a:r>
              <a:rPr lang="ko-KR" altLang="ko-KR" dirty="0"/>
              <a:t>함수 템플릿</a:t>
            </a:r>
          </a:p>
          <a:p>
            <a:pPr lvl="0"/>
            <a:r>
              <a:rPr lang="ko-KR" altLang="ko-KR" dirty="0"/>
              <a:t>클래스 템플릿</a:t>
            </a:r>
          </a:p>
          <a:p>
            <a:pPr lvl="0"/>
            <a:r>
              <a:rPr lang="ko-KR" altLang="ko-KR" dirty="0"/>
              <a:t>템플릿과 헤더 파일</a:t>
            </a:r>
          </a:p>
          <a:p>
            <a:pPr lvl="0"/>
            <a:r>
              <a:rPr lang="ko-KR" altLang="ko-KR" dirty="0"/>
              <a:t>템플릿 특수화</a:t>
            </a:r>
          </a:p>
          <a:p>
            <a:pPr lvl="0"/>
            <a:r>
              <a:rPr lang="ko-KR" altLang="ko-KR" dirty="0"/>
              <a:t>가변 인수 템플릿</a:t>
            </a:r>
          </a:p>
          <a:p>
            <a:pPr lvl="0"/>
            <a:r>
              <a:rPr lang="ko-KR" altLang="ko-KR" dirty="0" err="1"/>
              <a:t>Concepts와</a:t>
            </a:r>
            <a:r>
              <a:rPr lang="ko-KR" altLang="ko-KR" dirty="0"/>
              <a:t> 제약 조건</a:t>
            </a:r>
          </a:p>
          <a:p>
            <a:pPr lvl="0"/>
            <a:r>
              <a:rPr lang="ko-KR" altLang="ko-KR" dirty="0"/>
              <a:t>타입 특성과 조건부 코드</a:t>
            </a:r>
          </a:p>
          <a:p>
            <a:pPr lvl="0"/>
            <a:r>
              <a:rPr lang="ko-KR" altLang="ko-KR" dirty="0"/>
              <a:t>전달 참조와 완벽 전달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406E1CE-D77B-03F6-B811-6CE1FC5C5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78227"/>
              </p:ext>
            </p:extLst>
          </p:nvPr>
        </p:nvGraphicFramePr>
        <p:xfrm>
          <a:off x="5292080" y="1844824"/>
          <a:ext cx="3240360" cy="2848320"/>
        </p:xfrm>
        <a:graphic>
          <a:graphicData uri="http://schemas.openxmlformats.org/drawingml/2006/table">
            <a:tbl>
              <a:tblPr/>
              <a:tblGrid>
                <a:gridCol w="3240360">
                  <a:extLst>
                    <a:ext uri="{9D8B030D-6E8A-4147-A177-3AD203B41FA5}">
                      <a16:colId xmlns:a16="http://schemas.microsoft.com/office/drawing/2014/main" val="27381096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구체 타입 코드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공통 알고리즘 추출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템플릿 매개변수화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타입별 코드 인스턴스화</a:t>
                      </a:r>
                      <a:endParaRPr lang="ko-KR" sz="2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16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183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5D696-EB52-B3AD-CBC8-67F6BFC26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10.1.1 </a:t>
            </a:r>
            <a:r>
              <a:rPr lang="ko-KR" altLang="en-US" dirty="0"/>
              <a:t>코드 일반화</a:t>
            </a:r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5F685910-0F62-D5C3-C6CC-6022B887E7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83840"/>
              </p:ext>
            </p:extLst>
          </p:nvPr>
        </p:nvGraphicFramePr>
        <p:xfrm>
          <a:off x="539750" y="4556193"/>
          <a:ext cx="4968354" cy="1254936"/>
        </p:xfrm>
        <a:graphic>
          <a:graphicData uri="http://schemas.openxmlformats.org/drawingml/2006/table">
            <a:tbl>
              <a:tblPr/>
              <a:tblGrid>
                <a:gridCol w="2897998">
                  <a:extLst>
                    <a:ext uri="{9D8B030D-6E8A-4147-A177-3AD203B41FA5}">
                      <a16:colId xmlns:a16="http://schemas.microsoft.com/office/drawing/2014/main" val="3462045905"/>
                    </a:ext>
                  </a:extLst>
                </a:gridCol>
                <a:gridCol w="2070356">
                  <a:extLst>
                    <a:ext uri="{9D8B030D-6E8A-4147-A177-3AD203B41FA5}">
                      <a16:colId xmlns:a16="http://schemas.microsoft.com/office/drawing/2014/main" val="1213182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추론 결과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52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Clamp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(1200, 0, 999)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</a:t>
                      </a: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236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Clamp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(12.5f, 0.0f, 10.0f)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</a:t>
                      </a:r>
                      <a:r>
                        <a:rPr lang="ko-K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float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8679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10DEA50-BCE6-4FDF-6CD8-6AB0436E79ED}"/>
              </a:ext>
            </a:extLst>
          </p:cNvPr>
          <p:cNvSpPr txBox="1"/>
          <p:nvPr/>
        </p:nvSpPr>
        <p:spPr>
          <a:xfrm>
            <a:off x="539750" y="908720"/>
            <a:ext cx="4968354" cy="329320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Clamp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4F58D-F572-47A1-3EE0-36D4459A8832}"/>
              </a:ext>
            </a:extLst>
          </p:cNvPr>
          <p:cNvSpPr txBox="1"/>
          <p:nvPr/>
        </p:nvSpPr>
        <p:spPr>
          <a:xfrm>
            <a:off x="3491880" y="2894807"/>
            <a:ext cx="4572000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Clamp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999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speed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Clamp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12.5f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77A1A7-91FE-2916-3AAA-1C83290A1546}"/>
              </a:ext>
            </a:extLst>
          </p:cNvPr>
          <p:cNvSpPr txBox="1"/>
          <p:nvPr/>
        </p:nvSpPr>
        <p:spPr>
          <a:xfrm>
            <a:off x="3491880" y="3494043"/>
            <a:ext cx="45720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코드 모양만 같다고 일반화하지 않음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변경 이유와 의미가 같을 때 일반화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5550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681D1-4E69-247F-09F7-E07836CD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A9900-3F50-8FE2-5D82-4CEBC4A0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10.1.2 </a:t>
            </a:r>
            <a:r>
              <a:rPr lang="ko-KR" altLang="en-US" dirty="0"/>
              <a:t>타입 요구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B8489-43C3-2883-F00A-67C12C881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템플릿은 구체 타입 이름에서 독립적</a:t>
            </a:r>
          </a:p>
          <a:p>
            <a:r>
              <a:rPr lang="ko-KR" altLang="en-US" sz="2400" dirty="0"/>
              <a:t>알고리즘이 사용하는 연산에서는 독립적이지 않음</a:t>
            </a:r>
          </a:p>
          <a:p>
            <a:r>
              <a:rPr lang="en-US" altLang="ko-KR" sz="2400" dirty="0"/>
              <a:t>Clamp()</a:t>
            </a:r>
            <a:r>
              <a:rPr lang="ko-KR" altLang="en-US" sz="2400" dirty="0"/>
              <a:t>는 비교 연산과 반환 가능성을 요구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4F22D-5D3D-67EF-99C0-E8A2E3271555}"/>
              </a:ext>
            </a:extLst>
          </p:cNvPr>
          <p:cNvSpPr txBox="1"/>
          <p:nvPr/>
        </p:nvSpPr>
        <p:spPr>
          <a:xfrm>
            <a:off x="455836" y="2198097"/>
            <a:ext cx="7068492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friend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left.value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right.value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15376-6E04-31EB-B37A-A132684D065C}"/>
              </a:ext>
            </a:extLst>
          </p:cNvPr>
          <p:cNvSpPr txBox="1"/>
          <p:nvPr/>
        </p:nvSpPr>
        <p:spPr>
          <a:xfrm>
            <a:off x="3347864" y="4909185"/>
            <a:ext cx="5508104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current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99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Clamp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current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maximum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72392A-363A-D1A5-0D90-0E56092E458D}"/>
              </a:ext>
            </a:extLst>
          </p:cNvPr>
          <p:cNvSpPr txBox="1"/>
          <p:nvPr/>
        </p:nvSpPr>
        <p:spPr>
          <a:xfrm>
            <a:off x="455836" y="5949280"/>
            <a:ext cx="7068492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문법적으로 가능한 연산과 도메인 의미는 별도로 판단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119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E2EC-4D2D-150E-9E53-FC6195DF2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6B7E9-3359-E5A7-CDF7-3D845593F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10.1.3 </a:t>
            </a:r>
            <a:r>
              <a:rPr lang="ko-KR" altLang="en-US" dirty="0"/>
              <a:t>객체지향 다형성과 정적 </a:t>
            </a:r>
            <a:r>
              <a:rPr lang="ko-KR" altLang="en-US" dirty="0" err="1"/>
              <a:t>다형성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D5897520-DFC2-A496-2F12-E57BA1DA4F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490924"/>
              </p:ext>
            </p:extLst>
          </p:nvPr>
        </p:nvGraphicFramePr>
        <p:xfrm>
          <a:off x="611559" y="706018"/>
          <a:ext cx="6840761" cy="2897704"/>
        </p:xfrm>
        <a:graphic>
          <a:graphicData uri="http://schemas.openxmlformats.org/drawingml/2006/table">
            <a:tbl>
              <a:tblPr/>
              <a:tblGrid>
                <a:gridCol w="1568983">
                  <a:extLst>
                    <a:ext uri="{9D8B030D-6E8A-4147-A177-3AD203B41FA5}">
                      <a16:colId xmlns:a16="http://schemas.microsoft.com/office/drawing/2014/main" val="3880924764"/>
                    </a:ext>
                  </a:extLst>
                </a:gridCol>
                <a:gridCol w="2463466">
                  <a:extLst>
                    <a:ext uri="{9D8B030D-6E8A-4147-A177-3AD203B41FA5}">
                      <a16:colId xmlns:a16="http://schemas.microsoft.com/office/drawing/2014/main" val="679975569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926927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기준</a:t>
                      </a:r>
                      <a:endParaRPr lang="ko-KR" sz="280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객체지향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다형성</a:t>
                      </a:r>
                      <a:endParaRPr lang="ko-KR" sz="28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정적 다형성</a:t>
                      </a:r>
                      <a:endParaRPr lang="ko-KR" sz="280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22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구현 선택 시점</a:t>
                      </a:r>
                      <a:endParaRPr lang="ko-KR" sz="3200" b="1" dirty="0">
                        <a:solidFill>
                          <a:srgbClr val="00206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실행 시간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컴파일 시점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26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공통 형식</a:t>
                      </a:r>
                      <a:endParaRPr lang="ko-KR" sz="3200" b="1" dirty="0">
                        <a:solidFill>
                          <a:srgbClr val="00206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기반 클래스와 가상 함수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템플릿과 요구 조건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81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구현 교체</a:t>
                      </a:r>
                      <a:endParaRPr lang="ko-KR" sz="3200" b="1" dirty="0">
                        <a:solidFill>
                          <a:srgbClr val="00206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기반 포인터 교체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구체 템플릿 타입 변경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43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호출 비용</a:t>
                      </a:r>
                      <a:endParaRPr lang="ko-KR" sz="3200" b="1">
                        <a:solidFill>
                          <a:srgbClr val="00206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간접 호출 가능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인라인 최적화 가능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04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코드 크기</a:t>
                      </a:r>
                      <a:endParaRPr lang="ko-KR" sz="3200" b="1">
                        <a:solidFill>
                          <a:srgbClr val="00206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호출 코드 공유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타입별 코드 증가 가능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772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적합한 상황</a:t>
                      </a:r>
                      <a:endParaRPr lang="ko-KR" sz="3200" b="1" dirty="0">
                        <a:solidFill>
                          <a:srgbClr val="00206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실행 중 객체 종류 관리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타입별 최적화와 일반화</a:t>
                      </a:r>
                      <a:endParaRPr lang="ko-KR" sz="32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5145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E467E6-E1BD-9C9C-59FA-563F2E2234DD}"/>
              </a:ext>
            </a:extLst>
          </p:cNvPr>
          <p:cNvSpPr txBox="1"/>
          <p:nvPr/>
        </p:nvSpPr>
        <p:spPr>
          <a:xfrm>
            <a:off x="611559" y="3789040"/>
            <a:ext cx="3960441" cy="138499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IAttackBehavior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IAttackBehavior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6E59F6-5AD8-8CC0-F313-554EF6A7AC8A}"/>
              </a:ext>
            </a:extLst>
          </p:cNvPr>
          <p:cNvSpPr txBox="1"/>
          <p:nvPr/>
        </p:nvSpPr>
        <p:spPr>
          <a:xfrm>
            <a:off x="4463479" y="3789040"/>
            <a:ext cx="3564905" cy="246221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AttackPolicy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AttackProcessor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policy.CalculateDamage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AttackPolicy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policy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6336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AF0DD-4546-909F-D10A-314C06861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F36DA-E85C-5028-4191-2292E5C5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 </a:t>
            </a:r>
            <a:r>
              <a:rPr lang="ko-KR" altLang="en-US" dirty="0"/>
              <a:t>함수 템플릿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536BA-7EE0-7974-8CCD-22C68E4B5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함수의 타입이나 값을 템플릿 매개변수로 분리</a:t>
            </a:r>
          </a:p>
          <a:p>
            <a:r>
              <a:rPr lang="ko-KR" altLang="en-US" dirty="0"/>
              <a:t>함수 템플릿 자체는 특정 타입의 함수가 아님</a:t>
            </a:r>
          </a:p>
          <a:p>
            <a:r>
              <a:rPr lang="ko-KR" altLang="en-US" dirty="0"/>
              <a:t>함수를 생성하기 위한 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01DD1-262F-D9AF-A979-1D5F25273F4B}"/>
              </a:ext>
            </a:extLst>
          </p:cNvPr>
          <p:cNvSpPr txBox="1"/>
          <p:nvPr/>
        </p:nvSpPr>
        <p:spPr>
          <a:xfrm>
            <a:off x="395536" y="2492896"/>
            <a:ext cx="4320282" cy="20621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Square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Square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Square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9739A-265F-3BB4-427C-C2F7AECD8E20}"/>
              </a:ext>
            </a:extLst>
          </p:cNvPr>
          <p:cNvSpPr txBox="1"/>
          <p:nvPr/>
        </p:nvSpPr>
        <p:spPr>
          <a:xfrm>
            <a:off x="4283968" y="2492896"/>
            <a:ext cx="4320282" cy="369332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대신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class도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사용할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F972251-FEEA-B947-8E30-1622F7633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889039"/>
              </p:ext>
            </p:extLst>
          </p:nvPr>
        </p:nvGraphicFramePr>
        <p:xfrm>
          <a:off x="3635896" y="3920917"/>
          <a:ext cx="4824536" cy="2465280"/>
        </p:xfrm>
        <a:graphic>
          <a:graphicData uri="http://schemas.openxmlformats.org/drawingml/2006/table">
            <a:tbl>
              <a:tblPr/>
              <a:tblGrid>
                <a:gridCol w="2251774">
                  <a:extLst>
                    <a:ext uri="{9D8B030D-6E8A-4147-A177-3AD203B41FA5}">
                      <a16:colId xmlns:a16="http://schemas.microsoft.com/office/drawing/2014/main" val="3524616684"/>
                    </a:ext>
                  </a:extLst>
                </a:gridCol>
                <a:gridCol w="2572762">
                  <a:extLst>
                    <a:ext uri="{9D8B030D-6E8A-4147-A177-3AD203B41FA5}">
                      <a16:colId xmlns:a16="http://schemas.microsoft.com/office/drawing/2014/main" val="3901436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표기</a:t>
                      </a:r>
                      <a:endParaRPr lang="ko-KR" sz="2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72000" marB="216000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sz="2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72000" marB="216000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26131"/>
                  </a:ext>
                </a:extLst>
              </a:tr>
              <a:tr h="5729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template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108000" marT="144000" marB="216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템플릿 선언 시작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108000" marT="144000" marB="216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69931"/>
                  </a:ext>
                </a:extLst>
              </a:tr>
              <a:tr h="5729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typename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108000" marT="144000" marB="216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템플릿 매개변수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108000" marT="144000" marB="216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179144"/>
                  </a:ext>
                </a:extLst>
              </a:tr>
              <a:tr h="52036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Square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108000" marT="144000" marB="216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타입의 값을 받아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반환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108000" marT="144000" marB="2160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122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76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1463-01AF-AB82-8677-12B2329D1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42E1F-444A-1F0D-01B2-1E38DC72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10.2.2 </a:t>
            </a:r>
            <a:r>
              <a:rPr lang="ko-KR" altLang="en-US" dirty="0"/>
              <a:t>템플릿 인수 추론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383030-F6B4-6313-AF98-40412AFDCC80}"/>
              </a:ext>
            </a:extLst>
          </p:cNvPr>
          <p:cNvSpPr txBox="1"/>
          <p:nvPr/>
        </p:nvSpPr>
        <p:spPr>
          <a:xfrm>
            <a:off x="512068" y="908720"/>
            <a:ext cx="5284068" cy="255454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GetMin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?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GetMin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GetMin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GetMin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(10, 2.5); // 오류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F6C7C-0754-31FB-A59D-ED08EC92EB4E}"/>
              </a:ext>
            </a:extLst>
          </p:cNvPr>
          <p:cNvSpPr txBox="1"/>
          <p:nvPr/>
        </p:nvSpPr>
        <p:spPr>
          <a:xfrm>
            <a:off x="3970139" y="1887311"/>
            <a:ext cx="4968552" cy="58477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하나의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T가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여러 매개변수에 사용되면 같은 타입 필요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암시적 변환은 템플릿 인수 추론 뒤에 적용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C5227BD9-2893-41A8-5956-63AB61F5C5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7413785"/>
              </p:ext>
            </p:extLst>
          </p:nvPr>
        </p:nvGraphicFramePr>
        <p:xfrm>
          <a:off x="512068" y="3717032"/>
          <a:ext cx="5284068" cy="1764688"/>
        </p:xfrm>
        <a:graphic>
          <a:graphicData uri="http://schemas.openxmlformats.org/drawingml/2006/table">
            <a:tbl>
              <a:tblPr/>
              <a:tblGrid>
                <a:gridCol w="2244965">
                  <a:extLst>
                    <a:ext uri="{9D8B030D-6E8A-4147-A177-3AD203B41FA5}">
                      <a16:colId xmlns:a16="http://schemas.microsoft.com/office/drawing/2014/main" val="2301156810"/>
                    </a:ext>
                  </a:extLst>
                </a:gridCol>
                <a:gridCol w="3039103">
                  <a:extLst>
                    <a:ext uri="{9D8B030D-6E8A-4147-A177-3AD203B41FA5}">
                      <a16:colId xmlns:a16="http://schemas.microsoft.com/office/drawing/2014/main" val="1684822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호출</a:t>
                      </a:r>
                      <a:endParaRPr lang="ko-KR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추론</a:t>
                      </a:r>
                      <a:endParaRPr lang="ko-KR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224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GetMin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(10, 20)</a:t>
                      </a:r>
                      <a:endParaRPr lang="ko-KR" sz="3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= </a:t>
                      </a: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int</a:t>
                      </a:r>
                      <a:endParaRPr lang="ko-KR" sz="3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087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GetMin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(3.5, 1.2)</a:t>
                      </a:r>
                      <a:endParaRPr lang="ko-KR" sz="3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= </a:t>
                      </a: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double</a:t>
                      </a:r>
                      <a:endParaRPr lang="ko-KR" sz="3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206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GetMin(10, 2.5)</a:t>
                      </a:r>
                      <a:endParaRPr lang="ko-KR" sz="36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T를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하나로 결정할 수 없음</a:t>
                      </a:r>
                      <a:endParaRPr lang="ko-KR" sz="3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786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298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6E218-B7A8-2F3D-E699-BCCF9D543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30F4E1-92B1-21B5-AE21-2A56D145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10.2.2 </a:t>
            </a:r>
            <a:r>
              <a:rPr lang="ko-KR" altLang="en-US" dirty="0"/>
              <a:t>값 매개변수와 참조 매개변수 추론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650AE929-43D5-7D22-9CAC-7CC3C8DFA3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59266"/>
              </p:ext>
            </p:extLst>
          </p:nvPr>
        </p:nvGraphicFramePr>
        <p:xfrm>
          <a:off x="1943706" y="4014327"/>
          <a:ext cx="4824536" cy="1673248"/>
        </p:xfrm>
        <a:graphic>
          <a:graphicData uri="http://schemas.openxmlformats.org/drawingml/2006/table">
            <a:tbl>
              <a:tblPr/>
              <a:tblGrid>
                <a:gridCol w="1862102">
                  <a:extLst>
                    <a:ext uri="{9D8B030D-6E8A-4147-A177-3AD203B41FA5}">
                      <a16:colId xmlns:a16="http://schemas.microsoft.com/office/drawing/2014/main" val="1212884404"/>
                    </a:ext>
                  </a:extLst>
                </a:gridCol>
                <a:gridCol w="2962434">
                  <a:extLst>
                    <a:ext uri="{9D8B030D-6E8A-4147-A177-3AD203B41FA5}">
                      <a16:colId xmlns:a16="http://schemas.microsoft.com/office/drawing/2014/main" val="1875033671"/>
                    </a:ext>
                  </a:extLst>
                </a:gridCol>
              </a:tblGrid>
              <a:tr h="3734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매개변수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추론 특징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78767"/>
                  </a:ext>
                </a:extLst>
              </a:tr>
              <a:tr h="3734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최상위 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const와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참조성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제거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446172"/>
                  </a:ext>
                </a:extLst>
              </a:tr>
              <a:tr h="3734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 대상의 </a:t>
                      </a: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보존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50009"/>
                  </a:ext>
                </a:extLst>
              </a:tr>
              <a:tr h="37341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없이 읽기 전용 전달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2243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05AFA9-28E1-7F5F-C084-50C49E18F438}"/>
              </a:ext>
            </a:extLst>
          </p:cNvPr>
          <p:cNvSpPr txBox="1"/>
          <p:nvPr/>
        </p:nvSpPr>
        <p:spPr>
          <a:xfrm>
            <a:off x="251518" y="781571"/>
            <a:ext cx="4104456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type_traits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InspectValue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InspectValue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08D05A-D807-B115-0094-E2532F88071C}"/>
              </a:ext>
            </a:extLst>
          </p:cNvPr>
          <p:cNvSpPr txBox="1"/>
          <p:nvPr/>
        </p:nvSpPr>
        <p:spPr>
          <a:xfrm>
            <a:off x="4355974" y="781571"/>
            <a:ext cx="4680522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InspectReference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InspectReference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6343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D4529-7BAB-A376-B645-95792D8C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B3F2-7539-0165-96D1-E8C699E12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10.2.2 </a:t>
            </a:r>
            <a:r>
              <a:rPr lang="ko-KR" altLang="en-US" dirty="0"/>
              <a:t>배열 크기 추론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673C85-2107-04E2-F658-C0EC038FC29D}"/>
              </a:ext>
            </a:extLst>
          </p:cNvPr>
          <p:cNvSpPr txBox="1"/>
          <p:nvPr/>
        </p:nvSpPr>
        <p:spPr>
          <a:xfrm>
            <a:off x="323528" y="732925"/>
            <a:ext cx="5352628" cy="224676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cstddef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(&amp;)[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]{};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E486EC0-AEA5-C651-ADE4-7092F56A1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283488"/>
              </p:ext>
            </p:extLst>
          </p:nvPr>
        </p:nvGraphicFramePr>
        <p:xfrm>
          <a:off x="323528" y="3356992"/>
          <a:ext cx="4899620" cy="1673248"/>
        </p:xfrm>
        <a:graphic>
          <a:graphicData uri="http://schemas.openxmlformats.org/drawingml/2006/table">
            <a:tbl>
              <a:tblPr/>
              <a:tblGrid>
                <a:gridCol w="2238995">
                  <a:extLst>
                    <a:ext uri="{9D8B030D-6E8A-4147-A177-3AD203B41FA5}">
                      <a16:colId xmlns:a16="http://schemas.microsoft.com/office/drawing/2014/main" val="2169601084"/>
                    </a:ext>
                  </a:extLst>
                </a:gridCol>
                <a:gridCol w="2660625">
                  <a:extLst>
                    <a:ext uri="{9D8B030D-6E8A-4147-A177-3AD203B41FA5}">
                      <a16:colId xmlns:a16="http://schemas.microsoft.com/office/drawing/2014/main" val="4112056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매개변수 형태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배열 처리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63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배열이 포인터로 변환됨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664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배열 타입 보존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974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(&amp;)[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타입과 크기 보존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583563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D3760C5C-5F34-AF69-F549-AC25D0F19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883513"/>
              </p:ext>
            </p:extLst>
          </p:nvPr>
        </p:nvGraphicFramePr>
        <p:xfrm>
          <a:off x="5676156" y="742464"/>
          <a:ext cx="3000300" cy="1102360"/>
        </p:xfrm>
        <a:graphic>
          <a:graphicData uri="http://schemas.openxmlformats.org/drawingml/2006/table">
            <a:tbl>
              <a:tblPr/>
              <a:tblGrid>
                <a:gridCol w="3000300">
                  <a:extLst>
                    <a:ext uri="{9D8B030D-6E8A-4147-A177-3AD203B41FA5}">
                      <a16:colId xmlns:a16="http://schemas.microsoft.com/office/drawing/2014/main" val="4093621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일반</a:t>
                      </a:r>
                      <a:r>
                        <a:rPr lang="en-US" alt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&gt;</a:t>
                      </a:r>
                    </a:p>
                    <a:p>
                      <a:pPr rtl="0" fontAlgn="t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[5]</a:t>
                      </a:r>
                      <a:b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  ↓ 값 매개변수</a:t>
                      </a:r>
                      <a:b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*</a:t>
                      </a:r>
                      <a:endParaRPr lang="ko-KR" sz="28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305785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69C741C2-D05F-0B56-1F8F-C991BFD7A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249131"/>
              </p:ext>
            </p:extLst>
          </p:nvPr>
        </p:nvGraphicFramePr>
        <p:xfrm>
          <a:off x="5676156" y="1844824"/>
          <a:ext cx="3000300" cy="1102360"/>
        </p:xfrm>
        <a:graphic>
          <a:graphicData uri="http://schemas.openxmlformats.org/drawingml/2006/table">
            <a:tbl>
              <a:tblPr/>
              <a:tblGrid>
                <a:gridCol w="3000300">
                  <a:extLst>
                    <a:ext uri="{9D8B030D-6E8A-4147-A177-3AD203B41FA5}">
                      <a16:colId xmlns:a16="http://schemas.microsoft.com/office/drawing/2014/main" val="4093621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템플릿</a:t>
                      </a:r>
                      <a:r>
                        <a:rPr lang="en-US" alt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&gt;</a:t>
                      </a:r>
                    </a:p>
                    <a:p>
                      <a:pPr rtl="0" fontAlgn="t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[5]</a:t>
                      </a:r>
                      <a:b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  ↓ 배열 참조 매개변수</a:t>
                      </a:r>
                      <a:b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 = </a:t>
                      </a:r>
                      <a:r>
                        <a:rPr lang="ko-KR" sz="16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6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Size</a:t>
                      </a: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 = 5</a:t>
                      </a:r>
                      <a:endParaRPr lang="ko-KR" sz="28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305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90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3B143-B990-FC95-7071-FDD713B0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3B9A55-1B8F-725D-5303-55388B5E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10.2.3 </a:t>
            </a:r>
            <a:r>
              <a:rPr lang="ko-KR" altLang="en-US" dirty="0"/>
              <a:t>명시적 템플릿 인수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B48C8-BB72-B88C-20D7-3BA29F7C2F08}"/>
              </a:ext>
            </a:extLst>
          </p:cNvPr>
          <p:cNvSpPr txBox="1"/>
          <p:nvPr/>
        </p:nvSpPr>
        <p:spPr>
          <a:xfrm>
            <a:off x="323528" y="836712"/>
            <a:ext cx="747705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Convert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&lt;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: 명시적 템플릿 인수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전달된 인수(10)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으로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반환 타입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추론 불가. &lt;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사용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realValue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Convert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5E3BED-E5EF-3866-3787-AD20C5A8976B}"/>
              </a:ext>
            </a:extLst>
          </p:cNvPr>
          <p:cNvSpPr txBox="1"/>
          <p:nvPr/>
        </p:nvSpPr>
        <p:spPr>
          <a:xfrm>
            <a:off x="311746" y="3356992"/>
            <a:ext cx="7488832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AddAs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AddAs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2.5f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GetMin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3.8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43F289-22B7-456D-6DFC-8B0DF28ECB21}"/>
              </a:ext>
            </a:extLst>
          </p:cNvPr>
          <p:cNvSpPr txBox="1"/>
          <p:nvPr/>
        </p:nvSpPr>
        <p:spPr>
          <a:xfrm>
            <a:off x="311746" y="5757649"/>
            <a:ext cx="7488832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명시적 인수는 강제 변환을 만들 수 있음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컴파일 성공과 의도한 결과는 별도 확인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13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3B05B-32D9-B928-94DE-52C1B1AD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420FC4-AEE6-1213-23A6-C2BE6570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10.2.4 </a:t>
            </a:r>
            <a:r>
              <a:rPr lang="ko-KR" altLang="en-US" dirty="0"/>
              <a:t>함수 오버로딩과 템플릿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6FF2B8-8B4A-7725-F802-DAB1CCE19F9D}"/>
              </a:ext>
            </a:extLst>
          </p:cNvPr>
          <p:cNvSpPr txBox="1"/>
          <p:nvPr/>
        </p:nvSpPr>
        <p:spPr>
          <a:xfrm>
            <a:off x="323528" y="653442"/>
            <a:ext cx="4572000" cy="332398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     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일반 함수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     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함수 템플릿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509671-2645-AFBB-2459-0D371DCD243D}"/>
              </a:ext>
            </a:extLst>
          </p:cNvPr>
          <p:cNvSpPr txBox="1"/>
          <p:nvPr/>
        </p:nvSpPr>
        <p:spPr>
          <a:xfrm>
            <a:off x="323528" y="4110171"/>
            <a:ext cx="4595812" cy="224676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long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D8C51F-D010-C486-4612-74D567124F46}"/>
              </a:ext>
            </a:extLst>
          </p:cNvPr>
          <p:cNvSpPr txBox="1"/>
          <p:nvPr/>
        </p:nvSpPr>
        <p:spPr>
          <a:xfrm>
            <a:off x="4661321" y="5763982"/>
            <a:ext cx="3666281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템플릿 후보가 더 좋은 변환을 제공하면 템플릿이 우선 선택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1F345-8EC0-76D5-CF40-B06D98126F55}"/>
              </a:ext>
            </a:extLst>
          </p:cNvPr>
          <p:cNvSpPr txBox="1"/>
          <p:nvPr/>
        </p:nvSpPr>
        <p:spPr>
          <a:xfrm>
            <a:off x="4655616" y="2482495"/>
            <a:ext cx="3736032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     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일반 함수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     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함수 템플릿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28F5D-A9AE-22FA-6DEA-0F1A9FECD6E2}"/>
              </a:ext>
            </a:extLst>
          </p:cNvPr>
          <p:cNvSpPr txBox="1"/>
          <p:nvPr/>
        </p:nvSpPr>
        <p:spPr>
          <a:xfrm>
            <a:off x="4655616" y="5445224"/>
            <a:ext cx="3666281" cy="30777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</a:t>
            </a:r>
            <a:r>
              <a:rPr lang="ko-KR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함수 템플릿 </a:t>
            </a:r>
            <a:r>
              <a:rPr lang="en-US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Show</a:t>
            </a:r>
            <a:r>
              <a:rPr lang="ko-KR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en-US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9C09-6ADB-48D4-B1CE-4BA70F132B45}"/>
              </a:ext>
            </a:extLst>
          </p:cNvPr>
          <p:cNvSpPr txBox="1"/>
          <p:nvPr/>
        </p:nvSpPr>
        <p:spPr>
          <a:xfrm>
            <a:off x="4661321" y="2996952"/>
            <a:ext cx="3730327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수준의 변환으로 호출 될 때 일반 함수가 우선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307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04E19-5B7B-5DA1-E4BF-A298FEA9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017C1-7D40-D3EE-12E2-C14054E3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10.2.5 </a:t>
            </a:r>
            <a:r>
              <a:rPr lang="ko-KR" altLang="en-US" dirty="0"/>
              <a:t>템플릿 인스턴스화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D17352-EF4C-BBD3-7FC2-5CC0A5BDC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함수 템플릿 정의만으로 모든 함수가 생성되지 않음</a:t>
            </a:r>
          </a:p>
          <a:p>
            <a:pPr lvl="0"/>
            <a:r>
              <a:rPr lang="ko-KR" altLang="ko-KR" sz="2400" dirty="0"/>
              <a:t>실제 사용된 템플릿 인수 조합에 대해 코드 생성</a:t>
            </a:r>
          </a:p>
          <a:p>
            <a:pPr lvl="0"/>
            <a:r>
              <a:rPr lang="ko-KR" altLang="ko-KR" sz="2400" dirty="0"/>
              <a:t>이 과정을 인스턴스화</a:t>
            </a:r>
            <a:r>
              <a:rPr lang="en-US" altLang="ko-KR" sz="2400" dirty="0"/>
              <a:t> </a:t>
            </a:r>
            <a:r>
              <a:rPr lang="ko-KR" altLang="ko-KR" sz="2400" dirty="0"/>
              <a:t>라고 함</a:t>
            </a:r>
          </a:p>
          <a:p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9694E-40CA-A7A3-5B20-F5460EC8BA3C}"/>
              </a:ext>
            </a:extLst>
          </p:cNvPr>
          <p:cNvSpPr txBox="1"/>
          <p:nvPr/>
        </p:nvSpPr>
        <p:spPr>
          <a:xfrm>
            <a:off x="507727" y="2348880"/>
            <a:ext cx="4572000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Multiply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integerResult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Multiply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realResult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Multiply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value.GetName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B25B9B-863F-63EC-2FB8-07CF8AFEF8BF}"/>
              </a:ext>
            </a:extLst>
          </p:cNvPr>
          <p:cNvSpPr txBox="1"/>
          <p:nvPr/>
        </p:nvSpPr>
        <p:spPr>
          <a:xfrm>
            <a:off x="4355976" y="4244702"/>
            <a:ext cx="4572000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템플릿 인수에 의존하는 표현은 인스턴스화 시점</a:t>
            </a:r>
            <a:r>
              <a:rPr lang="ko-KR" altLang="en-US" sz="16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에</a:t>
            </a:r>
            <a:r>
              <a:rPr lang="en-US" altLang="ko-KR" sz="1600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검사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942F5-7732-732C-1598-ADE467612EA5}"/>
              </a:ext>
            </a:extLst>
          </p:cNvPr>
          <p:cNvSpPr txBox="1"/>
          <p:nvPr/>
        </p:nvSpPr>
        <p:spPr>
          <a:xfrm>
            <a:off x="4355976" y="3608387"/>
            <a:ext cx="4572000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Multiply</a:t>
            </a:r>
            <a:r>
              <a:rPr lang="ko-KR" altLang="ko-KR" sz="1600" b="0" i="0" u="none" strike="noStrike" dirty="0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Multiply</a:t>
            </a:r>
            <a:r>
              <a:rPr lang="ko-KR" altLang="ko-KR" sz="1600" b="0" i="0" u="none" strike="noStrike" dirty="0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036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CABA1-35FA-52EC-3861-AC53801B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9556A-978B-1FA7-AA9D-FB54A43EB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 </a:t>
            </a:r>
            <a:r>
              <a:rPr lang="ko-KR" altLang="en-US" dirty="0"/>
              <a:t>클래스 템플릿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2AFE8C-567B-028F-098C-93FDA26C5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데이터 멤버와 멤버 함수의 타입이나 값을 템플릿 매개변수로 분리</a:t>
            </a:r>
          </a:p>
          <a:p>
            <a:pPr lvl="0"/>
            <a:r>
              <a:rPr lang="ko-KR" altLang="ko-KR" sz="2400" dirty="0"/>
              <a:t>저장할 원소 타입과 크기를 일반화 가능</a:t>
            </a:r>
          </a:p>
          <a:p>
            <a:pPr lvl="0"/>
            <a:r>
              <a:rPr lang="ko-KR" altLang="ko-KR" sz="2400" dirty="0"/>
              <a:t>각 템플릿 인수 조합은 서로 다른 구체 타입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76279-C7B7-17A9-4B90-96BD6D1D0951}"/>
              </a:ext>
            </a:extLst>
          </p:cNvPr>
          <p:cNvSpPr txBox="1"/>
          <p:nvPr/>
        </p:nvSpPr>
        <p:spPr>
          <a:xfrm>
            <a:off x="539750" y="2204864"/>
            <a:ext cx="5112568" cy="418576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cstddef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stdexcept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FixedArray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index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]{};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18C480-A080-ADA7-D2C8-39ADA24DC60E}"/>
              </a:ext>
            </a:extLst>
          </p:cNvPr>
          <p:cNvSpPr txBox="1"/>
          <p:nvPr/>
        </p:nvSpPr>
        <p:spPr>
          <a:xfrm>
            <a:off x="5362327" y="5642630"/>
            <a:ext cx="324036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weights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0544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0B8A-759F-C585-791E-A7B97C74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1F90A-7B72-584C-60EA-4EAA66F8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10.3.2 </a:t>
            </a:r>
            <a:r>
              <a:rPr lang="ko-KR" altLang="en-US" dirty="0"/>
              <a:t>멤버 함수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76181-648A-318B-4D65-279B2D67A63D}"/>
              </a:ext>
            </a:extLst>
          </p:cNvPr>
          <p:cNvSpPr txBox="1"/>
          <p:nvPr/>
        </p:nvSpPr>
        <p:spPr>
          <a:xfrm>
            <a:off x="467544" y="836712"/>
            <a:ext cx="4104456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FB6CE-7BDF-E6C9-46D4-6FA26B29F6F2}"/>
              </a:ext>
            </a:extLst>
          </p:cNvPr>
          <p:cNvSpPr txBox="1"/>
          <p:nvPr/>
        </p:nvSpPr>
        <p:spPr>
          <a:xfrm>
            <a:off x="4058766" y="692696"/>
            <a:ext cx="4968552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en-US" altLang="ko-KR" sz="1200" b="1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GetValue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en-US" altLang="ko-KR" sz="1200" b="1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SetValue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28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257AEC-3E3E-423F-11E4-E7DB164F2AEA}"/>
              </a:ext>
            </a:extLst>
          </p:cNvPr>
          <p:cNvSpPr txBox="1"/>
          <p:nvPr/>
        </p:nvSpPr>
        <p:spPr>
          <a:xfrm>
            <a:off x="467544" y="4005064"/>
            <a:ext cx="4572000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클래스 밖 정의에는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&lt;...&gt; 필요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클래스 범위에는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 사용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0690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7C1CD-1FA2-25B2-B7BC-1608B7F6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1CC298-D60C-9FA6-F1FA-804BB2699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10.3.3 </a:t>
            </a:r>
            <a:r>
              <a:rPr lang="ko-KR" altLang="en-US" dirty="0"/>
              <a:t>템플릿과 헤더 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E2182C-BA13-14BA-E2C1-CE97EE05E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템플릿은 호출 지점에서 실제 타입에 맞는 코드가 필요</a:t>
            </a:r>
          </a:p>
          <a:p>
            <a:pPr lvl="0"/>
            <a:r>
              <a:rPr lang="ko-KR" altLang="ko-KR" sz="2400" dirty="0"/>
              <a:t>컴파일러가 템플릿 정의 전체를 볼 수 있어야 함</a:t>
            </a:r>
          </a:p>
          <a:p>
            <a:pPr lvl="0"/>
            <a:r>
              <a:rPr lang="ko-KR" altLang="ko-KR" sz="2400" dirty="0"/>
              <a:t>일반적으로 선언과 정의를 모두 헤더에 둠</a:t>
            </a:r>
          </a:p>
          <a:p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723B41-261D-E36C-BFFA-9D2A1F845B6D}"/>
              </a:ext>
            </a:extLst>
          </p:cNvPr>
          <p:cNvSpPr txBox="1"/>
          <p:nvPr/>
        </p:nvSpPr>
        <p:spPr>
          <a:xfrm>
            <a:off x="539750" y="2410430"/>
            <a:ext cx="4572000" cy="375487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Box.h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#pragma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once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  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{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06F7FB5-5C25-E256-D16A-96F13905D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488428"/>
              </p:ext>
            </p:extLst>
          </p:nvPr>
        </p:nvGraphicFramePr>
        <p:xfrm>
          <a:off x="5111750" y="3315848"/>
          <a:ext cx="3636714" cy="2345400"/>
        </p:xfrm>
        <a:graphic>
          <a:graphicData uri="http://schemas.openxmlformats.org/drawingml/2006/table">
            <a:tbl>
              <a:tblPr/>
              <a:tblGrid>
                <a:gridCol w="3636714">
                  <a:extLst>
                    <a:ext uri="{9D8B030D-6E8A-4147-A177-3AD203B41FA5}">
                      <a16:colId xmlns:a16="http://schemas.microsoft.com/office/drawing/2014/main" val="19018043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 파일에서 </a:t>
                      </a:r>
                      <a:r>
                        <a:rPr lang="ko-KR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Box</a:t>
                      </a: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필요</a:t>
                      </a:r>
                      <a:b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Box</a:t>
                      </a: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정의가 보여야 함</a:t>
                      </a:r>
                      <a:b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Box</a:t>
                      </a: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인스턴스화 가능</a:t>
                      </a:r>
                      <a:endParaRPr lang="ko-KR" sz="3200" dirty="0">
                        <a:solidFill>
                          <a:schemeClr val="tx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978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909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0F57A-5EE6-3C8F-79FA-33936D7D4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224B5-2F2F-2ECE-54A6-D5B4715AA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10.3.3 </a:t>
            </a:r>
            <a:r>
              <a:rPr lang="ko-KR" altLang="en-US" dirty="0"/>
              <a:t>선언과 구현을 나누는 방식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5EF09BA-AFC9-3433-20D4-AF6EAE0F83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581473"/>
              </p:ext>
            </p:extLst>
          </p:nvPr>
        </p:nvGraphicFramePr>
        <p:xfrm>
          <a:off x="574799" y="836712"/>
          <a:ext cx="7272808" cy="1978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5073">
                  <a:extLst>
                    <a:ext uri="{9D8B030D-6E8A-4147-A177-3AD203B41FA5}">
                      <a16:colId xmlns:a16="http://schemas.microsoft.com/office/drawing/2014/main" val="460338002"/>
                    </a:ext>
                  </a:extLst>
                </a:gridCol>
                <a:gridCol w="4427735">
                  <a:extLst>
                    <a:ext uri="{9D8B030D-6E8A-4147-A177-3AD203B41FA5}">
                      <a16:colId xmlns:a16="http://schemas.microsoft.com/office/drawing/2014/main" val="5435992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u="none" strike="noStrike" dirty="0"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방식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u="none" strike="noStrike" dirty="0"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특징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164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모두 헤더에 정의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가장 일반적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.</a:t>
                      </a:r>
                      <a:r>
                        <a:rPr lang="ko-KR" sz="240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inl을</a:t>
                      </a:r>
                      <a:r>
                        <a:rPr lang="ko-KR" sz="240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헤더에서 포함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파일 분리, 정의는 여전히 보임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780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명시적 인스턴스화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u="none" strike="noStrike" dirty="0"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지원 타입 제한, 코드 생성 통제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2807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A3AE087-C1C2-59CB-CBB4-272939ABDC89}"/>
              </a:ext>
            </a:extLst>
          </p:cNvPr>
          <p:cNvSpPr txBox="1"/>
          <p:nvPr/>
        </p:nvSpPr>
        <p:spPr>
          <a:xfrm>
            <a:off x="574799" y="2985914"/>
            <a:ext cx="3421138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Box.h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#pragma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once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endParaRPr lang="en-US" altLang="ko-KR" sz="1600" dirty="0">
              <a:solidFill>
                <a:srgbClr val="383A4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600" dirty="0">
                <a:solidFill>
                  <a:srgbClr val="4078F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dirty="0">
                <a:solidFill>
                  <a:srgbClr val="50A14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dirty="0" err="1">
                <a:solidFill>
                  <a:srgbClr val="50A14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Box.inl</a:t>
            </a:r>
            <a:r>
              <a:rPr lang="ko-KR" altLang="ko-KR" sz="1600" dirty="0">
                <a:solidFill>
                  <a:srgbClr val="50A14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65879E-0DB0-B7C5-A21E-27142AA5F30F}"/>
              </a:ext>
            </a:extLst>
          </p:cNvPr>
          <p:cNvSpPr txBox="1"/>
          <p:nvPr/>
        </p:nvSpPr>
        <p:spPr>
          <a:xfrm>
            <a:off x="3997201" y="2974300"/>
            <a:ext cx="3850406" cy="304698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Box.inl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8740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33C0E-EC02-AA0D-54A8-E6D1B6F7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B4FD0-F33D-E9B3-3323-1CC4F267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10.3.4 </a:t>
            </a:r>
            <a:r>
              <a:rPr lang="ko-KR" altLang="en-US" dirty="0"/>
              <a:t>클래스 템플릿 인수 추론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460D8B-41A2-10A2-14B1-C98C88493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C++17부터 생성자 인수로 클래스 템플릿 인수 추론 가능</a:t>
            </a:r>
          </a:p>
          <a:p>
            <a:pPr lvl="0"/>
            <a:r>
              <a:rPr lang="ko-KR" altLang="ko-KR" sz="2400" dirty="0"/>
              <a:t>CTAD: </a:t>
            </a:r>
            <a:r>
              <a:rPr lang="ko-KR" altLang="ko-KR" sz="2400" dirty="0" err="1"/>
              <a:t>class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template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argument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deduction</a:t>
            </a:r>
            <a:endParaRPr lang="ko-KR" altLang="ko-KR" sz="2400" dirty="0"/>
          </a:p>
          <a:p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7AFF7-A898-5D7F-BDF5-AF668A166C99}"/>
              </a:ext>
            </a:extLst>
          </p:cNvPr>
          <p:cNvSpPr txBox="1"/>
          <p:nvPr/>
        </p:nvSpPr>
        <p:spPr>
          <a:xfrm>
            <a:off x="395536" y="1772816"/>
            <a:ext cx="3096344" cy="2893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utility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799A2-5F6D-3577-332C-68FEB0B829E7}"/>
              </a:ext>
            </a:extLst>
          </p:cNvPr>
          <p:cNvSpPr txBox="1"/>
          <p:nvPr/>
        </p:nvSpPr>
        <p:spPr>
          <a:xfrm>
            <a:off x="3491880" y="3284984"/>
            <a:ext cx="5077072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 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*) -&gt;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text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ValueBox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3BAE70-B832-9B64-9EE3-E9A11FB872C7}"/>
              </a:ext>
            </a:extLst>
          </p:cNvPr>
          <p:cNvSpPr txBox="1"/>
          <p:nvPr/>
        </p:nvSpPr>
        <p:spPr>
          <a:xfrm>
            <a:off x="2195736" y="4669979"/>
            <a:ext cx="6373216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chemeClr val="tx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추론 가이드는 객체 생성 시 템플릿 인수 결정에 사용</a:t>
            </a:r>
            <a:endParaRPr lang="ko-KR" altLang="ko-KR" sz="11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8451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4516B-DA4F-107C-DB0C-B273251CB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2C9C1-F987-A181-A464-FE7A0658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10.3.7 </a:t>
            </a:r>
            <a:r>
              <a:rPr lang="ko-KR" altLang="en-US" dirty="0"/>
              <a:t>비 타입 템플릿 매개변수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DBE1966-EADC-868B-AF05-742DD74A96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9749431"/>
              </p:ext>
            </p:extLst>
          </p:nvPr>
        </p:nvGraphicFramePr>
        <p:xfrm>
          <a:off x="683568" y="4461043"/>
          <a:ext cx="6408712" cy="1795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1211">
                  <a:extLst>
                    <a:ext uri="{9D8B030D-6E8A-4147-A177-3AD203B41FA5}">
                      <a16:colId xmlns:a16="http://schemas.microsoft.com/office/drawing/2014/main" val="123662439"/>
                    </a:ext>
                  </a:extLst>
                </a:gridCol>
                <a:gridCol w="3337501">
                  <a:extLst>
                    <a:ext uri="{9D8B030D-6E8A-4147-A177-3AD203B41FA5}">
                      <a16:colId xmlns:a16="http://schemas.microsoft.com/office/drawing/2014/main" val="2598553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u="none" strike="noStrike" dirty="0">
                          <a:effectLst/>
                        </a:rPr>
                        <a:t>특징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u="none" strike="noStrike" dirty="0">
                          <a:effectLst/>
                        </a:rPr>
                        <a:t>설명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09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u="none" strike="noStrike" dirty="0">
                          <a:effectLst/>
                        </a:rPr>
                        <a:t>값은 컴파일 시점 상수</a:t>
                      </a:r>
                      <a:endParaRPr lang="ko-KR" sz="2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u="none" strike="noStrike">
                          <a:effectLst/>
                        </a:rPr>
                        <a:t>런타임 값 불가</a:t>
                      </a:r>
                      <a:endParaRPr lang="ko-KR" sz="20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088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u="none" strike="noStrike" dirty="0">
                          <a:effectLst/>
                        </a:rPr>
                        <a:t>값이 타입의 일부</a:t>
                      </a:r>
                      <a:endParaRPr lang="ko-KR" sz="2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u="none" strike="noStrike" dirty="0">
                          <a:effectLst/>
                        </a:rPr>
                        <a:t>크기 다르면 다른 타입</a:t>
                      </a:r>
                      <a:endParaRPr lang="ko-KR" sz="2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6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u="none" strike="noStrike" dirty="0">
                          <a:effectLst/>
                        </a:rPr>
                        <a:t>저장 공간</a:t>
                      </a:r>
                      <a:endParaRPr lang="ko-KR" sz="2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u="none" strike="noStrike" dirty="0" err="1">
                          <a:effectLst/>
                        </a:rPr>
                        <a:t>Size</a:t>
                      </a:r>
                      <a:r>
                        <a:rPr lang="ko-KR" sz="2000" b="1" u="none" strike="noStrike" dirty="0">
                          <a:effectLst/>
                        </a:rPr>
                        <a:t> 자체는 멤버가 아님</a:t>
                      </a:r>
                      <a:endParaRPr lang="ko-KR" sz="20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8814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25245D-1366-1927-CD99-570E20F6E7B7}"/>
              </a:ext>
            </a:extLst>
          </p:cNvPr>
          <p:cNvSpPr txBox="1"/>
          <p:nvPr/>
        </p:nvSpPr>
        <p:spPr>
          <a:xfrm>
            <a:off x="683568" y="764704"/>
            <a:ext cx="4572000" cy="2893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StaticBuffer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GetCapacity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]{};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54261F-D9BC-30AD-7988-CEEC77C9C1BB}"/>
              </a:ext>
            </a:extLst>
          </p:cNvPr>
          <p:cNvSpPr txBox="1"/>
          <p:nvPr/>
        </p:nvSpPr>
        <p:spPr>
          <a:xfrm>
            <a:off x="3491880" y="2221523"/>
            <a:ext cx="5103241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packet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runtimeCount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StaticBuffer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runtimeCount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오류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506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95D1F-A7BC-CCC9-B48A-F857E5F1D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7A01F-8C70-1C4B-CC89-0372BA2A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 </a:t>
            </a:r>
            <a:r>
              <a:rPr lang="ko-KR" altLang="en-US" dirty="0"/>
              <a:t>템플릿 특수화 </a:t>
            </a:r>
            <a:r>
              <a:rPr lang="en-US" altLang="ko-KR" dirty="0"/>
              <a:t>&lt;&gt;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1AE0E-7AA1-325D-69C0-3DEF3E35C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기본 템플릿을 대부분의 타입에 적용</a:t>
            </a:r>
          </a:p>
          <a:p>
            <a:pPr lvl="0"/>
            <a:r>
              <a:rPr lang="ko-KR" altLang="ko-KR" sz="2400" dirty="0"/>
              <a:t>특정 타입이나 타입 형태에 다른 구현 제공</a:t>
            </a:r>
          </a:p>
          <a:p>
            <a:pPr lvl="0"/>
            <a:r>
              <a:rPr lang="ko-KR" altLang="ko-KR" sz="2400" dirty="0"/>
              <a:t>전체 특수화: 모든 템플릿 인수 고정</a:t>
            </a:r>
          </a:p>
          <a:p>
            <a:pPr lvl="0"/>
            <a:r>
              <a:rPr lang="ko-KR" altLang="ko-KR" sz="2400" dirty="0"/>
              <a:t>부분 특수화: 일부 타입 패턴에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94FF98-8BB0-9D93-6788-812C85FF8A69}"/>
              </a:ext>
            </a:extLst>
          </p:cNvPr>
          <p:cNvSpPr txBox="1"/>
          <p:nvPr/>
        </p:nvSpPr>
        <p:spPr>
          <a:xfrm>
            <a:off x="539750" y="2770470"/>
            <a:ext cx="3924746" cy="375487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unknown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0FB75-BF59-921C-FEF7-5DFA190DB90A}"/>
              </a:ext>
            </a:extLst>
          </p:cNvPr>
          <p:cNvSpPr txBox="1"/>
          <p:nvPr/>
        </p:nvSpPr>
        <p:spPr>
          <a:xfrm>
            <a:off x="4211960" y="4365104"/>
            <a:ext cx="4572000" cy="73866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unknown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9820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2D3A-07D5-700B-9803-83D649EA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AB6C8-A996-9EAF-4EBD-C9B1495D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10.4.2 </a:t>
            </a:r>
            <a:r>
              <a:rPr lang="ko-KR" altLang="en-US" dirty="0"/>
              <a:t>부분 특수화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F838F-7260-6B90-129A-95A83BA2C4D8}"/>
              </a:ext>
            </a:extLst>
          </p:cNvPr>
          <p:cNvSpPr txBox="1"/>
          <p:nvPr/>
        </p:nvSpPr>
        <p:spPr>
          <a:xfrm>
            <a:off x="326405" y="692696"/>
            <a:ext cx="3885555" cy="375487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TypeCategory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TypeCategory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C9872-3065-8EE6-6067-405F8A32BDD2}"/>
              </a:ext>
            </a:extLst>
          </p:cNvPr>
          <p:cNvSpPr txBox="1"/>
          <p:nvPr/>
        </p:nvSpPr>
        <p:spPr>
          <a:xfrm>
            <a:off x="3232906" y="3880902"/>
            <a:ext cx="5406107" cy="73866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TypeCategory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TypeCategory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TypeCategory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==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EE6FA-A92B-7F02-97D7-3D84C1410B81}"/>
              </a:ext>
            </a:extLst>
          </p:cNvPr>
          <p:cNvSpPr txBox="1"/>
          <p:nvPr/>
        </p:nvSpPr>
        <p:spPr>
          <a:xfrm>
            <a:off x="3232905" y="4725144"/>
            <a:ext cx="5406107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TypeCategory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AC4033-742C-60CC-D83D-DE35BFA0CE9C}"/>
              </a:ext>
            </a:extLst>
          </p:cNvPr>
          <p:cNvSpPr txBox="1"/>
          <p:nvPr/>
        </p:nvSpPr>
        <p:spPr>
          <a:xfrm>
            <a:off x="4067012" y="3105834"/>
            <a:ext cx="4572000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함수 템플릿은 부분 특수화를 지원하지 않음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함수는 오버로딩으로 표현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9586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FC484-B4C7-C138-01B2-C520B80EB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2D3E-B9C7-A312-6B59-FC6C2FECE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10.4.3 </a:t>
            </a:r>
            <a:r>
              <a:rPr lang="ko-KR" altLang="en-US" dirty="0"/>
              <a:t>함수 템플릿 오버로딩과 특수화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5FC3BC2-9F23-E5BD-CE5E-C9AA1999C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967438"/>
              </p:ext>
            </p:extLst>
          </p:nvPr>
        </p:nvGraphicFramePr>
        <p:xfrm>
          <a:off x="611560" y="764704"/>
          <a:ext cx="6696744" cy="1795168"/>
        </p:xfrm>
        <a:graphic>
          <a:graphicData uri="http://schemas.openxmlformats.org/drawingml/2006/table">
            <a:tbl>
              <a:tblPr/>
              <a:tblGrid>
                <a:gridCol w="3219258">
                  <a:extLst>
                    <a:ext uri="{9D8B030D-6E8A-4147-A177-3AD203B41FA5}">
                      <a16:colId xmlns:a16="http://schemas.microsoft.com/office/drawing/2014/main" val="2006856290"/>
                    </a:ext>
                  </a:extLst>
                </a:gridCol>
                <a:gridCol w="3477486">
                  <a:extLst>
                    <a:ext uri="{9D8B030D-6E8A-4147-A177-3AD203B41FA5}">
                      <a16:colId xmlns:a16="http://schemas.microsoft.com/office/drawing/2014/main" val="743234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방법</a:t>
                      </a:r>
                      <a:endParaRPr lang="ko-KR" sz="20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특징</a:t>
                      </a:r>
                      <a:endParaRPr lang="ko-KR" sz="20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5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 템플릿 전체 특수화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선언 순서와 가시성에 민감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355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함수 오버로딩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오버로드 후보로 직접 참여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881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Concept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제약 오버로딩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범주별 선택 표현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8755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66FC07D-5B83-A4BA-9B62-32A536FB9E5E}"/>
              </a:ext>
            </a:extLst>
          </p:cNvPr>
          <p:cNvSpPr txBox="1"/>
          <p:nvPr/>
        </p:nvSpPr>
        <p:spPr>
          <a:xfrm>
            <a:off x="611560" y="2803876"/>
            <a:ext cx="3744416" cy="332398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'"'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'"'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'"'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'"'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D171D8-6477-9163-EDED-D879B4847A83}"/>
              </a:ext>
            </a:extLst>
          </p:cNvPr>
          <p:cNvSpPr txBox="1"/>
          <p:nvPr/>
        </p:nvSpPr>
        <p:spPr>
          <a:xfrm>
            <a:off x="3960440" y="3501008"/>
            <a:ext cx="4860032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integral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floating_point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62C7DD-77B6-0F18-AEB4-5CEBE59A15A8}"/>
              </a:ext>
            </a:extLst>
          </p:cNvPr>
          <p:cNvSpPr txBox="1"/>
          <p:nvPr/>
        </p:nvSpPr>
        <p:spPr>
          <a:xfrm>
            <a:off x="3959932" y="4783068"/>
            <a:ext cx="4865094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함수 템플릿의 특정 타입 동작은 일반 오버로딩 우선 검토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299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A70A8-59AD-DB17-8C20-8986EAA2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E7F13-B132-384F-752D-D7933C50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 </a:t>
            </a:r>
            <a:r>
              <a:rPr lang="ko-KR" altLang="en-US" dirty="0"/>
              <a:t>가변 인수 템플릿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455B3-A7DC-0767-DA1B-92714C4F9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개수가 정해지지 않은 템플릿 인수와 함수 인수를 받음</a:t>
            </a:r>
          </a:p>
          <a:p>
            <a:pPr lvl="0"/>
            <a:r>
              <a:rPr lang="ko-KR" altLang="ko-KR" sz="2400" dirty="0"/>
              <a:t>타입 매개변수 팩과 함수 매개변수 팩 사용</a:t>
            </a:r>
          </a:p>
          <a:p>
            <a:pPr lvl="0"/>
            <a:r>
              <a:rPr lang="ko-KR" altLang="ko-KR" sz="2400" dirty="0"/>
              <a:t>로그 출력, 객체 생성, 콜백 조합 등에 활용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7FC5A-7C1F-B67C-3CAC-2CCBFE2239AE}"/>
              </a:ext>
            </a:extLst>
          </p:cNvPr>
          <p:cNvSpPr txBox="1"/>
          <p:nvPr/>
        </p:nvSpPr>
        <p:spPr>
          <a:xfrm>
            <a:off x="467544" y="2292642"/>
            <a:ext cx="4824536" cy="332398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TypeList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TypeList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emptyTypes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TypeList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oneType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TypeList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threeTypes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 Args&gt;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CountArguments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Args&amp;... args)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sizeof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...(Args)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sizeof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...(args)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1351023-FADF-C960-700A-776E95D6F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399659"/>
              </p:ext>
            </p:extLst>
          </p:nvPr>
        </p:nvGraphicFramePr>
        <p:xfrm>
          <a:off x="4572000" y="4365104"/>
          <a:ext cx="4104456" cy="1673248"/>
        </p:xfrm>
        <a:graphic>
          <a:graphicData uri="http://schemas.openxmlformats.org/drawingml/2006/table">
            <a:tbl>
              <a:tblPr/>
              <a:tblGrid>
                <a:gridCol w="2252121">
                  <a:extLst>
                    <a:ext uri="{9D8B030D-6E8A-4147-A177-3AD203B41FA5}">
                      <a16:colId xmlns:a16="http://schemas.microsoft.com/office/drawing/2014/main" val="778318961"/>
                    </a:ext>
                  </a:extLst>
                </a:gridCol>
                <a:gridCol w="1852335">
                  <a:extLst>
                    <a:ext uri="{9D8B030D-6E8A-4147-A177-3AD203B41FA5}">
                      <a16:colId xmlns:a16="http://schemas.microsoft.com/office/drawing/2014/main" val="741068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표현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75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typename... Args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매개변수 팩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605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 Args&amp;... args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 매개변수 팩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27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sizeof...(Args)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팩 원소 개수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48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506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7DFD-832C-3306-7B5B-21B3C082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1E91B-7EF4-7A63-E3B6-10E4F9402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10.5.2 </a:t>
            </a:r>
            <a:r>
              <a:rPr lang="ko-KR" altLang="en-US" dirty="0"/>
              <a:t>팩 확장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0A753-0344-1A75-EAAD-2CDA40899A24}"/>
              </a:ext>
            </a:extLst>
          </p:cNvPr>
          <p:cNvSpPr txBox="1"/>
          <p:nvPr/>
        </p:nvSpPr>
        <p:spPr>
          <a:xfrm>
            <a:off x="376908" y="836712"/>
            <a:ext cx="4572000" cy="483209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PrintOne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initializer_list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 Args&gt;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PrintLines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Args&amp;... args)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initializer_list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PrintOne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(args),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)...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 Args&gt;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Args&amp;... args)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function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(args...);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D27F31D3-6496-4094-D98D-6098C04BB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940214"/>
              </p:ext>
            </p:extLst>
          </p:nvPr>
        </p:nvGraphicFramePr>
        <p:xfrm>
          <a:off x="4789611" y="2357264"/>
          <a:ext cx="2808312" cy="1498600"/>
        </p:xfrm>
        <a:graphic>
          <a:graphicData uri="http://schemas.openxmlformats.org/drawingml/2006/table">
            <a:tbl>
              <a:tblPr/>
              <a:tblGrid>
                <a:gridCol w="2808312">
                  <a:extLst>
                    <a:ext uri="{9D8B030D-6E8A-4147-A177-3AD203B41FA5}">
                      <a16:colId xmlns:a16="http://schemas.microsoft.com/office/drawing/2014/main" val="3873778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args...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각 원소를 별도 인수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64423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8D6F5F2-F260-AE6D-DF9E-CD29F46870C1}"/>
              </a:ext>
            </a:extLst>
          </p:cNvPr>
          <p:cNvSpPr txBox="1"/>
          <p:nvPr/>
        </p:nvSpPr>
        <p:spPr>
          <a:xfrm>
            <a:off x="3454289" y="5376416"/>
            <a:ext cx="4590876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...가 붙은 전체 패턴이 반복됨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반복 단위가 함수 호출 전체인지 인수 하나인지 구분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6900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9F96F-31E5-219B-C252-08BF89A7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6FC9-C509-876C-612D-AE39D775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10.5.4 </a:t>
            </a:r>
            <a:r>
              <a:rPr lang="ko-KR" altLang="en-US" dirty="0" err="1"/>
              <a:t>폴드</a:t>
            </a:r>
            <a:r>
              <a:rPr lang="ko-KR" altLang="en-US" dirty="0"/>
              <a:t> 표현식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C3AB6-2A8E-1C38-3FBC-210A50BE3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C++17부터 매개변수 팩 원소 사이에 이항 연산자 반복 적용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9FD6C-9CF5-7605-18C3-31A8F55E6CF8}"/>
              </a:ext>
            </a:extLst>
          </p:cNvPr>
          <p:cNvSpPr txBox="1"/>
          <p:nvPr/>
        </p:nvSpPr>
        <p:spPr>
          <a:xfrm>
            <a:off x="562620" y="1340768"/>
            <a:ext cx="457200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 Args&gt;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Args&amp;... args)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(... + args);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integerSum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mixedSum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Sum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2.5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3.5f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844719C-3812-4B91-4D70-45A7E34BD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656044"/>
              </p:ext>
            </p:extLst>
          </p:nvPr>
        </p:nvGraphicFramePr>
        <p:xfrm>
          <a:off x="2915816" y="3564286"/>
          <a:ext cx="5987777" cy="2091560"/>
        </p:xfrm>
        <a:graphic>
          <a:graphicData uri="http://schemas.openxmlformats.org/drawingml/2006/table">
            <a:tbl>
              <a:tblPr/>
              <a:tblGrid>
                <a:gridCol w="1716085">
                  <a:extLst>
                    <a:ext uri="{9D8B030D-6E8A-4147-A177-3AD203B41FA5}">
                      <a16:colId xmlns:a16="http://schemas.microsoft.com/office/drawing/2014/main" val="1877643187"/>
                    </a:ext>
                  </a:extLst>
                </a:gridCol>
                <a:gridCol w="2271651">
                  <a:extLst>
                    <a:ext uri="{9D8B030D-6E8A-4147-A177-3AD203B41FA5}">
                      <a16:colId xmlns:a16="http://schemas.microsoft.com/office/drawing/2014/main" val="3989398717"/>
                    </a:ext>
                  </a:extLst>
                </a:gridCol>
                <a:gridCol w="2000041">
                  <a:extLst>
                    <a:ext uri="{9D8B030D-6E8A-4147-A177-3AD203B41FA5}">
                      <a16:colId xmlns:a16="http://schemas.microsoft.com/office/drawing/2014/main" val="2661135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형태</a:t>
                      </a:r>
                      <a:endParaRPr lang="ko-KR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문법</a:t>
                      </a:r>
                      <a:endParaRPr lang="ko-KR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개념적 결합</a:t>
                      </a:r>
                      <a:endParaRPr lang="ko-KR" sz="1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790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단항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왼쪽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폴드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(...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pack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1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((a op b) op c)</a:t>
                      </a:r>
                      <a:endParaRPr lang="ko-KR" sz="18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489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단항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오른쪽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폴드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pack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...)</a:t>
                      </a:r>
                      <a:endParaRPr lang="ko-KR" sz="1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(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c))</a:t>
                      </a:r>
                      <a:endParaRPr lang="ko-KR" sz="1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140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이항 왼쪽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폴드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init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...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pack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1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((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init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1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858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이항 오른쪽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폴드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pack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...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init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1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(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init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))</a:t>
                      </a:r>
                      <a:endParaRPr lang="ko-KR" sz="1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4121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16049CE-ED30-B41B-00CC-6E16B9398775}"/>
              </a:ext>
            </a:extLst>
          </p:cNvPr>
          <p:cNvSpPr txBox="1"/>
          <p:nvPr/>
        </p:nvSpPr>
        <p:spPr>
          <a:xfrm>
            <a:off x="539750" y="5827296"/>
            <a:ext cx="4572000" cy="33855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빼기와 나누기는 결합 방향에 따라 결과가 달라짐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024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7BBD-8D55-9F57-21F1-82B5ADB7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DA96D-CBE1-CC9A-6020-BE81ECD2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10.5.5 </a:t>
            </a:r>
            <a:r>
              <a:rPr lang="ko-KR" altLang="en-US" dirty="0"/>
              <a:t>여러 인수 전달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318FC-17F1-A23B-DE1E-3DA53EFECB83}"/>
              </a:ext>
            </a:extLst>
          </p:cNvPr>
          <p:cNvSpPr txBox="1"/>
          <p:nvPr/>
        </p:nvSpPr>
        <p:spPr>
          <a:xfrm>
            <a:off x="395536" y="764704"/>
            <a:ext cx="4572000" cy="2893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enum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LogLevel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Info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Warning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 Args&gt;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LogLevel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Args&amp;... args)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'['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ToString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"]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((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args), ...);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E79A3B-8B7D-AB76-CC06-B140E5C27173}"/>
              </a:ext>
            </a:extLst>
          </p:cNvPr>
          <p:cNvSpPr txBox="1"/>
          <p:nvPr/>
        </p:nvSpPr>
        <p:spPr>
          <a:xfrm>
            <a:off x="4355976" y="3004865"/>
            <a:ext cx="4572000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LogLevel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Info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LogLevel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Warning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Low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stamina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12.5f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'%'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LogLevel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Cannot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file: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save.dat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C9E41C6B-1A63-53AC-8BC8-914096E682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95518"/>
              </p:ext>
            </p:extLst>
          </p:nvPr>
        </p:nvGraphicFramePr>
        <p:xfrm>
          <a:off x="395536" y="4293096"/>
          <a:ext cx="7200800" cy="1795168"/>
        </p:xfrm>
        <a:graphic>
          <a:graphicData uri="http://schemas.openxmlformats.org/drawingml/2006/table">
            <a:tbl>
              <a:tblPr/>
              <a:tblGrid>
                <a:gridCol w="3210953">
                  <a:extLst>
                    <a:ext uri="{9D8B030D-6E8A-4147-A177-3AD203B41FA5}">
                      <a16:colId xmlns:a16="http://schemas.microsoft.com/office/drawing/2014/main" val="583057521"/>
                    </a:ext>
                  </a:extLst>
                </a:gridCol>
                <a:gridCol w="3989847">
                  <a:extLst>
                    <a:ext uri="{9D8B030D-6E8A-4147-A177-3AD203B41FA5}">
                      <a16:colId xmlns:a16="http://schemas.microsoft.com/office/drawing/2014/main" val="29833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장점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주의점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22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인수 개수와 타입이 유연함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의미가 위치에 의존하면 혼란 가능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584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로그와 생성자 전달에 유용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전달에는 값 범주 보존 필요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278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공통 출력 패턴 구성 가능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출력 가능성 제약 필요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442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067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7549E-27EB-2A05-93CF-513436EF0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37561-C574-0EC3-F41D-F369EBDE9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10.6 Concepts (C++20)</a:t>
            </a:r>
            <a:r>
              <a:rPr lang="ko-KR" altLang="en-US" dirty="0"/>
              <a:t>와 제약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3D0FCA-B5B5-8007-5287-F1044D301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템플릿이 받을 수 있는 타입 조건을 선언에 표현</a:t>
            </a:r>
          </a:p>
          <a:p>
            <a:r>
              <a:rPr lang="ko-KR" altLang="en-US" sz="2400" dirty="0"/>
              <a:t>오류 위치를 호출 지점에 가깝게 만들 수 있음</a:t>
            </a:r>
          </a:p>
          <a:p>
            <a:r>
              <a:rPr lang="ko-KR" altLang="en-US" sz="2400" dirty="0"/>
              <a:t>오버로드 후보 제한과 더 구체적인 후보 선택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BB4CC-D437-9BDF-8DDB-049A10EF94A8}"/>
              </a:ext>
            </a:extLst>
          </p:cNvPr>
          <p:cNvSpPr txBox="1"/>
          <p:nvPr/>
        </p:nvSpPr>
        <p:spPr>
          <a:xfrm>
            <a:off x="536327" y="2348880"/>
            <a:ext cx="457200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integral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AddInteger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left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right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AddInteger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real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AddInteger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(1.5, 2.5); // 오류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6E9ADA3-3140-E299-42C6-E454A6EF7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231052"/>
              </p:ext>
            </p:extLst>
          </p:nvPr>
        </p:nvGraphicFramePr>
        <p:xfrm>
          <a:off x="4996333" y="2461642"/>
          <a:ext cx="3747641" cy="1041400"/>
        </p:xfrm>
        <a:graphic>
          <a:graphicData uri="http://schemas.openxmlformats.org/drawingml/2006/table">
            <a:tbl>
              <a:tblPr/>
              <a:tblGrid>
                <a:gridCol w="3747641">
                  <a:extLst>
                    <a:ext uri="{9D8B030D-6E8A-4147-A177-3AD203B41FA5}">
                      <a16:colId xmlns:a16="http://schemas.microsoft.com/office/drawing/2014/main" val="4132054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제약 없는 템플릿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본문 내부에서 오류 발생 가능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15789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2D9BF80-2810-D866-823E-EAAB93CDF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060782"/>
              </p:ext>
            </p:extLst>
          </p:nvPr>
        </p:nvGraphicFramePr>
        <p:xfrm>
          <a:off x="4996332" y="4028814"/>
          <a:ext cx="3747641" cy="1041400"/>
        </p:xfrm>
        <a:graphic>
          <a:graphicData uri="http://schemas.openxmlformats.org/drawingml/2006/table">
            <a:tbl>
              <a:tblPr/>
              <a:tblGrid>
                <a:gridCol w="3747641">
                  <a:extLst>
                    <a:ext uri="{9D8B030D-6E8A-4147-A177-3AD203B41FA5}">
                      <a16:colId xmlns:a16="http://schemas.microsoft.com/office/drawing/2014/main" val="4132054748"/>
                    </a:ext>
                  </a:extLst>
                </a:gridCol>
              </a:tblGrid>
              <a:tr h="23952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Concept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적용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인터페이스에서 요구 조건 표현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157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250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88739-4E24-7366-9C77-8AB8B522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5334A-9601-A0F3-00C2-E3EBFBEF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10.6.2 </a:t>
            </a:r>
            <a:r>
              <a:rPr lang="ko-KR" altLang="en-US" dirty="0"/>
              <a:t>표준 </a:t>
            </a:r>
            <a:r>
              <a:rPr lang="en-US" altLang="ko-KR" dirty="0"/>
              <a:t>Concept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7F43F13-A513-B3B9-B122-9C8DC314E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665810"/>
              </p:ext>
            </p:extLst>
          </p:nvPr>
        </p:nvGraphicFramePr>
        <p:xfrm>
          <a:off x="395536" y="692696"/>
          <a:ext cx="6951414" cy="4266152"/>
        </p:xfrm>
        <a:graphic>
          <a:graphicData uri="http://schemas.openxmlformats.org/drawingml/2006/table">
            <a:tbl>
              <a:tblPr/>
              <a:tblGrid>
                <a:gridCol w="4050320">
                  <a:extLst>
                    <a:ext uri="{9D8B030D-6E8A-4147-A177-3AD203B41FA5}">
                      <a16:colId xmlns:a16="http://schemas.microsoft.com/office/drawing/2014/main" val="1050024381"/>
                    </a:ext>
                  </a:extLst>
                </a:gridCol>
                <a:gridCol w="2901094">
                  <a:extLst>
                    <a:ext uri="{9D8B030D-6E8A-4147-A177-3AD203B41FA5}">
                      <a16:colId xmlns:a16="http://schemas.microsoft.com/office/drawing/2014/main" val="1228320420"/>
                    </a:ext>
                  </a:extLst>
                </a:gridCol>
              </a:tblGrid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Concept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2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20245"/>
                  </a:ext>
                </a:extLst>
              </a:tr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same_as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두 타입이 같음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35760"/>
                  </a:ext>
                </a:extLst>
              </a:tr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std::derived_from&lt;D, B&gt;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D가 B의 공개 파생 타입</a:t>
                      </a:r>
                      <a:endParaRPr lang="ko-KR" sz="2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428967"/>
                  </a:ext>
                </a:extLst>
              </a:tr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convertible_to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F에서 T로 변환 가능</a:t>
                      </a:r>
                      <a:endParaRPr lang="ko-KR" sz="2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846692"/>
                  </a:ext>
                </a:extLst>
              </a:tr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std::integral&lt;T&gt;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정수형 범주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597644"/>
                  </a:ext>
                </a:extLst>
              </a:tr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std::floating_point&lt;T&gt;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부동소수점형 범주</a:t>
                      </a:r>
                      <a:endParaRPr lang="ko-KR" sz="2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53439"/>
                  </a:ext>
                </a:extLst>
              </a:tr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std::constructible_from&lt;T, Args...&gt;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지정한 인수로 </a:t>
                      </a: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생성 가능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788234"/>
                  </a:ext>
                </a:extLst>
              </a:tr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std::copyable&lt;T&gt;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가능한 값 타입 요구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91325"/>
                  </a:ext>
                </a:extLst>
              </a:tr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std::movable&lt;T&gt;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가능한 값 타입 요구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137041"/>
                  </a:ext>
                </a:extLst>
              </a:tr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std::invocable&lt;F, Args...&gt;</a:t>
                      </a:r>
                      <a:endParaRPr lang="ko-KR" sz="2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지정한 인수로 호출 가능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58072"/>
                  </a:ext>
                </a:extLst>
              </a:tr>
              <a:tr h="30112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predicate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6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</a:t>
                      </a: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Args...&gt;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논리 판정 함수로 사용 가능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59298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59D636F-860F-82FD-0010-A585952258B6}"/>
              </a:ext>
            </a:extLst>
          </p:cNvPr>
          <p:cNvSpPr txBox="1"/>
          <p:nvPr/>
        </p:nvSpPr>
        <p:spPr>
          <a:xfrm>
            <a:off x="395536" y="5229200"/>
            <a:ext cx="4572000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floating_point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HalfValue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/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32F727-8F73-D517-937B-A41C4FCFC576}"/>
              </a:ext>
            </a:extLst>
          </p:cNvPr>
          <p:cNvSpPr txBox="1"/>
          <p:nvPr/>
        </p:nvSpPr>
        <p:spPr>
          <a:xfrm>
            <a:off x="4572000" y="5898509"/>
            <a:ext cx="4572000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의미 조건까지 컴파일러가 검증하는 것은 아님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6567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4582E-EC31-46E9-52B3-AF270098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4767E-B007-5A19-027D-CCE2CCE2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10.6.3 requires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44E32-002E-334A-2925-FE63A1128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 err="1"/>
              <a:t>requires</a:t>
            </a:r>
            <a:r>
              <a:rPr lang="en-US" altLang="ko-KR" sz="2400" dirty="0"/>
              <a:t> :</a:t>
            </a:r>
            <a:r>
              <a:rPr lang="ko-KR" altLang="ko-KR" sz="2400" dirty="0"/>
              <a:t> 템플릿 선언에 논리 제약 추가</a:t>
            </a:r>
            <a:br>
              <a:rPr lang="ko-KR" altLang="ko-KR" sz="2400" dirty="0"/>
            </a:br>
            <a:endParaRPr lang="ko-KR" alt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1203B8-A438-94B6-3369-5AFB1C323F3C}"/>
              </a:ext>
            </a:extLst>
          </p:cNvPr>
          <p:cNvSpPr txBox="1"/>
          <p:nvPr/>
        </p:nvSpPr>
        <p:spPr>
          <a:xfrm>
            <a:off x="539750" y="1268760"/>
            <a:ext cx="3888234" cy="569386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requires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integral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AbsValue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? -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AbsValue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requires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integral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? -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signed_integral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Negative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Increment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integral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CBE1249-22F0-B5B4-31BF-24168E4DC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652875"/>
              </p:ext>
            </p:extLst>
          </p:nvPr>
        </p:nvGraphicFramePr>
        <p:xfrm>
          <a:off x="4283968" y="3789040"/>
          <a:ext cx="4608512" cy="1795168"/>
        </p:xfrm>
        <a:graphic>
          <a:graphicData uri="http://schemas.openxmlformats.org/drawingml/2006/table">
            <a:tbl>
              <a:tblPr/>
              <a:tblGrid>
                <a:gridCol w="1726452">
                  <a:extLst>
                    <a:ext uri="{9D8B030D-6E8A-4147-A177-3AD203B41FA5}">
                      <a16:colId xmlns:a16="http://schemas.microsoft.com/office/drawing/2014/main" val="3704624852"/>
                    </a:ext>
                  </a:extLst>
                </a:gridCol>
                <a:gridCol w="2882060">
                  <a:extLst>
                    <a:ext uri="{9D8B030D-6E8A-4147-A177-3AD203B41FA5}">
                      <a16:colId xmlns:a16="http://schemas.microsoft.com/office/drawing/2014/main" val="1177599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작성 위치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313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템플릿 선언 뒤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조건이 먼저 보임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08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 선언 뒤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긴 반환 타입에서 읽기 쉬움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07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매개변수 자리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간결한 제약 표현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608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1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AEA7A-11E6-733E-D2FF-B2FD4188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CF598-CE9C-8D84-89AC-A8F79CBEE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10.6.4 requires </a:t>
            </a:r>
            <a:r>
              <a:rPr lang="ko-KR" altLang="en-US" dirty="0"/>
              <a:t>표현식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20A2E-4058-A432-2CC3-5D3CC50144A2}"/>
              </a:ext>
            </a:extLst>
          </p:cNvPr>
          <p:cNvSpPr txBox="1"/>
          <p:nvPr/>
        </p:nvSpPr>
        <p:spPr>
          <a:xfrm>
            <a:off x="323528" y="836712"/>
            <a:ext cx="4611303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HasSize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requires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HasValueType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requires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T::value_type;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88DFD-499B-6A44-8B82-A66EE67EA5E6}"/>
              </a:ext>
            </a:extLst>
          </p:cNvPr>
          <p:cNvSpPr txBox="1"/>
          <p:nvPr/>
        </p:nvSpPr>
        <p:spPr>
          <a:xfrm>
            <a:off x="1043608" y="3501008"/>
            <a:ext cx="5544616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ReadableHealth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requires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value.GetHp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}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-&gt;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same_as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490233-56A8-646E-AA69-F157DFC16D53}"/>
              </a:ext>
            </a:extLst>
          </p:cNvPr>
          <p:cNvSpPr txBox="1"/>
          <p:nvPr/>
        </p:nvSpPr>
        <p:spPr>
          <a:xfrm>
            <a:off x="323528" y="5481966"/>
            <a:ext cx="6264696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requires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표현식은 실제 실행이 아니라 컴파일 시점 검사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2F930CC-00A0-2884-D3E1-1F45DE7451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168502"/>
              </p:ext>
            </p:extLst>
          </p:nvPr>
        </p:nvGraphicFramePr>
        <p:xfrm>
          <a:off x="4644008" y="1863395"/>
          <a:ext cx="4141365" cy="2091560"/>
        </p:xfrm>
        <a:graphic>
          <a:graphicData uri="http://schemas.openxmlformats.org/drawingml/2006/table">
            <a:tbl>
              <a:tblPr/>
              <a:tblGrid>
                <a:gridCol w="1234183">
                  <a:extLst>
                    <a:ext uri="{9D8B030D-6E8A-4147-A177-3AD203B41FA5}">
                      <a16:colId xmlns:a16="http://schemas.microsoft.com/office/drawing/2014/main" val="705963484"/>
                    </a:ext>
                  </a:extLst>
                </a:gridCol>
                <a:gridCol w="2907182">
                  <a:extLst>
                    <a:ext uri="{9D8B030D-6E8A-4147-A177-3AD203B41FA5}">
                      <a16:colId xmlns:a16="http://schemas.microsoft.com/office/drawing/2014/main" val="29452177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요구 조건</a:t>
                      </a:r>
                      <a:endParaRPr lang="ko-KR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검사 내용</a:t>
                      </a:r>
                      <a:endParaRPr lang="ko-KR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073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단순 요구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표현식이 유효한가</a:t>
                      </a:r>
                      <a:endParaRPr lang="ko-KR" sz="1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22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요구</a:t>
                      </a:r>
                      <a:endParaRPr lang="ko-KR" sz="1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중첩 타입이 존재하는가</a:t>
                      </a:r>
                      <a:endParaRPr lang="ko-KR" sz="1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80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복합 요구</a:t>
                      </a:r>
                      <a:endParaRPr lang="ko-KR" sz="18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표현식, noexcept, 결과 타입</a:t>
                      </a:r>
                      <a:endParaRPr lang="ko-KR" sz="1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252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중첩 요구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추가 논리 조건</a:t>
                      </a:r>
                      <a:endParaRPr lang="ko-KR" sz="1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22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558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3E49-9D43-75EB-EF8D-09001008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264422-A0A5-AB78-5697-60F51FCA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10.6.5 </a:t>
            </a:r>
            <a:r>
              <a:rPr lang="ko-KR" altLang="en-US" dirty="0"/>
              <a:t>사용자 정의 </a:t>
            </a:r>
            <a:r>
              <a:rPr lang="en-US" altLang="ko-KR" dirty="0"/>
              <a:t>Concept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A3D66C6-A546-93D0-5C32-2BCAFDB1A003}"/>
              </a:ext>
            </a:extLst>
          </p:cNvPr>
          <p:cNvSpPr txBox="1">
            <a:spLocks/>
          </p:cNvSpPr>
          <p:nvPr/>
        </p:nvSpPr>
        <p:spPr bwMode="auto">
          <a:xfrm>
            <a:off x="107504" y="692150"/>
            <a:ext cx="8928992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ko-KR" sz="2400" dirty="0" err="1"/>
              <a:t>Concept</a:t>
            </a:r>
            <a:r>
              <a:rPr lang="ko-KR" altLang="ko-KR" sz="2400" dirty="0"/>
              <a:t> 만족 선언 문법은 없음</a:t>
            </a:r>
          </a:p>
          <a:p>
            <a:pPr lvl="0"/>
            <a:r>
              <a:rPr lang="ko-KR" altLang="ko-KR" sz="2400" dirty="0"/>
              <a:t>사용 지점에서 요구 조건 검사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260BF-B26B-3FF3-7EC1-6F50B54A964A}"/>
              </a:ext>
            </a:extLst>
          </p:cNvPr>
          <p:cNvSpPr txBox="1"/>
          <p:nvPr/>
        </p:nvSpPr>
        <p:spPr>
          <a:xfrm>
            <a:off x="539601" y="1772816"/>
            <a:ext cx="4248522" cy="483209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DamageableObject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requires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target.TakeDamage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} -&gt;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convertible_to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target.IsDead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} -&gt;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convertible_to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DamageableObject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ApplyDamage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||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target.IsDead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target.TakeDamage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0AF5A69F-824F-E9C5-0AAD-B6F40634A8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3326241"/>
              </p:ext>
            </p:extLst>
          </p:nvPr>
        </p:nvGraphicFramePr>
        <p:xfrm>
          <a:off x="4291483" y="2996952"/>
          <a:ext cx="4715644" cy="1551328"/>
        </p:xfrm>
        <a:graphic>
          <a:graphicData uri="http://schemas.openxmlformats.org/drawingml/2006/table">
            <a:tbl>
              <a:tblPr/>
              <a:tblGrid>
                <a:gridCol w="1546112">
                  <a:extLst>
                    <a:ext uri="{9D8B030D-6E8A-4147-A177-3AD203B41FA5}">
                      <a16:colId xmlns:a16="http://schemas.microsoft.com/office/drawing/2014/main" val="2371387236"/>
                    </a:ext>
                  </a:extLst>
                </a:gridCol>
                <a:gridCol w="3169532">
                  <a:extLst>
                    <a:ext uri="{9D8B030D-6E8A-4147-A177-3AD203B41FA5}">
                      <a16:colId xmlns:a16="http://schemas.microsoft.com/office/drawing/2014/main" val="4153994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특징</a:t>
                      </a:r>
                      <a:endParaRPr lang="ko-KR" sz="2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682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상속 필요 없음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요구 함수가 있으면 사용 가능</a:t>
                      </a:r>
                      <a:endParaRPr lang="ko-KR" sz="28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671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정적 인터페이스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컴파일 시점에 검사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500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이름 중요</a:t>
                      </a:r>
                      <a:endParaRPr lang="ko-KR" sz="28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DamageableObject처럼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역할 중심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82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741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76878-BB12-E216-914F-9CE2F170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D919A-3D21-E552-7618-B0645D34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 </a:t>
            </a:r>
            <a:r>
              <a:rPr lang="ko-KR" altLang="en-US" dirty="0"/>
              <a:t>타입 특성과 조건부 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446BF2-BF23-E21B-C797-2E84F4EFC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타입 특성은 컴파일 시점에 타입 성질을 확인하거나 변환</a:t>
            </a:r>
          </a:p>
          <a:p>
            <a:pPr lvl="0"/>
            <a:r>
              <a:rPr lang="ko-KR" altLang="ko-KR" sz="2400" dirty="0"/>
              <a:t>&lt;</a:t>
            </a:r>
            <a:r>
              <a:rPr lang="ko-KR" altLang="ko-KR" sz="2400" dirty="0" err="1"/>
              <a:t>type_traits</a:t>
            </a:r>
            <a:r>
              <a:rPr lang="ko-KR" altLang="ko-KR" sz="2400" dirty="0"/>
              <a:t>&gt; 헤더 제공</a:t>
            </a:r>
          </a:p>
          <a:p>
            <a:pPr lvl="0"/>
            <a:r>
              <a:rPr lang="ko-KR" altLang="ko-KR" sz="2400" dirty="0" err="1"/>
              <a:t>static_assert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if</a:t>
            </a:r>
            <a:r>
              <a:rPr lang="ko-KR" altLang="ko-KR" sz="2400" dirty="0"/>
              <a:t> constexpr, </a:t>
            </a:r>
            <a:r>
              <a:rPr lang="ko-KR" altLang="ko-KR" sz="2400" dirty="0" err="1"/>
              <a:t>Concept</a:t>
            </a:r>
            <a:r>
              <a:rPr lang="ko-KR" altLang="ko-KR" sz="2400" dirty="0"/>
              <a:t> 정의에 사용</a:t>
            </a:r>
          </a:p>
          <a:p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92A76-61B5-FED0-B56A-6C464BF0E827}"/>
              </a:ext>
            </a:extLst>
          </p:cNvPr>
          <p:cNvSpPr txBox="1"/>
          <p:nvPr/>
        </p:nvSpPr>
        <p:spPr>
          <a:xfrm>
            <a:off x="527199" y="2248069"/>
            <a:ext cx="7704658" cy="427809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type_traits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is_integral_v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(!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is_integral_v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IsPointer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IsPointer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inline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IsPointerValue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IsPointer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4495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B9909-E81E-4DE7-E05B-2D7F9B75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C6259B-3BF4-03D6-8381-82DBE3860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10.7.2 </a:t>
            </a:r>
            <a:r>
              <a:rPr lang="ko-KR" altLang="en-US" dirty="0"/>
              <a:t>타입 판정과 타입 변환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81D9F3-72A2-C765-C635-999A28CEF0A7}"/>
              </a:ext>
            </a:extLst>
          </p:cNvPr>
          <p:cNvSpPr txBox="1"/>
          <p:nvPr/>
        </p:nvSpPr>
        <p:spPr>
          <a:xfrm>
            <a:off x="323528" y="826278"/>
            <a:ext cx="5688632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type_traits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First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remove_reference_t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remove_reference_t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&lt;First,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remove_cvref_t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add_pointer_t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Pointee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remove_pointer_t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Common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common_type_t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Common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02819D34-966B-CA50-35E0-0D991E262A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1631572"/>
              </p:ext>
            </p:extLst>
          </p:nvPr>
        </p:nvGraphicFramePr>
        <p:xfrm>
          <a:off x="3198279" y="4365708"/>
          <a:ext cx="5524636" cy="2243960"/>
        </p:xfrm>
        <a:graphic>
          <a:graphicData uri="http://schemas.openxmlformats.org/drawingml/2006/table">
            <a:tbl>
              <a:tblPr/>
              <a:tblGrid>
                <a:gridCol w="2663664">
                  <a:extLst>
                    <a:ext uri="{9D8B030D-6E8A-4147-A177-3AD203B41FA5}">
                      <a16:colId xmlns:a16="http://schemas.microsoft.com/office/drawing/2014/main" val="2156774059"/>
                    </a:ext>
                  </a:extLst>
                </a:gridCol>
                <a:gridCol w="2860972">
                  <a:extLst>
                    <a:ext uri="{9D8B030D-6E8A-4147-A177-3AD203B41FA5}">
                      <a16:colId xmlns:a16="http://schemas.microsoft.com/office/drawing/2014/main" val="3949502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변환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129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remove_reference_t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 제거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00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remove_cvref_t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참조와 최상위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cv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제거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decay_t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전달과 유사한 변환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494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common_type_t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공통 타입 계산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489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166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4D215-F022-6A0D-B1D1-6AE83A295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3F3DE-E7DC-B229-7591-3EDF5B7F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10.7.3 if constexpr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2B9F06-BBC1-CBC2-87D2-D6E741663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컴파일 시점 조건문</a:t>
            </a:r>
          </a:p>
          <a:p>
            <a:pPr lvl="0"/>
            <a:r>
              <a:rPr lang="ko-KR" altLang="ko-KR" sz="2400" dirty="0"/>
              <a:t>조건은 상수 표현식</a:t>
            </a:r>
          </a:p>
          <a:p>
            <a:pPr lvl="0"/>
            <a:r>
              <a:rPr lang="ko-KR" altLang="ko-KR" sz="2400" dirty="0"/>
              <a:t>선택되지 않은 분기는 해당 특수화에서 </a:t>
            </a:r>
            <a:r>
              <a:rPr lang="ko-KR" altLang="ko-KR" sz="2400" dirty="0" err="1"/>
              <a:t>인스턴스화되지</a:t>
            </a:r>
            <a:r>
              <a:rPr lang="ko-KR" altLang="ko-KR" sz="2400" dirty="0"/>
              <a:t> 않음</a:t>
            </a:r>
          </a:p>
          <a:p>
            <a:r>
              <a:rPr lang="ko-KR" altLang="ko-KR" sz="2400" dirty="0"/>
              <a:t>하나의 구현 안에서 작은 타입별 차이를 처리할 때 적합</a:t>
            </a:r>
            <a:br>
              <a:rPr lang="ko-KR" altLang="ko-KR" sz="2400" dirty="0"/>
            </a:b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A7A3C-97EE-A81F-B62F-9B22CC536876}"/>
              </a:ext>
            </a:extLst>
          </p:cNvPr>
          <p:cNvSpPr txBox="1"/>
          <p:nvPr/>
        </p:nvSpPr>
        <p:spPr>
          <a:xfrm>
            <a:off x="539750" y="2585561"/>
            <a:ext cx="7416626" cy="39703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type_traits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PrintCategory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is_integral_v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is_floating_point_v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real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09669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CACAC-9AC9-38D9-AF6A-12C072F0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6E4A1-3D8B-9EB5-2366-8B4FF219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10.7.3 if constexpr</a:t>
            </a:r>
            <a:r>
              <a:rPr lang="ko-KR" altLang="en-US" dirty="0"/>
              <a:t>와 </a:t>
            </a:r>
            <a:r>
              <a:rPr lang="en-US" altLang="ko-KR" dirty="0"/>
              <a:t>requires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C973A-323A-8C48-C60C-DC78C62A2137}"/>
              </a:ext>
            </a:extLst>
          </p:cNvPr>
          <p:cNvSpPr txBox="1"/>
          <p:nvPr/>
        </p:nvSpPr>
        <p:spPr>
          <a:xfrm>
            <a:off x="539750" y="836712"/>
            <a:ext cx="3888234" cy="267765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Clear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requires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value.clear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})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value.clear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922D7-D0DC-2109-4124-731759E2986D}"/>
              </a:ext>
            </a:extLst>
          </p:cNvPr>
          <p:cNvSpPr txBox="1"/>
          <p:nvPr/>
        </p:nvSpPr>
        <p:spPr>
          <a:xfrm>
            <a:off x="4427984" y="836712"/>
            <a:ext cx="3600400" cy="267765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constexpr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is_pointer_v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9D20E09B-AE83-3EC1-68D4-2F03DC0FD3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441468"/>
              </p:ext>
            </p:extLst>
          </p:nvPr>
        </p:nvGraphicFramePr>
        <p:xfrm>
          <a:off x="539750" y="4005064"/>
          <a:ext cx="7488634" cy="1727200"/>
        </p:xfrm>
        <a:graphic>
          <a:graphicData uri="http://schemas.openxmlformats.org/drawingml/2006/table">
            <a:tbl>
              <a:tblPr/>
              <a:tblGrid>
                <a:gridCol w="4419794">
                  <a:extLst>
                    <a:ext uri="{9D8B030D-6E8A-4147-A177-3AD203B41FA5}">
                      <a16:colId xmlns:a16="http://schemas.microsoft.com/office/drawing/2014/main" val="2414068640"/>
                    </a:ext>
                  </a:extLst>
                </a:gridCol>
                <a:gridCol w="3068840">
                  <a:extLst>
                    <a:ext uri="{9D8B030D-6E8A-4147-A177-3AD203B41FA5}">
                      <a16:colId xmlns:a16="http://schemas.microsoft.com/office/drawing/2014/main" val="115579322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상황</a:t>
                      </a:r>
                      <a:endParaRPr lang="ko-KR" sz="3600" dirty="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적합한 방법</a:t>
                      </a:r>
                      <a:endParaRPr lang="ko-KR" sz="3600">
                        <a:effectLst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2693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 사용 가능 조건이 다름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Concept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제약 오버로딩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73585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하나의 알고리즘 내부 일부만 다름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if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constexpr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39795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 구조와 공개 인터페이스가 다름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부분 특수화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542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012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46C9C-CAEC-C853-2C3E-055A77C1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EEBC7-9EE5-9BCE-C886-AADA41B46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10.7.4 SFINAE</a:t>
            </a:r>
            <a:r>
              <a:rPr lang="ko-KR" altLang="en-US" dirty="0"/>
              <a:t>와 </a:t>
            </a:r>
            <a:r>
              <a:rPr lang="en-US" altLang="ko-KR" dirty="0" err="1"/>
              <a:t>enable_if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EAC3B4-CBD4-C403-554A-30825A88C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z="2400" dirty="0" err="1"/>
              <a:t>스피네이</a:t>
            </a:r>
            <a:r>
              <a:rPr lang="en-US" altLang="ko-KR" sz="2400" dirty="0"/>
              <a:t>(</a:t>
            </a:r>
            <a:r>
              <a:rPr lang="ko-KR" altLang="ko-KR" sz="2400" dirty="0"/>
              <a:t>SFINAE</a:t>
            </a:r>
            <a:r>
              <a:rPr lang="en-US" altLang="ko-KR" sz="2400" dirty="0"/>
              <a:t>)</a:t>
            </a:r>
            <a:r>
              <a:rPr lang="ko-KR" altLang="ko-KR" sz="2400" dirty="0"/>
              <a:t>: </a:t>
            </a:r>
            <a:r>
              <a:rPr lang="en-US" altLang="ko-KR" sz="2400" dirty="0"/>
              <a:t>S</a:t>
            </a:r>
            <a:r>
              <a:rPr lang="ko-KR" altLang="ko-KR" sz="2400" dirty="0" err="1"/>
              <a:t>ubstitution</a:t>
            </a:r>
            <a:r>
              <a:rPr lang="ko-KR" altLang="ko-KR" sz="2400" dirty="0"/>
              <a:t> </a:t>
            </a:r>
            <a:r>
              <a:rPr lang="en-US" altLang="ko-KR" sz="2400" dirty="0"/>
              <a:t>F</a:t>
            </a:r>
            <a:r>
              <a:rPr lang="ko-KR" altLang="ko-KR" sz="2400" dirty="0" err="1"/>
              <a:t>ailure</a:t>
            </a:r>
            <a:r>
              <a:rPr lang="ko-KR" altLang="ko-KR" sz="2400" dirty="0"/>
              <a:t> </a:t>
            </a:r>
            <a:r>
              <a:rPr lang="en-US" altLang="ko-KR" sz="2400" dirty="0"/>
              <a:t>I</a:t>
            </a:r>
            <a:r>
              <a:rPr lang="ko-KR" altLang="ko-KR" sz="2400" dirty="0" err="1"/>
              <a:t>s</a:t>
            </a:r>
            <a:r>
              <a:rPr lang="ko-KR" altLang="ko-KR" sz="2400" dirty="0"/>
              <a:t> </a:t>
            </a:r>
            <a:r>
              <a:rPr lang="en-US" altLang="ko-KR" sz="2400" dirty="0"/>
              <a:t>N</a:t>
            </a:r>
            <a:r>
              <a:rPr lang="ko-KR" altLang="ko-KR" sz="2400" dirty="0" err="1"/>
              <a:t>ot</a:t>
            </a:r>
            <a:r>
              <a:rPr lang="ko-KR" altLang="ko-KR" sz="2400" dirty="0"/>
              <a:t> </a:t>
            </a:r>
            <a:r>
              <a:rPr lang="en-US" altLang="ko-KR" sz="2400" dirty="0"/>
              <a:t>A</a:t>
            </a:r>
            <a:r>
              <a:rPr lang="ko-KR" altLang="ko-KR" sz="2400" dirty="0" err="1"/>
              <a:t>n</a:t>
            </a:r>
            <a:r>
              <a:rPr lang="ko-KR" altLang="ko-KR" sz="2400" dirty="0"/>
              <a:t> </a:t>
            </a:r>
            <a:r>
              <a:rPr lang="en-US" altLang="ko-KR" sz="2400" dirty="0"/>
              <a:t>E</a:t>
            </a:r>
            <a:r>
              <a:rPr lang="ko-KR" altLang="ko-KR" sz="2400" dirty="0" err="1"/>
              <a:t>rror</a:t>
            </a:r>
            <a:endParaRPr lang="ko-KR" altLang="ko-KR" sz="2400" dirty="0"/>
          </a:p>
          <a:p>
            <a:pPr lvl="0"/>
            <a:r>
              <a:rPr lang="ko-KR" altLang="ko-KR" sz="2400" dirty="0"/>
              <a:t>템플릿 인수 대입 실패를 전체 오류가 아니라 후보 제거로 처리</a:t>
            </a:r>
          </a:p>
          <a:p>
            <a:pPr lvl="0"/>
            <a:r>
              <a:rPr lang="ko-KR" altLang="ko-KR" sz="2400" dirty="0"/>
              <a:t>C++20 이전 제약 표현에 널리 사용</a:t>
            </a:r>
          </a:p>
          <a:p>
            <a:endParaRPr lang="ko-KR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BB216-1DD1-E144-2BA4-158EB6558415}"/>
              </a:ext>
            </a:extLst>
          </p:cNvPr>
          <p:cNvSpPr txBox="1"/>
          <p:nvPr/>
        </p:nvSpPr>
        <p:spPr>
          <a:xfrm>
            <a:off x="539750" y="2242736"/>
            <a:ext cx="4572000" cy="375487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type_traits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enable_if_t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is_integral_v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real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DoubleValue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(1.5); // 후보 없음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integral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DoubleValueModern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43F8CC2-BBCA-4053-865D-0902F9003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396060"/>
              </p:ext>
            </p:extLst>
          </p:nvPr>
        </p:nvGraphicFramePr>
        <p:xfrm>
          <a:off x="3779912" y="5157192"/>
          <a:ext cx="5144393" cy="1254936"/>
        </p:xfrm>
        <a:graphic>
          <a:graphicData uri="http://schemas.openxmlformats.org/drawingml/2006/table">
            <a:tbl>
              <a:tblPr/>
              <a:tblGrid>
                <a:gridCol w="2603640">
                  <a:extLst>
                    <a:ext uri="{9D8B030D-6E8A-4147-A177-3AD203B41FA5}">
                      <a16:colId xmlns:a16="http://schemas.microsoft.com/office/drawing/2014/main" val="3776417467"/>
                    </a:ext>
                  </a:extLst>
                </a:gridCol>
                <a:gridCol w="2540753">
                  <a:extLst>
                    <a:ext uri="{9D8B030D-6E8A-4147-A177-3AD203B41FA5}">
                      <a16:colId xmlns:a16="http://schemas.microsoft.com/office/drawing/2014/main" val="2050535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방식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모던 C++20 방식</a:t>
                      </a:r>
                      <a:endParaRPr lang="ko-KR" sz="32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805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enable_if_t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Concepts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486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조건이 타입 표현 안에 숨음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선언에 요구 조건이 드러남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430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710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63023-096F-58E4-3969-B1DDA6F0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3D32DF-CB75-5191-4274-C426DF73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10.7.5 </a:t>
            </a:r>
            <a:r>
              <a:rPr lang="ko-KR" altLang="en-US" dirty="0"/>
              <a:t>제약 방식 선택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F42ABD8-E206-77D0-64F8-61B5A56A60BB}"/>
              </a:ext>
            </a:extLst>
          </p:cNvPr>
          <p:cNvSpPr txBox="1">
            <a:spLocks/>
          </p:cNvSpPr>
          <p:nvPr/>
        </p:nvSpPr>
        <p:spPr bwMode="auto">
          <a:xfrm>
            <a:off x="107504" y="692150"/>
            <a:ext cx="8928992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Pct val="60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2400" dirty="0"/>
              <a:t>C++20 신규 인터페이스는 </a:t>
            </a:r>
            <a:r>
              <a:rPr lang="ko-KR" altLang="ko-KR" sz="2400" dirty="0" err="1"/>
              <a:t>Concepts</a:t>
            </a:r>
            <a:r>
              <a:rPr lang="ko-KR" altLang="ko-KR" sz="2400" dirty="0"/>
              <a:t> 우선</a:t>
            </a:r>
          </a:p>
          <a:p>
            <a:endParaRPr lang="ko-KR" altLang="en-US" sz="2400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34D6899-E557-9250-054B-33920ABD4F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5773116"/>
              </p:ext>
            </p:extLst>
          </p:nvPr>
        </p:nvGraphicFramePr>
        <p:xfrm>
          <a:off x="323528" y="1268760"/>
          <a:ext cx="8136706" cy="2928184"/>
        </p:xfrm>
        <a:graphic>
          <a:graphicData uri="http://schemas.openxmlformats.org/drawingml/2006/table">
            <a:tbl>
              <a:tblPr/>
              <a:tblGrid>
                <a:gridCol w="1811404">
                  <a:extLst>
                    <a:ext uri="{9D8B030D-6E8A-4147-A177-3AD203B41FA5}">
                      <a16:colId xmlns:a16="http://schemas.microsoft.com/office/drawing/2014/main" val="2770420619"/>
                    </a:ext>
                  </a:extLst>
                </a:gridCol>
                <a:gridCol w="3505941">
                  <a:extLst>
                    <a:ext uri="{9D8B030D-6E8A-4147-A177-3AD203B41FA5}">
                      <a16:colId xmlns:a16="http://schemas.microsoft.com/office/drawing/2014/main" val="143954382"/>
                    </a:ext>
                  </a:extLst>
                </a:gridCol>
                <a:gridCol w="2819361">
                  <a:extLst>
                    <a:ext uri="{9D8B030D-6E8A-4147-A177-3AD203B41FA5}">
                      <a16:colId xmlns:a16="http://schemas.microsoft.com/office/drawing/2014/main" val="26341762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기능</a:t>
                      </a:r>
                      <a:endParaRPr lang="ko-KR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주된 역할</a:t>
                      </a:r>
                      <a:endParaRPr lang="ko-KR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적합한 위치</a:t>
                      </a:r>
                      <a:endParaRPr lang="ko-KR" sz="1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58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특성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판정과 타입 변환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구현 내부, Concept 정의</a:t>
                      </a:r>
                      <a:endParaRPr lang="ko-KR" sz="1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9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static_assert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선택된 템플릿의 필수 조건 검사</a:t>
                      </a:r>
                      <a:endParaRPr lang="ko-KR" sz="1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클래스나 함수 본문</a:t>
                      </a:r>
                      <a:endParaRPr lang="ko-KR" sz="1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735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if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constexpr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컴파일 시점 분기</a:t>
                      </a:r>
                      <a:endParaRPr lang="ko-KR" sz="1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함수와 멤버 함수 본문</a:t>
                      </a:r>
                      <a:endParaRPr lang="ko-KR" sz="1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73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SFINAE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부적합한 함수 후보 제거</a:t>
                      </a:r>
                      <a:endParaRPr lang="ko-KR" sz="1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C++17 호환 인터페이스</a:t>
                      </a:r>
                      <a:endParaRPr lang="ko-KR" sz="1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723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Concepts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요구 조건과 제약 오버로딩</a:t>
                      </a:r>
                      <a:endParaRPr lang="ko-KR" sz="1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C++20 공개 인터페이스</a:t>
                      </a:r>
                      <a:endParaRPr lang="ko-KR" sz="1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8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특수화</a:t>
                      </a:r>
                      <a:endParaRPr lang="ko-KR" sz="1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형태에 따른 전체 구현 변경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 저장 구조와 정책</a:t>
                      </a:r>
                      <a:endParaRPr lang="ko-KR" sz="1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9408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24E7963-03F0-85CA-D9BD-6DB2989DADBC}"/>
              </a:ext>
            </a:extLst>
          </p:cNvPr>
          <p:cNvSpPr txBox="1"/>
          <p:nvPr/>
        </p:nvSpPr>
        <p:spPr>
          <a:xfrm>
            <a:off x="344488" y="4437112"/>
            <a:ext cx="3867472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integral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&amp;&amp;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signed_integral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D65F7D-2B31-BBC4-E507-267B49D797A7}"/>
              </a:ext>
            </a:extLst>
          </p:cNvPr>
          <p:cNvSpPr txBox="1"/>
          <p:nvPr/>
        </p:nvSpPr>
        <p:spPr>
          <a:xfrm>
            <a:off x="3635896" y="4437112"/>
            <a:ext cx="4464496" cy="224676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  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 {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12693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943EF-8F3E-6A21-E48D-4592D59E3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62B35-68B4-53EF-D7A8-959A5979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10.8 </a:t>
            </a:r>
            <a:r>
              <a:rPr lang="ko-KR" altLang="en-US" dirty="0"/>
              <a:t>전달 참조와 완벽 전달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557A93-8801-CDAD-0EFC-EEA971FE8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제네릭 함수가 받은 인수를 다른 함수나 생성자에 전달</a:t>
            </a:r>
          </a:p>
          <a:p>
            <a:pPr lvl="0"/>
            <a:r>
              <a:rPr lang="ko-KR" altLang="ko-KR" sz="2400" dirty="0"/>
              <a:t>타입뿐 아니라 값 범주도 보존해야 할 수 있음</a:t>
            </a:r>
          </a:p>
          <a:p>
            <a:pPr lvl="0"/>
            <a:r>
              <a:rPr lang="en-US" altLang="ko-KR" sz="2400" dirty="0" err="1"/>
              <a:t>lvalue</a:t>
            </a:r>
            <a:r>
              <a:rPr lang="ko-KR" altLang="ko-KR" sz="2400" dirty="0"/>
              <a:t>은 </a:t>
            </a:r>
            <a:r>
              <a:rPr lang="en-US" altLang="ko-KR" sz="2400" dirty="0" err="1"/>
              <a:t>lvalue</a:t>
            </a:r>
            <a:r>
              <a:rPr lang="ko-KR" altLang="ko-KR" sz="2400" dirty="0"/>
              <a:t>으로, </a:t>
            </a:r>
            <a:r>
              <a:rPr lang="en-US" altLang="ko-KR" sz="2400" dirty="0" err="1"/>
              <a:t>rvalue</a:t>
            </a:r>
            <a:r>
              <a:rPr lang="ko-KR" altLang="ko-KR" sz="2400" dirty="0"/>
              <a:t>은 </a:t>
            </a:r>
            <a:r>
              <a:rPr lang="en-US" altLang="ko-KR" sz="2400" dirty="0" err="1"/>
              <a:t>rvalue</a:t>
            </a:r>
            <a:r>
              <a:rPr lang="ko-KR" altLang="ko-KR" sz="2400" dirty="0"/>
              <a:t>으로 전달</a:t>
            </a:r>
          </a:p>
          <a:p>
            <a:pPr lvl="0"/>
            <a:r>
              <a:rPr lang="ko-KR" altLang="ko-KR" sz="2400" dirty="0"/>
              <a:t>전달 참조와 </a:t>
            </a:r>
            <a:r>
              <a:rPr lang="ko-KR" altLang="ko-KR" sz="2400" dirty="0" err="1">
                <a:solidFill>
                  <a:srgbClr val="0000FF"/>
                </a:solidFill>
              </a:rPr>
              <a:t>std</a:t>
            </a:r>
            <a:r>
              <a:rPr lang="ko-KR" altLang="ko-KR" sz="2400" dirty="0">
                <a:solidFill>
                  <a:srgbClr val="0000FF"/>
                </a:solidFill>
              </a:rPr>
              <a:t>::</a:t>
            </a:r>
            <a:r>
              <a:rPr lang="ko-KR" altLang="ko-KR" sz="2400" dirty="0" err="1">
                <a:solidFill>
                  <a:srgbClr val="0000FF"/>
                </a:solidFill>
              </a:rPr>
              <a:t>forward</a:t>
            </a:r>
            <a:r>
              <a:rPr lang="ko-KR" altLang="ko-KR" sz="2400" dirty="0"/>
              <a:t> 사용</a:t>
            </a:r>
          </a:p>
          <a:p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290B9F1-D438-1DDE-82A4-34BFE5F39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418172"/>
              </p:ext>
            </p:extLst>
          </p:nvPr>
        </p:nvGraphicFramePr>
        <p:xfrm>
          <a:off x="251521" y="2929372"/>
          <a:ext cx="5328592" cy="2243960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1169654859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351594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도구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목적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435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 축약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겹친 참조 형태를 규칙에 따라 정리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087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전달 참조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과 </a:t>
                      </a:r>
                      <a:r>
                        <a:rPr lang="en-US" alt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rvalue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모두 수신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694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forward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원래 값 범주 복원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232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완벽 전달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생성자나 함수에 인수 중계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16345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2A20CD5-3912-39E6-4135-AC3FA7C42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430365"/>
              </p:ext>
            </p:extLst>
          </p:nvPr>
        </p:nvGraphicFramePr>
        <p:xfrm>
          <a:off x="5580113" y="2636912"/>
          <a:ext cx="3456384" cy="2828880"/>
        </p:xfrm>
        <a:graphic>
          <a:graphicData uri="http://schemas.openxmlformats.org/drawingml/2006/table">
            <a:tbl>
              <a:tblPr/>
              <a:tblGrid>
                <a:gridCol w="3456384">
                  <a:extLst>
                    <a:ext uri="{9D8B030D-6E8A-4147-A177-3AD203B41FA5}">
                      <a16:colId xmlns:a16="http://schemas.microsoft.com/office/drawing/2014/main" val="2798690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호출자</a:t>
                      </a: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인수</a:t>
                      </a:r>
                      <a:b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전달 참조 </a:t>
                      </a:r>
                      <a:r>
                        <a:rPr lang="ko-KR" sz="18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&amp;&amp;</a:t>
                      </a:r>
                      <a:b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T에</a:t>
                      </a: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원래 값 범주 기록</a:t>
                      </a:r>
                      <a:b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forward</a:t>
                      </a: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18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b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대상에 값 범주 보존 전달</a:t>
                      </a:r>
                      <a:endParaRPr lang="ko-KR" sz="3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144000" marT="144000" marB="216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847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298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2C62-9BBC-7B77-6870-40F154AC6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1E014-24C5-5500-6496-0E6D660B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10.8.1 </a:t>
            </a:r>
            <a:r>
              <a:rPr lang="ko-KR" altLang="en-US" dirty="0"/>
              <a:t>참조 축약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3E833-E786-D336-3E65-F474EB6DD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rvalue</a:t>
            </a:r>
            <a:r>
              <a:rPr lang="ko-KR" altLang="ko-KR" sz="2400" dirty="0"/>
              <a:t> 참조끼리 결합한 경우에만 </a:t>
            </a:r>
            <a:r>
              <a:rPr lang="ko-KR" altLang="ko-KR" sz="2400" dirty="0" err="1"/>
              <a:t>rvalue</a:t>
            </a:r>
            <a:r>
              <a:rPr lang="ko-KR" altLang="ko-KR" sz="2400" dirty="0"/>
              <a:t> 참조 유지</a:t>
            </a:r>
          </a:p>
          <a:p>
            <a:pPr lvl="0"/>
            <a:r>
              <a:rPr lang="ko-KR" altLang="ko-KR" sz="2400" dirty="0" err="1"/>
              <a:t>lvalue</a:t>
            </a:r>
            <a:r>
              <a:rPr lang="ko-KR" altLang="ko-KR" sz="2400" dirty="0"/>
              <a:t> 참조가 하나라도 포함되면 </a:t>
            </a:r>
            <a:r>
              <a:rPr lang="ko-KR" altLang="ko-KR" sz="2400" dirty="0" err="1"/>
              <a:t>lvalue</a:t>
            </a:r>
            <a:r>
              <a:rPr lang="ko-KR" altLang="ko-KR" sz="2400" dirty="0"/>
              <a:t> 참조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81D41A-1BFA-8493-6E84-D4650C6E7B38}"/>
              </a:ext>
            </a:extLst>
          </p:cNvPr>
          <p:cNvSpPr txBox="1"/>
          <p:nvPr/>
        </p:nvSpPr>
        <p:spPr>
          <a:xfrm>
            <a:off x="539750" y="1700808"/>
            <a:ext cx="4572000" cy="403187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type_traits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First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Third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Fourth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&lt;First,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&amp;&gt;);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&amp;&gt;);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&lt;Third,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&amp;&gt;);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Fourth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&amp;&amp;&gt;);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64DFEA3-A924-B17E-D7A4-E5339D2E9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425155"/>
              </p:ext>
            </p:extLst>
          </p:nvPr>
        </p:nvGraphicFramePr>
        <p:xfrm>
          <a:off x="5220072" y="3488721"/>
          <a:ext cx="3084712" cy="2243960"/>
        </p:xfrm>
        <a:graphic>
          <a:graphicData uri="http://schemas.openxmlformats.org/drawingml/2006/table">
            <a:tbl>
              <a:tblPr/>
              <a:tblGrid>
                <a:gridCol w="1542356">
                  <a:extLst>
                    <a:ext uri="{9D8B030D-6E8A-4147-A177-3AD203B41FA5}">
                      <a16:colId xmlns:a16="http://schemas.microsoft.com/office/drawing/2014/main" val="503842053"/>
                    </a:ext>
                  </a:extLst>
                </a:gridCol>
                <a:gridCol w="1542356">
                  <a:extLst>
                    <a:ext uri="{9D8B030D-6E8A-4147-A177-3AD203B41FA5}">
                      <a16:colId xmlns:a16="http://schemas.microsoft.com/office/drawing/2014/main" val="2811143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겹친 형태</a:t>
                      </a:r>
                      <a:endParaRPr lang="ko-KR" sz="20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축약 결과</a:t>
                      </a:r>
                      <a:endParaRPr lang="ko-KR" sz="20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474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 &amp;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T&amp;</a:t>
                      </a:r>
                      <a:endParaRPr lang="ko-KR" sz="20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898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 &amp;&amp;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831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T&amp;&amp; &amp;</a:t>
                      </a:r>
                      <a:endParaRPr lang="ko-KR" sz="20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866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T&amp;&amp; &amp;&amp;</a:t>
                      </a:r>
                      <a:endParaRPr lang="ko-KR" sz="20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&amp;&amp;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063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1162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20E7F-90FB-9642-AE0F-229359D61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6B2F5-E9C9-9548-A925-E0AAE9CE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10.8.2 </a:t>
            </a:r>
            <a:r>
              <a:rPr lang="ko-KR" altLang="en-US" dirty="0"/>
              <a:t>전달 참조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290D2-4313-27E8-B491-0A6EA025278B}"/>
              </a:ext>
            </a:extLst>
          </p:cNvPr>
          <p:cNvSpPr txBox="1"/>
          <p:nvPr/>
        </p:nvSpPr>
        <p:spPr>
          <a:xfrm>
            <a:off x="514251" y="731243"/>
            <a:ext cx="4572000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6847A-64F6-9670-5C0C-63C68D3320D9}"/>
              </a:ext>
            </a:extLst>
          </p:cNvPr>
          <p:cNvSpPr txBox="1"/>
          <p:nvPr/>
        </p:nvSpPr>
        <p:spPr>
          <a:xfrm>
            <a:off x="514251" y="1772816"/>
            <a:ext cx="4572000" cy="156966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limit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43806-737E-6EE6-78FC-DF1BFB33348E}"/>
              </a:ext>
            </a:extLst>
          </p:cNvPr>
          <p:cNvSpPr txBox="1"/>
          <p:nvPr/>
        </p:nvSpPr>
        <p:spPr>
          <a:xfrm>
            <a:off x="514251" y="4091505"/>
            <a:ext cx="4572000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ReceiveConstRvalue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71BBC90-D848-ABEF-28D1-4E72307D9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18267"/>
              </p:ext>
            </p:extLst>
          </p:nvPr>
        </p:nvGraphicFramePr>
        <p:xfrm>
          <a:off x="3275856" y="2165663"/>
          <a:ext cx="5630020" cy="1551328"/>
        </p:xfrm>
        <a:graphic>
          <a:graphicData uri="http://schemas.openxmlformats.org/drawingml/2006/table">
            <a:tbl>
              <a:tblPr/>
              <a:tblGrid>
                <a:gridCol w="1656184">
                  <a:extLst>
                    <a:ext uri="{9D8B030D-6E8A-4147-A177-3AD203B41FA5}">
                      <a16:colId xmlns:a16="http://schemas.microsoft.com/office/drawing/2014/main" val="196276607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636577636"/>
                    </a:ext>
                  </a:extLst>
                </a:gridCol>
                <a:gridCol w="1192851">
                  <a:extLst>
                    <a:ext uri="{9D8B030D-6E8A-4147-A177-3AD203B41FA5}">
                      <a16:colId xmlns:a16="http://schemas.microsoft.com/office/drawing/2014/main" val="4097702232"/>
                    </a:ext>
                  </a:extLst>
                </a:gridCol>
                <a:gridCol w="1484841">
                  <a:extLst>
                    <a:ext uri="{9D8B030D-6E8A-4147-A177-3AD203B41FA5}">
                      <a16:colId xmlns:a16="http://schemas.microsoft.com/office/drawing/2014/main" val="13308283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호출</a:t>
                      </a:r>
                      <a:endParaRPr lang="ko-KR" sz="2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인수 값 범주</a:t>
                      </a:r>
                      <a:endParaRPr lang="ko-KR" sz="2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endParaRPr lang="ko-KR" sz="2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매개변수 타입</a:t>
                      </a:r>
                      <a:endParaRPr lang="ko-KR" sz="28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13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Relay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number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int&amp;</a:t>
                      </a:r>
                      <a:endParaRPr lang="ko-KR" sz="2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int&amp;</a:t>
                      </a:r>
                      <a:endParaRPr lang="ko-KR" sz="2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319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Relay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limit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상수 </a:t>
                      </a: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 int&amp;</a:t>
                      </a:r>
                      <a:endParaRPr lang="ko-KR" sz="2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416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Relay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(10)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rvalue</a:t>
                      </a:r>
                      <a:endParaRPr lang="ko-KR" sz="280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</a:t>
                      </a:r>
                      <a:r>
                        <a:rPr lang="ko-KR" sz="16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&amp;&amp;</a:t>
                      </a:r>
                      <a:endParaRPr lang="ko-KR" sz="28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5435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0CC0657-765D-AF84-BEA2-6DC85E2B26B8}"/>
              </a:ext>
            </a:extLst>
          </p:cNvPr>
          <p:cNvSpPr txBox="1"/>
          <p:nvPr/>
        </p:nvSpPr>
        <p:spPr>
          <a:xfrm>
            <a:off x="514251" y="5157192"/>
            <a:ext cx="4572000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&amp;&amp;는 전달 참조가 아님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정확히 추론되는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형태가 필요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40971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F081A-3F40-0C2F-0547-97F69D99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DC6F10-7DE9-B3BD-2C1E-322FCEFAB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10.8.3 std::forward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982F1-5954-F934-F197-6C61E744C581}"/>
              </a:ext>
            </a:extLst>
          </p:cNvPr>
          <p:cNvSpPr txBox="1"/>
          <p:nvPr/>
        </p:nvSpPr>
        <p:spPr>
          <a:xfrm>
            <a:off x="323528" y="712606"/>
            <a:ext cx="457200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RelayWrong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C9933-12E3-D208-3F64-4A8585B9AD11}"/>
              </a:ext>
            </a:extLst>
          </p:cNvPr>
          <p:cNvSpPr txBox="1"/>
          <p:nvPr/>
        </p:nvSpPr>
        <p:spPr>
          <a:xfrm>
            <a:off x="323528" y="2927693"/>
            <a:ext cx="4572000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utility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RelayCorrect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forward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5BC541-9177-CD9C-CAEC-4716DA551673}"/>
              </a:ext>
            </a:extLst>
          </p:cNvPr>
          <p:cNvSpPr txBox="1"/>
          <p:nvPr/>
        </p:nvSpPr>
        <p:spPr>
          <a:xfrm>
            <a:off x="323527" y="4974267"/>
            <a:ext cx="8330083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forward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&gt;는 무조건 </a:t>
            </a:r>
            <a:r>
              <a:rPr lang="en-US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rvalue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으로 바꾸는 함수가 아님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0" name="내용 개체 틀 9">
            <a:extLst>
              <a:ext uri="{FF2B5EF4-FFF2-40B4-BE49-F238E27FC236}">
                <a16:creationId xmlns:a16="http://schemas.microsoft.com/office/drawing/2014/main" id="{5BB2F104-4658-AEF1-28D4-0BCBDB424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354911"/>
              </p:ext>
            </p:extLst>
          </p:nvPr>
        </p:nvGraphicFramePr>
        <p:xfrm>
          <a:off x="3851920" y="3649119"/>
          <a:ext cx="4801691" cy="1163496"/>
        </p:xfrm>
        <a:graphic>
          <a:graphicData uri="http://schemas.openxmlformats.org/drawingml/2006/table">
            <a:tbl>
              <a:tblPr/>
              <a:tblGrid>
                <a:gridCol w="3471407">
                  <a:extLst>
                    <a:ext uri="{9D8B030D-6E8A-4147-A177-3AD203B41FA5}">
                      <a16:colId xmlns:a16="http://schemas.microsoft.com/office/drawing/2014/main" val="1101499032"/>
                    </a:ext>
                  </a:extLst>
                </a:gridCol>
                <a:gridCol w="1330284">
                  <a:extLst>
                    <a:ext uri="{9D8B030D-6E8A-4147-A177-3AD203B41FA5}">
                      <a16:colId xmlns:a16="http://schemas.microsoft.com/office/drawing/2014/main" val="250408450"/>
                    </a:ext>
                  </a:extLst>
                </a:gridCol>
              </a:tblGrid>
              <a:tr h="21964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호출</a:t>
                      </a:r>
                      <a:endParaRPr lang="ko-KR" sz="1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전달 결과</a:t>
                      </a:r>
                      <a:endParaRPr lang="ko-KR" sz="16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567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RelayCorrect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name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 유지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982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RelayCorrect(std::string("Mage"))</a:t>
                      </a:r>
                      <a:endParaRPr lang="ko-KR" sz="1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유지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487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1182E1-8252-D53B-A331-1AB43359F570}"/>
              </a:ext>
            </a:extLst>
          </p:cNvPr>
          <p:cNvSpPr txBox="1"/>
          <p:nvPr/>
        </p:nvSpPr>
        <p:spPr>
          <a:xfrm>
            <a:off x="3851920" y="2181649"/>
            <a:ext cx="4801691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이름이 있는 변수 표현식은 선언 타입이</a:t>
            </a:r>
            <a:b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rvalue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참조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여도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lvalue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RelayWrong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("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Mage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"))도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lvalue처럼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전달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99004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73A9-CE10-1C97-552F-A2205628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43FD3-DFD7-F2CA-DA81-3649A025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10.8.4 </a:t>
            </a:r>
            <a:r>
              <a:rPr lang="ko-KR" altLang="en-US" dirty="0"/>
              <a:t>완벽 전달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A1A75-6441-752A-4C46-9B22B9BD23C8}"/>
              </a:ext>
            </a:extLst>
          </p:cNvPr>
          <p:cNvSpPr txBox="1"/>
          <p:nvPr/>
        </p:nvSpPr>
        <p:spPr>
          <a:xfrm>
            <a:off x="395536" y="764704"/>
            <a:ext cx="4464496" cy="440120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memory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utility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... Args&gt;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(Args&amp;&amp;... args)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forward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&lt;Args&gt;(args)...);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9E3DC-F5C7-7D5B-D913-3D6553A539A1}"/>
              </a:ext>
            </a:extLst>
          </p:cNvPr>
          <p:cNvSpPr txBox="1"/>
          <p:nvPr/>
        </p:nvSpPr>
        <p:spPr>
          <a:xfrm>
            <a:off x="4176464" y="2965306"/>
            <a:ext cx="4644008" cy="11695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Mage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73A92E-58EB-235C-E439-1CB50979ECDB}"/>
              </a:ext>
            </a:extLst>
          </p:cNvPr>
          <p:cNvSpPr txBox="1"/>
          <p:nvPr/>
        </p:nvSpPr>
        <p:spPr>
          <a:xfrm>
            <a:off x="395536" y="5627573"/>
            <a:ext cx="6768752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Args&amp;&amp;...</a:t>
            </a:r>
            <a:r>
              <a:rPr lang="en-US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는 전달 참조 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2000" b="0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forward</a:t>
            </a: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&lt;Args&gt;(args)...</a:t>
            </a:r>
            <a:r>
              <a:rPr lang="en-US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로 각 인수의 값 범주 보존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9069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885E-BF15-E9AA-8BFD-DE6A939F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97EBC-4BE4-0123-7445-FB3012584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10.8.5 std::move</a:t>
            </a:r>
            <a:r>
              <a:rPr lang="ko-KR" altLang="en-US" dirty="0"/>
              <a:t>와 </a:t>
            </a:r>
            <a:r>
              <a:rPr lang="en-US" altLang="ko-KR" dirty="0"/>
              <a:t>std::forward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C646CF4-9590-822D-4317-A0FC798568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236827"/>
              </p:ext>
            </p:extLst>
          </p:nvPr>
        </p:nvGraphicFramePr>
        <p:xfrm>
          <a:off x="611560" y="836712"/>
          <a:ext cx="7920880" cy="2692752"/>
        </p:xfrm>
        <a:graphic>
          <a:graphicData uri="http://schemas.openxmlformats.org/drawingml/2006/table">
            <a:tbl>
              <a:tblPr/>
              <a:tblGrid>
                <a:gridCol w="1512168">
                  <a:extLst>
                    <a:ext uri="{9D8B030D-6E8A-4147-A177-3AD203B41FA5}">
                      <a16:colId xmlns:a16="http://schemas.microsoft.com/office/drawing/2014/main" val="4249436746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1457015964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651819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항목</a:t>
                      </a:r>
                      <a:endParaRPr lang="ko-KR" sz="20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std::move</a:t>
                      </a:r>
                      <a:endParaRPr lang="ko-KR" sz="20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std::forward</a:t>
                      </a:r>
                      <a:endParaRPr lang="ko-KR" sz="20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627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목적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가능한 표현식으로 변환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원래 값 범주 보존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09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 사용 위치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코드, 이동 연산 구현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전달 참조를 받는 제네릭 함수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984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결과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항상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rvalue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범주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T에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따라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또는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rvalue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447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템플릿 인수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 없음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추론된 타입 인수 필요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427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 후 주의</a:t>
                      </a:r>
                      <a:endParaRPr lang="ko-KR" sz="20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원본이 이동된 상태 가능</a:t>
                      </a:r>
                      <a:endParaRPr lang="ko-KR" sz="20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rvalue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전달 시 이동 가능</a:t>
                      </a:r>
                      <a:endParaRPr lang="ko-KR" sz="2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5841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FECF0F-F2C9-1758-E752-234F659833ED}"/>
              </a:ext>
            </a:extLst>
          </p:cNvPr>
          <p:cNvSpPr txBox="1"/>
          <p:nvPr/>
        </p:nvSpPr>
        <p:spPr>
          <a:xfrm>
            <a:off x="611560" y="3820299"/>
            <a:ext cx="3960440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Knight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ForwardToUse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forward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C65406-E479-9D84-54C9-0355ACCC055C}"/>
              </a:ext>
            </a:extLst>
          </p:cNvPr>
          <p:cNvSpPr txBox="1"/>
          <p:nvPr/>
        </p:nvSpPr>
        <p:spPr>
          <a:xfrm>
            <a:off x="3972272" y="5343793"/>
            <a:ext cx="4848200" cy="107721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RelayWithMove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lvalue도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이동 대상으로 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23909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A9851-F1E2-85F0-A54D-4E7934080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F8603-9C86-B995-4859-A1A8E6FF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10.8.6 </a:t>
            </a:r>
            <a:r>
              <a:rPr lang="ko-KR" altLang="en-US" dirty="0"/>
              <a:t>객체지향과 제네릭의 결합</a:t>
            </a:r>
          </a:p>
        </p:txBody>
      </p:sp>
      <p:graphicFrame>
        <p:nvGraphicFramePr>
          <p:cNvPr id="10" name="내용 개체 틀 9">
            <a:extLst>
              <a:ext uri="{FF2B5EF4-FFF2-40B4-BE49-F238E27FC236}">
                <a16:creationId xmlns:a16="http://schemas.microsoft.com/office/drawing/2014/main" id="{ACC5A588-19A6-D2BF-E146-F89A1A8C3B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193063"/>
              </p:ext>
            </p:extLst>
          </p:nvPr>
        </p:nvGraphicFramePr>
        <p:xfrm>
          <a:off x="323528" y="5013176"/>
          <a:ext cx="4824536" cy="1673248"/>
        </p:xfrm>
        <a:graphic>
          <a:graphicData uri="http://schemas.openxmlformats.org/drawingml/2006/table">
            <a:tbl>
              <a:tblPr/>
              <a:tblGrid>
                <a:gridCol w="2385952">
                  <a:extLst>
                    <a:ext uri="{9D8B030D-6E8A-4147-A177-3AD203B41FA5}">
                      <a16:colId xmlns:a16="http://schemas.microsoft.com/office/drawing/2014/main" val="4230515935"/>
                    </a:ext>
                  </a:extLst>
                </a:gridCol>
                <a:gridCol w="2438584">
                  <a:extLst>
                    <a:ext uri="{9D8B030D-6E8A-4147-A177-3AD203B41FA5}">
                      <a16:colId xmlns:a16="http://schemas.microsoft.com/office/drawing/2014/main" val="3429863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위치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적용 방식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008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GameObject 계층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시간 </a:t>
                      </a:r>
                      <a:r>
                        <a:rPr lang="ko-KR" sz="18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다형성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499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Damageable</a:t>
                      </a:r>
                      <a:endParaRPr lang="ko-KR" sz="320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정적 인터페이스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465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ApplyDamage</a:t>
                      </a:r>
                      <a:r>
                        <a:rPr lang="ko-KR" sz="18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2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컴파일 시점 제약</a:t>
                      </a:r>
                      <a:endParaRPr lang="ko-KR" sz="32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0797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D35C411-14E7-2483-4A1B-0324F0A964E2}"/>
              </a:ext>
            </a:extLst>
          </p:cNvPr>
          <p:cNvSpPr txBox="1"/>
          <p:nvPr/>
        </p:nvSpPr>
        <p:spPr>
          <a:xfrm>
            <a:off x="323528" y="764704"/>
            <a:ext cx="5688632" cy="160043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~GameObject()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470B4-8A42-DEE9-D1F5-7C0426A23F0F}"/>
              </a:ext>
            </a:extLst>
          </p:cNvPr>
          <p:cNvSpPr txBox="1"/>
          <p:nvPr/>
        </p:nvSpPr>
        <p:spPr>
          <a:xfrm>
            <a:off x="755576" y="2276872"/>
            <a:ext cx="7200800" cy="160043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requires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target.TakeDamage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} -&gt;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same_as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constTarget.GetHp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}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-&gt;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same_as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constTarget.IsDead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}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-&gt;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same_as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8FE01-5BD3-FC91-9041-3DD0CA0A4773}"/>
              </a:ext>
            </a:extLst>
          </p:cNvPr>
          <p:cNvSpPr txBox="1"/>
          <p:nvPr/>
        </p:nvSpPr>
        <p:spPr>
          <a:xfrm>
            <a:off x="4211960" y="3717032"/>
            <a:ext cx="4572000" cy="116955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template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Target&gt;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ApplyDamage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(Target&amp;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target.TakeDamage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50114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9BEC2-866A-7C99-E301-56BF91C6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537A8F-395B-9194-A77D-FD0C158F2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2400" dirty="0"/>
              <a:t>제네릭 프로그래밍은 타입 이름보다 필요한 연산과 의미에 의존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함수 템플릿은 함수 인수로부터 템플릿 인수 추론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값 매개변수는 최상위 </a:t>
            </a:r>
            <a:r>
              <a:rPr lang="en-US" altLang="ko-KR" sz="2400" dirty="0"/>
              <a:t>const</a:t>
            </a:r>
            <a:r>
              <a:rPr lang="ko-KR" altLang="en-US" sz="2400" dirty="0"/>
              <a:t>와 </a:t>
            </a:r>
            <a:r>
              <a:rPr lang="ko-KR" altLang="en-US" sz="2400" dirty="0" err="1"/>
              <a:t>참조성</a:t>
            </a:r>
            <a:r>
              <a:rPr lang="ko-KR" altLang="en-US" sz="2400" dirty="0"/>
              <a:t> 제거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참조 매개변수는 참조 대상의 한정자 보존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배열 참조는 배열 크기를 </a:t>
            </a:r>
            <a:r>
              <a:rPr lang="ko-KR" altLang="en-US" sz="2400" dirty="0" err="1"/>
              <a:t>비타입</a:t>
            </a:r>
            <a:r>
              <a:rPr lang="ko-KR" altLang="en-US" sz="2400" dirty="0"/>
              <a:t> 템플릿 인수로 추론 가능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템플릿은 사용된 인수 조합에 대해 인스턴스화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일반적인 템플릿 정의는 호출 지점에서 보여야 하므로 헤더에 둠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제한된 타입만 지원하면 명시적 인스턴스화로 분리 가능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클래스 템플릿의 각 템플릿 인수 조합은 서로 다른 구체 타입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별칭 템플릿은 새 타입이 아니라 타입 표현의 다른 이름</a:t>
            </a:r>
          </a:p>
        </p:txBody>
      </p:sp>
    </p:spTree>
    <p:extLst>
      <p:ext uri="{BB962C8B-B14F-4D97-AF65-F5344CB8AC3E}">
        <p14:creationId xmlns:p14="http://schemas.microsoft.com/office/powerpoint/2010/main" val="35603018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76285-A89B-FEB3-AA09-1A77F784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41C20-B0FC-AF7A-E1CF-C7A30702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A83E31-3357-1DD5-4466-8D7371B9A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2400" dirty="0"/>
              <a:t>전체 특수화는 모든 템플릿 인수를 고정한 별도 구현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부분 특수화는 특정 타입 형태나 일부 인수 조건에 적용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함수 템플릿은 부분 특수화를 지원하지 않음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가변 인수 템플릿은 타입과 값의 개수가 정해지지 않은 팩을 받음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팩 확장은 문법적 패턴을 각 원소에 반복</a:t>
            </a:r>
          </a:p>
          <a:p>
            <a:pPr>
              <a:lnSpc>
                <a:spcPct val="120000"/>
              </a:lnSpc>
            </a:pPr>
            <a:r>
              <a:rPr lang="ko-KR" altLang="en-US" sz="2400" dirty="0" err="1"/>
              <a:t>폴드</a:t>
            </a:r>
            <a:r>
              <a:rPr lang="ko-KR" altLang="en-US" sz="2400" dirty="0"/>
              <a:t> 표현식은 팩 원소 사이에 연산자를 결합</a:t>
            </a:r>
          </a:p>
          <a:p>
            <a:pPr>
              <a:lnSpc>
                <a:spcPct val="120000"/>
              </a:lnSpc>
            </a:pPr>
            <a:r>
              <a:rPr lang="en-US" altLang="ko-KR" sz="2400" dirty="0"/>
              <a:t>Concepts</a:t>
            </a:r>
            <a:r>
              <a:rPr lang="ko-KR" altLang="en-US" sz="2400" dirty="0"/>
              <a:t>는 템플릿 요구 조건을 선언에 표현</a:t>
            </a:r>
          </a:p>
          <a:p>
            <a:pPr>
              <a:lnSpc>
                <a:spcPct val="120000"/>
              </a:lnSpc>
            </a:pPr>
            <a:r>
              <a:rPr lang="en-US" altLang="ko-KR" sz="2400" dirty="0"/>
              <a:t>requires </a:t>
            </a:r>
            <a:r>
              <a:rPr lang="ko-KR" altLang="en-US" sz="2400" dirty="0"/>
              <a:t>표현식은 타입과 표현식의 유효성을 검사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타입 특성은 컴파일 시점 타입 판정과 변환에 사용</a:t>
            </a:r>
          </a:p>
          <a:p>
            <a:pPr>
              <a:lnSpc>
                <a:spcPct val="120000"/>
              </a:lnSpc>
            </a:pPr>
            <a:r>
              <a:rPr lang="en-US" altLang="ko-KR" sz="2400" dirty="0"/>
              <a:t>if constexpr</a:t>
            </a:r>
            <a:r>
              <a:rPr lang="ko-KR" altLang="en-US" sz="2400" dirty="0"/>
              <a:t>는 선택된 템플릿 구현 안에서 타입별 코드 분기</a:t>
            </a:r>
          </a:p>
        </p:txBody>
      </p:sp>
    </p:spTree>
    <p:extLst>
      <p:ext uri="{BB962C8B-B14F-4D97-AF65-F5344CB8AC3E}">
        <p14:creationId xmlns:p14="http://schemas.microsoft.com/office/powerpoint/2010/main" val="40085305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1306D-2912-A711-36A8-9CC374F7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26D55-D7C9-F549-35D9-034B7474B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E35E6-0E86-9E21-10CE-BB0324653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sz="2400" dirty="0"/>
              <a:t>SFINAE</a:t>
            </a:r>
            <a:r>
              <a:rPr lang="ko-KR" altLang="en-US" sz="2400" dirty="0"/>
              <a:t>와 </a:t>
            </a:r>
            <a:r>
              <a:rPr lang="en-US" altLang="ko-KR" sz="2400" dirty="0" err="1"/>
              <a:t>enable_if</a:t>
            </a:r>
            <a:r>
              <a:rPr lang="ko-KR" altLang="en-US" sz="2400" dirty="0"/>
              <a:t>는 기존 </a:t>
            </a:r>
            <a:r>
              <a:rPr lang="en-US" altLang="ko-KR" sz="2400" dirty="0"/>
              <a:t>C++</a:t>
            </a:r>
            <a:r>
              <a:rPr lang="ko-KR" altLang="en-US" sz="2400" dirty="0"/>
              <a:t>에서 후보 제거에 사용</a:t>
            </a:r>
          </a:p>
          <a:p>
            <a:pPr>
              <a:lnSpc>
                <a:spcPct val="120000"/>
              </a:lnSpc>
            </a:pPr>
            <a:r>
              <a:rPr lang="en-US" altLang="ko-KR" sz="2400" dirty="0"/>
              <a:t>C++20 </a:t>
            </a:r>
            <a:r>
              <a:rPr lang="ko-KR" altLang="en-US" sz="2400" dirty="0"/>
              <a:t>신규 인터페이스는 </a:t>
            </a:r>
            <a:r>
              <a:rPr lang="en-US" altLang="ko-KR" sz="2400" dirty="0"/>
              <a:t>Concepts </a:t>
            </a:r>
            <a:r>
              <a:rPr lang="ko-KR" altLang="en-US" sz="2400" dirty="0"/>
              <a:t>우선 검토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전달 참조는 추론되는 </a:t>
            </a:r>
            <a:r>
              <a:rPr lang="en-US" altLang="ko-KR" sz="2400" dirty="0"/>
              <a:t>T&amp;&amp; </a:t>
            </a:r>
            <a:r>
              <a:rPr lang="ko-KR" altLang="en-US" sz="2400" dirty="0"/>
              <a:t>매개변수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참조 축약으로 </a:t>
            </a:r>
            <a:r>
              <a:rPr lang="en-US" altLang="ko-KR" sz="2400" dirty="0" err="1"/>
              <a:t>lvalue</a:t>
            </a:r>
            <a:r>
              <a:rPr lang="ko-KR" altLang="en-US" sz="2400" dirty="0"/>
              <a:t>과 </a:t>
            </a:r>
            <a:r>
              <a:rPr lang="en-US" altLang="ko-KR" sz="2400" dirty="0" err="1"/>
              <a:t>rvalue</a:t>
            </a:r>
            <a:r>
              <a:rPr lang="ko-KR" altLang="en-US" sz="2400" dirty="0"/>
              <a:t>을 모두 받을 수 있음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이름이 있는 매개변수 표현식은 항상 </a:t>
            </a:r>
            <a:r>
              <a:rPr lang="en-US" altLang="ko-KR" sz="2400" dirty="0" err="1"/>
              <a:t>lvalue</a:t>
            </a:r>
            <a:endParaRPr lang="ko-KR" altLang="en-US" sz="2400" dirty="0"/>
          </a:p>
          <a:p>
            <a:pPr>
              <a:lnSpc>
                <a:spcPct val="120000"/>
              </a:lnSpc>
            </a:pPr>
            <a:r>
              <a:rPr lang="en-US" altLang="ko-KR" sz="2400" dirty="0"/>
              <a:t>std::forward&lt;T&gt;</a:t>
            </a:r>
            <a:r>
              <a:rPr lang="ko-KR" altLang="en-US" sz="2400" dirty="0"/>
              <a:t>는 원래 값 범주를 복원</a:t>
            </a:r>
          </a:p>
          <a:p>
            <a:pPr>
              <a:lnSpc>
                <a:spcPct val="120000"/>
              </a:lnSpc>
            </a:pPr>
            <a:r>
              <a:rPr lang="en-US" altLang="ko-KR" sz="2400" dirty="0"/>
              <a:t>std::move</a:t>
            </a:r>
            <a:r>
              <a:rPr lang="ko-KR" altLang="en-US" sz="2400" dirty="0"/>
              <a:t>는 무조건 </a:t>
            </a:r>
            <a:r>
              <a:rPr lang="en-US" altLang="ko-KR" sz="2400" dirty="0" err="1"/>
              <a:t>rvalue</a:t>
            </a:r>
            <a:r>
              <a:rPr lang="ko-KR" altLang="en-US" sz="2400" dirty="0"/>
              <a:t> 범주로 변환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완벽 전달은 생성자나 함수에 인수를 중계할 때 사용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실행 시간 객체 종류 관리는 가상 함수가 적합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컴파일 시점 공통 연산은 템플릿과 </a:t>
            </a:r>
            <a:r>
              <a:rPr lang="en-US" altLang="ko-KR" sz="2400" dirty="0"/>
              <a:t>Concept</a:t>
            </a:r>
            <a:r>
              <a:rPr lang="ko-KR" altLang="en-US" sz="2400" dirty="0"/>
              <a:t>가 적합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실제 </a:t>
            </a:r>
            <a:r>
              <a:rPr lang="en-US" altLang="ko-KR" sz="2400" dirty="0"/>
              <a:t>C++ </a:t>
            </a:r>
            <a:r>
              <a:rPr lang="ko-KR" altLang="en-US" sz="2400" dirty="0"/>
              <a:t>프로그램에서는 두 방식을 함께 사용</a:t>
            </a:r>
          </a:p>
        </p:txBody>
      </p:sp>
    </p:spTree>
    <p:extLst>
      <p:ext uri="{BB962C8B-B14F-4D97-AF65-F5344CB8AC3E}">
        <p14:creationId xmlns:p14="http://schemas.microsoft.com/office/powerpoint/2010/main" val="1049879017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solidFill>
          <a:schemeClr val="bg1"/>
        </a:solidFill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400" b="0" i="0" u="none" strike="noStrike" dirty="0">
            <a:solidFill>
              <a:srgbClr val="4078F2"/>
            </a:solidFill>
            <a:effectLst/>
            <a:latin typeface="Pretendard ExtraBold" panose="02000903000000020004" pitchFamily="50" charset="-127"/>
            <a:ea typeface="Pretendard ExtraBold" panose="02000903000000020004" pitchFamily="50" charset="-127"/>
            <a:cs typeface="Pretendard ExtraBold" panose="02000903000000020004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13632</TotalTime>
  <Words>6309</Words>
  <Application>Microsoft Office PowerPoint</Application>
  <PresentationFormat>화면 슬라이드 쇼(4:3)</PresentationFormat>
  <Paragraphs>523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6" baseType="lpstr">
      <vt:lpstr>Pretendard ExtraBold</vt:lpstr>
      <vt:lpstr>가을체</vt:lpstr>
      <vt:lpstr>Wingdings</vt:lpstr>
      <vt:lpstr>나눔고딕 ExtraBold</vt:lpstr>
      <vt:lpstr>나눔바른고딕</vt:lpstr>
      <vt:lpstr>굴림</vt:lpstr>
      <vt:lpstr>Arial</vt:lpstr>
      <vt:lpstr>HY견고딕</vt:lpstr>
      <vt:lpstr>Consolas</vt:lpstr>
      <vt:lpstr>기본 디자인</vt:lpstr>
      <vt:lpstr>10. 템플릿과 제네릭 프로그래밍</vt:lpstr>
      <vt:lpstr>10. 템플릿과 제네릭 프로그래밍</vt:lpstr>
      <vt:lpstr>10.1.1 코드 일반화</vt:lpstr>
      <vt:lpstr>10.1.2 타입 요구 조건</vt:lpstr>
      <vt:lpstr>10.1.3 객체지향 다형성과 정적 다형성</vt:lpstr>
      <vt:lpstr>10.2 함수 템플릿</vt:lpstr>
      <vt:lpstr>10.2.2 템플릿 인수 추론</vt:lpstr>
      <vt:lpstr>10.2.2 값 매개변수와 참조 매개변수 추론</vt:lpstr>
      <vt:lpstr>10.2.2 배열 크기 추론</vt:lpstr>
      <vt:lpstr>10.2.3 명시적 템플릿 인수</vt:lpstr>
      <vt:lpstr>10.2.4 함수 오버로딩과 템플릿</vt:lpstr>
      <vt:lpstr>10.2.5 템플릿 인스턴스화</vt:lpstr>
      <vt:lpstr>10.3 클래스 템플릿</vt:lpstr>
      <vt:lpstr>10.3.2 멤버 함수 정의</vt:lpstr>
      <vt:lpstr>10.3.3 템플릿과 헤더 파일</vt:lpstr>
      <vt:lpstr>10.3.3 선언과 구현을 나누는 방식</vt:lpstr>
      <vt:lpstr>10.3.4 클래스 템플릿 인수 추론</vt:lpstr>
      <vt:lpstr>10.3.7 비 타입 템플릿 매개변수</vt:lpstr>
      <vt:lpstr>10.4 템플릿 특수화 &lt;&gt;</vt:lpstr>
      <vt:lpstr>10.4.2 부분 특수화</vt:lpstr>
      <vt:lpstr>10.4.3 함수 템플릿 오버로딩과 특수화</vt:lpstr>
      <vt:lpstr>10.5 가변 인수 템플릿</vt:lpstr>
      <vt:lpstr>10.5.2 팩 확장</vt:lpstr>
      <vt:lpstr>10.5.4 폴드 표현식</vt:lpstr>
      <vt:lpstr>10.5.5 여러 인수 전달</vt:lpstr>
      <vt:lpstr>10.6 Concepts (C++20)와 제약 조건</vt:lpstr>
      <vt:lpstr>10.6.2 표준 Concept</vt:lpstr>
      <vt:lpstr>10.6.3 requires</vt:lpstr>
      <vt:lpstr>10.6.4 requires 표현식</vt:lpstr>
      <vt:lpstr>10.6.5 사용자 정의 Concept</vt:lpstr>
      <vt:lpstr>10.7 타입 특성과 조건부 코드</vt:lpstr>
      <vt:lpstr>10.7.2 타입 판정과 타입 변환</vt:lpstr>
      <vt:lpstr>10.7.3 if constexpr</vt:lpstr>
      <vt:lpstr>10.7.3 if constexpr와 requires</vt:lpstr>
      <vt:lpstr>10.7.4 SFINAE와 enable_if 개요</vt:lpstr>
      <vt:lpstr>10.7.5 제약 방식 선택</vt:lpstr>
      <vt:lpstr>10.8 전달 참조와 완벽 전달</vt:lpstr>
      <vt:lpstr>10.8.1 참조 축약</vt:lpstr>
      <vt:lpstr>10.8.2 전달 참조</vt:lpstr>
      <vt:lpstr>10.8.3 std::forward</vt:lpstr>
      <vt:lpstr>10.8.4 완벽 전달</vt:lpstr>
      <vt:lpstr>10.8.5 std::move와 std::forward</vt:lpstr>
      <vt:lpstr>10.8.6 객체지향과 제네릭의 결합</vt:lpstr>
      <vt:lpstr>10.9 학습 정리</vt:lpstr>
      <vt:lpstr>10.9 학습 정리</vt:lpstr>
      <vt:lpstr>10.9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461</cp:revision>
  <dcterms:created xsi:type="dcterms:W3CDTF">2003-11-30T16:03:20Z</dcterms:created>
  <dcterms:modified xsi:type="dcterms:W3CDTF">2026-08-24T05:17:57Z</dcterms:modified>
</cp:coreProperties>
</file>