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76" r:id="rId23"/>
    <p:sldId id="349" r:id="rId24"/>
    <p:sldId id="350" r:id="rId25"/>
    <p:sldId id="351" r:id="rId26"/>
    <p:sldId id="352" r:id="rId27"/>
    <p:sldId id="377" r:id="rId28"/>
    <p:sldId id="353" r:id="rId29"/>
    <p:sldId id="354" r:id="rId30"/>
    <p:sldId id="378" r:id="rId31"/>
    <p:sldId id="355" r:id="rId32"/>
    <p:sldId id="356" r:id="rId33"/>
    <p:sldId id="357" r:id="rId34"/>
    <p:sldId id="358" r:id="rId35"/>
    <p:sldId id="360" r:id="rId36"/>
    <p:sldId id="361" r:id="rId37"/>
    <p:sldId id="362" r:id="rId38"/>
    <p:sldId id="363" r:id="rId39"/>
    <p:sldId id="364" r:id="rId40"/>
    <p:sldId id="365" r:id="rId41"/>
    <p:sldId id="367" r:id="rId42"/>
    <p:sldId id="368" r:id="rId43"/>
    <p:sldId id="379" r:id="rId44"/>
    <p:sldId id="369" r:id="rId45"/>
    <p:sldId id="370" r:id="rId46"/>
    <p:sldId id="371" r:id="rId47"/>
    <p:sldId id="372" r:id="rId48"/>
    <p:sldId id="373" r:id="rId49"/>
    <p:sldId id="374" r:id="rId50"/>
    <p:sldId id="375" r:id="rId51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53"/>
    </p:embeddedFont>
    <p:embeddedFont>
      <p:font typeface="Pretendard ExtraBold" panose="02000903000000020004" pitchFamily="50" charset="-127"/>
      <p:bold r:id="rId54"/>
    </p:embeddedFont>
    <p:embeddedFont>
      <p:font typeface="가을체" panose="02030600000101010101" pitchFamily="18" charset="-127"/>
      <p:regular r:id="rId55"/>
    </p:embeddedFont>
    <p:embeddedFont>
      <p:font typeface="나눔고딕 ExtraBold" panose="020D0904000000000000" pitchFamily="50" charset="-127"/>
      <p:bold r:id="rId56"/>
    </p:embeddedFont>
    <p:embeddedFont>
      <p:font typeface="나눔바른고딕" panose="020B0603020101020101" pitchFamily="50" charset="-127"/>
      <p:regular r:id="rId57"/>
      <p:bold r:id="rId5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EFEFED"/>
    <a:srgbClr val="CC00CC"/>
    <a:srgbClr val="CC00FF"/>
    <a:srgbClr val="C18401"/>
    <a:srgbClr val="FF9900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582" autoAdjust="0"/>
  </p:normalViewPr>
  <p:slideViewPr>
    <p:cSldViewPr>
      <p:cViewPr>
        <p:scale>
          <a:sx n="100" d="100"/>
          <a:sy n="100" d="100"/>
        </p:scale>
        <p:origin x="160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14. </a:t>
            </a:r>
            <a:r>
              <a:rPr lang="ko-KR" altLang="en-US" dirty="0"/>
              <a:t>유틸리티 타입과 데이터 표현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30796-9DDF-2346-8B52-8C21915B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 </a:t>
            </a:r>
            <a:r>
              <a:rPr lang="ko-KR" altLang="en-US" dirty="0"/>
              <a:t>유틸리티 타입과 데이터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551DA-6C6B-7678-DCFC-D40BE1A30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값을 묶는 타입</a:t>
            </a:r>
          </a:p>
          <a:p>
            <a:r>
              <a:rPr lang="ko-KR" altLang="en-US" dirty="0"/>
              <a:t>값의 부재 표현</a:t>
            </a:r>
          </a:p>
          <a:p>
            <a:r>
              <a:rPr lang="ko-KR" altLang="en-US" dirty="0"/>
              <a:t>여러 타입 중 하나를 저장하는 타입</a:t>
            </a:r>
          </a:p>
          <a:p>
            <a:r>
              <a:rPr lang="ko-KR" altLang="en-US" dirty="0"/>
              <a:t>실행 시간 타입 저장</a:t>
            </a:r>
          </a:p>
          <a:p>
            <a:r>
              <a:rPr lang="ko-KR" altLang="en-US" dirty="0"/>
              <a:t>비 소유 참조와 뷰</a:t>
            </a:r>
          </a:p>
          <a:p>
            <a:r>
              <a:rPr lang="ko-KR" altLang="en-US" dirty="0"/>
              <a:t>비트와 바이트 표현</a:t>
            </a:r>
          </a:p>
          <a:p>
            <a:r>
              <a:rPr lang="ko-KR" altLang="en-US" dirty="0"/>
              <a:t>타입 안전한 상태 표현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A412C-8B20-50DB-CAFC-8C05B84B4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9887"/>
              </p:ext>
            </p:extLst>
          </p:nvPr>
        </p:nvGraphicFramePr>
        <p:xfrm>
          <a:off x="5652120" y="908720"/>
          <a:ext cx="3181350" cy="3744432"/>
        </p:xfrm>
        <a:graphic>
          <a:graphicData uri="http://schemas.openxmlformats.org/drawingml/2006/table">
            <a:tbl>
              <a:tblPr/>
              <a:tblGrid>
                <a:gridCol w="3181350">
                  <a:extLst>
                    <a:ext uri="{9D8B030D-6E8A-4147-A177-3AD203B41FA5}">
                      <a16:colId xmlns:a16="http://schemas.microsoft.com/office/drawing/2014/main" val="15461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40000"/>
                        </a:lnSpc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데이터 표현 선택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값을 소유하는가?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집합이 고정되어 있는가?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값이 없거나 실패할 수 있는가?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수명에 의존하는가?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18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89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7A00-C475-3EA4-E598-45ECAD97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93FC4-9A10-2664-5B71-25A79B4A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 std::pair</a:t>
            </a:r>
            <a:r>
              <a:rPr lang="ko-KR" altLang="en-US" dirty="0"/>
              <a:t>와 </a:t>
            </a:r>
            <a:r>
              <a:rPr lang="en-US" altLang="ko-KR" dirty="0"/>
              <a:t>std::tuple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B768F-0EC0-2830-AA86-C66199555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std::pair</a:t>
            </a:r>
            <a:r>
              <a:rPr lang="ko-KR" altLang="en-US" sz="2400" dirty="0"/>
              <a:t>는 두 값을 하나로 묶음</a:t>
            </a:r>
          </a:p>
          <a:p>
            <a:r>
              <a:rPr lang="en-US" altLang="ko-KR" sz="2400" dirty="0"/>
              <a:t>std::tuple</a:t>
            </a:r>
            <a:r>
              <a:rPr lang="ko-KR" altLang="en-US" sz="2400" dirty="0"/>
              <a:t>은 여러 값을 하나로 묶음</a:t>
            </a:r>
          </a:p>
          <a:p>
            <a:r>
              <a:rPr lang="ko-KR" altLang="en-US" sz="2400" dirty="0"/>
              <a:t>짧은 중간 결과나 범용 코드에 적합</a:t>
            </a:r>
          </a:p>
          <a:p>
            <a:r>
              <a:rPr lang="ko-KR" altLang="en-US" sz="2400" dirty="0"/>
              <a:t>원소 의미가 중요하면 이름 있는 구조체가 더 명확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5D0AE-6179-A64B-2569-0B656AF81663}"/>
              </a:ext>
            </a:extLst>
          </p:cNvPr>
          <p:cNvSpPr txBox="1"/>
          <p:nvPr/>
        </p:nvSpPr>
        <p:spPr>
          <a:xfrm>
            <a:off x="679699" y="2636912"/>
            <a:ext cx="5836517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utility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tuple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item.first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item.second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929982-0A8B-6A6E-A627-55A274ED8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70683"/>
              </p:ext>
            </p:extLst>
          </p:nvPr>
        </p:nvGraphicFramePr>
        <p:xfrm>
          <a:off x="679699" y="4870465"/>
          <a:ext cx="5836517" cy="1764688"/>
        </p:xfrm>
        <a:graphic>
          <a:graphicData uri="http://schemas.openxmlformats.org/drawingml/2006/table">
            <a:tbl>
              <a:tblPr/>
              <a:tblGrid>
                <a:gridCol w="2422705">
                  <a:extLst>
                    <a:ext uri="{9D8B030D-6E8A-4147-A177-3AD203B41FA5}">
                      <a16:colId xmlns:a16="http://schemas.microsoft.com/office/drawing/2014/main" val="915138842"/>
                    </a:ext>
                  </a:extLst>
                </a:gridCol>
                <a:gridCol w="3413812">
                  <a:extLst>
                    <a:ext uri="{9D8B030D-6E8A-4147-A177-3AD203B41FA5}">
                      <a16:colId xmlns:a16="http://schemas.microsoft.com/office/drawing/2014/main" val="3683211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97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pair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&lt;T1, T2&gt;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두 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86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tuple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...&gt;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여러 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63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구조체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의미가 오래 유지되는 데이터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03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21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7761-C8F9-FF61-1058-725CED83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DACB9-71F4-1E7B-77D7-2043171A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생성과 </a:t>
            </a:r>
            <a:r>
              <a:rPr lang="en-US" altLang="ko-KR" dirty="0"/>
              <a:t>std::get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72457-492B-0CE3-28A4-CD4E2E9B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std::get&lt;I&gt;()</a:t>
            </a:r>
            <a:r>
              <a:rPr lang="ko-KR" altLang="en-US" dirty="0"/>
              <a:t>로 위치 기반 접근</a:t>
            </a:r>
          </a:p>
          <a:p>
            <a:r>
              <a:rPr lang="ko-KR" altLang="en-US" dirty="0"/>
              <a:t>같은 타입이 한 번만 등장하면 타입 기반 접근 가능</a:t>
            </a:r>
          </a:p>
          <a:p>
            <a:r>
              <a:rPr lang="ko-KR" altLang="en-US" dirty="0"/>
              <a:t>같은 타입이 여러 번 있으면 타입 기반 접근 불가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D62C9-E165-24B9-6968-A6C05279E3C3}"/>
              </a:ext>
            </a:extLst>
          </p:cNvPr>
          <p:cNvSpPr txBox="1"/>
          <p:nvPr/>
        </p:nvSpPr>
        <p:spPr>
          <a:xfrm>
            <a:off x="539750" y="2564904"/>
            <a:ext cx="7920682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429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916E-C936-37C2-E7B1-E96B3FAA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FACDC-488D-602B-1216-A93FDA17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14.1.3 std::tie</a:t>
            </a:r>
            <a:r>
              <a:rPr lang="ko-KR" altLang="en-US" dirty="0"/>
              <a:t>와 구조적 바인딩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466A0DFB-5DEB-F501-D37A-1BDD725F0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142947"/>
              </p:ext>
            </p:extLst>
          </p:nvPr>
        </p:nvGraphicFramePr>
        <p:xfrm>
          <a:off x="539750" y="3429000"/>
          <a:ext cx="7544320" cy="1764688"/>
        </p:xfrm>
        <a:graphic>
          <a:graphicData uri="http://schemas.openxmlformats.org/drawingml/2006/table">
            <a:tbl>
              <a:tblPr/>
              <a:tblGrid>
                <a:gridCol w="3040248">
                  <a:extLst>
                    <a:ext uri="{9D8B030D-6E8A-4147-A177-3AD203B41FA5}">
                      <a16:colId xmlns:a16="http://schemas.microsoft.com/office/drawing/2014/main" val="1302607179"/>
                    </a:ext>
                  </a:extLst>
                </a:gridCol>
                <a:gridCol w="4504072">
                  <a:extLst>
                    <a:ext uri="{9D8B030D-6E8A-4147-A177-3AD203B41FA5}">
                      <a16:colId xmlns:a16="http://schemas.microsoft.com/office/drawing/2014/main" val="556846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66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[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원소를 새 변수로 복사 또는 이동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377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[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원소 참조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618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[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원소 읽기 전용 참조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116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32908-62A2-F6E5-2351-6348F9750D89}"/>
              </a:ext>
            </a:extLst>
          </p:cNvPr>
          <p:cNvSpPr txBox="1"/>
          <p:nvPr/>
        </p:nvSpPr>
        <p:spPr>
          <a:xfrm>
            <a:off x="523230" y="703734"/>
            <a:ext cx="756084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ignore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playerHp]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B1552-A9A2-F4B7-9AF5-545F45A01EE6}"/>
              </a:ext>
            </a:extLst>
          </p:cNvPr>
          <p:cNvSpPr txBox="1"/>
          <p:nvPr/>
        </p:nvSpPr>
        <p:spPr>
          <a:xfrm>
            <a:off x="535930" y="5554102"/>
            <a:ext cx="7544320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구조적 바인딩은 튜플,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map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순회에서 자주 사용</a:t>
            </a:r>
          </a:p>
        </p:txBody>
      </p:sp>
    </p:spTree>
    <p:extLst>
      <p:ext uri="{BB962C8B-B14F-4D97-AF65-F5344CB8AC3E}">
        <p14:creationId xmlns:p14="http://schemas.microsoft.com/office/powerpoint/2010/main" val="355629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6E43-BED5-B1DA-7D4E-3FCA3A06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CAE80-5B71-8A8C-DEC4-04AE289C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14.1.4 </a:t>
            </a:r>
            <a:r>
              <a:rPr lang="ko-KR" altLang="en-US" dirty="0"/>
              <a:t>여러 </a:t>
            </a:r>
            <a:r>
              <a:rPr lang="ko-KR" altLang="en-US" dirty="0" err="1"/>
              <a:t>반환값과</a:t>
            </a:r>
            <a:r>
              <a:rPr lang="ko-KR" altLang="en-US" dirty="0"/>
              <a:t> </a:t>
            </a:r>
            <a:r>
              <a:rPr lang="en-US" altLang="ko-KR" dirty="0"/>
              <a:t>std::apply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A1D88-BE2A-4C11-7374-19D756257D88}"/>
              </a:ext>
            </a:extLst>
          </p:cNvPr>
          <p:cNvSpPr txBox="1"/>
          <p:nvPr/>
        </p:nvSpPr>
        <p:spPr>
          <a:xfrm>
            <a:off x="539750" y="836712"/>
            <a:ext cx="8281838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DivideWithRemainder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divisor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divisor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divisor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quotient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remainder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DivideWithRemainder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17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59A4F-96D1-7991-F564-F9BAC98C7400}"/>
              </a:ext>
            </a:extLst>
          </p:cNvPr>
          <p:cNvSpPr txBox="1"/>
          <p:nvPr/>
        </p:nvSpPr>
        <p:spPr>
          <a:xfrm>
            <a:off x="539750" y="2506940"/>
            <a:ext cx="828183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값의 의미가 문맥에서 분명하면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사용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의미가 중요하거나 여러 곳에서 사용하면 구조체가 더 명확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26CB9-025E-B7AA-1E31-458E7CD45DFB}"/>
              </a:ext>
            </a:extLst>
          </p:cNvPr>
          <p:cNvSpPr txBox="1"/>
          <p:nvPr/>
        </p:nvSpPr>
        <p:spPr>
          <a:xfrm>
            <a:off x="539750" y="3501008"/>
            <a:ext cx="4896346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DivisionResult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quotient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remainder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tuple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arguments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arguments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993497-409D-F4A0-619D-2588E6D754C7}"/>
              </a:ext>
            </a:extLst>
          </p:cNvPr>
          <p:cNvSpPr txBox="1"/>
          <p:nvPr/>
        </p:nvSpPr>
        <p:spPr>
          <a:xfrm>
            <a:off x="4777035" y="6154657"/>
            <a:ext cx="404455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튜플 원소를 함수 인수로 펼쳐 호출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309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945A-24DC-C255-4040-43C8A0C9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67A04-B38D-2C9E-7A99-6BDF1E7D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 std::optional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404C8B-2C64-12C2-FC29-0AD8442A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값이 있거나 없는 상태를 타입으로 표현</a:t>
            </a:r>
          </a:p>
          <a:p>
            <a:r>
              <a:rPr lang="ko-KR" altLang="en-US" dirty="0"/>
              <a:t>검색 실패</a:t>
            </a:r>
            <a:r>
              <a:rPr lang="en-US" altLang="ko-KR" dirty="0"/>
              <a:t>, </a:t>
            </a:r>
            <a:r>
              <a:rPr lang="ko-KR" altLang="en-US" dirty="0"/>
              <a:t>설정 누락</a:t>
            </a:r>
            <a:r>
              <a:rPr lang="en-US" altLang="ko-KR" dirty="0"/>
              <a:t>, </a:t>
            </a:r>
            <a:r>
              <a:rPr lang="ko-KR" altLang="en-US" dirty="0"/>
              <a:t>입력 부재에 적합</a:t>
            </a:r>
          </a:p>
          <a:p>
            <a:r>
              <a:rPr lang="ko-KR" altLang="en-US" dirty="0"/>
              <a:t>특별한 </a:t>
            </a:r>
            <a:r>
              <a:rPr lang="ko-KR" altLang="en-US" dirty="0" err="1"/>
              <a:t>센티널</a:t>
            </a:r>
            <a:r>
              <a:rPr lang="ko-KR" altLang="en-US" dirty="0"/>
              <a:t> 값을 사용하지 않아도 됨</a:t>
            </a:r>
          </a:p>
          <a:p>
            <a:r>
              <a:rPr lang="ko-KR" altLang="en-US" dirty="0"/>
              <a:t>실패 이유까지 표현하지는 않음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E4D2C-7BC8-3B4F-CA64-2F301F3883FB}"/>
              </a:ext>
            </a:extLst>
          </p:cNvPr>
          <p:cNvSpPr txBox="1"/>
          <p:nvPr/>
        </p:nvSpPr>
        <p:spPr>
          <a:xfrm>
            <a:off x="519956" y="2852936"/>
            <a:ext cx="8015932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FindIndex(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D38FA-A093-49ED-2DE2-7671A724BA95}"/>
              </a:ext>
            </a:extLst>
          </p:cNvPr>
          <p:cNvSpPr txBox="1"/>
          <p:nvPr/>
        </p:nvSpPr>
        <p:spPr>
          <a:xfrm>
            <a:off x="4788123" y="5990590"/>
            <a:ext cx="3747765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값이 없는 상태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09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707D-1ADC-8A01-F9A8-430B3FDF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5AAA4-7133-4F5B-CB85-C004CD60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optional </a:t>
            </a:r>
            <a:r>
              <a:rPr lang="ko-KR" altLang="en-US" dirty="0"/>
              <a:t>사용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2A8C9-6943-CDEA-D30C-31185481FE7D}"/>
              </a:ext>
            </a:extLst>
          </p:cNvPr>
          <p:cNvSpPr txBox="1"/>
          <p:nvPr/>
        </p:nvSpPr>
        <p:spPr>
          <a:xfrm>
            <a:off x="573286" y="738336"/>
            <a:ext cx="8072201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FindIndex(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found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53B0D95-8D0F-66DD-C291-1681F48AF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273198"/>
              </p:ext>
            </p:extLst>
          </p:nvPr>
        </p:nvGraphicFramePr>
        <p:xfrm>
          <a:off x="573286" y="3264296"/>
          <a:ext cx="3998714" cy="2897704"/>
        </p:xfrm>
        <a:graphic>
          <a:graphicData uri="http://schemas.openxmlformats.org/drawingml/2006/table">
            <a:tbl>
              <a:tblPr/>
              <a:tblGrid>
                <a:gridCol w="2054498">
                  <a:extLst>
                    <a:ext uri="{9D8B030D-6E8A-4147-A177-3AD203B41FA5}">
                      <a16:colId xmlns:a16="http://schemas.microsoft.com/office/drawing/2014/main" val="387156827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186141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619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값 또는 빈 상태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8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nullopt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빈 상태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4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(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존재 여부 검사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저장된 값 접근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44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접근, 없으면 예외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00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value_or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default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또는 기본값 반환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0011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B92F46-C06D-081B-35D2-2F996958B7AD}"/>
              </a:ext>
            </a:extLst>
          </p:cNvPr>
          <p:cNvSpPr txBox="1"/>
          <p:nvPr/>
        </p:nvSpPr>
        <p:spPr>
          <a:xfrm>
            <a:off x="4685047" y="5130124"/>
            <a:ext cx="396044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-&gt;는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존재를 전제로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값이 없을 수 있음을 호출부에 강제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84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7B62-DDD7-06AF-F4C9-EF416F3D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6F65D-B8D4-7BCD-3A96-0D005D70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14.2.2 reset</a:t>
            </a:r>
            <a:r>
              <a:rPr lang="ko-KR" altLang="en-US" dirty="0"/>
              <a:t>과 </a:t>
            </a:r>
            <a:r>
              <a:rPr lang="en-US" altLang="ko-KR" dirty="0"/>
              <a:t>emplace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CE03E-33AE-9DE9-4C70-FCA26316D071}"/>
              </a:ext>
            </a:extLst>
          </p:cNvPr>
          <p:cNvSpPr txBox="1"/>
          <p:nvPr/>
        </p:nvSpPr>
        <p:spPr>
          <a:xfrm>
            <a:off x="539750" y="692150"/>
            <a:ext cx="648052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text.emplace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'A'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text.emplace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text.reset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217CD-8D9E-0EC1-C8AD-AC878D161907}"/>
              </a:ext>
            </a:extLst>
          </p:cNvPr>
          <p:cNvSpPr txBox="1"/>
          <p:nvPr/>
        </p:nvSpPr>
        <p:spPr>
          <a:xfrm>
            <a:off x="539750" y="5457964"/>
            <a:ext cx="648052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emplace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기존 값이 있으면 파괴 후 새 값 생성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내부에 값을 직접 소유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A96829A-0A00-97ED-D36A-1D2BA8169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790496"/>
              </p:ext>
            </p:extLst>
          </p:nvPr>
        </p:nvGraphicFramePr>
        <p:xfrm>
          <a:off x="3994994" y="2840658"/>
          <a:ext cx="4609256" cy="2631792"/>
        </p:xfrm>
        <a:graphic>
          <a:graphicData uri="http://schemas.openxmlformats.org/drawingml/2006/table">
            <a:tbl>
              <a:tblPr/>
              <a:tblGrid>
                <a:gridCol w="2121943">
                  <a:extLst>
                    <a:ext uri="{9D8B030D-6E8A-4147-A177-3AD203B41FA5}">
                      <a16:colId xmlns:a16="http://schemas.microsoft.com/office/drawing/2014/main" val="1226360603"/>
                    </a:ext>
                  </a:extLst>
                </a:gridCol>
                <a:gridCol w="2487313">
                  <a:extLst>
                    <a:ext uri="{9D8B030D-6E8A-4147-A177-3AD203B41FA5}">
                      <a16:colId xmlns:a16="http://schemas.microsoft.com/office/drawing/2014/main" val="1293932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동작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4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생성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057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대입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저장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224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nullopt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대입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빈 상태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0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저장된 값 파괴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172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내부에 새 값 직접 생성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88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57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407B-8DD9-8D0F-CBD1-BA5EF6CF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5D4D8-45C3-C7D1-5D6A-814D5611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14.2.3 </a:t>
            </a:r>
            <a:r>
              <a:rPr lang="ko-KR" altLang="en-US" dirty="0"/>
              <a:t>값 접근과 기본값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5EB62-695E-41EC-CAFC-52F2E9858C58}"/>
              </a:ext>
            </a:extLst>
          </p:cNvPr>
          <p:cNvSpPr txBox="1"/>
          <p:nvPr/>
        </p:nvSpPr>
        <p:spPr>
          <a:xfrm>
            <a:off x="323528" y="674266"/>
            <a:ext cx="7848872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name.has_value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bad_optional_access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selectedPort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port.value_or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8080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3282C-B988-77F9-2BB9-B7CAD56C4556}"/>
              </a:ext>
            </a:extLst>
          </p:cNvPr>
          <p:cNvSpPr txBox="1"/>
          <p:nvPr/>
        </p:nvSpPr>
        <p:spPr>
          <a:xfrm>
            <a:off x="323528" y="5352147"/>
            <a:ext cx="784887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value_or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참조가 아니라 값을 반환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큰 객체 기본값은 복사나 이동 비용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유무에 따라 작업이 다르면 조건문이 더 명확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157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0E4E-2201-41D2-0189-447E37BB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838FB-2240-CAF7-0A3B-627A5DD0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14.2.4 </a:t>
            </a:r>
            <a:r>
              <a:rPr lang="ko-KR" altLang="en-US" dirty="0"/>
              <a:t>포인터와 </a:t>
            </a:r>
            <a:r>
              <a:rPr lang="en-US" altLang="ko-KR" dirty="0"/>
              <a:t>optional</a:t>
            </a:r>
            <a:r>
              <a:rPr lang="ko-KR" altLang="en-US" dirty="0"/>
              <a:t>의 차이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3A8A4C7-1D8E-C536-C0B3-A5BCCAE63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754729"/>
              </p:ext>
            </p:extLst>
          </p:nvPr>
        </p:nvGraphicFramePr>
        <p:xfrm>
          <a:off x="539750" y="764704"/>
          <a:ext cx="8064699" cy="2213480"/>
        </p:xfrm>
        <a:graphic>
          <a:graphicData uri="http://schemas.openxmlformats.org/drawingml/2006/table">
            <a:tbl>
              <a:tblPr/>
              <a:tblGrid>
                <a:gridCol w="2592090">
                  <a:extLst>
                    <a:ext uri="{9D8B030D-6E8A-4147-A177-3AD203B41FA5}">
                      <a16:colId xmlns:a16="http://schemas.microsoft.com/office/drawing/2014/main" val="2894275843"/>
                    </a:ext>
                  </a:extLst>
                </a:gridCol>
                <a:gridCol w="1734931">
                  <a:extLst>
                    <a:ext uri="{9D8B030D-6E8A-4147-A177-3AD203B41FA5}">
                      <a16:colId xmlns:a16="http://schemas.microsoft.com/office/drawing/2014/main" val="3269776913"/>
                    </a:ext>
                  </a:extLst>
                </a:gridCol>
                <a:gridCol w="1923121">
                  <a:extLst>
                    <a:ext uri="{9D8B030D-6E8A-4147-A177-3AD203B41FA5}">
                      <a16:colId xmlns:a16="http://schemas.microsoft.com/office/drawing/2014/main" val="594824521"/>
                    </a:ext>
                  </a:extLst>
                </a:gridCol>
                <a:gridCol w="1814557">
                  <a:extLst>
                    <a:ext uri="{9D8B030D-6E8A-4147-A177-3AD203B41FA5}">
                      <a16:colId xmlns:a16="http://schemas.microsoft.com/office/drawing/2014/main" val="948571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값의 위치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소유 관계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빈 상태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6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외부 객체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보통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비소유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nullptr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92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객체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단독 소유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nullptr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06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객체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공유 소유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nullptr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 내부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자체를 소유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nullopt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0864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DA9E78-BFE8-0D78-1FA1-8F9B698F835E}"/>
              </a:ext>
            </a:extLst>
          </p:cNvPr>
          <p:cNvSpPr txBox="1"/>
          <p:nvPr/>
        </p:nvSpPr>
        <p:spPr>
          <a:xfrm>
            <a:off x="539749" y="3238956"/>
            <a:ext cx="8064699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player.emplace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C9984-EDCB-54B1-603F-E25501AA0E40}"/>
              </a:ext>
            </a:extLst>
          </p:cNvPr>
          <p:cNvSpPr txBox="1"/>
          <p:nvPr/>
        </p:nvSpPr>
        <p:spPr>
          <a:xfrm>
            <a:off x="539748" y="4581128"/>
            <a:ext cx="8064699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기존 객체를 가리키는 검색 결과는 포인터가 자연스러움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독립된 값의 부재는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&gt;가 자연스러움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C++20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&gt;는 참조 타입을 원소로 사용할 수 없음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5652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9F8F-5610-1AF9-A3EF-3BC3A592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C9E81-EBAF-7E91-1BBC-03644DCD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 std::variant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E42B0-2B82-B0F2-F1FD-E31EDF4D6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정해진 여러 타입 중 하나를 저장</a:t>
            </a:r>
          </a:p>
          <a:p>
            <a:r>
              <a:rPr lang="ko-KR" altLang="en-US" dirty="0"/>
              <a:t>가능한 타입 집합이 컴파일 시점에 고정</a:t>
            </a:r>
          </a:p>
          <a:p>
            <a:r>
              <a:rPr lang="ko-KR" altLang="en-US" dirty="0"/>
              <a:t>현재 활성 대안만 값을 가짐</a:t>
            </a:r>
          </a:p>
          <a:p>
            <a:r>
              <a:rPr lang="ko-KR" altLang="en-US" dirty="0"/>
              <a:t>타입별 처리를 </a:t>
            </a:r>
            <a:r>
              <a:rPr lang="en-US" altLang="ko-KR" dirty="0"/>
              <a:t>std::visit()</a:t>
            </a:r>
            <a:r>
              <a:rPr lang="ko-KR" altLang="en-US" dirty="0"/>
              <a:t>으로 연결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B96B9-09C3-5814-BEA1-36D1EF23CF1B}"/>
              </a:ext>
            </a:extLst>
          </p:cNvPr>
          <p:cNvSpPr txBox="1"/>
          <p:nvPr/>
        </p:nvSpPr>
        <p:spPr>
          <a:xfrm>
            <a:off x="539750" y="2969750"/>
            <a:ext cx="482433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649DB-BEA6-9B29-BDAD-04AFC25D0468}"/>
              </a:ext>
            </a:extLst>
          </p:cNvPr>
          <p:cNvSpPr txBox="1"/>
          <p:nvPr/>
        </p:nvSpPr>
        <p:spPr>
          <a:xfrm>
            <a:off x="5148064" y="3464049"/>
            <a:ext cx="3528194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시점에는 하나의 대안만 활성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89134-72AB-FF1E-156B-B4EE5B06FCEC}"/>
              </a:ext>
            </a:extLst>
          </p:cNvPr>
          <p:cNvSpPr txBox="1"/>
          <p:nvPr/>
        </p:nvSpPr>
        <p:spPr>
          <a:xfrm>
            <a:off x="539750" y="5224241"/>
            <a:ext cx="813650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생성 시 첫 번째 대안 타입의 기본값 저장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첫 대안이 기본 생성 불가하면 기본 생성 불가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37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3166-CF2E-0F12-B7B0-F33E614D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51F39-F9B0-B4D1-B73D-CFBDE37A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14.3.2 std::</a:t>
            </a:r>
            <a:r>
              <a:rPr lang="en-US" altLang="ko-KR" dirty="0" err="1"/>
              <a:t>monostate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34968-0BB4-5E66-E375-63144AD72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std::</a:t>
            </a:r>
            <a:r>
              <a:rPr lang="en-US" altLang="ko-KR" dirty="0" err="1"/>
              <a:t>monostate</a:t>
            </a:r>
            <a:r>
              <a:rPr lang="ko-KR" altLang="en-US" dirty="0"/>
              <a:t>는 데이터가 없는 대안 타입</a:t>
            </a:r>
          </a:p>
          <a:p>
            <a:r>
              <a:rPr lang="en-US" altLang="ko-KR" dirty="0"/>
              <a:t>variant</a:t>
            </a:r>
            <a:r>
              <a:rPr lang="ko-KR" altLang="en-US" dirty="0"/>
              <a:t>의 명시적 빈 상태로 사용 가능</a:t>
            </a:r>
          </a:p>
          <a:p>
            <a:r>
              <a:rPr lang="ko-KR" altLang="en-US" dirty="0"/>
              <a:t>첫 대안이 기본 생성 불가할 때도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FD390-C17A-1D94-4E99-D6C3DD68DBD5}"/>
              </a:ext>
            </a:extLst>
          </p:cNvPr>
          <p:cNvSpPr txBox="1"/>
          <p:nvPr/>
        </p:nvSpPr>
        <p:spPr>
          <a:xfrm>
            <a:off x="539750" y="2564904"/>
            <a:ext cx="6552530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monostate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holds_alternative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monostate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empty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1FA4A60-DE27-9EE2-E84D-67EC1C807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70650"/>
              </p:ext>
            </p:extLst>
          </p:nvPr>
        </p:nvGraphicFramePr>
        <p:xfrm>
          <a:off x="539750" y="4437112"/>
          <a:ext cx="6552530" cy="1520848"/>
        </p:xfrm>
        <a:graphic>
          <a:graphicData uri="http://schemas.openxmlformats.org/drawingml/2006/table">
            <a:tbl>
              <a:tblPr/>
              <a:tblGrid>
                <a:gridCol w="2880122">
                  <a:extLst>
                    <a:ext uri="{9D8B030D-6E8A-4147-A177-3AD203B41FA5}">
                      <a16:colId xmlns:a16="http://schemas.microsoft.com/office/drawing/2014/main" val="561709646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387200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5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monostate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사용자가 정의한 정상 빈 대안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59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nullopt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optional의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값 없음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3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valueless_by_exception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대안 교체 실패로 생길 수 있는 예외 상태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3800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F46477-BCB8-EF58-9D1B-C64DE810A745}"/>
              </a:ext>
            </a:extLst>
          </p:cNvPr>
          <p:cNvSpPr txBox="1"/>
          <p:nvPr/>
        </p:nvSpPr>
        <p:spPr>
          <a:xfrm>
            <a:off x="539750" y="6148710"/>
            <a:ext cx="6552530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단순히 값이 있거나 없으면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&gt;가 더 간단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282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F06E2-4884-B362-5433-0AF755CD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FC1C0-F84B-E31E-1C1A-2C68CFAE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14.3.3 variant </a:t>
            </a:r>
            <a:r>
              <a:rPr lang="ko-KR" altLang="en-US" dirty="0"/>
              <a:t>값 확인과 접근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7B43AF8-D6AA-7D7D-B890-DC5EE71A2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842129"/>
              </p:ext>
            </p:extLst>
          </p:nvPr>
        </p:nvGraphicFramePr>
        <p:xfrm>
          <a:off x="539750" y="3965536"/>
          <a:ext cx="7488634" cy="2487800"/>
        </p:xfrm>
        <a:graphic>
          <a:graphicData uri="http://schemas.openxmlformats.org/drawingml/2006/table">
            <a:tbl>
              <a:tblPr/>
              <a:tblGrid>
                <a:gridCol w="3672210">
                  <a:extLst>
                    <a:ext uri="{9D8B030D-6E8A-4147-A177-3AD203B41FA5}">
                      <a16:colId xmlns:a16="http://schemas.microsoft.com/office/drawing/2014/main" val="316097441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36187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74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활성 대안 위치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24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holds_alternative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&gt;()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활성 여부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356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&gt;(), </a:t>
                      </a: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&lt;I&gt;()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 접근, 실패 시 예외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get_if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&gt;()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 접근, 실패 시 nullptr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474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8ACACB-9561-6A60-A167-B0D21399D004}"/>
              </a:ext>
            </a:extLst>
          </p:cNvPr>
          <p:cNvSpPr txBox="1"/>
          <p:nvPr/>
        </p:nvSpPr>
        <p:spPr>
          <a:xfrm>
            <a:off x="539750" y="836712"/>
            <a:ext cx="7488634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holds_alternative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4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030B-E3D7-EE24-A7BB-3847A65F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629A2-55FA-DE8C-51D5-D442B14C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14.3.4 std::visit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DEFB1-ECBA-93B2-762B-5CEAC0985CAE}"/>
              </a:ext>
            </a:extLst>
          </p:cNvPr>
          <p:cNvSpPr txBox="1"/>
          <p:nvPr/>
        </p:nvSpPr>
        <p:spPr>
          <a:xfrm>
            <a:off x="611560" y="836712"/>
            <a:ext cx="7632848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visit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07EF4-1297-F2E6-60CF-BD09CABD49DC}"/>
              </a:ext>
            </a:extLst>
          </p:cNvPr>
          <p:cNvSpPr txBox="1"/>
          <p:nvPr/>
        </p:nvSpPr>
        <p:spPr>
          <a:xfrm>
            <a:off x="611560" y="2406372"/>
            <a:ext cx="763284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활성 대안 타입에 맞게 호출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대안에서 본문이 컴파일 가능해야 함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11220-0383-7209-1B49-7DFEF28A9CBC}"/>
              </a:ext>
            </a:extLst>
          </p:cNvPr>
          <p:cNvSpPr txBox="1"/>
          <p:nvPr/>
        </p:nvSpPr>
        <p:spPr>
          <a:xfrm>
            <a:off x="611560" y="3140968"/>
            <a:ext cx="7632848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visit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remove_cvref_t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decltype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46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A92E-87EF-8460-4C3A-7993DE66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BB1E8-4A2B-FBA6-562F-5ACAD379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14.3.5 </a:t>
            </a:r>
            <a:r>
              <a:rPr lang="ko-KR" altLang="en-US" dirty="0"/>
              <a:t>상태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BEC86-405D-9AF6-3F11-C45C7858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상태마다 필요한 데이터가 다르면 </a:t>
            </a:r>
            <a:r>
              <a:rPr lang="en-US" altLang="ko-KR" sz="2400" dirty="0"/>
              <a:t>variant</a:t>
            </a:r>
            <a:r>
              <a:rPr lang="ko-KR" altLang="en-US" sz="2400" dirty="0"/>
              <a:t>가 유용</a:t>
            </a:r>
          </a:p>
          <a:p>
            <a:r>
              <a:rPr lang="ko-KR" altLang="en-US" sz="2400" dirty="0"/>
              <a:t>서로 모순되는 상태 조합을 줄임</a:t>
            </a:r>
          </a:p>
          <a:p>
            <a:r>
              <a:rPr lang="ko-KR" altLang="en-US" sz="2400" dirty="0"/>
              <a:t>한 시점에는 하나의 상태만 활성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1A67E-D7F1-A085-5BF0-DCC20DE4749F}"/>
              </a:ext>
            </a:extLst>
          </p:cNvPr>
          <p:cNvSpPr txBox="1"/>
          <p:nvPr/>
        </p:nvSpPr>
        <p:spPr>
          <a:xfrm>
            <a:off x="539750" y="2276872"/>
            <a:ext cx="6264498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Moving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speed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Attacking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CharacterState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CharacterState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3EBA51C-7DA8-713B-B1C7-46A86E3D3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729162"/>
              </p:ext>
            </p:extLst>
          </p:nvPr>
        </p:nvGraphicFramePr>
        <p:xfrm>
          <a:off x="4644008" y="5341322"/>
          <a:ext cx="3888432" cy="1110960"/>
        </p:xfrm>
        <a:graphic>
          <a:graphicData uri="http://schemas.openxmlformats.org/drawingml/2006/table">
            <a:tbl>
              <a:tblPr/>
              <a:tblGrid>
                <a:gridCol w="3888432">
                  <a:extLst>
                    <a:ext uri="{9D8B030D-6E8A-4147-A177-3AD203B41FA5}">
                      <a16:colId xmlns:a16="http://schemas.microsoft.com/office/drawing/2014/main" val="779907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Idle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→ 추가 데이터 없음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Moving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→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speed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Attacking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targetId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damage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23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030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C989-5941-BB3C-4B76-AFB1DF67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AE8D5-832F-F4AA-9C55-0AAD6A1D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14.3.6 </a:t>
            </a:r>
            <a:r>
              <a:rPr lang="en-US" altLang="ko-KR" dirty="0" err="1"/>
              <a:t>valueless_by_exception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3FC09-82A8-9C28-A641-620D1F03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variant</a:t>
            </a:r>
            <a:r>
              <a:rPr lang="ko-KR" altLang="en-US" sz="2400" dirty="0"/>
              <a:t>는 보통 하나의 대안을 저장</a:t>
            </a:r>
          </a:p>
          <a:p>
            <a:r>
              <a:rPr lang="ko-KR" altLang="en-US" sz="2400" dirty="0"/>
              <a:t>대안 교체 중 예외가 발생하면</a:t>
            </a:r>
            <a:br>
              <a:rPr lang="en-US" altLang="ko-KR" sz="2400" dirty="0"/>
            </a:br>
            <a:r>
              <a:rPr lang="ko-KR" altLang="en-US" sz="2400" dirty="0"/>
              <a:t>어떤 대안도 저장하지 못할 수 있음</a:t>
            </a:r>
          </a:p>
          <a:p>
            <a:r>
              <a:rPr lang="ko-KR" altLang="en-US" sz="2400" dirty="0"/>
              <a:t>이 상태는 </a:t>
            </a:r>
            <a:r>
              <a:rPr lang="en-US" altLang="ko-KR" sz="2400" dirty="0" err="1"/>
              <a:t>valueless_by_exception</a:t>
            </a:r>
            <a:r>
              <a:rPr lang="en-US" altLang="ko-KR" sz="2400" dirty="0"/>
              <a:t>()</a:t>
            </a:r>
            <a:r>
              <a:rPr lang="ko-KR" altLang="en-US" sz="2400" dirty="0"/>
              <a:t>으로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A513D-A5C2-11D3-1687-57345234D8B2}"/>
              </a:ext>
            </a:extLst>
          </p:cNvPr>
          <p:cNvSpPr txBox="1"/>
          <p:nvPr/>
        </p:nvSpPr>
        <p:spPr>
          <a:xfrm>
            <a:off x="539750" y="2621086"/>
            <a:ext cx="475233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value.valueless_by_exception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alternative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variant_npos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E0288-3965-D94E-95BD-05427B58DC97}"/>
              </a:ext>
            </a:extLst>
          </p:cNvPr>
          <p:cNvSpPr txBox="1"/>
          <p:nvPr/>
        </p:nvSpPr>
        <p:spPr>
          <a:xfrm>
            <a:off x="4773959" y="3729081"/>
            <a:ext cx="4387156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일반 코드에서 자주 만나는 상태는 아님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절대로 비어 있지 않다고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단정하지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monostate와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의미가 다름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C5E030A-1C87-6CEA-BC03-25B03E327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24016"/>
              </p:ext>
            </p:extLst>
          </p:nvPr>
        </p:nvGraphicFramePr>
        <p:xfrm>
          <a:off x="520650" y="5307330"/>
          <a:ext cx="3055540" cy="858520"/>
        </p:xfrm>
        <a:graphic>
          <a:graphicData uri="http://schemas.openxmlformats.org/drawingml/2006/table">
            <a:tbl>
              <a:tblPr/>
              <a:tblGrid>
                <a:gridCol w="3055540">
                  <a:extLst>
                    <a:ext uri="{9D8B030D-6E8A-4147-A177-3AD203B41FA5}">
                      <a16:colId xmlns:a16="http://schemas.microsoft.com/office/drawing/2014/main" val="1700760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monostate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정상 대안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5576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A5D096E-B834-DB82-8CFC-C7D3F5652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333192"/>
              </p:ext>
            </p:extLst>
          </p:nvPr>
        </p:nvGraphicFramePr>
        <p:xfrm>
          <a:off x="3764310" y="5316433"/>
          <a:ext cx="3055540" cy="858520"/>
        </p:xfrm>
        <a:graphic>
          <a:graphicData uri="http://schemas.openxmlformats.org/drawingml/2006/table">
            <a:tbl>
              <a:tblPr/>
              <a:tblGrid>
                <a:gridCol w="3055540">
                  <a:extLst>
                    <a:ext uri="{9D8B030D-6E8A-4147-A177-3AD203B41FA5}">
                      <a16:colId xmlns:a16="http://schemas.microsoft.com/office/drawing/2014/main" val="1820601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valueless_by_exception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대안 교체 실패로 인한 예외 상태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216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851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102F-708A-0537-A3B5-C4EED2BE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F8C79-7F10-6569-EF8F-2C9F6BF9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14.3.7 </a:t>
            </a:r>
            <a:r>
              <a:rPr lang="ko-KR" altLang="en-US" dirty="0"/>
              <a:t>상속 기반 다형성과 </a:t>
            </a:r>
            <a:r>
              <a:rPr lang="en-US" altLang="ko-KR" dirty="0"/>
              <a:t>variant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34D14D7-C43A-5719-D9A5-6217E331A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415935"/>
              </p:ext>
            </p:extLst>
          </p:nvPr>
        </p:nvGraphicFramePr>
        <p:xfrm>
          <a:off x="539750" y="764704"/>
          <a:ext cx="7920880" cy="3111064"/>
        </p:xfrm>
        <a:graphic>
          <a:graphicData uri="http://schemas.openxmlformats.org/drawingml/2006/table">
            <a:tbl>
              <a:tblPr/>
              <a:tblGrid>
                <a:gridCol w="2089366">
                  <a:extLst>
                    <a:ext uri="{9D8B030D-6E8A-4147-A177-3AD203B41FA5}">
                      <a16:colId xmlns:a16="http://schemas.microsoft.com/office/drawing/2014/main" val="2308430232"/>
                    </a:ext>
                  </a:extLst>
                </a:gridCol>
                <a:gridCol w="3149641">
                  <a:extLst>
                    <a:ext uri="{9D8B030D-6E8A-4147-A177-3AD203B41FA5}">
                      <a16:colId xmlns:a16="http://schemas.microsoft.com/office/drawing/2014/main" val="3651231468"/>
                    </a:ext>
                  </a:extLst>
                </a:gridCol>
                <a:gridCol w="2681873">
                  <a:extLst>
                    <a:ext uri="{9D8B030D-6E8A-4147-A177-3AD203B41FA5}">
                      <a16:colId xmlns:a16="http://schemas.microsoft.com/office/drawing/2014/main" val="245755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기준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상속 기반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다형성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variant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054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집합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파생 타입으로 확장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대안 목록에 고정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083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방식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가상 함수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visit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39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방식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보통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포인터·참조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직접 저장 가능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0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인터페이스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클래스에 정의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방문자가 연산 정의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연산 추가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인터페이스 변경 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방문자 추가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357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타입 추가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 추가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variant와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방문자 수정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893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6F35C9-D6DE-A41D-5CA7-BD0BDB1EBFD4}"/>
              </a:ext>
            </a:extLst>
          </p:cNvPr>
          <p:cNvSpPr txBox="1"/>
          <p:nvPr/>
        </p:nvSpPr>
        <p:spPr>
          <a:xfrm>
            <a:off x="539750" y="4005064"/>
            <a:ext cx="655253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Shape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ShapeValue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Circle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Triangle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32E95-F01E-68DD-C6BE-BA967F685739}"/>
              </a:ext>
            </a:extLst>
          </p:cNvPr>
          <p:cNvSpPr txBox="1"/>
          <p:nvPr/>
        </p:nvSpPr>
        <p:spPr>
          <a:xfrm>
            <a:off x="539750" y="5962818"/>
            <a:ext cx="792088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타입이 계속 추가되면 상속이 자연스러움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타입 집합이 고정되어 있으면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단순할 수 있음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50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1580-977A-389C-299B-5D5F1D2A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4CBCF-AFAF-E2AE-3456-62CDB0B7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14.4 std::any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8CCC7-253F-3022-EC32-ADC48AAA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실행 시간에 저장 타입을 결정</a:t>
            </a:r>
          </a:p>
          <a:p>
            <a:r>
              <a:rPr lang="ko-KR" altLang="en-US" sz="2400" dirty="0"/>
              <a:t>하나의 객체에 여러 타입을 차례로 저장 가능</a:t>
            </a:r>
          </a:p>
          <a:p>
            <a:r>
              <a:rPr lang="ko-KR" altLang="en-US" sz="2400" dirty="0"/>
              <a:t>저장 타입을 꺼낼 때 타입 확인 필요</a:t>
            </a:r>
          </a:p>
          <a:p>
            <a:r>
              <a:rPr lang="en-US" altLang="ko-KR" sz="2400" dirty="0"/>
              <a:t>C++20</a:t>
            </a:r>
            <a:r>
              <a:rPr lang="ko-KR" altLang="en-US" sz="2400" dirty="0"/>
              <a:t>에서는 복사 가능한 타입 저장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10B16-FE67-891B-CC3C-2661492D6B07}"/>
              </a:ext>
            </a:extLst>
          </p:cNvPr>
          <p:cNvSpPr txBox="1"/>
          <p:nvPr/>
        </p:nvSpPr>
        <p:spPr>
          <a:xfrm>
            <a:off x="522585" y="2700446"/>
            <a:ext cx="6857727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&gt;(10); // C++20 저장 불가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660E35E-3602-DE08-A444-64214AE25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384288"/>
              </p:ext>
            </p:extLst>
          </p:nvPr>
        </p:nvGraphicFramePr>
        <p:xfrm>
          <a:off x="522585" y="4797152"/>
          <a:ext cx="4121423" cy="1224456"/>
        </p:xfrm>
        <a:graphic>
          <a:graphicData uri="http://schemas.openxmlformats.org/drawingml/2006/table">
            <a:tbl>
              <a:tblPr/>
              <a:tblGrid>
                <a:gridCol w="2249215">
                  <a:extLst>
                    <a:ext uri="{9D8B030D-6E8A-4147-A177-3AD203B41FA5}">
                      <a16:colId xmlns:a16="http://schemas.microsoft.com/office/drawing/2014/main" val="118547385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550903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저장 타입 집합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6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variant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Ts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...&gt;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시점에 고정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05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any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시간에 결정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130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8F4813-EB99-E235-706C-F221860E463E}"/>
              </a:ext>
            </a:extLst>
          </p:cNvPr>
          <p:cNvSpPr txBox="1"/>
          <p:nvPr/>
        </p:nvSpPr>
        <p:spPr>
          <a:xfrm>
            <a:off x="5093023" y="5055437"/>
            <a:ext cx="352839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chemeClr val="tx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설정 저장소, 편집기 속성,</a:t>
            </a:r>
            <a:br>
              <a:rPr lang="en-US" altLang="ko-KR" sz="2000" b="0" i="0" u="none" strike="noStrike" dirty="0">
                <a:solidFill>
                  <a:schemeClr val="tx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chemeClr val="tx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확장 모듈 경계에서 사용 가능</a:t>
            </a:r>
            <a:endParaRPr lang="ko-KR" altLang="ko-KR" sz="20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313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60AB-AFFF-1AAD-67C7-B2CB942E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F2844-8894-8438-2456-5A956A71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14.4.2 </a:t>
            </a:r>
            <a:r>
              <a:rPr lang="ko-KR" altLang="en-US" dirty="0"/>
              <a:t>빈 상태와 저장 타입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B985C-29B8-6F3D-33A1-5C85C5C095DD}"/>
              </a:ext>
            </a:extLst>
          </p:cNvPr>
          <p:cNvSpPr txBox="1"/>
          <p:nvPr/>
        </p:nvSpPr>
        <p:spPr>
          <a:xfrm>
            <a:off x="539750" y="715789"/>
            <a:ext cx="4608314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value.has_value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empty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value.reset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value.emplace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'*'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5278CF9-F870-2466-88C0-E4C743ED2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257336"/>
              </p:ext>
            </p:extLst>
          </p:nvPr>
        </p:nvGraphicFramePr>
        <p:xfrm>
          <a:off x="539750" y="4464794"/>
          <a:ext cx="4608314" cy="2061080"/>
        </p:xfrm>
        <a:graphic>
          <a:graphicData uri="http://schemas.openxmlformats.org/drawingml/2006/table">
            <a:tbl>
              <a:tblPr/>
              <a:tblGrid>
                <a:gridCol w="1727994">
                  <a:extLst>
                    <a:ext uri="{9D8B030D-6E8A-4147-A177-3AD203B41FA5}">
                      <a16:colId xmlns:a16="http://schemas.microsoft.com/office/drawing/2014/main" val="159647565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3301269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47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has_value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객체 존재 여부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71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객체 파괴 후 빈 상태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6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지정 타입 객체 생성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44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type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타입의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type_info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반환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2639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3DD517-A99F-2873-99D6-037DFE5FAB0B}"/>
              </a:ext>
            </a:extLst>
          </p:cNvPr>
          <p:cNvSpPr txBox="1"/>
          <p:nvPr/>
        </p:nvSpPr>
        <p:spPr>
          <a:xfrm>
            <a:off x="4865984" y="3226608"/>
            <a:ext cx="4191794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빈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any의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typeid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().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문자열에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프로그램 로직 의존 금지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147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DF44-FBFE-3150-76B5-7875E1E6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B7F82-A678-800F-FD81-D49942CC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14.4.3 </a:t>
            </a:r>
            <a:r>
              <a:rPr lang="ko-KR" altLang="ko-KR" dirty="0" err="1"/>
              <a:t>any_cast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F76A5-87B9-00BE-B500-D7A34A56B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값 또는 참조 형식 실패 → 예외</a:t>
            </a:r>
          </a:p>
          <a:p>
            <a:pPr lvl="0"/>
            <a:r>
              <a:rPr lang="ko-KR" altLang="ko-KR" sz="2400" dirty="0"/>
              <a:t>포인터 형식 실패 → nullptr</a:t>
            </a:r>
          </a:p>
          <a:p>
            <a:pPr lvl="0"/>
            <a:r>
              <a:rPr lang="ko-KR" altLang="ko-KR" sz="2400" dirty="0"/>
              <a:t>타입이 불확실하면 포인터 형식이 분기 코드와 잘 맞음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DFB08-E691-4A80-E534-07476C20AEB2}"/>
              </a:ext>
            </a:extLst>
          </p:cNvPr>
          <p:cNvSpPr txBox="1"/>
          <p:nvPr/>
        </p:nvSpPr>
        <p:spPr>
          <a:xfrm>
            <a:off x="539750" y="2245162"/>
            <a:ext cx="7560642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world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bad_any_cast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mismatch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088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796B-6312-9ECB-4294-EC9BEA1E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E4B47-B96C-EF30-E6FB-A69E1E4E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14.4.4 variant</a:t>
            </a:r>
            <a:r>
              <a:rPr lang="ko-KR" altLang="en-US" dirty="0"/>
              <a:t>와 </a:t>
            </a:r>
            <a:r>
              <a:rPr lang="en-US" altLang="ko-KR" dirty="0"/>
              <a:t>any</a:t>
            </a:r>
            <a:r>
              <a:rPr lang="ko-KR" altLang="en-US" dirty="0"/>
              <a:t>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90283D-051C-192C-D9A3-949ED148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가능한 타입 집합을 알고 있으면 </a:t>
            </a:r>
            <a:r>
              <a:rPr lang="ko-KR" altLang="ko-KR" sz="2400" dirty="0" err="1"/>
              <a:t>variant</a:t>
            </a:r>
            <a:r>
              <a:rPr lang="ko-KR" altLang="ko-KR" sz="2400" dirty="0"/>
              <a:t> 우선 검토</a:t>
            </a:r>
          </a:p>
          <a:p>
            <a:pPr lvl="0"/>
            <a:r>
              <a:rPr lang="ko-KR" altLang="ko-KR" sz="2400" dirty="0"/>
              <a:t>외부 모듈이 임의 타입을 등록하면 </a:t>
            </a:r>
            <a:r>
              <a:rPr lang="ko-KR" altLang="ko-KR" sz="2400" dirty="0" err="1"/>
              <a:t>any가</a:t>
            </a:r>
            <a:r>
              <a:rPr lang="ko-KR" altLang="ko-KR" sz="2400" dirty="0"/>
              <a:t> 유연</a:t>
            </a:r>
          </a:p>
          <a:p>
            <a:pPr lvl="0"/>
            <a:r>
              <a:rPr lang="ko-KR" altLang="ko-KR" sz="2400" dirty="0" err="1"/>
              <a:t>any를</a:t>
            </a:r>
            <a:r>
              <a:rPr lang="ko-KR" altLang="ko-KR" sz="2400" dirty="0"/>
              <a:t> 과도하게 쓰면 타입 안전성이 약해질 수 있음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70E2C2D-E631-E99D-F854-D7F2D485C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708923"/>
              </p:ext>
            </p:extLst>
          </p:nvPr>
        </p:nvGraphicFramePr>
        <p:xfrm>
          <a:off x="539750" y="2204864"/>
          <a:ext cx="7992690" cy="2692752"/>
        </p:xfrm>
        <a:graphic>
          <a:graphicData uri="http://schemas.openxmlformats.org/drawingml/2006/table">
            <a:tbl>
              <a:tblPr/>
              <a:tblGrid>
                <a:gridCol w="1757003">
                  <a:extLst>
                    <a:ext uri="{9D8B030D-6E8A-4147-A177-3AD203B41FA5}">
                      <a16:colId xmlns:a16="http://schemas.microsoft.com/office/drawing/2014/main" val="116622996"/>
                    </a:ext>
                  </a:extLst>
                </a:gridCol>
                <a:gridCol w="3343973">
                  <a:extLst>
                    <a:ext uri="{9D8B030D-6E8A-4147-A177-3AD203B41FA5}">
                      <a16:colId xmlns:a16="http://schemas.microsoft.com/office/drawing/2014/main" val="3848128515"/>
                    </a:ext>
                  </a:extLst>
                </a:gridCol>
                <a:gridCol w="2891714">
                  <a:extLst>
                    <a:ext uri="{9D8B030D-6E8A-4147-A177-3AD203B41FA5}">
                      <a16:colId xmlns:a16="http://schemas.microsoft.com/office/drawing/2014/main" val="1781123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기준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variant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any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03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타입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인수로 제한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시간 결정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처리 누락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방문자 컴파일 오류로 발견 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시간 검사 필요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41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정보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대안 목록이 타입에 드러남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any만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보아서는 모름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20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전용 타입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대안 조건이 허용하면 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C++20에서는 저장 불가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26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용도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닫힌 타입 집합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개방된 속성 저장소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909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4227DE5-A7F4-A2B4-38C4-D2BC45805F42}"/>
              </a:ext>
            </a:extLst>
          </p:cNvPr>
          <p:cNvSpPr txBox="1"/>
          <p:nvPr/>
        </p:nvSpPr>
        <p:spPr>
          <a:xfrm>
            <a:off x="539750" y="5157192"/>
            <a:ext cx="799269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SettingValue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0148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A780-6F89-3A7C-6024-17BFB6B1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5B7D3-B031-EAA3-02EE-D3504A3C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14.5 std::</a:t>
            </a:r>
            <a:r>
              <a:rPr lang="en-US" altLang="ko-KR" dirty="0" err="1"/>
              <a:t>reference_wrapper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7DE9A-5CF0-D3BB-4AC2-59EDD71A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참조를 복사 가능하고 대입 가능한 객체 형태로 감쌈</a:t>
            </a:r>
          </a:p>
          <a:p>
            <a:r>
              <a:rPr lang="ko-KR" altLang="en-US" sz="2400" dirty="0"/>
              <a:t>컨테이너에 참조 의미를 저장할 때 사용</a:t>
            </a:r>
          </a:p>
          <a:p>
            <a:r>
              <a:rPr lang="ko-KR" altLang="en-US" sz="2400" dirty="0"/>
              <a:t>대상을 소유하지 않음</a:t>
            </a:r>
          </a:p>
          <a:p>
            <a:r>
              <a:rPr lang="ko-KR" altLang="en-US" sz="2400" dirty="0"/>
              <a:t>대상 객체의 수명에 의존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0A329-47CA-2FFB-6851-443CFC095CC4}"/>
              </a:ext>
            </a:extLst>
          </p:cNvPr>
          <p:cNvSpPr txBox="1"/>
          <p:nvPr/>
        </p:nvSpPr>
        <p:spPr>
          <a:xfrm>
            <a:off x="539751" y="2780928"/>
            <a:ext cx="6480522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functional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reference_wrapper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7CBA0-9681-1AFA-F5A6-429D79A35DCE}"/>
              </a:ext>
            </a:extLst>
          </p:cNvPr>
          <p:cNvSpPr txBox="1"/>
          <p:nvPr/>
        </p:nvSpPr>
        <p:spPr>
          <a:xfrm>
            <a:off x="539750" y="5728489"/>
            <a:ext cx="648052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래퍼를 복사해도 원본 값은 복사하지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객체를 가리키는 래퍼가 만들어짐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693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38BC-F9BC-5378-C579-002604E6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82299-C749-BB65-0784-1A870C79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14.5.2 </a:t>
            </a:r>
            <a:r>
              <a:rPr lang="ko-KR" altLang="en-US" dirty="0"/>
              <a:t>컨테이너와 참조</a:t>
            </a: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06B8C24A-9BC1-9D66-7CF5-DEFCA6422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57908"/>
              </p:ext>
            </p:extLst>
          </p:nvPr>
        </p:nvGraphicFramePr>
        <p:xfrm>
          <a:off x="539750" y="3611306"/>
          <a:ext cx="7848674" cy="1642768"/>
        </p:xfrm>
        <a:graphic>
          <a:graphicData uri="http://schemas.openxmlformats.org/drawingml/2006/table">
            <a:tbl>
              <a:tblPr/>
              <a:tblGrid>
                <a:gridCol w="4752330">
                  <a:extLst>
                    <a:ext uri="{9D8B030D-6E8A-4147-A177-3AD203B41FA5}">
                      <a16:colId xmlns:a16="http://schemas.microsoft.com/office/drawing/2014/main" val="4425331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204058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581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객체를 소유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099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*&gt;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 값 저장, nullptr 가능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10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reference_wrapper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&gt;&gt;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객체 참조, 빈 참조 없음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4848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341362-B521-2EB5-773B-CF04BC07BC1F}"/>
              </a:ext>
            </a:extLst>
          </p:cNvPr>
          <p:cNvSpPr txBox="1"/>
          <p:nvPr/>
        </p:nvSpPr>
        <p:spPr>
          <a:xfrm>
            <a:off x="539750" y="692150"/>
            <a:ext cx="3096146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archer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Archer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4CF41-26E8-5838-3B9A-DB9DF0331CC2}"/>
              </a:ext>
            </a:extLst>
          </p:cNvPr>
          <p:cNvSpPr txBox="1"/>
          <p:nvPr/>
        </p:nvSpPr>
        <p:spPr>
          <a:xfrm>
            <a:off x="3635896" y="692150"/>
            <a:ext cx="5112568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reference_wrapper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party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archer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EBD6C-F35A-0276-B289-7C467546D6FD}"/>
              </a:ext>
            </a:extLst>
          </p:cNvPr>
          <p:cNvSpPr txBox="1"/>
          <p:nvPr/>
        </p:nvSpPr>
        <p:spPr>
          <a:xfrm>
            <a:off x="539750" y="5372463"/>
            <a:ext cx="7848674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빈 참조가 필요하면 포인터 또는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reference_wrapper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검토</a:t>
            </a:r>
          </a:p>
        </p:txBody>
      </p:sp>
    </p:spTree>
    <p:extLst>
      <p:ext uri="{BB962C8B-B14F-4D97-AF65-F5344CB8AC3E}">
        <p14:creationId xmlns:p14="http://schemas.microsoft.com/office/powerpoint/2010/main" val="4112453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2133-6CDD-4D27-522B-56F89D90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065C3-8430-99D3-7A56-B186AE54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14.5.3 std::ref, std::</a:t>
            </a:r>
            <a:r>
              <a:rPr lang="en-US" altLang="ko-KR" dirty="0" err="1"/>
              <a:t>cref</a:t>
            </a:r>
            <a:r>
              <a:rPr lang="ko-KR" altLang="en-US" dirty="0"/>
              <a:t>와 수명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7D150-41BE-63CB-84A5-21925F35001C}"/>
              </a:ext>
            </a:extLst>
          </p:cNvPr>
          <p:cNvSpPr txBox="1"/>
          <p:nvPr/>
        </p:nvSpPr>
        <p:spPr>
          <a:xfrm>
            <a:off x="395536" y="692150"/>
            <a:ext cx="5616624" cy="575542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nameReference.get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+= "!";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값 전달 템플릿에 참조 의미 전달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ExecuteTwice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ExecuteTwice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위험한 반환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reference_wrapper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MakeInvalidReference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BBC83-1B4F-C336-65FF-08F7F0BC6D05}"/>
              </a:ext>
            </a:extLst>
          </p:cNvPr>
          <p:cNvSpPr txBox="1"/>
          <p:nvPr/>
        </p:nvSpPr>
        <p:spPr>
          <a:xfrm>
            <a:off x="5004048" y="3284984"/>
            <a:ext cx="352839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reference_wrapper는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대상을 소유하지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대상 소멸, 컨테이너 재할당 후 사용 금지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12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DAC7-0592-1C1E-2C59-F344CF31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98B1E-780D-12F1-FC7B-6CB5B69F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14.6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span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C8F2D-57CC-9918-3930-9881A7666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연속 메모리 구간의 시작 위치와 원소 수를 묶는 </a:t>
            </a:r>
            <a:r>
              <a:rPr lang="ko-KR" altLang="ko-KR" sz="2400" dirty="0" err="1"/>
              <a:t>비소유</a:t>
            </a:r>
            <a:r>
              <a:rPr lang="ko-KR" altLang="ko-KR" sz="2400" dirty="0"/>
              <a:t> 범위</a:t>
            </a:r>
          </a:p>
          <a:p>
            <a:pPr lvl="0"/>
            <a:r>
              <a:rPr lang="ko-KR" altLang="ko-KR" sz="2400" dirty="0"/>
              <a:t>원소를 소유하거나 복사하지 않음</a:t>
            </a:r>
          </a:p>
          <a:p>
            <a:pPr lvl="0"/>
            <a:r>
              <a:rPr lang="ko-KR" altLang="ko-KR" sz="2400" dirty="0"/>
              <a:t>C 배열,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array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vector를</a:t>
            </a:r>
            <a:r>
              <a:rPr lang="ko-KR" altLang="ko-KR" sz="2400" dirty="0"/>
              <a:t> 같은 인터페이스로 받을 수 있음</a:t>
            </a:r>
          </a:p>
          <a:p>
            <a:pPr lvl="0"/>
            <a:r>
              <a:rPr lang="ko-KR" altLang="ko-KR" sz="2400" dirty="0"/>
              <a:t>C++20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FB6CD-6FDE-2CCC-6887-4A65B239BEC2}"/>
              </a:ext>
            </a:extLst>
          </p:cNvPr>
          <p:cNvSpPr txBox="1"/>
          <p:nvPr/>
        </p:nvSpPr>
        <p:spPr>
          <a:xfrm>
            <a:off x="395536" y="2708920"/>
            <a:ext cx="469555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28DDC-6E06-9EE8-0242-FC420EE29335}"/>
              </a:ext>
            </a:extLst>
          </p:cNvPr>
          <p:cNvSpPr txBox="1"/>
          <p:nvPr/>
        </p:nvSpPr>
        <p:spPr>
          <a:xfrm>
            <a:off x="5091088" y="2708920"/>
            <a:ext cx="392392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98D37-C7C0-89BE-8D74-8EBA9DE14CAA}"/>
              </a:ext>
            </a:extLst>
          </p:cNvPr>
          <p:cNvSpPr txBox="1"/>
          <p:nvPr/>
        </p:nvSpPr>
        <p:spPr>
          <a:xfrm>
            <a:off x="395536" y="5301208"/>
            <a:ext cx="820891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연속 메모리가 아니므로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불가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1790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1C2D4-4EA3-575B-570C-6B4D5B9E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27A99-0C00-E3A0-314E-A701220C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14.6.1 span </a:t>
            </a:r>
            <a:r>
              <a:rPr lang="ko-KR" altLang="en-US" dirty="0"/>
              <a:t>기본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0D9C5-ED9F-17BA-B549-DDF9957EF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size</a:t>
            </a:r>
            <a:r>
              <a:rPr lang="ko-KR" altLang="ko-KR" sz="2000" dirty="0"/>
              <a:t>() → 원소 수</a:t>
            </a:r>
          </a:p>
          <a:p>
            <a:pPr lvl="0"/>
            <a:r>
              <a:rPr lang="ko-KR" altLang="ko-KR" sz="2000" dirty="0" err="1"/>
              <a:t>empty</a:t>
            </a:r>
            <a:r>
              <a:rPr lang="ko-KR" altLang="ko-KR" sz="2000" dirty="0"/>
              <a:t>() → 빈 범위 여부</a:t>
            </a:r>
          </a:p>
          <a:p>
            <a:pPr lvl="0"/>
            <a:r>
              <a:rPr lang="ko-KR" altLang="ko-KR" sz="2000" dirty="0" err="1"/>
              <a:t>data</a:t>
            </a:r>
            <a:r>
              <a:rPr lang="ko-KR" altLang="ko-KR" sz="2000" dirty="0"/>
              <a:t>() → 시작 주소</a:t>
            </a:r>
          </a:p>
          <a:p>
            <a:pPr lvl="0"/>
            <a:r>
              <a:rPr lang="ko-KR" altLang="ko-KR" sz="2000" dirty="0" err="1"/>
              <a:t>operator</a:t>
            </a:r>
            <a:r>
              <a:rPr lang="ko-KR" altLang="ko-KR" sz="2000" dirty="0"/>
              <a:t>[], </a:t>
            </a:r>
            <a:r>
              <a:rPr lang="ko-KR" altLang="ko-KR" sz="2000" dirty="0" err="1"/>
              <a:t>front</a:t>
            </a:r>
            <a:r>
              <a:rPr lang="ko-KR" altLang="ko-KR" sz="2000" dirty="0"/>
              <a:t>(), </a:t>
            </a:r>
            <a:r>
              <a:rPr lang="ko-KR" altLang="ko-KR" sz="2000" dirty="0" err="1"/>
              <a:t>back</a:t>
            </a:r>
            <a:r>
              <a:rPr lang="ko-KR" altLang="ko-KR" sz="2000" dirty="0"/>
              <a:t>() → 원소 접근</a:t>
            </a:r>
          </a:p>
          <a:p>
            <a:pPr lvl="0"/>
            <a:r>
              <a:rPr lang="ko-KR" altLang="ko-KR" sz="2000" dirty="0"/>
              <a:t>C++20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span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operator</a:t>
            </a:r>
            <a:r>
              <a:rPr lang="ko-KR" altLang="ko-KR" sz="2000" dirty="0"/>
              <a:t>[]는 범위 검사 없음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CAA77-D6A4-08B9-BEF6-3A1630349B60}"/>
              </a:ext>
            </a:extLst>
          </p:cNvPr>
          <p:cNvSpPr txBox="1"/>
          <p:nvPr/>
        </p:nvSpPr>
        <p:spPr>
          <a:xfrm>
            <a:off x="539750" y="2753633"/>
            <a:ext cx="439229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firstAddress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840D0-C5D0-4C3E-7304-27F23076A969}"/>
              </a:ext>
            </a:extLst>
          </p:cNvPr>
          <p:cNvSpPr txBox="1"/>
          <p:nvPr/>
        </p:nvSpPr>
        <p:spPr>
          <a:xfrm>
            <a:off x="4761432" y="2976953"/>
            <a:ext cx="3221536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ABE92-3FBF-1E3B-26D7-6CDDCFB1F7A2}"/>
              </a:ext>
            </a:extLst>
          </p:cNvPr>
          <p:cNvSpPr txBox="1"/>
          <p:nvPr/>
        </p:nvSpPr>
        <p:spPr>
          <a:xfrm>
            <a:off x="539750" y="4415991"/>
            <a:ext cx="439229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C10C6-98C0-B8B4-92B6-E84C87E4F232}"/>
              </a:ext>
            </a:extLst>
          </p:cNvPr>
          <p:cNvSpPr txBox="1"/>
          <p:nvPr/>
        </p:nvSpPr>
        <p:spPr>
          <a:xfrm>
            <a:off x="3851920" y="5373216"/>
            <a:ext cx="413104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수정 가능한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원본 원소 변경</a:t>
            </a:r>
          </a:p>
        </p:txBody>
      </p:sp>
    </p:spTree>
    <p:extLst>
      <p:ext uri="{BB962C8B-B14F-4D97-AF65-F5344CB8AC3E}">
        <p14:creationId xmlns:p14="http://schemas.microsoft.com/office/powerpoint/2010/main" val="3596946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D28B-FEDA-FF82-E79D-EDB8E33E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8CAE7-4DB4-DDA1-307E-3139F700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14.6.3 </a:t>
            </a:r>
            <a:r>
              <a:rPr lang="ko-KR" altLang="en-US" dirty="0"/>
              <a:t>정적 크기와 동적 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EEF03-CE2C-9AC1-3FDA-56AAE0921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두 번째 템플릿 인수는 원소 수 </a:t>
            </a:r>
            <a:r>
              <a:rPr lang="en-US" altLang="ko-KR" sz="2400" dirty="0"/>
              <a:t>extent</a:t>
            </a:r>
          </a:p>
          <a:p>
            <a:r>
              <a:rPr lang="ko-KR" altLang="en-US" sz="2400" dirty="0"/>
              <a:t>생략하면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dynamic_extent</a:t>
            </a:r>
            <a:endParaRPr lang="en-US" altLang="ko-KR" sz="2400" dirty="0"/>
          </a:p>
          <a:p>
            <a:r>
              <a:rPr lang="ko-KR" altLang="en-US" sz="2400" dirty="0"/>
              <a:t>정적 크기는 크기 요구를 타입에 포함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A6CAE-2D8F-502F-65D4-9F87F182B1CD}"/>
              </a:ext>
            </a:extLst>
          </p:cNvPr>
          <p:cNvSpPr txBox="1"/>
          <p:nvPr/>
        </p:nvSpPr>
        <p:spPr>
          <a:xfrm>
            <a:off x="550813" y="2132856"/>
            <a:ext cx="4957291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NormalizeColor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color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RGBA 네 원소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color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0.25f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NormalizeColor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color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NormalizeColor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3E4DDD-8390-7747-2DF2-5B20ACCD7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35610"/>
              </p:ext>
            </p:extLst>
          </p:nvPr>
        </p:nvGraphicFramePr>
        <p:xfrm>
          <a:off x="4067944" y="5105073"/>
          <a:ext cx="4464496" cy="1315896"/>
        </p:xfrm>
        <a:graphic>
          <a:graphicData uri="http://schemas.openxmlformats.org/drawingml/2006/table">
            <a:tbl>
              <a:tblPr/>
              <a:tblGrid>
                <a:gridCol w="2117312">
                  <a:extLst>
                    <a:ext uri="{9D8B030D-6E8A-4147-A177-3AD203B41FA5}">
                      <a16:colId xmlns:a16="http://schemas.microsoft.com/office/drawing/2014/main" val="646643160"/>
                    </a:ext>
                  </a:extLst>
                </a:gridCol>
                <a:gridCol w="2347184">
                  <a:extLst>
                    <a:ext uri="{9D8B030D-6E8A-4147-A177-3AD203B41FA5}">
                      <a16:colId xmlns:a16="http://schemas.microsoft.com/office/drawing/2014/main" val="30168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span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크기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68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시간 크기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06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 고정 크기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73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38C6F-A00C-7428-FAB0-D75310D4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0D177-0C45-EF11-AA73-AE0CB4A9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14.6.4 </a:t>
            </a:r>
            <a:r>
              <a:rPr lang="ko-KR" altLang="ko-KR" dirty="0" err="1"/>
              <a:t>span의</a:t>
            </a:r>
            <a:r>
              <a:rPr lang="ko-KR" altLang="ko-KR" dirty="0"/>
              <a:t> </a:t>
            </a:r>
            <a:r>
              <a:rPr lang="ko-KR" altLang="ko-KR" dirty="0" err="1"/>
              <a:t>const와</a:t>
            </a:r>
            <a:r>
              <a:rPr lang="ko-KR" altLang="ko-KR" dirty="0"/>
              <a:t> 원소의 </a:t>
            </a:r>
            <a:r>
              <a:rPr lang="ko-KR" altLang="ko-KR" dirty="0" err="1"/>
              <a:t>const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91C5E-A467-6A4E-7ECC-B7CF48D18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span</a:t>
            </a:r>
            <a:r>
              <a:rPr lang="ko-KR" altLang="ko-KR" dirty="0"/>
              <a:t> 객체는 상수</a:t>
            </a:r>
          </a:p>
          <a:p>
            <a:pPr lvl="0"/>
            <a:r>
              <a:rPr lang="ko-KR" altLang="ko-KR" dirty="0"/>
              <a:t>원소 타입은 </a:t>
            </a:r>
            <a:r>
              <a:rPr lang="ko-KR" altLang="ko-KR" dirty="0" err="1"/>
              <a:t>int</a:t>
            </a:r>
            <a:endParaRPr lang="ko-KR" altLang="ko-KR" dirty="0"/>
          </a:p>
          <a:p>
            <a:pPr lvl="0"/>
            <a:r>
              <a:rPr lang="ko-KR" altLang="ko-KR" dirty="0"/>
              <a:t>원소 수정 가능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0AB4A-B437-4413-9C96-6074FCE85422}"/>
              </a:ext>
            </a:extLst>
          </p:cNvPr>
          <p:cNvSpPr txBox="1"/>
          <p:nvPr/>
        </p:nvSpPr>
        <p:spPr>
          <a:xfrm>
            <a:off x="3419872" y="1052736"/>
            <a:ext cx="4572000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28A-03EE-8A2D-4A52-15BF5E1AB847}"/>
              </a:ext>
            </a:extLst>
          </p:cNvPr>
          <p:cNvSpPr txBox="1"/>
          <p:nvPr/>
        </p:nvSpPr>
        <p:spPr>
          <a:xfrm>
            <a:off x="539750" y="2564904"/>
            <a:ext cx="6120482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readOnlyView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readOnlyView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[0] = 100;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3AFB69A-3C86-1574-B975-7EAD01696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62622"/>
              </p:ext>
            </p:extLst>
          </p:nvPr>
        </p:nvGraphicFramePr>
        <p:xfrm>
          <a:off x="539750" y="3429000"/>
          <a:ext cx="6120482" cy="2213480"/>
        </p:xfrm>
        <a:graphic>
          <a:graphicData uri="http://schemas.openxmlformats.org/drawingml/2006/table">
            <a:tbl>
              <a:tblPr/>
              <a:tblGrid>
                <a:gridCol w="3478262">
                  <a:extLst>
                    <a:ext uri="{9D8B030D-6E8A-4147-A177-3AD203B41FA5}">
                      <a16:colId xmlns:a16="http://schemas.microsoft.com/office/drawing/2014/main" val="13049356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56367494"/>
                    </a:ext>
                  </a:extLst>
                </a:gridCol>
                <a:gridCol w="1202060">
                  <a:extLst>
                    <a:ext uri="{9D8B030D-6E8A-4147-A177-3AD203B41FA5}">
                      <a16:colId xmlns:a16="http://schemas.microsoft.com/office/drawing/2014/main" val="3994038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span</a:t>
                      </a:r>
                      <a:r>
                        <a:rPr lang="ko-KR" sz="18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 재 대입</a:t>
                      </a:r>
                      <a:endParaRPr lang="ko-KR" sz="32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원소 수정</a:t>
                      </a:r>
                      <a:endParaRPr lang="ko-KR" sz="32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01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238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7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7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span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4579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E588A0-82A5-2EAB-2AC1-A636D3BD92BE}"/>
              </a:ext>
            </a:extLst>
          </p:cNvPr>
          <p:cNvSpPr txBox="1"/>
          <p:nvPr/>
        </p:nvSpPr>
        <p:spPr>
          <a:xfrm>
            <a:off x="539750" y="5813930"/>
            <a:ext cx="612048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 전용 인터페이스는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852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4EF9-45E6-C447-50FB-5342E258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99DEB-7B78-6B09-646C-61383173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14.6.5 </a:t>
            </a:r>
            <a:r>
              <a:rPr lang="ko-KR" altLang="en-US" dirty="0"/>
              <a:t>부분 구간과 수명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C8321-8470-F869-2988-12DE7306A28A}"/>
              </a:ext>
            </a:extLst>
          </p:cNvPr>
          <p:cNvSpPr txBox="1"/>
          <p:nvPr/>
        </p:nvSpPr>
        <p:spPr>
          <a:xfrm>
            <a:off x="529853" y="836712"/>
            <a:ext cx="625460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6&gt;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firstThree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all.first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lastTwo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all.last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middle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all.subspan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C21CF-8E1E-017D-F507-314F932C66F8}"/>
              </a:ext>
            </a:extLst>
          </p:cNvPr>
          <p:cNvSpPr txBox="1"/>
          <p:nvPr/>
        </p:nvSpPr>
        <p:spPr>
          <a:xfrm>
            <a:off x="539750" y="2348880"/>
            <a:ext cx="625460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firstThree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lastTwo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→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middle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  →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middle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[1] 변경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D79CD-626A-A1BF-58ED-35E04C34D200}"/>
              </a:ext>
            </a:extLst>
          </p:cNvPr>
          <p:cNvSpPr txBox="1"/>
          <p:nvPr/>
        </p:nvSpPr>
        <p:spPr>
          <a:xfrm>
            <a:off x="529852" y="4019580"/>
            <a:ext cx="6264499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반환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MakeInvalidSpan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B06F8-F6FB-4322-8B78-07D17330F3B1}"/>
              </a:ext>
            </a:extLst>
          </p:cNvPr>
          <p:cNvSpPr txBox="1"/>
          <p:nvPr/>
        </p:nvSpPr>
        <p:spPr>
          <a:xfrm>
            <a:off x="519956" y="5805264"/>
            <a:ext cx="6264499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원본 메모리를 소유하지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배열은 함수 종료 시 소멸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309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616C-E104-988D-19BE-5109F199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8A157-857C-286D-DEFC-83763063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14.6.6 span </a:t>
            </a:r>
            <a:r>
              <a:rPr lang="ko-KR" altLang="en-US" dirty="0"/>
              <a:t>무효화 </a:t>
            </a:r>
            <a:r>
              <a:rPr lang="en-US" altLang="ko-KR" dirty="0"/>
              <a:t>(Invalid)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374EF-3150-B713-0513-40E9A2003361}"/>
              </a:ext>
            </a:extLst>
          </p:cNvPr>
          <p:cNvSpPr txBox="1"/>
          <p:nvPr/>
        </p:nvSpPr>
        <p:spPr>
          <a:xfrm>
            <a:off x="539750" y="692696"/>
            <a:ext cx="80645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values.reserve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재할당 가능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EE5C9-746E-F2A3-B385-B273C16ADAA5}"/>
              </a:ext>
            </a:extLst>
          </p:cNvPr>
          <p:cNvSpPr txBox="1"/>
          <p:nvPr/>
        </p:nvSpPr>
        <p:spPr>
          <a:xfrm>
            <a:off x="539750" y="3001020"/>
            <a:ext cx="80645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재할당 발생 시 기존 원소 주소 변경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span의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더 이상 유효하지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87C2D-747D-409E-6255-E9B63B08620E}"/>
              </a:ext>
            </a:extLst>
          </p:cNvPr>
          <p:cNvSpPr txBox="1"/>
          <p:nvPr/>
        </p:nvSpPr>
        <p:spPr>
          <a:xfrm>
            <a:off x="539750" y="3933056"/>
            <a:ext cx="8064500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values.reserve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3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8FC999-163E-0A14-B8FA-FEFA40249265}"/>
              </a:ext>
            </a:extLst>
          </p:cNvPr>
          <p:cNvSpPr txBox="1"/>
          <p:nvPr/>
        </p:nvSpPr>
        <p:spPr>
          <a:xfrm>
            <a:off x="539750" y="5502716"/>
            <a:ext cx="806450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 시점의 범위 크기를 유지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원소까지 포함하려면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span을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다시 생성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span을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멤버에 저장하거나 반환할 때는 원본 소유 객체의 수명 조건이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9267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5F3F-B8B8-D37E-EE30-A2935135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1BF57-1F7E-5B83-C187-599F328C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14.7 std::</a:t>
            </a:r>
            <a:r>
              <a:rPr lang="en-US" altLang="ko-KR" dirty="0" err="1"/>
              <a:t>string_view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2E37D-CEC7-34FB-0945-43EC7192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연속된 문자 구간을 소유하지 않고 참조</a:t>
            </a:r>
          </a:p>
          <a:p>
            <a:pPr lvl="0"/>
            <a:r>
              <a:rPr lang="ko-KR" altLang="ko-KR" sz="2400" dirty="0"/>
              <a:t>문자열 리터럴,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string</a:t>
            </a:r>
            <a:r>
              <a:rPr lang="ko-KR" altLang="ko-KR" sz="2400" dirty="0"/>
              <a:t>, 문자 배열을 복사 없이 받을 수 있음</a:t>
            </a:r>
          </a:p>
          <a:p>
            <a:pPr lvl="0"/>
            <a:r>
              <a:rPr lang="ko-KR" altLang="ko-KR" sz="2400" dirty="0"/>
              <a:t>포인터와 길이를 저장</a:t>
            </a:r>
          </a:p>
          <a:p>
            <a:pPr lvl="0"/>
            <a:r>
              <a:rPr lang="ko-KR" altLang="ko-KR" sz="2400" dirty="0"/>
              <a:t>부분 문자열을 저렴하게 표현</a:t>
            </a:r>
          </a:p>
          <a:p>
            <a:pPr lvl="0"/>
            <a:r>
              <a:rPr lang="ko-KR" altLang="ko-KR" sz="2400" dirty="0"/>
              <a:t>C++17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B2DBC-042C-E29F-850B-B89BCF27E70D}"/>
              </a:ext>
            </a:extLst>
          </p:cNvPr>
          <p:cNvSpPr txBox="1"/>
          <p:nvPr/>
        </p:nvSpPr>
        <p:spPr>
          <a:xfrm>
            <a:off x="539750" y="3190617"/>
            <a:ext cx="5616426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World"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A6C7E-66AE-2646-CE32-8F814FF71EA3}"/>
              </a:ext>
            </a:extLst>
          </p:cNvPr>
          <p:cNvSpPr txBox="1"/>
          <p:nvPr/>
        </p:nvSpPr>
        <p:spPr>
          <a:xfrm>
            <a:off x="4464496" y="4941168"/>
            <a:ext cx="4139754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 전용 문자열 매개변수에 적합</a:t>
            </a:r>
          </a:p>
        </p:txBody>
      </p:sp>
    </p:spTree>
    <p:extLst>
      <p:ext uri="{BB962C8B-B14F-4D97-AF65-F5344CB8AC3E}">
        <p14:creationId xmlns:p14="http://schemas.microsoft.com/office/powerpoint/2010/main" val="2246358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A568-3AE7-F043-70E1-5454728E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626E4-9268-D796-9ACA-B5E5812F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14.7.2 </a:t>
            </a:r>
            <a:r>
              <a:rPr lang="ko-KR" altLang="en-US" dirty="0"/>
              <a:t>문자열 복사 방지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FC3CE-7EC8-22B2-1EBE-8EF75194F9B6}"/>
              </a:ext>
            </a:extLst>
          </p:cNvPr>
          <p:cNvSpPr txBox="1"/>
          <p:nvPr/>
        </p:nvSpPr>
        <p:spPr>
          <a:xfrm>
            <a:off x="528340" y="620688"/>
            <a:ext cx="5190986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StartsWithA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'A'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CF737-A38E-8268-2750-ABB33344F4F5}"/>
              </a:ext>
            </a:extLst>
          </p:cNvPr>
          <p:cNvSpPr txBox="1"/>
          <p:nvPr/>
        </p:nvSpPr>
        <p:spPr>
          <a:xfrm>
            <a:off x="532134" y="1701354"/>
            <a:ext cx="519098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매개변수는 문자열 복사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5F0DD-EC7D-17B9-8129-0E89BED93BB9}"/>
              </a:ext>
            </a:extLst>
          </p:cNvPr>
          <p:cNvSpPr txBox="1"/>
          <p:nvPr/>
        </p:nvSpPr>
        <p:spPr>
          <a:xfrm>
            <a:off x="539749" y="2276872"/>
            <a:ext cx="5184379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StartsWithA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'A'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72B3A-1F03-E131-9479-356E16F78BE6}"/>
              </a:ext>
            </a:extLst>
          </p:cNvPr>
          <p:cNvSpPr txBox="1"/>
          <p:nvPr/>
        </p:nvSpPr>
        <p:spPr>
          <a:xfrm>
            <a:off x="539748" y="3354090"/>
            <a:ext cx="5181089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읽기만 하면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 방지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0614A0-B9C2-2970-D61B-51344B829CDD}"/>
              </a:ext>
            </a:extLst>
          </p:cNvPr>
          <p:cNvSpPr txBox="1"/>
          <p:nvPr/>
        </p:nvSpPr>
        <p:spPr>
          <a:xfrm>
            <a:off x="528339" y="4077072"/>
            <a:ext cx="5190986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0D434-19A0-2955-6ABF-642FF0AC3AFD}"/>
              </a:ext>
            </a:extLst>
          </p:cNvPr>
          <p:cNvSpPr txBox="1"/>
          <p:nvPr/>
        </p:nvSpPr>
        <p:spPr>
          <a:xfrm>
            <a:off x="4211960" y="5445224"/>
            <a:ext cx="4799706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매개변수는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문자를 복사해 소유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보관해야 할 문자열은 소유 타입으로 저장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257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A490-A32C-48CD-D3F3-97490F13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C513B-7A1B-90FF-B9A7-070FCCCF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14.7.3 </a:t>
            </a:r>
            <a:r>
              <a:rPr lang="ko-KR" altLang="en-US" dirty="0"/>
              <a:t>부분 문자열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41DE1-746C-35ED-D173-C73786B713F6}"/>
              </a:ext>
            </a:extLst>
          </p:cNvPr>
          <p:cNvSpPr txBox="1"/>
          <p:nvPr/>
        </p:nvSpPr>
        <p:spPr>
          <a:xfrm>
            <a:off x="539750" y="747808"/>
            <a:ext cx="7704658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folder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path.substr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17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path.substr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897A6-4ADD-CFBE-5959-4E290EBAAB82}"/>
              </a:ext>
            </a:extLst>
          </p:cNvPr>
          <p:cNvSpPr txBox="1"/>
          <p:nvPr/>
        </p:nvSpPr>
        <p:spPr>
          <a:xfrm>
            <a:off x="539750" y="1588730"/>
            <a:ext cx="770465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substr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원본 문자를 복사하지 않고 부분 뷰 반환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24E4A-9B6B-A73B-1B16-3F66CE7F733E}"/>
              </a:ext>
            </a:extLst>
          </p:cNvPr>
          <p:cNvSpPr txBox="1"/>
          <p:nvPr/>
        </p:nvSpPr>
        <p:spPr>
          <a:xfrm>
            <a:off x="539750" y="2636912"/>
            <a:ext cx="7704658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pair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SplitOnce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delimiter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delimiter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npos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{}};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text.substr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text.substr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key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SplitOnce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=1920"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'='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17903-2AD7-049C-7675-E60FCFA13474}"/>
              </a:ext>
            </a:extLst>
          </p:cNvPr>
          <p:cNvSpPr txBox="1"/>
          <p:nvPr/>
        </p:nvSpPr>
        <p:spPr>
          <a:xfrm>
            <a:off x="539750" y="5683900"/>
            <a:ext cx="770465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반환된 두 뷰는 호출 인수의 문자 저장 공간을 참조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625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2DB5-36C4-63F3-2438-3ED5825F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B99C0-6A8B-8A38-C3AB-48E4718A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14.7.4 </a:t>
            </a:r>
            <a:r>
              <a:rPr lang="ko-KR" altLang="en-US" dirty="0"/>
              <a:t>널 종료와 </a:t>
            </a:r>
            <a:r>
              <a:rPr lang="en-US" altLang="ko-KR" dirty="0"/>
              <a:t>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6D2A8-B473-BE86-88D1-026348B9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string_view가</a:t>
            </a:r>
            <a:r>
              <a:rPr lang="ko-KR" altLang="ko-KR" sz="2400" dirty="0"/>
              <a:t> 가리키는 구간은 널 문자로 끝난다고 보장할 수 없음</a:t>
            </a:r>
          </a:p>
          <a:p>
            <a:pPr lvl="0"/>
            <a:r>
              <a:rPr lang="ko-KR" altLang="ko-KR" sz="2400" dirty="0" err="1"/>
              <a:t>data</a:t>
            </a:r>
            <a:r>
              <a:rPr lang="ko-KR" altLang="ko-KR" sz="2400" dirty="0"/>
              <a:t>()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C 문자열 함수에 바로 전달하면 뷰의 경계를 넘을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6304D-D011-6189-D9F2-EDC806EE03BD}"/>
              </a:ext>
            </a:extLst>
          </p:cNvPr>
          <p:cNvSpPr txBox="1"/>
          <p:nvPr/>
        </p:nvSpPr>
        <p:spPr>
          <a:xfrm>
            <a:off x="531738" y="2075448"/>
            <a:ext cx="7568654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world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::printf("%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word.data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 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world가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출력될 수 있음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API에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전달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nullTerminated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UseCString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nullTerminated.c_str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EABBA-4119-1395-AD23-21CE30A90808}"/>
              </a:ext>
            </a:extLst>
          </p:cNvPr>
          <p:cNvSpPr txBox="1"/>
          <p:nvPr/>
        </p:nvSpPr>
        <p:spPr>
          <a:xfrm>
            <a:off x="531738" y="4449306"/>
            <a:ext cx="756865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&lt;&lt;는 길이를 사용해 올바른 범위만 출력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API가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널 종료 문자열을 요구하면 소유 문자열로 변환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182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603E-2E21-363B-76A1-5527D80C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1D3D5-FE9D-D1DA-CA1D-4D0C6473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14.7.5 </a:t>
            </a:r>
            <a:r>
              <a:rPr lang="ko-KR" altLang="en-US" dirty="0" err="1"/>
              <a:t>댕글링</a:t>
            </a:r>
            <a:r>
              <a:rPr lang="ko-KR" altLang="en-US" dirty="0"/>
              <a:t> 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08DF0-FFED-049C-0816-EF925CE9F458}"/>
              </a:ext>
            </a:extLst>
          </p:cNvPr>
          <p:cNvSpPr txBox="1"/>
          <p:nvPr/>
        </p:nvSpPr>
        <p:spPr>
          <a:xfrm>
            <a:off x="539750" y="692696"/>
            <a:ext cx="7200602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41676-E7AA-C136-3EBB-03BBB16E876D}"/>
              </a:ext>
            </a:extLst>
          </p:cNvPr>
          <p:cNvSpPr txBox="1"/>
          <p:nvPr/>
        </p:nvSpPr>
        <p:spPr>
          <a:xfrm>
            <a:off x="3059832" y="1028353"/>
            <a:ext cx="468052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문장이 끝나면 임시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소멸한 문자열을 가리킴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18277-05F0-2576-D83D-598D654F1F4D}"/>
              </a:ext>
            </a:extLst>
          </p:cNvPr>
          <p:cNvSpPr txBox="1"/>
          <p:nvPr/>
        </p:nvSpPr>
        <p:spPr>
          <a:xfrm>
            <a:off x="539750" y="1844824"/>
            <a:ext cx="7344618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MakeInvalidName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9E6A7-8F61-777B-8460-1F81B108FDE3}"/>
              </a:ext>
            </a:extLst>
          </p:cNvPr>
          <p:cNvSpPr txBox="1"/>
          <p:nvPr/>
        </p:nvSpPr>
        <p:spPr>
          <a:xfrm>
            <a:off x="3059832" y="2862243"/>
            <a:ext cx="482453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지역 문자열은 함수 종료 시 소멸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878C29-6BAF-9F34-9465-A3E66D6FE257}"/>
              </a:ext>
            </a:extLst>
          </p:cNvPr>
          <p:cNvSpPr txBox="1"/>
          <p:nvPr/>
        </p:nvSpPr>
        <p:spPr>
          <a:xfrm>
            <a:off x="539750" y="3501008"/>
            <a:ext cx="734461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F682E-813D-6E3B-42DA-0E0472D61BC6}"/>
              </a:ext>
            </a:extLst>
          </p:cNvPr>
          <p:cNvSpPr txBox="1"/>
          <p:nvPr/>
        </p:nvSpPr>
        <p:spPr>
          <a:xfrm>
            <a:off x="3059832" y="4077072"/>
            <a:ext cx="482453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path보다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오래 사용할 수 없음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5D5C4-EA4E-3CC7-06A8-1577A2C815AA}"/>
              </a:ext>
            </a:extLst>
          </p:cNvPr>
          <p:cNvSpPr txBox="1"/>
          <p:nvPr/>
        </p:nvSpPr>
        <p:spPr>
          <a:xfrm>
            <a:off x="539750" y="4837921"/>
            <a:ext cx="7344618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short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cause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reallocatio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8BFBAE-8AF9-B86D-83B7-22A588A88E89}"/>
              </a:ext>
            </a:extLst>
          </p:cNvPr>
          <p:cNvSpPr txBox="1"/>
          <p:nvPr/>
        </p:nvSpPr>
        <p:spPr>
          <a:xfrm>
            <a:off x="3059832" y="5651723"/>
            <a:ext cx="482453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재할당 시 기존 뷰 무효화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뷰는 문자열 스냅샷이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039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3BAB-74C9-FF6D-914F-3FF3036B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8A0B5-C5EB-29A0-30FB-8AF2FDEA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 </a:t>
            </a:r>
            <a:r>
              <a:rPr lang="ko-KR" altLang="en-US" dirty="0"/>
              <a:t>비트와 바이트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5F889-9D7A-53F1-1613-B40EC1DB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정수 비트 연산은 플래그</a:t>
            </a:r>
            <a:r>
              <a:rPr lang="en-US" altLang="ko-KR" dirty="0"/>
              <a:t>, </a:t>
            </a:r>
            <a:r>
              <a:rPr lang="ko-KR" altLang="en-US" dirty="0"/>
              <a:t>마스크</a:t>
            </a:r>
            <a:r>
              <a:rPr lang="en-US" altLang="ko-KR" dirty="0"/>
              <a:t>, </a:t>
            </a:r>
            <a:r>
              <a:rPr lang="ko-KR" altLang="en-US" dirty="0"/>
              <a:t>프로토콜 필드에 사용</a:t>
            </a:r>
          </a:p>
          <a:p>
            <a:r>
              <a:rPr lang="ko-KR" altLang="en-US" dirty="0"/>
              <a:t>원시 바이트를 다룰 때는 숫자 값과 객체 표현을 구분</a:t>
            </a:r>
          </a:p>
          <a:p>
            <a:r>
              <a:rPr lang="ko-KR" altLang="en-US" dirty="0"/>
              <a:t>표준 라이브러리는 바이트와 비트 표현 도구 제공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59542FC-95DB-581B-5F9E-BBF9981D8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22825"/>
              </p:ext>
            </p:extLst>
          </p:nvPr>
        </p:nvGraphicFramePr>
        <p:xfrm>
          <a:off x="539750" y="2636912"/>
          <a:ext cx="7200602" cy="2997552"/>
        </p:xfrm>
        <a:graphic>
          <a:graphicData uri="http://schemas.openxmlformats.org/drawingml/2006/table">
            <a:tbl>
              <a:tblPr/>
              <a:tblGrid>
                <a:gridCol w="2506307">
                  <a:extLst>
                    <a:ext uri="{9D8B030D-6E8A-4147-A177-3AD203B41FA5}">
                      <a16:colId xmlns:a16="http://schemas.microsoft.com/office/drawing/2014/main" val="2743428309"/>
                    </a:ext>
                  </a:extLst>
                </a:gridCol>
                <a:gridCol w="4694295">
                  <a:extLst>
                    <a:ext uri="{9D8B030D-6E8A-4147-A177-3AD203B41FA5}">
                      <a16:colId xmlns:a16="http://schemas.microsoft.com/office/drawing/2014/main" val="413378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도구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94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byte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메모리 한 바이트 표현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6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bitset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고정 크기 비트 집합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1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bit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함수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비트 개수, 거듭제곱, 순환 이동 등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36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bit_cast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표현을 같은 크기 타입으로 복사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endian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바이트 순서 확인</a:t>
                      </a:r>
                      <a:endParaRPr lang="ko-KR" sz="4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3191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F1885F0-D9AA-AC5C-9173-62B29BFBC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3048"/>
              </p:ext>
            </p:extLst>
          </p:nvPr>
        </p:nvGraphicFramePr>
        <p:xfrm>
          <a:off x="1187624" y="5805914"/>
          <a:ext cx="5472608" cy="653760"/>
        </p:xfrm>
        <a:graphic>
          <a:graphicData uri="http://schemas.openxmlformats.org/drawingml/2006/table">
            <a:tbl>
              <a:tblPr/>
              <a:tblGrid>
                <a:gridCol w="5472608">
                  <a:extLst>
                    <a:ext uri="{9D8B030D-6E8A-4147-A177-3AD203B41FA5}">
                      <a16:colId xmlns:a16="http://schemas.microsoft.com/office/drawing/2014/main" val="2747367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수치값</a:t>
                      </a: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≠ 메모리에 놓인 바이트 표현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8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311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F656-78B5-B951-7C64-C904E0D3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2B8FA-F606-8C15-8CAD-DD9B2AE7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14.8.1 std::byte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135424-C2D8-5694-3B00-0A4EF3DF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/>
              <a:t>메모리 한 바이트를 의미</a:t>
            </a:r>
          </a:p>
          <a:p>
            <a:pPr lvl="0"/>
            <a:r>
              <a:rPr lang="ko-KR" altLang="ko-KR"/>
              <a:t>일반 정수처럼 덧셈이나 곱셈을 수행하지 않음</a:t>
            </a:r>
          </a:p>
          <a:p>
            <a:pPr lvl="0"/>
            <a:r>
              <a:rPr lang="ko-KR" altLang="ko-KR"/>
              <a:t>비트 연산은 가능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72BDE-2CE0-3465-72D4-31128F21C255}"/>
              </a:ext>
            </a:extLst>
          </p:cNvPr>
          <p:cNvSpPr txBox="1"/>
          <p:nvPr/>
        </p:nvSpPr>
        <p:spPr>
          <a:xfrm>
            <a:off x="521468" y="2492896"/>
            <a:ext cx="6504533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cstddef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0x2A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67160-8EF5-FA1D-BC77-E7E35A4C41E2}"/>
              </a:ext>
            </a:extLst>
          </p:cNvPr>
          <p:cNvSpPr txBox="1"/>
          <p:nvPr/>
        </p:nvSpPr>
        <p:spPr>
          <a:xfrm>
            <a:off x="515738" y="3212976"/>
            <a:ext cx="6504533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0b0000'0101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0b0000'1000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0b0000'1111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to_integer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buffer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1024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41FB5-12E4-3CBD-199A-933AADC18F1F}"/>
              </a:ext>
            </a:extLst>
          </p:cNvPr>
          <p:cNvSpPr txBox="1"/>
          <p:nvPr/>
        </p:nvSpPr>
        <p:spPr>
          <a:xfrm>
            <a:off x="515738" y="5057889"/>
            <a:ext cx="441630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바이너리 파일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네트워크 패킷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직렬화 버퍼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원시 데이터와 수치 데이터 구분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1315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46DE-5B64-24B9-9FCC-8DA3924B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B9DFF-7015-FF46-2A8D-6EA827B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14.8.2 std::</a:t>
            </a:r>
            <a:r>
              <a:rPr lang="en-US" altLang="ko-KR" dirty="0" err="1"/>
              <a:t>bitset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019F7-69D4-29A0-396A-97BB20FC1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크기 </a:t>
            </a:r>
            <a:r>
              <a:rPr lang="ko-KR" altLang="ko-KR" sz="2400" dirty="0" err="1"/>
              <a:t>N은</a:t>
            </a:r>
            <a:r>
              <a:rPr lang="ko-KR" altLang="ko-KR" sz="2400" dirty="0"/>
              <a:t> 타입에 포함</a:t>
            </a:r>
          </a:p>
          <a:p>
            <a:pPr lvl="0"/>
            <a:r>
              <a:rPr lang="ko-KR" altLang="ko-KR" sz="2400" dirty="0"/>
              <a:t>실행 시간에 비트 수 변경 불가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62C64E-7871-B4F3-E710-8502E7D6D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65323"/>
              </p:ext>
            </p:extLst>
          </p:nvPr>
        </p:nvGraphicFramePr>
        <p:xfrm>
          <a:off x="323528" y="1772816"/>
          <a:ext cx="4032250" cy="4008648"/>
        </p:xfrm>
        <a:graphic>
          <a:graphicData uri="http://schemas.openxmlformats.org/drawingml/2006/table">
            <a:tbl>
              <a:tblPr/>
              <a:tblGrid>
                <a:gridCol w="1800002">
                  <a:extLst>
                    <a:ext uri="{9D8B030D-6E8A-4147-A177-3AD203B41FA5}">
                      <a16:colId xmlns:a16="http://schemas.microsoft.com/office/drawing/2014/main" val="217128790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572710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412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test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비트 확인, 범위 검사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1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비트 설정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56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비트 해제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4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flip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비트 반전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10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1인 비트 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 이상 설정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none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모두 0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5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all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모두 1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248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E6B573-FC98-4782-6712-65FA55E81487}"/>
              </a:ext>
            </a:extLst>
          </p:cNvPr>
          <p:cNvSpPr txBox="1"/>
          <p:nvPr/>
        </p:nvSpPr>
        <p:spPr>
          <a:xfrm>
            <a:off x="4402212" y="3068960"/>
            <a:ext cx="441826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bitset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en-US" altLang="ko-KR" sz="1600" b="0" i="0" u="none" strike="noStrike" dirty="0">
              <a:solidFill>
                <a:srgbClr val="50A14F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&lt;8&gt;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0b0010'0101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firstBit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permissions.test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permissions.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permissions.reset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permissions.flip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568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FEC4-5188-2EFF-6C92-3D4FE7A2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EDB96-D026-54E2-6A44-F2343766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14.8.3 </a:t>
            </a:r>
            <a:r>
              <a:rPr lang="ko-KR" altLang="en-US" dirty="0"/>
              <a:t>비트 플래그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44ECB-81CA-D1E7-B0F8-F5C16001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플래그 값은 서로 겹치지 않는 비트로 정의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35494-9CED-39D3-AE9F-3AC13D9A0077}"/>
              </a:ext>
            </a:extLst>
          </p:cNvPr>
          <p:cNvSpPr txBox="1"/>
          <p:nvPr/>
        </p:nvSpPr>
        <p:spPr>
          <a:xfrm>
            <a:off x="395536" y="1196752"/>
            <a:ext cx="4248274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None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1u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1u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1u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D6A68-8D64-9040-EBED-2BFAABB399E9}"/>
              </a:ext>
            </a:extLst>
          </p:cNvPr>
          <p:cNvSpPr txBox="1"/>
          <p:nvPr/>
        </p:nvSpPr>
        <p:spPr>
          <a:xfrm>
            <a:off x="395536" y="2877695"/>
            <a:ext cx="6120482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|(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|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flag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15AE2-3D99-BCD5-24AF-7FEAF0CBD7D7}"/>
              </a:ext>
            </a:extLst>
          </p:cNvPr>
          <p:cNvSpPr txBox="1"/>
          <p:nvPr/>
        </p:nvSpPr>
        <p:spPr>
          <a:xfrm>
            <a:off x="4211663" y="6051133"/>
            <a:ext cx="460871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Permission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339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AB4E-4FA5-3B28-AE9D-95C3A70B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F6B7C-EB16-EC04-A33C-961EE8C1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14.8.4 C++20 </a:t>
            </a:r>
            <a:r>
              <a:rPr lang="ko-KR" altLang="en-US" dirty="0"/>
              <a:t>비트 유틸리티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31ED4-650A-F0E8-C3EA-8BB013D8B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함수 대부분은 부호 없는 정수 대상</a:t>
            </a:r>
          </a:p>
          <a:p>
            <a:pPr lvl="0"/>
            <a:r>
              <a:rPr lang="ko-KR" altLang="ko-KR" sz="2400" dirty="0"/>
              <a:t>부호 있는 정수의 비트 해석에 의존하지 않는 편이 안전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D486C8-10E8-1F7B-8FD9-06E3E8693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983157"/>
              </p:ext>
            </p:extLst>
          </p:nvPr>
        </p:nvGraphicFramePr>
        <p:xfrm>
          <a:off x="539750" y="1700808"/>
          <a:ext cx="5976466" cy="4152640"/>
        </p:xfrm>
        <a:graphic>
          <a:graphicData uri="http://schemas.openxmlformats.org/drawingml/2006/table">
            <a:tbl>
              <a:tblPr/>
              <a:tblGrid>
                <a:gridCol w="2454620">
                  <a:extLst>
                    <a:ext uri="{9D8B030D-6E8A-4147-A177-3AD203B41FA5}">
                      <a16:colId xmlns:a16="http://schemas.microsoft.com/office/drawing/2014/main" val="2192474101"/>
                    </a:ext>
                  </a:extLst>
                </a:gridCol>
                <a:gridCol w="3521846">
                  <a:extLst>
                    <a:ext uri="{9D8B030D-6E8A-4147-A177-3AD203B41FA5}">
                      <a16:colId xmlns:a16="http://schemas.microsoft.com/office/drawing/2014/main" val="2754110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5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popcount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1인 비트 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1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has_single_bit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2의 거듭제곱 여부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816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std::bit_width()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표현에 필요한 비트 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54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bit_floor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이하의 가장 가까운 2의 거듭제곱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03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bit_ceil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이상의 가장 가까운 2의 거듭제곱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countl_zero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앞쪽 연속 0 비트 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59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countr_zero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 연속 0 비트 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3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rotl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 순환 이동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2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rotr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오른쪽 순환 이동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4224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31A44B-C58F-C60B-A9DC-6F7B05EE7DF1}"/>
              </a:ext>
            </a:extLst>
          </p:cNvPr>
          <p:cNvSpPr txBox="1"/>
          <p:nvPr/>
        </p:nvSpPr>
        <p:spPr>
          <a:xfrm>
            <a:off x="539750" y="5975657"/>
            <a:ext cx="5976466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include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cstdint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0b0010'1000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5637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917A-952B-8D3F-B2EE-F27CA34F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A6EEA-8603-B61F-B927-607D120F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14.8.5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bit_cast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B92F3-B701-4DC4-9787-AFE97B3D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원본 객체의 비트 표현을 같은 크기의 대상 타입으로 복사</a:t>
            </a:r>
          </a:p>
          <a:p>
            <a:pPr lvl="0"/>
            <a:r>
              <a:rPr lang="ko-KR" altLang="ko-KR" sz="2400" dirty="0"/>
              <a:t>대상 타입과 원본 타입의 크기가 같아야 함</a:t>
            </a:r>
          </a:p>
          <a:p>
            <a:pPr lvl="0"/>
            <a:r>
              <a:rPr lang="ko-KR" altLang="ko-KR" sz="2400" dirty="0"/>
              <a:t>두 타입은 </a:t>
            </a:r>
            <a:r>
              <a:rPr lang="ko-KR" altLang="ko-KR" sz="2400" dirty="0" err="1"/>
              <a:t>trivially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copyable</a:t>
            </a:r>
            <a:r>
              <a:rPr lang="ko-KR" altLang="ko-KR" sz="2400" dirty="0"/>
              <a:t> 조건 필요</a:t>
            </a:r>
          </a:p>
          <a:p>
            <a:pPr lvl="0"/>
            <a:r>
              <a:rPr lang="ko-KR" altLang="ko-KR" sz="2400" dirty="0"/>
              <a:t>포인터 별칭을 만들지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25EE6-7B06-E514-0419-66BC82B56DC9}"/>
              </a:ext>
            </a:extLst>
          </p:cNvPr>
          <p:cNvSpPr txBox="1"/>
          <p:nvPr/>
        </p:nvSpPr>
        <p:spPr>
          <a:xfrm>
            <a:off x="539750" y="2852936"/>
            <a:ext cx="756064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cstdint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==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numeric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representation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A614D-0193-9440-F235-5CEF42EA5FE5}"/>
              </a:ext>
            </a:extLst>
          </p:cNvPr>
          <p:cNvSpPr txBox="1"/>
          <p:nvPr/>
        </p:nvSpPr>
        <p:spPr>
          <a:xfrm>
            <a:off x="539750" y="5450696"/>
            <a:ext cx="756064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수치 변환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bit_cast는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 표현 복사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5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B4A5-9633-6960-7CAA-6DE41378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2C688-C3A1-0C92-76D3-D16EFA97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14.8.6 </a:t>
            </a:r>
            <a:r>
              <a:rPr lang="ko-KR" altLang="en-US" dirty="0" err="1"/>
              <a:t>엔디언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2A76-7C3C-6325-9335-2E22FC8A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여러 바이트로 구성된 정수의 메모리 배치 순서</a:t>
            </a:r>
          </a:p>
          <a:p>
            <a:r>
              <a:rPr lang="ko-KR" altLang="en-US" sz="2400" dirty="0"/>
              <a:t>파일 형식</a:t>
            </a:r>
            <a:r>
              <a:rPr lang="en-US" altLang="ko-KR" sz="2400" dirty="0"/>
              <a:t>, </a:t>
            </a:r>
            <a:r>
              <a:rPr lang="ko-KR" altLang="en-US" sz="2400" dirty="0"/>
              <a:t>네트워크 프로토콜은 바이트 순서를 별도로 정함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A3474-AF33-5EB6-555C-239D4E536985}"/>
              </a:ext>
            </a:extLst>
          </p:cNvPr>
          <p:cNvSpPr txBox="1"/>
          <p:nvPr/>
        </p:nvSpPr>
        <p:spPr>
          <a:xfrm>
            <a:off x="539750" y="1844824"/>
            <a:ext cx="5832450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값: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0x12345678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리틀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엔디언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78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빅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엔디언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 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78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75C3E-3D56-043A-9B30-81EC896203FD}"/>
              </a:ext>
            </a:extLst>
          </p:cNvPr>
          <p:cNvSpPr txBox="1"/>
          <p:nvPr/>
        </p:nvSpPr>
        <p:spPr>
          <a:xfrm>
            <a:off x="534020" y="3140968"/>
            <a:ext cx="5838180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little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little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mixed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endian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60556-5E19-6C32-AD77-A6E0EF885ABD}"/>
              </a:ext>
            </a:extLst>
          </p:cNvPr>
          <p:cNvSpPr txBox="1"/>
          <p:nvPr/>
        </p:nvSpPr>
        <p:spPr>
          <a:xfrm>
            <a:off x="4283968" y="5201186"/>
            <a:ext cx="457200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메모리 값을 그대로 바이트 배열로 복사한다고 직렬화가 끝나지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저장 형식의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엔디언에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맞춰 변환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byteswap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()은 C++23 기능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58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AD48-C7BF-E5CD-4793-51A6C40F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93AC8-A766-B8B8-8E57-1583D86D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14.8.7 </a:t>
            </a:r>
            <a:r>
              <a:rPr lang="ko-KR" altLang="en-US" dirty="0"/>
              <a:t>객체 표현 시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67942-D69B-DE30-FAC3-6C144BAB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객체의 메모리 바이트 전체를 객체 표현이라고 함</a:t>
            </a:r>
          </a:p>
          <a:p>
            <a:r>
              <a:rPr lang="ko-KR" altLang="en-US" sz="2400" dirty="0"/>
              <a:t>구조체 멤버 사이에 패딩 바이트 가능</a:t>
            </a:r>
          </a:p>
          <a:p>
            <a:r>
              <a:rPr lang="ko-KR" altLang="en-US" sz="2400" dirty="0"/>
              <a:t>값 표현에 사용되지 않는 패딩 비트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B1C11-F5ED-4A7C-6F64-4C848781532A}"/>
              </a:ext>
            </a:extLst>
          </p:cNvPr>
          <p:cNvSpPr txBox="1"/>
          <p:nvPr/>
        </p:nvSpPr>
        <p:spPr>
          <a:xfrm>
            <a:off x="548506" y="2281525"/>
            <a:ext cx="201602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10A56-1B7A-7079-36E0-64AA662B0854}"/>
              </a:ext>
            </a:extLst>
          </p:cNvPr>
          <p:cNvSpPr txBox="1"/>
          <p:nvPr/>
        </p:nvSpPr>
        <p:spPr>
          <a:xfrm>
            <a:off x="2339752" y="2589301"/>
            <a:ext cx="538234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sizeof(Data)가 sizeof(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+ sizeof(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)와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같다고 보장할 수 없음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D511A-2D4E-F969-2CB3-F2AD6D52A17D}"/>
              </a:ext>
            </a:extLst>
          </p:cNvPr>
          <p:cNvSpPr txBox="1"/>
          <p:nvPr/>
        </p:nvSpPr>
        <p:spPr>
          <a:xfrm>
            <a:off x="539750" y="3903587"/>
            <a:ext cx="7182346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  <a:cs typeface="Pretendard ExtraBold" panose="02000903000000020004" pitchFamily="50" charset="-127"/>
              </a:rPr>
              <a:t>구조체 메모리 직접 저장의 문제</a:t>
            </a:r>
            <a:endParaRPr lang="ko-KR" altLang="ko-KR" sz="2000" b="0" dirty="0">
              <a:effectLst/>
              <a:latin typeface="+mn-ea"/>
              <a:ea typeface="+mn-ea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컴파일러와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ABI에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따른 패딩 차이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엔디언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차이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정수와 부동소수점 표현 차이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포인터 값과 프로세스 내부 주소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불변식과 객체 수명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버전 변경으로 인한 멤버 배치 변화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직렬화 형식은 필드 크기, 부호, 바이트 순서, 문자열 인코딩을 명시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2626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02B5-F171-185D-A769-5F5D38BC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3EE72-8FE8-AABA-EF2C-021E0952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14.9 </a:t>
            </a:r>
            <a:r>
              <a:rPr lang="ko-KR" altLang="en-US" dirty="0"/>
              <a:t>타입 안전한 데이터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30E09-A1E1-8BC8-512A-5D32E2504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허용되는 상태를 타입으로 제한</a:t>
            </a:r>
          </a:p>
          <a:p>
            <a:r>
              <a:rPr lang="ko-KR" altLang="en-US" sz="2400" dirty="0"/>
              <a:t>호출부에서 값의 의미를 드러냄</a:t>
            </a:r>
          </a:p>
          <a:p>
            <a:r>
              <a:rPr lang="ko-KR" altLang="en-US" sz="2400" dirty="0"/>
              <a:t>원시 기본형에 여러 의미를 겹쳐 넣지 않음</a:t>
            </a:r>
          </a:p>
          <a:p>
            <a:r>
              <a:rPr lang="ko-KR" altLang="en-US" sz="2400" dirty="0"/>
              <a:t>잘못된 인수 순서와 유효하지 않은 조합을 줄임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05AF7-0D73-C91E-8298-95B1D7363843}"/>
              </a:ext>
            </a:extLst>
          </p:cNvPr>
          <p:cNvSpPr txBox="1"/>
          <p:nvPr/>
        </p:nvSpPr>
        <p:spPr>
          <a:xfrm>
            <a:off x="504304" y="2780928"/>
            <a:ext cx="665998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OpenWindow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resizable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OpenWindow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B91E5-0466-19B7-9039-394E65012362}"/>
              </a:ext>
            </a:extLst>
          </p:cNvPr>
          <p:cNvSpPr txBox="1"/>
          <p:nvPr/>
        </p:nvSpPr>
        <p:spPr>
          <a:xfrm>
            <a:off x="4528890" y="3167047"/>
            <a:ext cx="429158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chemeClr val="bg2">
                    <a:lumMod val="7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20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chemeClr val="bg2">
                    <a:lumMod val="7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false의</a:t>
            </a:r>
            <a:r>
              <a:rPr lang="ko-KR" altLang="ko-KR" sz="20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의미가 호출부에서 불분명</a:t>
            </a:r>
            <a:endParaRPr lang="ko-KR" altLang="en-US" sz="4400" dirty="0">
              <a:solidFill>
                <a:schemeClr val="bg2">
                  <a:lumMod val="7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B76FE-F922-53D1-20BF-9B48FC0C05F6}"/>
              </a:ext>
            </a:extLst>
          </p:cNvPr>
          <p:cNvSpPr txBox="1"/>
          <p:nvPr/>
        </p:nvSpPr>
        <p:spPr>
          <a:xfrm>
            <a:off x="504304" y="3799395"/>
            <a:ext cx="6659984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BorderMode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Hidden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Visible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ResizeMode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Resizable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OpenWindow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ResizeMode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OpenWindow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Visible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ResizeMode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DBCBDD-B7B5-E5E9-82E3-79A622F05049}"/>
              </a:ext>
            </a:extLst>
          </p:cNvPr>
          <p:cNvSpPr txBox="1"/>
          <p:nvPr/>
        </p:nvSpPr>
        <p:spPr>
          <a:xfrm>
            <a:off x="4528890" y="6340198"/>
            <a:ext cx="429158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의미가 타입과 호출부에 드러남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942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6AA8-F8CA-5FAE-0DE4-CB6BD743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59942-9F9E-A867-2CEC-86C4C3C2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14.9.2 enum class</a:t>
            </a:r>
            <a:r>
              <a:rPr lang="ko-KR" altLang="en-US" dirty="0"/>
              <a:t>와 의미 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EB1E5-5CB9-E7F6-83CD-0995ADBA0915}"/>
              </a:ext>
            </a:extLst>
          </p:cNvPr>
          <p:cNvSpPr txBox="1"/>
          <p:nvPr/>
        </p:nvSpPr>
        <p:spPr>
          <a:xfrm>
            <a:off x="513854" y="797510"/>
            <a:ext cx="246479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579D1-F8F3-68F2-B0EE-65AB3729A90C}"/>
              </a:ext>
            </a:extLst>
          </p:cNvPr>
          <p:cNvSpPr txBox="1"/>
          <p:nvPr/>
        </p:nvSpPr>
        <p:spPr>
          <a:xfrm>
            <a:off x="513854" y="3501008"/>
            <a:ext cx="6146378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8431-3406-87EE-80D3-A7166E85F5D7}"/>
              </a:ext>
            </a:extLst>
          </p:cNvPr>
          <p:cNvSpPr txBox="1"/>
          <p:nvPr/>
        </p:nvSpPr>
        <p:spPr>
          <a:xfrm>
            <a:off x="2987824" y="797510"/>
            <a:ext cx="5193756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EquipItem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EquipItem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EquipItem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5A345-1D42-B841-90C2-824EC2F68BFB}"/>
              </a:ext>
            </a:extLst>
          </p:cNvPr>
          <p:cNvSpPr txBox="1"/>
          <p:nvPr/>
        </p:nvSpPr>
        <p:spPr>
          <a:xfrm>
            <a:off x="2983234" y="2367170"/>
            <a:ext cx="518916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내부 표현이 같아도 서로 다른 타입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인수 순서 오류를 컴파일 시점에 차단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74772-1846-73EA-0DFA-B78FB5BCDB76}"/>
              </a:ext>
            </a:extLst>
          </p:cNvPr>
          <p:cNvSpPr txBox="1"/>
          <p:nvPr/>
        </p:nvSpPr>
        <p:spPr>
          <a:xfrm>
            <a:off x="2993849" y="4907303"/>
            <a:ext cx="519375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검사와 불변식을 타입 안에 모음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401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DE63-F0CD-8BF9-739A-A3ABB5FA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5162A-6767-BC7F-7845-FBFF625D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14.9.3 optional, variant</a:t>
            </a:r>
            <a:r>
              <a:rPr lang="ko-KR" altLang="en-US" dirty="0"/>
              <a:t>와 </a:t>
            </a:r>
            <a:r>
              <a:rPr lang="en-US" altLang="ko-KR" dirty="0"/>
              <a:t>expected </a:t>
            </a:r>
            <a:r>
              <a:rPr lang="ko-KR" altLang="en-US" dirty="0"/>
              <a:t>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1A46A-08F2-A29C-B4D2-3365A7FC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z="2400" dirty="0"/>
              <a:t>"</a:t>
            </a:r>
            <a:r>
              <a:rPr lang="ko-KR" altLang="ko-KR" sz="2400" dirty="0"/>
              <a:t>찾지 못함</a:t>
            </a:r>
            <a:r>
              <a:rPr lang="en-US" altLang="ko-KR" sz="2400" dirty="0"/>
              <a:t>" </a:t>
            </a:r>
            <a:r>
              <a:rPr lang="ko-KR" altLang="ko-KR" sz="2400" dirty="0"/>
              <a:t>만 중요하면 </a:t>
            </a:r>
            <a:r>
              <a:rPr lang="ko-KR" altLang="ko-KR" sz="2400" dirty="0" err="1"/>
              <a:t>optional</a:t>
            </a:r>
            <a:endParaRPr lang="ko-KR" altLang="ko-KR" sz="2400" dirty="0"/>
          </a:p>
          <a:p>
            <a:pPr lvl="0"/>
            <a:r>
              <a:rPr lang="ko-KR" altLang="ko-KR" sz="2400" dirty="0"/>
              <a:t>설정 값 종류가 고정되어 있으면 </a:t>
            </a:r>
            <a:r>
              <a:rPr lang="ko-KR" altLang="ko-KR" sz="2400" dirty="0" err="1"/>
              <a:t>variant</a:t>
            </a:r>
            <a:endParaRPr lang="ko-KR" altLang="ko-KR" sz="2400" dirty="0"/>
          </a:p>
          <a:p>
            <a:pPr lvl="0"/>
            <a:r>
              <a:rPr lang="ko-KR" altLang="ko-KR" sz="2400" dirty="0"/>
              <a:t>실패 이유를 </a:t>
            </a:r>
            <a:r>
              <a:rPr lang="ko-KR" altLang="ko-KR" sz="2400" dirty="0" err="1"/>
              <a:t>반환값으로</a:t>
            </a:r>
            <a:r>
              <a:rPr lang="ko-KR" altLang="ko-KR" sz="2400" dirty="0"/>
              <a:t> 다뤄야 하면 </a:t>
            </a:r>
            <a:r>
              <a:rPr lang="ko-KR" altLang="ko-KR" sz="2400" dirty="0" err="1"/>
              <a:t>expected</a:t>
            </a:r>
            <a:endParaRPr lang="ko-KR" altLang="ko-KR" sz="2400" dirty="0"/>
          </a:p>
          <a:p>
            <a:pPr lvl="0"/>
            <a:r>
              <a:rPr lang="ko-KR" altLang="ko-KR" sz="2400" dirty="0"/>
              <a:t>C++20 기준에서는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expected가</a:t>
            </a:r>
            <a:r>
              <a:rPr lang="ko-KR" altLang="ko-KR" sz="2400" dirty="0"/>
              <a:t> 표준 기능이 아님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59B96F-DCA5-CEDE-6E03-3C9B3C4B6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152465"/>
              </p:ext>
            </p:extLst>
          </p:nvPr>
        </p:nvGraphicFramePr>
        <p:xfrm>
          <a:off x="534045" y="2805736"/>
          <a:ext cx="6774259" cy="1764688"/>
        </p:xfrm>
        <a:graphic>
          <a:graphicData uri="http://schemas.openxmlformats.org/drawingml/2006/table">
            <a:tbl>
              <a:tblPr/>
              <a:tblGrid>
                <a:gridCol w="3602930">
                  <a:extLst>
                    <a:ext uri="{9D8B030D-6E8A-4147-A177-3AD203B41FA5}">
                      <a16:colId xmlns:a16="http://schemas.microsoft.com/office/drawing/2014/main" val="2652799298"/>
                    </a:ext>
                  </a:extLst>
                </a:gridCol>
                <a:gridCol w="3171329">
                  <a:extLst>
                    <a:ext uri="{9D8B030D-6E8A-4147-A177-3AD203B41FA5}">
                      <a16:colId xmlns:a16="http://schemas.microsoft.com/office/drawing/2014/main" val="1300461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표현하려는 상태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4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값이 있거나 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3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정해진 여러 타입 중 하나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variant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Ts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...&gt;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6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성공값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또는 오류 정보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expected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338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AEDE8E-B943-9C9A-DAC6-7E4576C23A07}"/>
              </a:ext>
            </a:extLst>
          </p:cNvPr>
          <p:cNvSpPr txBox="1"/>
          <p:nvPr/>
        </p:nvSpPr>
        <p:spPr>
          <a:xfrm>
            <a:off x="534045" y="4747260"/>
            <a:ext cx="6774258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SettingValue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C++23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2944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D3BD-03D1-B5C7-4625-045F604A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35EA0-2888-4514-6C53-5C5E56D0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14.9.4 </a:t>
            </a:r>
            <a:r>
              <a:rPr lang="ko-KR" altLang="en-US" dirty="0"/>
              <a:t>유효하지 않은 상태 줄이기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93D9E-AADF-B837-7D66-F4CFD204DD33}"/>
              </a:ext>
            </a:extLst>
          </p:cNvPr>
          <p:cNvSpPr txBox="1"/>
          <p:nvPr/>
        </p:nvSpPr>
        <p:spPr>
          <a:xfrm>
            <a:off x="467544" y="836712"/>
            <a:ext cx="7128792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C++23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29678-D112-9FE3-9CC6-BC3E1B0D9965}"/>
              </a:ext>
            </a:extLst>
          </p:cNvPr>
          <p:cNvSpPr txBox="1"/>
          <p:nvPr/>
        </p:nvSpPr>
        <p:spPr>
          <a:xfrm>
            <a:off x="467544" y="1667709"/>
            <a:ext cx="712879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성공이면서 시간 초과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성공했는데 오류 메시지만 있을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실패했는데 데이터가 남을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829D28-405F-2B8C-AEBA-6662E3EF6B4E}"/>
              </a:ext>
            </a:extLst>
          </p:cNvPr>
          <p:cNvSpPr txBox="1"/>
          <p:nvPr/>
        </p:nvSpPr>
        <p:spPr>
          <a:xfrm>
            <a:off x="467544" y="2924944"/>
            <a:ext cx="3107754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Success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Timeout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elapsedMilliseconds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10BA6-4DA6-AD96-ABA6-7CF7CA6B6366}"/>
              </a:ext>
            </a:extLst>
          </p:cNvPr>
          <p:cNvSpPr txBox="1"/>
          <p:nvPr/>
        </p:nvSpPr>
        <p:spPr>
          <a:xfrm>
            <a:off x="467544" y="5325601"/>
            <a:ext cx="712879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시점에는 한 상태만 활성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상태별 데이터도 해당 타입 안에만 존재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모순 상태를 타입 구조로 줄임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A75CBB-40EA-EB11-E5F1-D595B23688B6}"/>
              </a:ext>
            </a:extLst>
          </p:cNvPr>
          <p:cNvSpPr txBox="1"/>
          <p:nvPr/>
        </p:nvSpPr>
        <p:spPr>
          <a:xfrm>
            <a:off x="3575298" y="3923933"/>
            <a:ext cx="2436862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NetworkError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errorCode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9430FB-25EA-63C0-D8E6-F0F90F711CB6}"/>
              </a:ext>
            </a:extLst>
          </p:cNvPr>
          <p:cNvSpPr txBox="1"/>
          <p:nvPr/>
        </p:nvSpPr>
        <p:spPr>
          <a:xfrm>
            <a:off x="467544" y="4987047"/>
            <a:ext cx="7128792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RequestResult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variant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Success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6847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01B5F-8ED1-E601-C698-3437A128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57CAC-286D-D724-9E94-A03D3815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14.10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5EA1E-D288-F051-B5D9-2AAAA981F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std::pair</a:t>
            </a:r>
            <a:r>
              <a:rPr lang="ko-KR" altLang="en-US" sz="2400" dirty="0"/>
              <a:t>는 두 값</a:t>
            </a:r>
            <a:r>
              <a:rPr lang="en-US" altLang="ko-KR" sz="2400" dirty="0"/>
              <a:t>, std::tuple</a:t>
            </a:r>
            <a:r>
              <a:rPr lang="ko-KR" altLang="en-US" sz="2400" dirty="0"/>
              <a:t>은 여러 값을 하나로 묶음</a:t>
            </a:r>
          </a:p>
          <a:p>
            <a:r>
              <a:rPr lang="ko-KR" altLang="en-US" sz="2400" dirty="0"/>
              <a:t>구조적 바인딩의 </a:t>
            </a:r>
            <a:r>
              <a:rPr lang="en-US" altLang="ko-KR" sz="2400" dirty="0"/>
              <a:t>auto, auto&amp;, const auto&amp;</a:t>
            </a:r>
            <a:r>
              <a:rPr lang="ko-KR" altLang="en-US" sz="2400" dirty="0"/>
              <a:t>는</a:t>
            </a:r>
            <a:br>
              <a:rPr lang="en-US" altLang="ko-KR" sz="2400" dirty="0"/>
            </a:br>
            <a:r>
              <a:rPr lang="ko-KR" altLang="en-US" sz="2400" dirty="0"/>
              <a:t>복사와 참조 여부를 결정</a:t>
            </a:r>
          </a:p>
          <a:p>
            <a:r>
              <a:rPr lang="ko-KR" altLang="en-US" sz="2400" dirty="0"/>
              <a:t>여러 </a:t>
            </a:r>
            <a:r>
              <a:rPr lang="ko-KR" altLang="en-US" sz="2400" dirty="0" err="1"/>
              <a:t>반환값의</a:t>
            </a:r>
            <a:r>
              <a:rPr lang="ko-KR" altLang="en-US" sz="2400" dirty="0"/>
              <a:t> 의미가 오래 유지되면 이름 있는 구조체가 더 명확</a:t>
            </a:r>
          </a:p>
          <a:p>
            <a:r>
              <a:rPr lang="en-US" altLang="ko-KR" sz="2400" dirty="0"/>
              <a:t>std::optional&lt;T&gt;</a:t>
            </a:r>
            <a:r>
              <a:rPr lang="ko-KR" altLang="en-US" sz="2400" dirty="0"/>
              <a:t>는 값이 있거나 없는 상태를 표현</a:t>
            </a:r>
          </a:p>
          <a:p>
            <a:r>
              <a:rPr lang="en-US" altLang="ko-KR" sz="2400" dirty="0"/>
              <a:t>operator*, operator-&gt;</a:t>
            </a:r>
            <a:r>
              <a:rPr lang="ko-KR" altLang="en-US" sz="2400" dirty="0"/>
              <a:t>는 값 존재를 전제로 함</a:t>
            </a:r>
          </a:p>
          <a:p>
            <a:r>
              <a:rPr lang="en-US" altLang="ko-KR" sz="2400" dirty="0"/>
              <a:t>value()</a:t>
            </a:r>
            <a:r>
              <a:rPr lang="ko-KR" altLang="en-US" sz="2400" dirty="0"/>
              <a:t>는 값이 없으면 예외</a:t>
            </a:r>
          </a:p>
          <a:p>
            <a:r>
              <a:rPr lang="en-US" altLang="ko-KR" sz="2400" dirty="0" err="1"/>
              <a:t>value_or</a:t>
            </a:r>
            <a:r>
              <a:rPr lang="en-US" altLang="ko-KR" sz="2400" dirty="0"/>
              <a:t>()</a:t>
            </a:r>
            <a:r>
              <a:rPr lang="ko-KR" altLang="en-US" sz="2400" dirty="0"/>
              <a:t>는 기본값을 값으로 반환</a:t>
            </a:r>
          </a:p>
          <a:p>
            <a:r>
              <a:rPr lang="en-US" altLang="ko-KR" sz="2400" dirty="0"/>
              <a:t>std::variant&lt;Ts...&gt;</a:t>
            </a:r>
            <a:r>
              <a:rPr lang="ko-KR" altLang="en-US" sz="2400" dirty="0"/>
              <a:t>는 정해진 대안 타입 중 하나를 저장</a:t>
            </a:r>
          </a:p>
          <a:p>
            <a:r>
              <a:rPr lang="en-US" altLang="ko-KR" sz="2400" dirty="0"/>
              <a:t>std::visit()</a:t>
            </a:r>
            <a:r>
              <a:rPr lang="ko-KR" altLang="en-US" sz="2400" dirty="0"/>
              <a:t>은 활성 타입에 맞는 연산 적용</a:t>
            </a:r>
          </a:p>
          <a:p>
            <a:r>
              <a:rPr lang="en-US" altLang="ko-KR" sz="2400" dirty="0"/>
              <a:t>std::any</a:t>
            </a:r>
            <a:r>
              <a:rPr lang="ko-KR" altLang="en-US" sz="2400" dirty="0"/>
              <a:t>는 실행 시간에 저장 타입을 결정</a:t>
            </a:r>
          </a:p>
          <a:p>
            <a:r>
              <a:rPr lang="ko-KR" altLang="en-US" sz="2400" dirty="0"/>
              <a:t>가능한 타입 집합을 알고 있으면 </a:t>
            </a:r>
            <a:r>
              <a:rPr lang="en-US" altLang="ko-KR" sz="2400" dirty="0"/>
              <a:t>variant</a:t>
            </a:r>
            <a:r>
              <a:rPr lang="ko-KR" altLang="en-US" sz="2400" dirty="0"/>
              <a:t>가 더 안전</a:t>
            </a:r>
          </a:p>
        </p:txBody>
      </p:sp>
    </p:spTree>
    <p:extLst>
      <p:ext uri="{BB962C8B-B14F-4D97-AF65-F5344CB8AC3E}">
        <p14:creationId xmlns:p14="http://schemas.microsoft.com/office/powerpoint/2010/main" val="4162754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06BE-0D86-CA1E-621B-B47601C8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F97BB-61CD-6FDC-23CD-F80A55C7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14.10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7F5C4-F69C-2FEE-9721-18F01C582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</a:t>
            </a:r>
            <a:r>
              <a:rPr lang="en-US" altLang="ko-KR" sz="2400" dirty="0" err="1"/>
              <a:t>reference_wrapper</a:t>
            </a:r>
            <a:r>
              <a:rPr lang="en-US" altLang="ko-KR" sz="2400" dirty="0"/>
              <a:t>&lt;T&gt;</a:t>
            </a:r>
            <a:r>
              <a:rPr lang="ko-KR" altLang="en-US" sz="2400" dirty="0"/>
              <a:t>는 참조를 복사 가능한 객체로 감쌈</a:t>
            </a:r>
          </a:p>
          <a:p>
            <a:r>
              <a:rPr lang="en-US" altLang="ko-KR" sz="2400" dirty="0" err="1"/>
              <a:t>reference_wrapper</a:t>
            </a:r>
            <a:r>
              <a:rPr lang="ko-KR" altLang="en-US" sz="2400" dirty="0"/>
              <a:t>는 대상을 소유하지 않음</a:t>
            </a:r>
          </a:p>
          <a:p>
            <a:r>
              <a:rPr lang="en-US" altLang="ko-KR" sz="2400" dirty="0"/>
              <a:t>std::span&lt;T&gt;</a:t>
            </a:r>
            <a:r>
              <a:rPr lang="ko-KR" altLang="en-US" sz="2400" dirty="0"/>
              <a:t>은 연속 메모리의 포인터와 길이를 묶는 비 소유 범위</a:t>
            </a:r>
          </a:p>
          <a:p>
            <a:r>
              <a:rPr lang="ko-KR" altLang="en-US" sz="2400" dirty="0"/>
              <a:t>읽기 전용 </a:t>
            </a:r>
            <a:r>
              <a:rPr lang="en-US" altLang="ko-KR" sz="2400" dirty="0"/>
              <a:t>span </a:t>
            </a:r>
            <a:r>
              <a:rPr lang="ko-KR" altLang="en-US" sz="2400" dirty="0"/>
              <a:t>매개변수는 </a:t>
            </a:r>
            <a:r>
              <a:rPr lang="en-US" altLang="ko-KR" sz="2400" dirty="0"/>
              <a:t>std::span&lt;const T&gt;</a:t>
            </a:r>
          </a:p>
          <a:p>
            <a:r>
              <a:rPr lang="ko-KR" altLang="en-US" sz="2400" dirty="0"/>
              <a:t>원본 소멸과 재할당은 </a:t>
            </a:r>
            <a:r>
              <a:rPr lang="en-US" altLang="ko-KR" sz="2400" dirty="0"/>
              <a:t>span</a:t>
            </a:r>
            <a:r>
              <a:rPr lang="ko-KR" altLang="en-US" sz="2400" dirty="0"/>
              <a:t>을 무효화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string_view</a:t>
            </a:r>
            <a:r>
              <a:rPr lang="ko-KR" altLang="en-US" sz="2400" dirty="0"/>
              <a:t>는 문자 구간을 복사하지 않고 참조</a:t>
            </a:r>
          </a:p>
          <a:p>
            <a:r>
              <a:rPr lang="en-US" altLang="ko-KR" sz="2400" dirty="0" err="1"/>
              <a:t>string_view</a:t>
            </a:r>
            <a:r>
              <a:rPr lang="ko-KR" altLang="en-US" sz="2400" dirty="0"/>
              <a:t>는 널 종료를 보장하지 않음</a:t>
            </a:r>
          </a:p>
          <a:p>
            <a:r>
              <a:rPr lang="ko-KR" altLang="en-US" sz="2400" dirty="0"/>
              <a:t>임시 문자열과 지역 문자열을 가리키는 뷰는 </a:t>
            </a:r>
            <a:r>
              <a:rPr lang="ko-KR" altLang="en-US" sz="2400" dirty="0" err="1"/>
              <a:t>댕글링</a:t>
            </a:r>
            <a:r>
              <a:rPr lang="ko-KR" altLang="en-US" sz="2400" dirty="0"/>
              <a:t> 위험</a:t>
            </a:r>
          </a:p>
          <a:p>
            <a:r>
              <a:rPr lang="en-US" altLang="ko-KR" sz="2400" dirty="0"/>
              <a:t>std::byte</a:t>
            </a:r>
            <a:r>
              <a:rPr lang="ko-KR" altLang="en-US" sz="2400" dirty="0"/>
              <a:t>는 원시 메모리의 한 바이트 표현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bitset</a:t>
            </a:r>
            <a:r>
              <a:rPr lang="en-US" altLang="ko-KR" sz="2400" dirty="0"/>
              <a:t>&lt;N&gt;</a:t>
            </a:r>
            <a:r>
              <a:rPr lang="ko-KR" altLang="en-US" sz="2400" dirty="0"/>
              <a:t>은 고정 크기 비트 집합</a:t>
            </a:r>
          </a:p>
          <a:p>
            <a:r>
              <a:rPr lang="ko-KR" altLang="en-US" sz="2400" dirty="0"/>
              <a:t>객체 메모리 직접 직렬화는 패딩과 </a:t>
            </a:r>
            <a:r>
              <a:rPr lang="ko-KR" altLang="en-US" sz="2400" dirty="0" err="1"/>
              <a:t>엔디언</a:t>
            </a:r>
            <a:r>
              <a:rPr lang="ko-KR" altLang="en-US" sz="2400" dirty="0"/>
              <a:t> 문제를 일으킬 수 있음</a:t>
            </a:r>
          </a:p>
          <a:p>
            <a:r>
              <a:rPr lang="ko-KR" altLang="en-US" sz="2400" dirty="0"/>
              <a:t>타입 안전한 표현은 유효하지 않은 상태 조합을 줄임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4620085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0" i="0" u="none" strike="noStrike" dirty="0">
            <a:solidFill>
              <a:srgbClr val="4078F2"/>
            </a:solidFill>
            <a:effectLst/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10785</TotalTime>
  <Words>6563</Words>
  <Application>Microsoft Office PowerPoint</Application>
  <PresentationFormat>화면 슬라이드 쇼(4:3)</PresentationFormat>
  <Paragraphs>561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9" baseType="lpstr">
      <vt:lpstr>Pretendard ExtraBold</vt:lpstr>
      <vt:lpstr>굴림</vt:lpstr>
      <vt:lpstr>가을체</vt:lpstr>
      <vt:lpstr>나눔고딕 ExtraBold</vt:lpstr>
      <vt:lpstr>Arial</vt:lpstr>
      <vt:lpstr>HY견고딕</vt:lpstr>
      <vt:lpstr>Wingdings</vt:lpstr>
      <vt:lpstr>나눔바른고딕</vt:lpstr>
      <vt:lpstr>기본 디자인</vt:lpstr>
      <vt:lpstr>14. 유틸리티 타입과 데이터 표현</vt:lpstr>
      <vt:lpstr>14. 유틸리티 타입과 데이터 표현</vt:lpstr>
      <vt:lpstr>14.1 std::pair와 std::tuple</vt:lpstr>
      <vt:lpstr>14.1.2 생성과 std::get</vt:lpstr>
      <vt:lpstr>14.1.3 std::tie와 구조적 바인딩</vt:lpstr>
      <vt:lpstr>14.1.4 여러 반환값과 std::apply</vt:lpstr>
      <vt:lpstr>14.2 std::optional</vt:lpstr>
      <vt:lpstr>14.2.1 optional 사용</vt:lpstr>
      <vt:lpstr>14.2.2 reset과 emplace</vt:lpstr>
      <vt:lpstr>14.2.3 값 접근과 기본값</vt:lpstr>
      <vt:lpstr>14.2.4 포인터와 optional의 차이</vt:lpstr>
      <vt:lpstr>14.3 std::variant</vt:lpstr>
      <vt:lpstr>14.3.2 std::monostate</vt:lpstr>
      <vt:lpstr>14.3.3 variant 값 확인과 접근</vt:lpstr>
      <vt:lpstr>14.3.4 std::visit</vt:lpstr>
      <vt:lpstr>14.3.5 상태 표현</vt:lpstr>
      <vt:lpstr>14.3.6 valueless_by_exception</vt:lpstr>
      <vt:lpstr>14.3.7 상속 기반 다형성과 variant</vt:lpstr>
      <vt:lpstr>14.4 std::any</vt:lpstr>
      <vt:lpstr>14.4.2 빈 상태와 저장 타입 확인</vt:lpstr>
      <vt:lpstr>14.4.3 any_cast</vt:lpstr>
      <vt:lpstr>14.4.4 variant와 any의 차이</vt:lpstr>
      <vt:lpstr>14.5 std::reference_wrapper</vt:lpstr>
      <vt:lpstr>14.5.2 컨테이너와 참조</vt:lpstr>
      <vt:lpstr>14.5.3 std::ref, std::cref와 수명</vt:lpstr>
      <vt:lpstr>14.6 std::span</vt:lpstr>
      <vt:lpstr>14.6.1 span 기본 사용</vt:lpstr>
      <vt:lpstr>14.6.3 정적 크기와 동적 크기</vt:lpstr>
      <vt:lpstr>14.6.4 span의 const와 원소의 const</vt:lpstr>
      <vt:lpstr>14.6.5 부분 구간과 수명</vt:lpstr>
      <vt:lpstr>14.6.6 span 무효화 (Invalid)</vt:lpstr>
      <vt:lpstr>14.7 std::string_view</vt:lpstr>
      <vt:lpstr>14.7.2 문자열 복사 방지</vt:lpstr>
      <vt:lpstr>14.7.3 부분 문자열</vt:lpstr>
      <vt:lpstr>14.7.4 널 종료와 data</vt:lpstr>
      <vt:lpstr>14.7.5 댕글링 뷰</vt:lpstr>
      <vt:lpstr>14.8 비트와 바이트</vt:lpstr>
      <vt:lpstr>14.8.1 std::byte</vt:lpstr>
      <vt:lpstr>14.8.2 std::bitset</vt:lpstr>
      <vt:lpstr>14.8.3 비트 플래그</vt:lpstr>
      <vt:lpstr>14.8.4 C++20 비트 유틸리티</vt:lpstr>
      <vt:lpstr>14.8.5 std::bit_cast</vt:lpstr>
      <vt:lpstr>14.8.6 엔디언</vt:lpstr>
      <vt:lpstr>14.8.7 객체 표현 시 주의점</vt:lpstr>
      <vt:lpstr>14.9 타입 안전한 데이터 표현</vt:lpstr>
      <vt:lpstr>14.9.2 enum class와 의미 타입</vt:lpstr>
      <vt:lpstr>14.9.3 optional, variant와 expected 선택</vt:lpstr>
      <vt:lpstr>14.9.4 유효하지 않은 상태 줄이기</vt:lpstr>
      <vt:lpstr>14.10 학습 정리</vt:lpstr>
      <vt:lpstr>14.10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374</cp:revision>
  <dcterms:created xsi:type="dcterms:W3CDTF">2003-11-30T16:03:20Z</dcterms:created>
  <dcterms:modified xsi:type="dcterms:W3CDTF">2026-09-06T12:24:40Z</dcterms:modified>
</cp:coreProperties>
</file>