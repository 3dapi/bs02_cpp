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1"/>
  </p:notesMasterIdLst>
  <p:sldIdLst>
    <p:sldId id="328" r:id="rId2"/>
    <p:sldId id="348" r:id="rId3"/>
    <p:sldId id="365" r:id="rId4"/>
    <p:sldId id="278" r:id="rId5"/>
    <p:sldId id="352" r:id="rId6"/>
    <p:sldId id="354" r:id="rId7"/>
    <p:sldId id="355" r:id="rId8"/>
    <p:sldId id="356" r:id="rId9"/>
    <p:sldId id="357" r:id="rId10"/>
    <p:sldId id="358" r:id="rId11"/>
    <p:sldId id="362" r:id="rId12"/>
    <p:sldId id="363" r:id="rId13"/>
    <p:sldId id="371" r:id="rId14"/>
    <p:sldId id="374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403" r:id="rId23"/>
    <p:sldId id="383" r:id="rId24"/>
    <p:sldId id="384" r:id="rId25"/>
    <p:sldId id="385" r:id="rId26"/>
    <p:sldId id="386" r:id="rId27"/>
    <p:sldId id="404" r:id="rId28"/>
    <p:sldId id="387" r:id="rId29"/>
    <p:sldId id="388" r:id="rId30"/>
    <p:sldId id="389" r:id="rId31"/>
    <p:sldId id="390" r:id="rId32"/>
    <p:sldId id="391" r:id="rId33"/>
    <p:sldId id="405" r:id="rId34"/>
    <p:sldId id="392" r:id="rId35"/>
    <p:sldId id="407" r:id="rId36"/>
    <p:sldId id="393" r:id="rId37"/>
    <p:sldId id="406" r:id="rId38"/>
    <p:sldId id="394" r:id="rId39"/>
    <p:sldId id="408" r:id="rId40"/>
    <p:sldId id="395" r:id="rId41"/>
    <p:sldId id="396" r:id="rId42"/>
    <p:sldId id="409" r:id="rId43"/>
    <p:sldId id="397" r:id="rId44"/>
    <p:sldId id="410" r:id="rId45"/>
    <p:sldId id="398" r:id="rId46"/>
    <p:sldId id="399" r:id="rId47"/>
    <p:sldId id="400" r:id="rId48"/>
    <p:sldId id="401" r:id="rId49"/>
    <p:sldId id="411" r:id="rId50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D2Coding" panose="020B0609020101020101" pitchFamily="49" charset="-127"/>
      <p:regular r:id="rId56"/>
      <p:bold r:id="rId57"/>
    </p:embeddedFont>
    <p:embeddedFont>
      <p:font typeface="HY견고딕" panose="02030600000101010101" pitchFamily="18" charset="-127"/>
      <p:regular r:id="rId58"/>
    </p:embeddedFont>
    <p:embeddedFont>
      <p:font typeface="Noto Sans KR" panose="020B0200000000000000" pitchFamily="50" charset="-127"/>
      <p:regular r:id="rId59"/>
      <p:bold r:id="rId60"/>
    </p:embeddedFont>
    <p:embeddedFont>
      <p:font typeface="Noto Sans KR Medium" panose="020B0200000000000000" pitchFamily="50" charset="-127"/>
      <p:regular r:id="rId61"/>
    </p:embeddedFont>
    <p:embeddedFont>
      <p:font typeface="가을체" panose="02030600000101010101" pitchFamily="18" charset="-127"/>
      <p:regular r:id="rId62"/>
    </p:embeddedFont>
    <p:embeddedFont>
      <p:font typeface="나눔고딕 ExtraBold" panose="020D0904000000000000" pitchFamily="50" charset="-127"/>
      <p:bold r:id="rId63"/>
    </p:embeddedFont>
    <p:embeddedFont>
      <p:font typeface="나눔바른고딕" panose="020B0603020101020101" pitchFamily="50" charset="-127"/>
      <p:regular r:id="rId64"/>
      <p:bold r:id="rId6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CC00CC"/>
    <a:srgbClr val="CC00FF"/>
    <a:srgbClr val="CCFFFF"/>
    <a:srgbClr val="FFFFCC"/>
    <a:srgbClr val="FF0000"/>
    <a:srgbClr val="0099FF"/>
    <a:srgbClr val="FF99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00" d="100"/>
          <a:sy n="100" d="100"/>
        </p:scale>
        <p:origin x="2556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58FF9-F5E2-4AF8-03FA-58EFFD7B73E1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01. C++ </a:t>
            </a:r>
            <a:r>
              <a:rPr lang="ko-KR" altLang="en-US" dirty="0"/>
              <a:t>언어의 특징과</a:t>
            </a:r>
            <a:br>
              <a:rPr lang="en-US" altLang="ko-KR" dirty="0"/>
            </a:br>
            <a:r>
              <a:rPr lang="en-US" altLang="ko-KR" dirty="0"/>
              <a:t>C</a:t>
            </a:r>
            <a:r>
              <a:rPr lang="ko-KR" altLang="en-US" dirty="0"/>
              <a:t>에서 </a:t>
            </a:r>
            <a:r>
              <a:rPr lang="en-US" altLang="ko-KR" dirty="0"/>
              <a:t>C++</a:t>
            </a:r>
            <a:r>
              <a:rPr lang="ko-KR" altLang="en-US" dirty="0"/>
              <a:t>로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386B7-89BF-0435-CF94-DADA5CCE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</a:t>
            </a:r>
            <a:r>
              <a:rPr lang="en-US" altLang="ko-KR" dirty="0"/>
              <a:t>0</a:t>
            </a:r>
            <a:r>
              <a:rPr lang="ko-KR" altLang="ko-KR" dirty="0"/>
              <a:t> </a:t>
            </a:r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CB3DB5-7F2D-CFB2-2A06-9C4CED4C8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ko-KR" altLang="ko-KR" dirty="0"/>
              <a:t>C++의 주요 특징</a:t>
            </a:r>
          </a:p>
          <a:p>
            <a:pPr lvl="0">
              <a:lnSpc>
                <a:spcPct val="200000"/>
              </a:lnSpc>
            </a:pPr>
            <a:r>
              <a:rPr lang="ko-KR" altLang="ko-KR" dirty="0" err="1"/>
              <a:t>C와</a:t>
            </a:r>
            <a:r>
              <a:rPr lang="ko-KR" altLang="ko-KR" dirty="0"/>
              <a:t> C++의 관계</a:t>
            </a:r>
          </a:p>
          <a:p>
            <a:pPr lvl="0">
              <a:lnSpc>
                <a:spcPct val="200000"/>
              </a:lnSpc>
            </a:pPr>
            <a:r>
              <a:rPr lang="ko-KR" altLang="ko-KR" dirty="0"/>
              <a:t>C++에서 추가되거나 의미가 달라진 기본형 타입</a:t>
            </a:r>
          </a:p>
          <a:p>
            <a:pPr lvl="0">
              <a:lnSpc>
                <a:spcPct val="200000"/>
              </a:lnSpc>
            </a:pPr>
            <a:r>
              <a:rPr lang="ko-KR" altLang="ko-KR" dirty="0"/>
              <a:t>C++에서 추가된 편리한 문법과 표준 라이브러리</a:t>
            </a:r>
          </a:p>
          <a:p>
            <a:pPr lvl="0">
              <a:lnSpc>
                <a:spcPct val="200000"/>
              </a:lnSpc>
            </a:pPr>
            <a:r>
              <a:rPr lang="ko-KR" altLang="ko-KR" dirty="0"/>
              <a:t>C 방식에서 C++ 방식으로의 전환</a:t>
            </a:r>
          </a:p>
        </p:txBody>
      </p:sp>
    </p:spTree>
    <p:extLst>
      <p:ext uri="{BB962C8B-B14F-4D97-AF65-F5344CB8AC3E}">
        <p14:creationId xmlns:p14="http://schemas.microsoft.com/office/powerpoint/2010/main" val="120021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0EB7-9547-F386-8F33-EC1177E3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714C2F-A24E-15C2-21F4-132BAD979F2E}"/>
              </a:ext>
            </a:extLst>
          </p:cNvPr>
          <p:cNvSpPr txBox="1">
            <a:spLocks/>
          </p:cNvSpPr>
          <p:nvPr/>
        </p:nvSpPr>
        <p:spPr bwMode="auto">
          <a:xfrm>
            <a:off x="107504" y="692150"/>
            <a:ext cx="8928992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</a:pPr>
            <a:r>
              <a:rPr lang="ko-KR" altLang="ko-KR" sz="2400" dirty="0"/>
              <a:t>절차적 프로그래밍, 객체지향 프로그래밍, 제네릭 프로그래밍 지원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문제의 성격에 따라 적절한 방식을 선택하거나 함께 사용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프로그램의 모든 부분을 반드시 클래스로 작성할 필요 없음</a:t>
            </a:r>
          </a:p>
          <a:p>
            <a:pPr>
              <a:lnSpc>
                <a:spcPct val="150000"/>
              </a:lnSpc>
            </a:pPr>
            <a:endParaRPr lang="ko-KR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BA45B4-D3A5-B4AE-009E-C491AB78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 C++ 언어의 특징</a:t>
            </a:r>
            <a:endParaRPr lang="ko-KR" altLang="en-US" dirty="0"/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67F53882-AE3E-DE7E-BA76-5169D8EE5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246615"/>
              </p:ext>
            </p:extLst>
          </p:nvPr>
        </p:nvGraphicFramePr>
        <p:xfrm>
          <a:off x="510819" y="2924944"/>
          <a:ext cx="8353177" cy="3024335"/>
        </p:xfrm>
        <a:graphic>
          <a:graphicData uri="http://schemas.openxmlformats.org/drawingml/2006/table">
            <a:tbl>
              <a:tblPr/>
              <a:tblGrid>
                <a:gridCol w="3600202">
                  <a:extLst>
                    <a:ext uri="{9D8B030D-6E8A-4147-A177-3AD203B41FA5}">
                      <a16:colId xmlns:a16="http://schemas.microsoft.com/office/drawing/2014/main" val="2963699120"/>
                    </a:ext>
                  </a:extLst>
                </a:gridCol>
                <a:gridCol w="4752975">
                  <a:extLst>
                    <a:ext uri="{9D8B030D-6E8A-4147-A177-3AD203B41FA5}">
                      <a16:colId xmlns:a16="http://schemas.microsoft.com/office/drawing/2014/main" val="362657434"/>
                    </a:ext>
                  </a:extLst>
                </a:gridCol>
              </a:tblGrid>
              <a:tr h="604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핵심 내용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289461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절차적 프로그래밍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하드웨어에 가까운 제어를 통한 성능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9549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객체지향 프로그래밍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구조화와 유지보수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004525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표준 라이브러리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자료구조와 알고리즘 재사용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182400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정적 타입과</a:t>
                      </a:r>
                      <a:r>
                        <a:rPr lang="en-US" alt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컴파일</a:t>
                      </a:r>
                      <a:r>
                        <a:rPr lang="en-US" alt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타임 처리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안정성과 성능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34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95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115D7-BEC8-BD27-6815-FCC89455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 C++ 언어의 특징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F6F93E3-268E-38E0-8BBF-C13296CDA35B}"/>
              </a:ext>
            </a:extLst>
          </p:cNvPr>
          <p:cNvSpPr/>
          <p:nvPr/>
        </p:nvSpPr>
        <p:spPr bwMode="auto">
          <a:xfrm>
            <a:off x="899592" y="1988840"/>
            <a:ext cx="3528392" cy="2880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4400" i="0" u="none" strike="noStrike" normalizeH="0" baseline="0" dirty="0">
                <a:ln w="0">
                  <a:solidFill>
                    <a:schemeClr val="tx1"/>
                  </a:solidFill>
                </a:ln>
                <a:latin typeface="+mn-ea"/>
              </a:rPr>
              <a:t>C </a:t>
            </a:r>
            <a:r>
              <a:rPr kumimoji="1" lang="ko-KR" altLang="en-US" sz="4400" i="0" u="none" strike="noStrike" normalizeH="0" baseline="0" dirty="0">
                <a:ln w="0">
                  <a:solidFill>
                    <a:schemeClr val="tx1"/>
                  </a:solidFill>
                </a:ln>
                <a:latin typeface="+mn-ea"/>
              </a:rPr>
              <a:t>언어</a:t>
            </a:r>
            <a:endParaRPr kumimoji="1" lang="en-US" altLang="ko-KR" sz="4400" i="0" u="none" strike="noStrike" normalizeH="0" baseline="0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절차적 문법</a:t>
            </a:r>
            <a:endParaRPr lang="en-US" altLang="ko-KR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n w="0">
                  <a:solidFill>
                    <a:schemeClr val="tx1"/>
                  </a:solidFill>
                </a:ln>
                <a:latin typeface="+mn-ea"/>
              </a:rPr>
              <a:t>저수준</a:t>
            </a: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 제어</a:t>
            </a:r>
            <a:r>
              <a:rPr lang="en-US" altLang="ko-KR" dirty="0">
                <a:ln w="0">
                  <a:solidFill>
                    <a:schemeClr val="tx1"/>
                  </a:solidFill>
                </a:ln>
                <a:latin typeface="+mn-ea"/>
              </a:rPr>
              <a:t>/</a:t>
            </a: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성능</a:t>
            </a:r>
            <a:endParaRPr lang="en-US" altLang="ko-KR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높은 확장성</a:t>
            </a:r>
            <a:endParaRPr kumimoji="1" lang="ko-KR" altLang="en-US" sz="2400" i="0" u="none" strike="noStrike" normalizeH="0" baseline="0" dirty="0">
              <a:ln w="0">
                <a:solidFill>
                  <a:schemeClr val="tx1"/>
                </a:solidFill>
              </a:ln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24D65F6-460A-B92E-3C56-89122D3E97BB}"/>
              </a:ext>
            </a:extLst>
          </p:cNvPr>
          <p:cNvSpPr/>
          <p:nvPr/>
        </p:nvSpPr>
        <p:spPr bwMode="auto">
          <a:xfrm>
            <a:off x="1007604" y="1412776"/>
            <a:ext cx="7128792" cy="4032448"/>
          </a:xfrm>
          <a:prstGeom prst="ellipse">
            <a:avLst/>
          </a:prstGeom>
          <a:solidFill>
            <a:schemeClr val="accent3">
              <a:lumMod val="95000"/>
              <a:alpha val="32000"/>
            </a:schemeClr>
          </a:solidFill>
          <a:ln w="38100">
            <a:solidFill>
              <a:schemeClr val="accent3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i="0" u="none" strike="noStrike" normalizeH="0" baseline="0" dirty="0">
              <a:ln w="0">
                <a:solidFill>
                  <a:schemeClr val="tx1"/>
                </a:solidFill>
              </a:ln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B386E-5FF5-9770-CB93-2554D1B3345A}"/>
              </a:ext>
            </a:extLst>
          </p:cNvPr>
          <p:cNvSpPr txBox="1"/>
          <p:nvPr/>
        </p:nvSpPr>
        <p:spPr>
          <a:xfrm>
            <a:off x="3851920" y="1700808"/>
            <a:ext cx="396044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rgbClr val="0070C0"/>
                </a:solidFill>
                <a:latin typeface="+mn-ea"/>
                <a:ea typeface="+mn-ea"/>
              </a:rPr>
              <a:t>C++</a:t>
            </a:r>
          </a:p>
          <a:p>
            <a:pPr algn="ctr"/>
            <a:endParaRPr lang="en-US" altLang="ko-KR" sz="1600" b="1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객체지향</a:t>
            </a:r>
            <a:endParaRPr lang="en-US" altLang="ko-KR" sz="2800" b="1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일반화</a:t>
            </a:r>
            <a:r>
              <a:rPr lang="en-US" altLang="ko-KR" sz="2800" b="1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ko-KR" altLang="en-US" sz="2800" b="1" dirty="0" err="1">
                <a:solidFill>
                  <a:srgbClr val="0070C0"/>
                </a:solidFill>
                <a:latin typeface="+mn-ea"/>
                <a:ea typeface="+mn-ea"/>
              </a:rPr>
              <a:t>제너릭</a:t>
            </a:r>
            <a:r>
              <a:rPr lang="en-US" altLang="ko-KR" sz="2800" b="1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</a:p>
          <a:p>
            <a:pPr algn="ctr"/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함수형 표현</a:t>
            </a:r>
            <a:endParaRPr lang="en-US" altLang="ko-KR" sz="2800" b="1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방대한 </a:t>
            </a:r>
            <a:r>
              <a:rPr lang="en-US" altLang="ko-KR" sz="2800" b="1" dirty="0">
                <a:solidFill>
                  <a:srgbClr val="0070C0"/>
                </a:solidFill>
                <a:latin typeface="+mn-ea"/>
                <a:ea typeface="+mn-ea"/>
              </a:rPr>
              <a:t>STL</a:t>
            </a:r>
          </a:p>
          <a:p>
            <a:pPr algn="ctr"/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타입</a:t>
            </a:r>
            <a:r>
              <a:rPr lang="en-US" altLang="ko-KR" sz="2800" b="1" dirty="0">
                <a:solidFill>
                  <a:srgbClr val="0070C0"/>
                </a:solidFill>
                <a:latin typeface="+mn-ea"/>
                <a:ea typeface="+mn-ea"/>
              </a:rPr>
              <a:t>, </a:t>
            </a:r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추론</a:t>
            </a:r>
            <a:r>
              <a:rPr lang="en-US" altLang="ko-KR" sz="2800" b="1" dirty="0">
                <a:solidFill>
                  <a:srgbClr val="0070C0"/>
                </a:solidFill>
                <a:latin typeface="+mn-ea"/>
                <a:ea typeface="+mn-ea"/>
              </a:rPr>
              <a:t>, </a:t>
            </a:r>
            <a:r>
              <a:rPr lang="ko-KR" altLang="en-US" sz="2800" b="1" dirty="0">
                <a:solidFill>
                  <a:srgbClr val="0070C0"/>
                </a:solidFill>
                <a:latin typeface="+mn-ea"/>
                <a:ea typeface="+mn-ea"/>
              </a:rPr>
              <a:t>안정성</a:t>
            </a:r>
          </a:p>
        </p:txBody>
      </p:sp>
    </p:spTree>
    <p:extLst>
      <p:ext uri="{BB962C8B-B14F-4D97-AF65-F5344CB8AC3E}">
        <p14:creationId xmlns:p14="http://schemas.microsoft.com/office/powerpoint/2010/main" val="303646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26B8-C9D3-AD2F-C422-00DBD85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EF276-F482-E2C5-5A4E-EB991202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1.1.1 절차적 프로그래밍과 우수한 성능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EEAE8-AAA9-0C5D-053A-947947A9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20000"/>
              </a:lnSpc>
            </a:pPr>
            <a:r>
              <a:rPr lang="ko-KR" altLang="ko-KR" dirty="0"/>
              <a:t>C의 변수, 조건문, 반복문, 함수, 배열, 구조체, 포인터 활용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작은 함수를 조합하여 처리 과정 표현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간단하거나 성능이 중요한 코드에서 활용</a:t>
            </a:r>
            <a:endParaRPr lang="en-US" altLang="ko-KR" dirty="0"/>
          </a:p>
          <a:p>
            <a:pPr lvl="3">
              <a:lnSpc>
                <a:spcPct val="120000"/>
              </a:lnSpc>
            </a:pPr>
            <a:endParaRPr lang="ko-KR" altLang="ko-KR" dirty="0"/>
          </a:p>
          <a:p>
            <a:pPr>
              <a:lnSpc>
                <a:spcPct val="120000"/>
              </a:lnSpc>
            </a:pPr>
            <a:r>
              <a:rPr lang="ko-KR" altLang="ko-KR" dirty="0"/>
              <a:t>C++가 높은 성능을 얻을 수 있는 이유</a:t>
            </a:r>
          </a:p>
          <a:p>
            <a:pPr lvl="1">
              <a:lnSpc>
                <a:spcPct val="120000"/>
              </a:lnSpc>
            </a:pPr>
            <a:r>
              <a:rPr lang="ko-KR" altLang="ko-KR" dirty="0" err="1"/>
              <a:t>컴파일된</a:t>
            </a:r>
            <a:r>
              <a:rPr lang="ko-KR" altLang="ko-KR" dirty="0"/>
              <a:t> 코드의 네이티브 기계어 실행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메모리 배치와 객체 수명의 직접 제어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포인터와 참조를 이용한 데이터 직접 접근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스택과 동적 메모리의 목적에 따른 선택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사용하지 않는 기능에 대한 비용 배제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템플릿 기반 추상화의 컴파일 단계 최적화</a:t>
            </a:r>
          </a:p>
        </p:txBody>
      </p:sp>
    </p:spTree>
    <p:extLst>
      <p:ext uri="{BB962C8B-B14F-4D97-AF65-F5344CB8AC3E}">
        <p14:creationId xmlns:p14="http://schemas.microsoft.com/office/powerpoint/2010/main" val="198386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5A3B8-F560-2CAB-61C0-9307D59A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FB87E-AF4B-D2A1-5D60-8FE55DAC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1.1.1 절차적 프로그래밍과 우수한 성능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37B79-EE58-CC38-B721-D33041ABD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ko-KR" sz="3200" dirty="0"/>
              <a:t>제로 오버헤드 원칙</a:t>
            </a:r>
            <a:endParaRPr lang="en-US" altLang="ko-KR" sz="3200" dirty="0"/>
          </a:p>
          <a:p>
            <a:pPr lvl="1">
              <a:lnSpc>
                <a:spcPct val="150000"/>
              </a:lnSpc>
            </a:pPr>
            <a:r>
              <a:rPr lang="ko-KR" altLang="ko-KR" sz="2800" dirty="0"/>
              <a:t>사용하지 않는 기능에는 비용이 발생하지 않음</a:t>
            </a:r>
          </a:p>
          <a:p>
            <a:pPr lvl="1">
              <a:lnSpc>
                <a:spcPct val="150000"/>
              </a:lnSpc>
            </a:pPr>
            <a:r>
              <a:rPr lang="ko-KR" altLang="ko-KR" sz="2800" dirty="0"/>
              <a:t>더 안전하고 명확한 표현 사용</a:t>
            </a:r>
          </a:p>
          <a:p>
            <a:pPr lvl="1">
              <a:lnSpc>
                <a:spcPct val="150000"/>
              </a:lnSpc>
            </a:pPr>
            <a:r>
              <a:rPr lang="ko-KR" altLang="ko-KR" sz="2800" dirty="0"/>
              <a:t>불필요한 런타임 비용 최소화</a:t>
            </a:r>
            <a:endParaRPr lang="ko-KR" altLang="en-US" sz="3200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76CC8343-4E53-B7F6-5BA6-886F8423E2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101140"/>
              </p:ext>
            </p:extLst>
          </p:nvPr>
        </p:nvGraphicFramePr>
        <p:xfrm>
          <a:off x="5436096" y="2636912"/>
          <a:ext cx="3600400" cy="3863848"/>
        </p:xfrm>
        <a:graphic>
          <a:graphicData uri="http://schemas.openxmlformats.org/drawingml/2006/table">
            <a:tbl>
              <a:tblPr/>
              <a:tblGrid>
                <a:gridCol w="3600400">
                  <a:extLst>
                    <a:ext uri="{9D8B030D-6E8A-4147-A177-3AD203B41FA5}">
                      <a16:colId xmlns:a16="http://schemas.microsoft.com/office/drawing/2014/main" val="3717794197"/>
                    </a:ext>
                  </a:extLst>
                </a:gridCol>
              </a:tblGrid>
              <a:tr h="3816598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────────────┐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             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안전하고 명확한 추상화 사용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endParaRPr lang="en-US" altLang="ko-KR" sz="16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             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─────────┘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     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600" dirty="0"/>
                        <a:t>⬇️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─────────┐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             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  </a:t>
                      </a:r>
                      <a:r>
                        <a:rPr lang="ko-KR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컴파일 단계에서 코드 최적화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│</a:t>
                      </a:r>
                      <a:endParaRPr lang="en-US" altLang="ko-KR" sz="16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             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─────────┘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     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600" dirty="0"/>
                        <a:t>⬇️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─────────┐</a:t>
                      </a:r>
                      <a:endParaRPr lang="en-US" altLang="ko-KR" sz="16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             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ko-KR" sz="1600" b="1" i="0" u="none" strike="noStrike" dirty="0">
                          <a:solidFill>
                            <a:srgbClr val="7030A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불필요한 실행 시간 비용 최소화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endParaRPr lang="en-US" altLang="ko-KR" sz="16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             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</a:t>
                      </a:r>
                      <a:r>
                        <a:rPr lang="ko-KR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─────────┘</a:t>
                      </a:r>
                      <a:endParaRPr lang="ko-KR" sz="28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04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17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5AAA-C326-E73A-46FC-15F70853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2A413-1528-4318-8800-FF948AC7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1.1.1 절차적 프로그래밍과 우수한 성능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3D52E-0810-D45F-7D79-A35D63BD1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포인터와 원소 수를 이용한 배열 전달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667ADA-EAE4-FB21-6471-802265F205E6}"/>
              </a:ext>
            </a:extLst>
          </p:cNvPr>
          <p:cNvSpPr txBox="1"/>
          <p:nvPr/>
        </p:nvSpPr>
        <p:spPr>
          <a:xfrm>
            <a:off x="559966" y="1358766"/>
            <a:ext cx="6964362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SumLowLevel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50D1F-5B41-5F2A-C08B-EB5FBDF00FEA}"/>
              </a:ext>
            </a:extLst>
          </p:cNvPr>
          <p:cNvSpPr txBox="1"/>
          <p:nvPr/>
        </p:nvSpPr>
        <p:spPr>
          <a:xfrm>
            <a:off x="559966" y="4582433"/>
            <a:ext cx="6964362" cy="143885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배열의 시작 주소</a:t>
            </a:r>
            <a:r>
              <a:rPr lang="ko-KR" altLang="en-US" sz="2000" b="1" dirty="0">
                <a:solidFill>
                  <a:srgbClr val="000000"/>
                </a:solidFill>
                <a:latin typeface="+mn-ea"/>
                <a:ea typeface="+mn-ea"/>
              </a:rPr>
              <a:t>와 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원소 수를 별도의 인수로 전달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호출하는 쪽에서 두 값의 일치 여부 관리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배열 크기를 잘못 전달할 가능성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742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5C70-9D52-7BDE-2010-6ED26A0D0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AD857-D412-94CA-2853-2E37F35E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1.1.1 절차적 프로그래밍과 우수한 성능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826C1-20C1-DC53-009E-DC5068D1E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span을</a:t>
            </a:r>
            <a:r>
              <a:rPr lang="ko-KR" altLang="ko-KR" dirty="0"/>
              <a:t> 이용한 배열 전달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5E015-4731-F5C7-E7B0-B44E515E177E}"/>
              </a:ext>
            </a:extLst>
          </p:cNvPr>
          <p:cNvSpPr txBox="1"/>
          <p:nvPr/>
        </p:nvSpPr>
        <p:spPr>
          <a:xfrm>
            <a:off x="539750" y="1340768"/>
            <a:ext cx="6984578" cy="317009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9478-2558-CCE7-177F-2C4BAC64EE8F}"/>
              </a:ext>
            </a:extLst>
          </p:cNvPr>
          <p:cNvSpPr txBox="1"/>
          <p:nvPr/>
        </p:nvSpPr>
        <p:spPr>
          <a:xfrm>
            <a:off x="539750" y="4941168"/>
            <a:ext cx="6984578" cy="155427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시작 주소와 원소 수를 하나의 범위로 표현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배열을 전달하면 원소 수 자동 반영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원소를 복사하지 않음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새로운 저장 공간을 할당하지 않음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2397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45B8-5954-9721-5F12-EB7CF920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13309-605C-525A-DE77-6947BB12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1.1.1 절차적 프로그래밍과 우수한 성능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0805D4-8644-01F7-E6C8-D2267035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배열 전달 방식 비교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A2F1788-F4A4-0B24-640B-DD20077BB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621057"/>
              </p:ext>
            </p:extLst>
          </p:nvPr>
        </p:nvGraphicFramePr>
        <p:xfrm>
          <a:off x="395537" y="1426962"/>
          <a:ext cx="8353176" cy="4810351"/>
        </p:xfrm>
        <a:graphic>
          <a:graphicData uri="http://schemas.openxmlformats.org/drawingml/2006/table">
            <a:tbl>
              <a:tblPr/>
              <a:tblGrid>
                <a:gridCol w="2124717">
                  <a:extLst>
                    <a:ext uri="{9D8B030D-6E8A-4147-A177-3AD203B41FA5}">
                      <a16:colId xmlns:a16="http://schemas.microsoft.com/office/drawing/2014/main" val="2284650606"/>
                    </a:ext>
                  </a:extLst>
                </a:gridCol>
                <a:gridCol w="3444067">
                  <a:extLst>
                    <a:ext uri="{9D8B030D-6E8A-4147-A177-3AD203B41FA5}">
                      <a16:colId xmlns:a16="http://schemas.microsoft.com/office/drawing/2014/main" val="2423450699"/>
                    </a:ext>
                  </a:extLst>
                </a:gridCol>
                <a:gridCol w="2784392">
                  <a:extLst>
                    <a:ext uri="{9D8B030D-6E8A-4147-A177-3AD203B41FA5}">
                      <a16:colId xmlns:a16="http://schemas.microsoft.com/office/drawing/2014/main" val="3521697926"/>
                    </a:ext>
                  </a:extLst>
                </a:gridCol>
              </a:tblGrid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포인터와 원소 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span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13510"/>
                  </a:ext>
                </a:extLst>
              </a:tr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 매개변수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포인터와 개수</a:t>
                      </a:r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별도 전달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하나의 범위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로 전달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125726"/>
                  </a:ext>
                </a:extLst>
              </a:tr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원소 수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호출자가 직접 </a:t>
                      </a:r>
                      <a:r>
                        <a:rPr lang="ko-KR" altLang="en-US" sz="24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작성</a:t>
                      </a:r>
                      <a:endParaRPr lang="ko-KR" sz="40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배열에서 자동 결정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509864"/>
                  </a:ext>
                </a:extLst>
              </a:tr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데이터 복사</a:t>
                      </a:r>
                      <a:endParaRPr lang="ko-KR" sz="40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40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17174"/>
                  </a:ext>
                </a:extLst>
              </a:tr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추가</a:t>
                      </a:r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저장 공간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979630"/>
                  </a:ext>
                </a:extLst>
              </a:tr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 방법</a:t>
                      </a:r>
                      <a:endParaRPr lang="ko-KR" sz="40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두 인수의 일치 여부 관리</a:t>
                      </a:r>
                      <a:endParaRPr lang="ko-KR" sz="40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배열만 전달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04368"/>
                  </a:ext>
                </a:extLst>
              </a:tr>
              <a:tr h="687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오류 가능성</a:t>
                      </a:r>
                      <a:endParaRPr lang="ko-KR" sz="40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잘못된 원소 수 전달</a:t>
                      </a:r>
                      <a:endParaRPr lang="ko-KR" sz="4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원소 수 작성 불필요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26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7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07E6-D7ED-CA35-9EEE-24577B75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18C2D-5CB8-A872-9DEC-5782133C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1.1.1 절차적 프로그래밍과 우수한 성능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4146C3-B55A-6511-EC41-DECC082BD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F001B-5262-180D-CBE6-810DAFAEA53B}"/>
              </a:ext>
            </a:extLst>
          </p:cNvPr>
          <p:cNvSpPr txBox="1"/>
          <p:nvPr/>
        </p:nvSpPr>
        <p:spPr>
          <a:xfrm>
            <a:off x="251520" y="764704"/>
            <a:ext cx="8640960" cy="424731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SumLowLevel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[]{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lowLevelResult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SumLowLevel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spanResult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"포인터와 원소 수: "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lowLevelResult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spanResult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C5A2B2-3CE1-5AE0-A95E-C39B95F668A9}"/>
              </a:ext>
            </a:extLst>
          </p:cNvPr>
          <p:cNvSpPr/>
          <p:nvPr/>
        </p:nvSpPr>
        <p:spPr bwMode="auto">
          <a:xfrm>
            <a:off x="4572000" y="2636912"/>
            <a:ext cx="1440160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96C5B-0E1F-D230-4982-DC16D9A082B8}"/>
              </a:ext>
            </a:extLst>
          </p:cNvPr>
          <p:cNvSpPr txBox="1"/>
          <p:nvPr/>
        </p:nvSpPr>
        <p:spPr>
          <a:xfrm>
            <a:off x="267494" y="5183471"/>
            <a:ext cx="8624986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두 함수 모두 배열 원소의 합 계산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Sum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()은 배열 크기를 별도의 인수로 작성하지 않음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컴파일러가 최적화하면 비슷한 형태의 기계어로 변환 가능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178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2099-5EC3-ED42-8B0B-3AE5A3C9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0E576-F53F-39F1-7A54-FCA541EE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1.1.2 객체지향 프로그래밍과 유지보수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AB9BA3-B550-96ED-DC87-C370DAC59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Character</a:t>
            </a:r>
            <a:r>
              <a:rPr lang="ko-KR" altLang="ko-KR" dirty="0"/>
              <a:t> 클래스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E05D2-DC67-E9FA-F929-7D09EF7593A7}"/>
              </a:ext>
            </a:extLst>
          </p:cNvPr>
          <p:cNvSpPr txBox="1"/>
          <p:nvPr/>
        </p:nvSpPr>
        <p:spPr>
          <a:xfrm>
            <a:off x="565670" y="1376621"/>
            <a:ext cx="8029775" cy="501675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TakeDamage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E39A2-E28A-32FD-30CE-EDB1E789C7CB}"/>
              </a:ext>
            </a:extLst>
          </p:cNvPr>
          <p:cNvSpPr txBox="1"/>
          <p:nvPr/>
        </p:nvSpPr>
        <p:spPr>
          <a:xfrm>
            <a:off x="4348357" y="4034383"/>
            <a:ext cx="4248471" cy="236218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hp</a:t>
            </a: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: 객체의 상태</a:t>
            </a: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TakeDamage</a:t>
            </a: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(): 피해 처리 행위</a:t>
            </a: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GetHp</a:t>
            </a: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(): 현재 체력 조회</a:t>
            </a: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외부 코드에서 </a:t>
            </a:r>
            <a:r>
              <a:rPr lang="ko-KR" altLang="ko-KR" sz="2000" b="1" i="0" u="none" strike="noStrike" dirty="0" err="1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hp</a:t>
            </a: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 직접 변경 불가</a:t>
            </a: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TakeDamage</a:t>
            </a: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()</a:t>
            </a:r>
            <a:r>
              <a:rPr lang="ko-KR" altLang="ko-KR" sz="2000" b="1" i="0" u="none" strike="noStrike" dirty="0" err="1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를</a:t>
            </a:r>
            <a:r>
              <a:rPr lang="ko-KR" altLang="ko-KR" sz="20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+mn-ea"/>
                <a:ea typeface="+mn-ea"/>
              </a:rPr>
              <a:t> 통해 상태 변경</a:t>
            </a:r>
          </a:p>
        </p:txBody>
      </p:sp>
    </p:spTree>
    <p:extLst>
      <p:ext uri="{BB962C8B-B14F-4D97-AF65-F5344CB8AC3E}">
        <p14:creationId xmlns:p14="http://schemas.microsoft.com/office/powerpoint/2010/main" val="2507599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70BE1-1CC1-A93C-7D92-0EB95256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45ED0-D43C-85DA-06C4-A337A77D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1.1.2 객체지향 프로그래밍과 유지보수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0405D-7DDE-23F2-FEF4-663DD3ACD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객체지향 프로그래밍의 장점</a:t>
            </a:r>
          </a:p>
          <a:p>
            <a:pPr lvl="1"/>
            <a:r>
              <a:rPr lang="ko-KR" altLang="ko-KR" dirty="0"/>
              <a:t>데이터 변경 범위 제한</a:t>
            </a:r>
          </a:p>
          <a:p>
            <a:pPr lvl="1"/>
            <a:r>
              <a:rPr lang="ko-KR" altLang="ko-KR" dirty="0"/>
              <a:t>객체의 유효 상태 유지</a:t>
            </a:r>
          </a:p>
          <a:p>
            <a:pPr lvl="1"/>
            <a:r>
              <a:rPr lang="ko-KR" altLang="ko-KR" dirty="0"/>
              <a:t>관련 데이터와 기능 통합</a:t>
            </a:r>
          </a:p>
          <a:p>
            <a:pPr lvl="1"/>
            <a:r>
              <a:rPr lang="ko-KR" altLang="ko-KR" dirty="0"/>
              <a:t>역할과 책임에 따른 구조 분리</a:t>
            </a:r>
          </a:p>
          <a:p>
            <a:pPr lvl="1"/>
            <a:r>
              <a:rPr lang="ko-KR" altLang="ko-KR" dirty="0"/>
              <a:t>내부 구현 변경의 영향 최소화</a:t>
            </a:r>
          </a:p>
          <a:p>
            <a:pPr lvl="1"/>
            <a:r>
              <a:rPr lang="ko-KR" altLang="ko-KR" dirty="0"/>
              <a:t>기능별 개발 분담과 협업</a:t>
            </a:r>
          </a:p>
          <a:p>
            <a:r>
              <a:rPr lang="ko-KR" altLang="ko-KR" dirty="0"/>
              <a:t>주의</a:t>
            </a:r>
          </a:p>
          <a:p>
            <a:pPr lvl="1"/>
            <a:r>
              <a:rPr lang="ko-KR" altLang="ko-KR" dirty="0"/>
              <a:t>클래스를 많이 만드는 것이 목적이 아님</a:t>
            </a:r>
          </a:p>
          <a:p>
            <a:pPr lvl="1"/>
            <a:r>
              <a:rPr lang="ko-KR" altLang="ko-KR" dirty="0"/>
              <a:t>책임이 지나치게 많은 클래스, 깊은 상속 구조, 불필요한 추상화는 복잡성을 증가</a:t>
            </a:r>
          </a:p>
          <a:p>
            <a:pPr lvl="1"/>
            <a:r>
              <a:rPr lang="ko-KR" altLang="ko-KR" dirty="0"/>
              <a:t>변경되는 부분을 분리하고 객체 사이의 책임을 명확하게 구성</a:t>
            </a:r>
          </a:p>
        </p:txBody>
      </p:sp>
    </p:spTree>
    <p:extLst>
      <p:ext uri="{BB962C8B-B14F-4D97-AF65-F5344CB8AC3E}">
        <p14:creationId xmlns:p14="http://schemas.microsoft.com/office/powerpoint/2010/main" val="241320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5EFDA-B85B-6561-A13D-C3987B84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1.1.3 제네릭 프로그래밍과 표준 라이브러리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C008DC-8D68-3C7C-C2BD-AA089A4B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C++ 표준 라이브러리</a:t>
            </a:r>
          </a:p>
          <a:p>
            <a:pPr lvl="1"/>
            <a:r>
              <a:rPr lang="ko-KR" altLang="ko-KR" dirty="0"/>
              <a:t>문자열</a:t>
            </a:r>
            <a:r>
              <a:rPr lang="en-US" altLang="ko-KR" dirty="0"/>
              <a:t>, </a:t>
            </a:r>
            <a:r>
              <a:rPr lang="ko-KR" altLang="ko-KR" dirty="0"/>
              <a:t>자료구조</a:t>
            </a:r>
            <a:r>
              <a:rPr lang="en-US" altLang="ko-KR" dirty="0"/>
              <a:t>, </a:t>
            </a:r>
            <a:r>
              <a:rPr lang="ko-KR" altLang="ko-KR" dirty="0"/>
              <a:t>파일 입출력</a:t>
            </a:r>
            <a:r>
              <a:rPr lang="en-US" altLang="ko-KR" dirty="0"/>
              <a:t>, </a:t>
            </a:r>
            <a:r>
              <a:rPr lang="ko-KR" altLang="ko-KR" dirty="0"/>
              <a:t>시간</a:t>
            </a:r>
            <a:r>
              <a:rPr lang="en-US" altLang="ko-KR" dirty="0"/>
              <a:t>, </a:t>
            </a:r>
            <a:r>
              <a:rPr lang="ko-KR" altLang="ko-KR" dirty="0"/>
              <a:t>난수</a:t>
            </a:r>
            <a:r>
              <a:rPr lang="en-US" altLang="ko-KR" dirty="0"/>
              <a:t>, </a:t>
            </a:r>
            <a:r>
              <a:rPr lang="ko-KR" altLang="ko-KR" dirty="0"/>
              <a:t>메모리 관리</a:t>
            </a:r>
            <a:r>
              <a:rPr lang="en-US" altLang="ko-KR" dirty="0"/>
              <a:t> </a:t>
            </a:r>
            <a:r>
              <a:rPr lang="ko-KR" altLang="en-US" dirty="0"/>
              <a:t>제공</a:t>
            </a:r>
            <a:endParaRPr lang="en-US" altLang="ko-KR" dirty="0"/>
          </a:p>
          <a:p>
            <a:pPr lvl="1"/>
            <a:r>
              <a:rPr lang="ko-KR" altLang="en-US" dirty="0"/>
              <a:t>구현되고 검증된 자료구조와 </a:t>
            </a:r>
            <a:r>
              <a:rPr lang="ko-KR" altLang="ko-KR" dirty="0"/>
              <a:t>알고리즘</a:t>
            </a:r>
            <a:r>
              <a:rPr lang="en-US" altLang="ko-KR" dirty="0"/>
              <a:t> </a:t>
            </a:r>
            <a:r>
              <a:rPr lang="ko-KR" altLang="en-US" dirty="0"/>
              <a:t>활동</a:t>
            </a:r>
            <a:endParaRPr lang="en-US" altLang="ko-KR" dirty="0"/>
          </a:p>
          <a:p>
            <a:pPr lvl="1"/>
            <a:r>
              <a:rPr lang="ko-KR" altLang="en-US" dirty="0"/>
              <a:t>제작 프로그램의 핵심 기능 집중 </a:t>
            </a:r>
            <a:r>
              <a:rPr lang="ko-KR" altLang="en-US" dirty="0">
                <a:sym typeface="Wingdings" panose="05000000000000000000" pitchFamily="2" charset="2"/>
              </a:rPr>
              <a:t>→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ko-KR" dirty="0"/>
              <a:t>직접 구현해야 하는 코드 감소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DCF4DCF-E39F-D306-D659-144D2E5CA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545382"/>
              </p:ext>
            </p:extLst>
          </p:nvPr>
        </p:nvGraphicFramePr>
        <p:xfrm>
          <a:off x="794256" y="2788768"/>
          <a:ext cx="7987734" cy="3734328"/>
        </p:xfrm>
        <a:graphic>
          <a:graphicData uri="http://schemas.openxmlformats.org/drawingml/2006/table">
            <a:tbl>
              <a:tblPr/>
              <a:tblGrid>
                <a:gridCol w="3497332">
                  <a:extLst>
                    <a:ext uri="{9D8B030D-6E8A-4147-A177-3AD203B41FA5}">
                      <a16:colId xmlns:a16="http://schemas.microsoft.com/office/drawing/2014/main" val="4064171465"/>
                    </a:ext>
                  </a:extLst>
                </a:gridCol>
                <a:gridCol w="4490402">
                  <a:extLst>
                    <a:ext uri="{9D8B030D-6E8A-4147-A177-3AD203B41FA5}">
                      <a16:colId xmlns:a16="http://schemas.microsoft.com/office/drawing/2014/main" val="3045008409"/>
                    </a:ext>
                  </a:extLst>
                </a:gridCol>
              </a:tblGrid>
              <a:tr h="3676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컨테이너</a:t>
                      </a:r>
                      <a:endParaRPr lang="ko-KR" sz="2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2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34821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array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크기가 고정된 배열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51377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vector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크기가 변하는 연속 배열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156054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deque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앞과 뒤에서 원소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추가·제거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868832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list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연결 리스트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027795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map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정렬된 키와 값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6445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set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중복되지 않는 정렬된 값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432678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unordered_map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해시를 이용한 키와 값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34799"/>
                  </a:ext>
                </a:extLst>
              </a:tr>
              <a:tr h="3768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string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문자열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76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25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3734-8257-3DB0-CEBC-240C0447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45D4E6-00FE-CEF4-2C9E-65A796A0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1.1.3 제네릭 프로그래밍과 표준 라이브러리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2BFC6-7291-450A-C22B-FE7A2F359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>
                <a:solidFill>
                  <a:srgbClr val="0000FF"/>
                </a:solidFill>
              </a:rPr>
              <a:t>std</a:t>
            </a:r>
            <a:r>
              <a:rPr lang="ko-KR" altLang="ko-KR" dirty="0">
                <a:solidFill>
                  <a:srgbClr val="0000FF"/>
                </a:solidFill>
              </a:rPr>
              <a:t>::</a:t>
            </a:r>
            <a:r>
              <a:rPr lang="ko-KR" altLang="ko-KR" dirty="0" err="1">
                <a:solidFill>
                  <a:srgbClr val="0000FF"/>
                </a:solidFill>
              </a:rPr>
              <a:t>vector</a:t>
            </a:r>
            <a:r>
              <a:rPr lang="en-US" altLang="ko-KR" dirty="0"/>
              <a:t> </a:t>
            </a:r>
            <a:r>
              <a:rPr lang="ko-KR" altLang="ko-KR" dirty="0"/>
              <a:t>와 </a:t>
            </a:r>
            <a:r>
              <a:rPr lang="ko-KR" altLang="ko-KR" dirty="0" err="1">
                <a:solidFill>
                  <a:srgbClr val="0000FF"/>
                </a:solidFill>
              </a:rPr>
              <a:t>std</a:t>
            </a:r>
            <a:r>
              <a:rPr lang="ko-KR" altLang="ko-KR" dirty="0">
                <a:solidFill>
                  <a:srgbClr val="0000FF"/>
                </a:solidFill>
              </a:rPr>
              <a:t>::</a:t>
            </a:r>
            <a:r>
              <a:rPr lang="ko-KR" altLang="ko-KR" dirty="0" err="1">
                <a:solidFill>
                  <a:srgbClr val="0000FF"/>
                </a:solidFill>
              </a:rPr>
              <a:t>sort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7A59C-920B-9F17-314A-A9356C3EA085}"/>
              </a:ext>
            </a:extLst>
          </p:cNvPr>
          <p:cNvSpPr txBox="1"/>
          <p:nvPr/>
        </p:nvSpPr>
        <p:spPr>
          <a:xfrm>
            <a:off x="539750" y="1268760"/>
            <a:ext cx="8064698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algorithm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values.begin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values.end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1800" b="1" dirty="0" err="1">
                <a:solidFill>
                  <a:srgbClr val="C18401"/>
                </a:solidFill>
                <a:latin typeface="Consolas" panose="020B0609020204030204" pitchFamily="49" charset="0"/>
              </a:rPr>
              <a:t>std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::</a:t>
            </a:r>
            <a:r>
              <a:rPr lang="ko-KR" altLang="ko-KR" sz="1800" b="1" dirty="0" err="1">
                <a:solidFill>
                  <a:srgbClr val="C18401"/>
                </a:solidFill>
                <a:latin typeface="Consolas" panose="020B0609020204030204" pitchFamily="49" charset="0"/>
              </a:rPr>
              <a:t>cout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 &lt;&lt; </a:t>
            </a:r>
            <a:r>
              <a:rPr lang="ko-KR" altLang="ko-KR" sz="18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value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 &lt;&lt; </a:t>
            </a:r>
            <a:r>
              <a:rPr lang="ko-KR" altLang="ko-KR" sz="1800" b="1" dirty="0" err="1">
                <a:solidFill>
                  <a:srgbClr val="C18401"/>
                </a:solidFill>
                <a:latin typeface="Consolas" panose="020B0609020204030204" pitchFamily="49" charset="0"/>
              </a:rPr>
              <a:t>std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800" b="1" dirty="0" err="1">
                <a:solidFill>
                  <a:srgbClr val="C18401"/>
                </a:solidFill>
                <a:latin typeface="Consolas" panose="020B0609020204030204" pitchFamily="49" charset="0"/>
              </a:rPr>
              <a:t>endl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D2607-1D56-28E9-BE30-BB6F3B1D821B}"/>
              </a:ext>
            </a:extLst>
          </p:cNvPr>
          <p:cNvSpPr txBox="1"/>
          <p:nvPr/>
        </p:nvSpPr>
        <p:spPr>
          <a:xfrm>
            <a:off x="539651" y="5235813"/>
            <a:ext cx="8064697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std</a:t>
            </a:r>
            <a:r>
              <a:rPr lang="ko-KR" altLang="ko-KR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::</a:t>
            </a:r>
            <a:r>
              <a:rPr lang="ko-KR" altLang="ko-KR" sz="2000" b="1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vector</a:t>
            </a:r>
            <a:r>
              <a:rPr lang="ko-KR" altLang="ko-KR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: 데이터 저장 담당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std</a:t>
            </a:r>
            <a:r>
              <a:rPr lang="ko-KR" altLang="ko-KR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::</a:t>
            </a:r>
            <a:r>
              <a:rPr lang="ko-KR" altLang="ko-KR" sz="2000" b="1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sort</a:t>
            </a:r>
            <a:r>
              <a:rPr lang="ko-KR" altLang="ko-KR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: 정렬 담당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동적 배열을 직접 구현할 필요 없음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rPr>
              <a:t>정렬 알고리즘을 직접 구현할 필요 없음</a:t>
            </a:r>
          </a:p>
        </p:txBody>
      </p:sp>
    </p:spTree>
    <p:extLst>
      <p:ext uri="{BB962C8B-B14F-4D97-AF65-F5344CB8AC3E}">
        <p14:creationId xmlns:p14="http://schemas.microsoft.com/office/powerpoint/2010/main" val="3021628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5515-A27C-8903-6655-E97D3473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54695-DE5E-A8AB-6862-9AB4A7C8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1.1.4 정적 타입과 컴파일 타임 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399821-CB89-9BAA-3B06-B80DE4A1B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000" dirty="0"/>
              <a:t>변수와 표현식의 타입을 컴파일 시점에 결정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서로 대입할 수 없는 타입 검사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잘못된 함수 호출 검사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조건을 만족하지 않는 템플릿 사용 검사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실행 전에 오류 발견</a:t>
            </a:r>
            <a:endParaRPr lang="en-US" altLang="ko-KR" sz="2000" dirty="0"/>
          </a:p>
          <a:p>
            <a:pPr lvl="0">
              <a:lnSpc>
                <a:spcPct val="120000"/>
              </a:lnSpc>
            </a:pPr>
            <a:r>
              <a:rPr lang="ko-KR" altLang="en-US" sz="2000" dirty="0">
                <a:solidFill>
                  <a:srgbClr val="CC00CC"/>
                </a:solidFill>
              </a:rPr>
              <a:t>타입 추론</a:t>
            </a:r>
            <a:r>
              <a:rPr lang="ko-KR" altLang="en-US" sz="2000" dirty="0"/>
              <a:t>으로 컴파일러가 타입을 대신 결정</a:t>
            </a:r>
            <a:endParaRPr lang="ko-KR" altLang="ko-KR" sz="2000" dirty="0"/>
          </a:p>
          <a:p>
            <a:endParaRPr lang="ko-KR" altLang="en-US" sz="2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23F7D36-169C-0386-AF16-FF1E3836F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163934"/>
              </p:ext>
            </p:extLst>
          </p:nvPr>
        </p:nvGraphicFramePr>
        <p:xfrm>
          <a:off x="683568" y="3500021"/>
          <a:ext cx="7415861" cy="2997552"/>
        </p:xfrm>
        <a:graphic>
          <a:graphicData uri="http://schemas.openxmlformats.org/drawingml/2006/table">
            <a:tbl>
              <a:tblPr/>
              <a:tblGrid>
                <a:gridCol w="2732306">
                  <a:extLst>
                    <a:ext uri="{9D8B030D-6E8A-4147-A177-3AD203B41FA5}">
                      <a16:colId xmlns:a16="http://schemas.microsoft.com/office/drawing/2014/main" val="3808846060"/>
                    </a:ext>
                  </a:extLst>
                </a:gridCol>
                <a:gridCol w="4683555">
                  <a:extLst>
                    <a:ext uri="{9D8B030D-6E8A-4147-A177-3AD203B41FA5}">
                      <a16:colId xmlns:a16="http://schemas.microsoft.com/office/drawing/2014/main" val="3692008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52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nullptr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정수값</a:t>
                      </a: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 0과 널 포인터 구분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6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enum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열거형 값의 범위 제한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7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C++ 형 변환 연산자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변환 종류를 명확하게 표현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9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auto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초기값으로 타입 추론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460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decltype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표현식으로부터 타입 결정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7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151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2D06E-33A4-F95F-EA1E-5C90EE3E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1.1.4 정적 타입과 컴파일 타임 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A5548-643A-FDD7-057A-29F1539B7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C3090-AA50-7418-2937-82A402D7A524}"/>
              </a:ext>
            </a:extLst>
          </p:cNvPr>
          <p:cNvSpPr txBox="1"/>
          <p:nvPr/>
        </p:nvSpPr>
        <p:spPr>
          <a:xfrm>
            <a:off x="611560" y="882487"/>
            <a:ext cx="7704856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5FC92-597D-E64E-F3F9-34F6BB3207D0}"/>
              </a:ext>
            </a:extLst>
          </p:cNvPr>
          <p:cNvSpPr txBox="1"/>
          <p:nvPr/>
        </p:nvSpPr>
        <p:spPr>
          <a:xfrm>
            <a:off x="611560" y="3549668"/>
            <a:ext cx="7704856" cy="19005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constexpr: 값이나 함수를 상수 표현식으로 사용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static_assert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: 조건이 만족되지 않으면 컴파일 중단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constexpr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함수는 상황에 따라 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컴파일 시점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또는 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실행 시점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에 계산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반드시 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컴파일 시점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에 평가해야 하는 함수에는 </a:t>
            </a: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consteval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사용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350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B7D97-391A-4D45-4D82-168BE5A2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1.1.5 자원 관리와 RAII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CAA4EF-9EA6-DF8B-A76D-2711C73BE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sz="2400" dirty="0"/>
              <a:t>프로그램의 자원:</a:t>
            </a:r>
            <a:br>
              <a:rPr lang="en-US" altLang="ko-KR" sz="2400" dirty="0"/>
            </a:br>
            <a:r>
              <a:rPr lang="en-US" altLang="ko-KR" sz="2400" dirty="0"/>
              <a:t>    </a:t>
            </a:r>
            <a:r>
              <a:rPr lang="ko-KR" altLang="ko-KR" sz="2400" dirty="0"/>
              <a:t>메모리, 파일, 네트워크 연결, 잠금, 그래픽스 자원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자원은 사용이 끝난 시점에 정확하게 반환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RAII:</a:t>
            </a:r>
            <a:br>
              <a:rPr lang="en-US" altLang="ko-KR" sz="2400" dirty="0"/>
            </a:br>
            <a:r>
              <a:rPr lang="en-US" altLang="ko-KR" sz="2400" dirty="0"/>
              <a:t>    </a:t>
            </a:r>
            <a:r>
              <a:rPr lang="ko-KR" altLang="ko-KR" sz="2400" dirty="0"/>
              <a:t>객체의 생성과 소멸을 자원 관리에 연결</a:t>
            </a:r>
            <a:endParaRPr lang="ko-KR" altLang="ko-KR" dirty="0"/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30F59A9-E351-9FEA-FD04-6CF7C9EED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34992"/>
              </p:ext>
            </p:extLst>
          </p:nvPr>
        </p:nvGraphicFramePr>
        <p:xfrm>
          <a:off x="6012160" y="2636912"/>
          <a:ext cx="2952577" cy="3744714"/>
        </p:xfrm>
        <a:graphic>
          <a:graphicData uri="http://schemas.openxmlformats.org/drawingml/2006/table">
            <a:tbl>
              <a:tblPr/>
              <a:tblGrid>
                <a:gridCol w="2952577">
                  <a:extLst>
                    <a:ext uri="{9D8B030D-6E8A-4147-A177-3AD203B41FA5}">
                      <a16:colId xmlns:a16="http://schemas.microsoft.com/office/drawing/2014/main" val="3659271399"/>
                    </a:ext>
                  </a:extLst>
                </a:gridCol>
              </a:tblGrid>
              <a:tr h="3744714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──────────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─────┐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객체 생성   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────────┘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     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          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⬇️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┌───────────────────┐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자원 획득  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│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└───────────────────┘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   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    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⬇️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┌───────────────────┐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객체 사용   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└───────────────────┘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 ⬇️</a:t>
                      </a:r>
                      <a:b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┌───────────────────┐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객체 소멸   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└───────────────────┘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     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      </a:t>
                      </a: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⬇️</a:t>
                      </a:r>
                      <a:b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┌───────────────────┐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자원 반환</a:t>
                      </a:r>
                      <a:r>
                        <a:rPr lang="en-US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└───────────────────┘</a:t>
                      </a:r>
                      <a:endParaRPr lang="ko-KR" sz="2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68000" marR="324000" marT="0" marB="0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756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80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05DB-8CB7-CF29-B023-4F191030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69983-E9E2-5D1E-C1D0-92D30B49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1.1.5 자원 관리와 RAII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BFE9A4-2682-02E1-0F51-67204A163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57AF0-923B-C68D-A8F4-6B60DDEA3B73}"/>
              </a:ext>
            </a:extLst>
          </p:cNvPr>
          <p:cNvSpPr txBox="1"/>
          <p:nvPr/>
        </p:nvSpPr>
        <p:spPr>
          <a:xfrm>
            <a:off x="539750" y="4941168"/>
            <a:ext cx="7776666" cy="155427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std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::</a:t>
            </a: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unique_ptr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객체가 동적 메모리의 소유권 관리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함수가 정상 종료되거나 중간에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return되어도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자동 해제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예외가 발생해도 객체의 소멸 과정 유지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std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::</a:t>
            </a: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vector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std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::</a:t>
            </a:r>
            <a:r>
              <a:rPr lang="ko-KR" altLang="ko-KR" sz="2000" b="1" i="0" u="none" strike="noStrike" dirty="0" err="1">
                <a:solidFill>
                  <a:srgbClr val="0000FF"/>
                </a:solidFill>
                <a:effectLst/>
                <a:latin typeface="+mn-ea"/>
                <a:ea typeface="+mn-ea"/>
              </a:rPr>
              <a:t>string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스마트 포인터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도 </a:t>
            </a: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RAII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기반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B09DE-259B-CB62-950B-8F3237CDF3C8}"/>
              </a:ext>
            </a:extLst>
          </p:cNvPr>
          <p:cNvSpPr txBox="1"/>
          <p:nvPr/>
        </p:nvSpPr>
        <p:spPr>
          <a:xfrm>
            <a:off x="539750" y="822518"/>
            <a:ext cx="7776666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ProcessData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cancel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make_unique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[]&gt;(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cancel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2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+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}</a:t>
            </a:r>
            <a:endParaRPr lang="ko-KR" altLang="en-US" sz="16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0019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E6F3-91DE-1828-4794-8D670266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50AFD-B822-3596-A8D3-15A87F7C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1.1.6 여러 분야에서 사용되는 C++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38E92-97D0-97B3-1D65-5F122E2D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운영체제와 시스템 소프트웨어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게임 엔진과 실시간 콘텐츠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그래픽스와 렌더링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물리 및 과학 시뮬레이션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로봇과 자율주행 시스템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임베디드 시스템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금융 및 대규모 데이터 처리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데이터베이스와 네트워크 서버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웹 브라우저와 데스크톱 응용 프로그램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개발 도구와 콘텐츠 제작 도구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997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5D49-0906-D5CD-97CC-18F1F608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7EA56-1AD5-5FE6-8675-0A376428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 </a:t>
            </a:r>
            <a:r>
              <a:rPr lang="ko-KR" altLang="ko-KR" dirty="0" err="1"/>
              <a:t>C와</a:t>
            </a:r>
            <a:r>
              <a:rPr lang="ko-KR" altLang="ko-KR" dirty="0"/>
              <a:t> C++의 관계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ED7CF-A805-B096-55E2-423C7B4A7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20000"/>
              </a:lnSpc>
            </a:pPr>
            <a:r>
              <a:rPr lang="ko-KR" altLang="ko-KR" sz="2000" dirty="0" err="1"/>
              <a:t>C를</a:t>
            </a:r>
            <a:r>
              <a:rPr lang="ko-KR" altLang="ko-KR" sz="2000" dirty="0"/>
              <a:t> 기반으로 발전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변수, 연산자, 제어문, 함수, 배열, 구조체와 포인터를 상당 부분 계승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C 학습 경험을 바탕으로 C++ 학습 가능</a:t>
            </a:r>
            <a:br>
              <a:rPr lang="en-US" altLang="ko-KR" sz="2000" dirty="0"/>
            </a:br>
            <a:endParaRPr lang="ko-KR" altLang="ko-KR" sz="2000" dirty="0"/>
          </a:p>
          <a:p>
            <a:pPr>
              <a:lnSpc>
                <a:spcPct val="120000"/>
              </a:lnSpc>
            </a:pPr>
            <a:r>
              <a:rPr lang="ko-KR" altLang="ko-KR" sz="2400" dirty="0"/>
              <a:t>C++에서 확장된 기능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더 엄격한 타입 검사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참조와 이름 공간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함수 오버로딩과 기본 인수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클래스와 객체지향 프로그래밍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템플릿과 표준 라이브러리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 err="1"/>
              <a:t>RAII와</a:t>
            </a:r>
            <a:r>
              <a:rPr lang="ko-KR" altLang="ko-KR" sz="2000" dirty="0"/>
              <a:t> 스마트 포인터</a:t>
            </a:r>
          </a:p>
          <a:p>
            <a:pPr lvl="1">
              <a:lnSpc>
                <a:spcPct val="120000"/>
              </a:lnSpc>
            </a:pPr>
            <a:r>
              <a:rPr lang="ko-KR" altLang="ko-KR" sz="2000" dirty="0"/>
              <a:t>C++는 C에 클래스만 추가한 언어가 아님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38427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60CC-E343-7568-DE7A-14B7955E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376F3-EF54-E2D4-5D2A-50EF7A5A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1.2.1 타입을 이용한 안전한 입출력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DB8E3A-A235-3B93-E06E-2CDB35D01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입력 변수의 주소 전달</a:t>
            </a:r>
          </a:p>
          <a:p>
            <a:pPr lvl="0"/>
            <a:r>
              <a:rPr lang="ko-KR" altLang="ko-KR" sz="2400" dirty="0"/>
              <a:t>변수 타입에 맞는 형식 지정자 작성</a:t>
            </a:r>
          </a:p>
          <a:p>
            <a:pPr lvl="0"/>
            <a:r>
              <a:rPr lang="ko-KR" altLang="ko-KR" sz="2400" dirty="0"/>
              <a:t>주소 연산자나 형식 지정자를 잘못 사용하면 예상하지 못한 결과 발생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0543D-16E7-294D-2F88-EA4E6D26F53E}"/>
              </a:ext>
            </a:extLst>
          </p:cNvPr>
          <p:cNvSpPr txBox="1"/>
          <p:nvPr/>
        </p:nvSpPr>
        <p:spPr>
          <a:xfrm>
            <a:off x="539750" y="2321004"/>
            <a:ext cx="7992690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 방식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%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lf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%.1f\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716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8FDE-0F7C-D8C4-F2B9-EAF89E25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0A199-A50E-3208-CAED-44952FD8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1.2.1 타입을 이용한 안전한 입출력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CE637-2CA4-5FAD-A363-E2C8585FB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변수와 표현식의 타입에 따라 입출력 동작 선택</a:t>
            </a:r>
          </a:p>
          <a:p>
            <a:pPr lvl="0"/>
            <a:r>
              <a:rPr lang="ko-KR" altLang="ko-KR" dirty="0"/>
              <a:t>형식 지정자와 주소 연산자를 직접 작성하지 않음</a:t>
            </a:r>
            <a:endParaRPr lang="ko-KR" altLang="ko-KR" sz="2400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696DB-3285-F9AE-3F11-0B000037B0BF}"/>
              </a:ext>
            </a:extLst>
          </p:cNvPr>
          <p:cNvSpPr txBox="1"/>
          <p:nvPr/>
        </p:nvSpPr>
        <p:spPr>
          <a:xfrm>
            <a:off x="563760" y="1916832"/>
            <a:ext cx="6744543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// C++ 방식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iostream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main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using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using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0.0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"레벨과 이동 속도를 입력하세요: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Level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level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", 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Speed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}</a:t>
            </a:r>
            <a:endParaRPr lang="ko-KR" altLang="en-US" sz="40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413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2C3B-F68D-39F1-CFFD-5507CB3A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0A8A7-4C39-0274-0AB8-AD255969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1.2.1 타입을 이용한 안전한 입출력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1D40D1-82FF-E0C1-1B5C-6CEE35629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BBE60-0CBD-FE78-DC99-B6F1262D6851}"/>
              </a:ext>
            </a:extLst>
          </p:cNvPr>
          <p:cNvSpPr txBox="1"/>
          <p:nvPr/>
        </p:nvSpPr>
        <p:spPr>
          <a:xfrm>
            <a:off x="539749" y="797510"/>
            <a:ext cx="6552529" cy="31085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// 공백이 포함된 문자열 입력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iostream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string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using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namespace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main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string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"이름을 입력하세요: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getline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"입력한 이름: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}</a:t>
            </a:r>
            <a:endParaRPr lang="ko-KR" altLang="en-US" sz="32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476E4A6-BD74-EBFB-9284-5024894FC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30790"/>
              </p:ext>
            </p:extLst>
          </p:nvPr>
        </p:nvGraphicFramePr>
        <p:xfrm>
          <a:off x="539750" y="3998357"/>
          <a:ext cx="6552529" cy="2509872"/>
        </p:xfrm>
        <a:graphic>
          <a:graphicData uri="http://schemas.openxmlformats.org/drawingml/2006/table">
            <a:tbl>
              <a:tblPr/>
              <a:tblGrid>
                <a:gridCol w="2301738">
                  <a:extLst>
                    <a:ext uri="{9D8B030D-6E8A-4147-A177-3AD203B41FA5}">
                      <a16:colId xmlns:a16="http://schemas.microsoft.com/office/drawing/2014/main" val="3945353404"/>
                    </a:ext>
                  </a:extLst>
                </a:gridCol>
                <a:gridCol w="1670617">
                  <a:extLst>
                    <a:ext uri="{9D8B030D-6E8A-4147-A177-3AD203B41FA5}">
                      <a16:colId xmlns:a16="http://schemas.microsoft.com/office/drawing/2014/main" val="3619842227"/>
                    </a:ext>
                  </a:extLst>
                </a:gridCol>
                <a:gridCol w="2580174">
                  <a:extLst>
                    <a:ext uri="{9D8B030D-6E8A-4147-A177-3AD203B41FA5}">
                      <a16:colId xmlns:a16="http://schemas.microsoft.com/office/drawing/2014/main" val="1663288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C++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990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입력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scanf()</a:t>
                      </a:r>
                      <a:endParaRPr lang="ko-KR" sz="3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cin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885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printf()</a:t>
                      </a:r>
                      <a:endParaRPr lang="ko-KR" sz="3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cout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94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 지정자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직접 작성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타입에 따라 결정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0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변수 주소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직접 전달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사용하지 않음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32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한 줄 문자열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별도 처리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getline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02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678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E8C9-5AF3-3D8B-4825-6655D0DD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0B886-A7C0-4183-77C0-1CC0BD41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1.2.2 C 문법의 계승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A1231D-CDC0-D9AA-1A64-376FB1E20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dirty="0"/>
              <a:t>기본형 타입과 변수</a:t>
            </a:r>
          </a:p>
          <a:p>
            <a:pPr lvl="0">
              <a:lnSpc>
                <a:spcPct val="150000"/>
              </a:lnSpc>
            </a:pPr>
            <a:r>
              <a:rPr lang="ko-KR" altLang="ko-KR" dirty="0" err="1"/>
              <a:t>산술·관계·논리</a:t>
            </a:r>
            <a:r>
              <a:rPr lang="ko-KR" altLang="ko-KR" dirty="0"/>
              <a:t> 연산자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조건문과 반복문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함수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배열과 구조체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포인터와 함수 포인터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동적 메모리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파일 입출력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874118-0CAB-C71C-9098-FBDD4635E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73083"/>
              </p:ext>
            </p:extLst>
          </p:nvPr>
        </p:nvGraphicFramePr>
        <p:xfrm>
          <a:off x="5076056" y="764704"/>
          <a:ext cx="3672657" cy="3479800"/>
        </p:xfrm>
        <a:graphic>
          <a:graphicData uri="http://schemas.openxmlformats.org/drawingml/2006/table">
            <a:tbl>
              <a:tblPr/>
              <a:tblGrid>
                <a:gridCol w="3672657">
                  <a:extLst>
                    <a:ext uri="{9D8B030D-6E8A-4147-A177-3AD203B41FA5}">
                      <a16:colId xmlns:a16="http://schemas.microsoft.com/office/drawing/2014/main" val="15001753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Item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20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ko-KR" sz="20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32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20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hp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20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attack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20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Item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pItem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  <a:endParaRPr lang="ko-KR" sz="36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2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296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6372-22B9-4EE3-727B-86B8F1FB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800BE-5329-592F-DFD5-90E89BA2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1.2.2 C 문법의 계승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1B53E8-0ADC-9356-F92D-F24A9C53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C++ 구조체 타입 이름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"</a:t>
            </a:r>
            <a:r>
              <a:rPr lang="ko-KR" altLang="ko-KR" dirty="0" err="1">
                <a:solidFill>
                  <a:srgbClr val="0000FF"/>
                </a:solidFill>
              </a:rPr>
              <a:t>struct</a:t>
            </a:r>
            <a:r>
              <a:rPr lang="en-US" altLang="ko-KR" dirty="0">
                <a:solidFill>
                  <a:srgbClr val="0000FF"/>
                </a:solidFill>
              </a:rPr>
              <a:t>"</a:t>
            </a:r>
            <a:r>
              <a:rPr lang="ko-KR" altLang="ko-KR" dirty="0">
                <a:solidFill>
                  <a:srgbClr val="0000FF"/>
                </a:solidFill>
              </a:rPr>
              <a:t> </a:t>
            </a:r>
            <a:r>
              <a:rPr lang="ko-KR" altLang="en-US" dirty="0">
                <a:solidFill>
                  <a:srgbClr val="0000FF"/>
                </a:solidFill>
              </a:rPr>
              <a:t>키워드</a:t>
            </a:r>
            <a:r>
              <a:rPr lang="en-US" altLang="ko-KR" dirty="0"/>
              <a:t> </a:t>
            </a:r>
            <a:r>
              <a:rPr lang="ko-KR" altLang="ko-KR" dirty="0"/>
              <a:t>를 반복하지 않아도 됨</a:t>
            </a:r>
          </a:p>
          <a:p>
            <a:pPr lvl="1"/>
            <a:r>
              <a:rPr lang="ko-KR" altLang="ko-KR" dirty="0"/>
              <a:t>C 문법 사용</a:t>
            </a:r>
            <a:r>
              <a:rPr lang="en-US" altLang="ko-KR" dirty="0"/>
              <a:t> </a:t>
            </a:r>
            <a:r>
              <a:rPr lang="ko-KR" altLang="en-US" dirty="0"/>
              <a:t>가능하지만 </a:t>
            </a:r>
            <a:r>
              <a:rPr lang="ko-KR" altLang="ko-KR" dirty="0"/>
              <a:t>C++에 적합한 방식으로 확장</a:t>
            </a:r>
            <a:br>
              <a:rPr lang="ko-KR" altLang="ko-KR" b="0" dirty="0"/>
            </a:br>
            <a:endParaRPr lang="ko-KR" altLang="ko-KR" b="0" dirty="0"/>
          </a:p>
          <a:p>
            <a:endParaRPr lang="ko-KR" alt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3694F-3386-414E-E5DF-433677DE27CF}"/>
              </a:ext>
            </a:extLst>
          </p:cNvPr>
          <p:cNvSpPr txBox="1"/>
          <p:nvPr/>
        </p:nvSpPr>
        <p:spPr>
          <a:xfrm>
            <a:off x="539750" y="2523668"/>
            <a:ext cx="7992690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TakeDamage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20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character</a:t>
            </a:r>
            <a:r>
              <a:rPr lang="ko-KR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-&gt;</a:t>
            </a:r>
            <a:r>
              <a:rPr lang="ko-KR" altLang="ko-KR" sz="20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hp</a:t>
            </a:r>
            <a:r>
              <a:rPr lang="ko-KR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 -= </a:t>
            </a:r>
            <a:r>
              <a:rPr lang="ko-KR" altLang="ko-KR" sz="20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damage</a:t>
            </a:r>
            <a:r>
              <a:rPr lang="ko-KR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;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626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8AB0-F98B-50DC-7402-2279690D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549B0-3654-F758-73FD-CDF89C20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1.2.3 </a:t>
            </a:r>
            <a:r>
              <a:rPr lang="ko-KR" altLang="ko-KR" dirty="0" err="1"/>
              <a:t>C와</a:t>
            </a:r>
            <a:r>
              <a:rPr lang="ko-KR" altLang="ko-KR" dirty="0"/>
              <a:t> C++의 차이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DDE09-D193-F734-9855-59E18FB3A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</a:pPr>
            <a:r>
              <a:rPr lang="ko-KR" altLang="ko-KR" sz="2400" dirty="0"/>
              <a:t>이름 공간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참조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함수 오버로딩과 기본 인수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클래스와 접근 제어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생성자와 </a:t>
            </a:r>
            <a:r>
              <a:rPr lang="ko-KR" altLang="ko-KR" sz="2400" dirty="0" err="1"/>
              <a:t>소멸자</a:t>
            </a:r>
            <a:endParaRPr lang="ko-KR" altLang="ko-KR" sz="2400" dirty="0"/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상속과 </a:t>
            </a:r>
            <a:r>
              <a:rPr lang="ko-KR" altLang="ko-KR" sz="2400" dirty="0" err="1"/>
              <a:t>다형성</a:t>
            </a:r>
            <a:endParaRPr lang="ko-KR" altLang="ko-KR" sz="2400" dirty="0"/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예외 처리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템플릿과 템플릿 인수 추론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 err="1"/>
              <a:t>RAII와</a:t>
            </a:r>
            <a:r>
              <a:rPr lang="ko-KR" altLang="ko-KR" sz="2400" dirty="0"/>
              <a:t> 스마트 포인터</a:t>
            </a:r>
          </a:p>
          <a:p>
            <a:pPr lvl="0">
              <a:lnSpc>
                <a:spcPct val="110000"/>
              </a:lnSpc>
            </a:pPr>
            <a:r>
              <a:rPr lang="ko-KR" altLang="ko-KR" sz="2400" dirty="0" err="1"/>
              <a:t>auto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decltype</a:t>
            </a:r>
            <a:r>
              <a:rPr lang="ko-KR" altLang="ko-KR" sz="2400" dirty="0"/>
              <a:t>, nullptr, enum </a:t>
            </a:r>
            <a:r>
              <a:rPr lang="ko-KR" altLang="ko-KR" sz="2400" dirty="0" err="1"/>
              <a:t>class</a:t>
            </a:r>
            <a:endParaRPr lang="ko-KR" altLang="ko-KR" sz="2400" dirty="0"/>
          </a:p>
          <a:p>
            <a:pPr lvl="0">
              <a:lnSpc>
                <a:spcPct val="110000"/>
              </a:lnSpc>
            </a:pPr>
            <a:r>
              <a:rPr lang="ko-KR" altLang="ko-KR" sz="2400" dirty="0"/>
              <a:t>람다 표현식과 </a:t>
            </a:r>
            <a:r>
              <a:rPr lang="ko-KR" altLang="ko-KR" sz="2400" dirty="0" err="1"/>
              <a:t>Ranges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ko-KR" sz="2400" dirty="0"/>
              <a:t>표준 라이브러리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46321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D46F-21D1-51DC-FFFF-AE14F128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EE0FE-FDEF-343E-C225-72A28B93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1.2.3 </a:t>
            </a:r>
            <a:r>
              <a:rPr lang="ko-KR" altLang="ko-KR" dirty="0" err="1"/>
              <a:t>C와</a:t>
            </a:r>
            <a:r>
              <a:rPr lang="ko-KR" altLang="ko-KR" dirty="0"/>
              <a:t> C++의 차이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D3399-8296-451C-A948-B2C3CCD90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C++는 C보다 엄격한 타입 검사</a:t>
            </a:r>
          </a:p>
          <a:p>
            <a:pPr lvl="0"/>
            <a:r>
              <a:rPr lang="ko-KR" altLang="ko-KR" dirty="0"/>
              <a:t>C의 모든 프로그램을 그대로 받아들이는 완전한 상위 호환 언어는 아님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B7933-35F5-FA1A-3326-38DDDEC1DF90}"/>
              </a:ext>
            </a:extLst>
          </p:cNvPr>
          <p:cNvSpPr txBox="1"/>
          <p:nvPr/>
        </p:nvSpPr>
        <p:spPr>
          <a:xfrm>
            <a:off x="467518" y="2828835"/>
            <a:ext cx="8208963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ko-KR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; // C++에서는 오류</a:t>
            </a:r>
            <a:b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ko-KR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4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1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E9D0-2719-6D2E-17A9-8DA64D97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5C7E-AEC2-03C8-6C5E-4CE9D97C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1.2.4 C++의 주요 키워드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32789E-B083-EA7C-8AA8-941F7C469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9131AFF-5A46-861B-5E17-8BDF5AE7C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083678"/>
              </p:ext>
            </p:extLst>
          </p:nvPr>
        </p:nvGraphicFramePr>
        <p:xfrm>
          <a:off x="323529" y="908720"/>
          <a:ext cx="8425184" cy="4680520"/>
        </p:xfrm>
        <a:graphic>
          <a:graphicData uri="http://schemas.openxmlformats.org/drawingml/2006/table">
            <a:tbl>
              <a:tblPr/>
              <a:tblGrid>
                <a:gridCol w="2013036">
                  <a:extLst>
                    <a:ext uri="{9D8B030D-6E8A-4147-A177-3AD203B41FA5}">
                      <a16:colId xmlns:a16="http://schemas.microsoft.com/office/drawing/2014/main" val="4142893555"/>
                    </a:ext>
                  </a:extLst>
                </a:gridCol>
                <a:gridCol w="6412148">
                  <a:extLst>
                    <a:ext uri="{9D8B030D-6E8A-4147-A177-3AD203B41FA5}">
                      <a16:colId xmlns:a16="http://schemas.microsoft.com/office/drawing/2014/main" val="2912800017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키워드</a:t>
                      </a:r>
                      <a:endParaRPr lang="ko-KR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993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논리값과 널 포인터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bool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true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false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nullptr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1201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이름과 타입 정의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namespace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using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class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typename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74836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객체와 접근 제어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public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protected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private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this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friend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51368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상속과 다형성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virtual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override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final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46411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템플릿과 타입 추론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template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auto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decltype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65666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 변환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static_cast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const_cast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reinterpret_cast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dynamic_cast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149204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예외 처리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try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catch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throw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noexcept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331058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컴파일 타임 처리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constexpr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consteval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constinit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static_assert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52673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메모리와 연산자</a:t>
                      </a:r>
                      <a:endParaRPr lang="ko-KR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new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operator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explicit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7992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15B9A8-5A2A-EB7F-9D39-B560F113ACE7}"/>
              </a:ext>
            </a:extLst>
          </p:cNvPr>
          <p:cNvSpPr txBox="1"/>
          <p:nvPr/>
        </p:nvSpPr>
        <p:spPr>
          <a:xfrm>
            <a:off x="323528" y="5805264"/>
            <a:ext cx="8425183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10; // 오류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();  // 오류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636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B453-D7F4-3771-DF23-3D8F2D35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76050-C801-5BA6-1C76-906E0E0FB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1.2.5 C++을 </a:t>
            </a:r>
            <a:r>
              <a:rPr lang="ko-KR" altLang="ko-KR" dirty="0" err="1"/>
              <a:t>C처럼만</a:t>
            </a:r>
            <a:r>
              <a:rPr lang="ko-KR" altLang="ko-KR" dirty="0"/>
              <a:t> 사용할 때의 한계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78A96-D737-6DB3-35B2-2189E0336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메모리 누수</a:t>
            </a:r>
            <a:r>
              <a:rPr lang="en-US" altLang="ko-KR" dirty="0"/>
              <a:t> / </a:t>
            </a:r>
            <a:r>
              <a:rPr lang="ko-KR" altLang="ko-KR" dirty="0" err="1"/>
              <a:t>댕글링</a:t>
            </a:r>
            <a:r>
              <a:rPr lang="ko-KR" altLang="ko-KR" dirty="0"/>
              <a:t> 포인터</a:t>
            </a:r>
          </a:p>
          <a:p>
            <a:pPr lvl="0"/>
            <a:r>
              <a:rPr lang="ko-KR" altLang="ko-KR" dirty="0"/>
              <a:t>배열 범위를 벗어난 접근</a:t>
            </a:r>
          </a:p>
          <a:p>
            <a:pPr lvl="0"/>
            <a:r>
              <a:rPr lang="ko-KR" altLang="ko-KR" dirty="0"/>
              <a:t>여러 함수가 같은 데이터를 변경하는 상태 관리 문제</a:t>
            </a:r>
          </a:p>
          <a:p>
            <a:pPr lvl="0"/>
            <a:r>
              <a:rPr lang="ko-KR" altLang="ko-KR" dirty="0"/>
              <a:t>자원의 소유자와 해제 책임 불분명</a:t>
            </a:r>
            <a:endParaRPr lang="en-US" altLang="ko-KR" dirty="0"/>
          </a:p>
          <a:p>
            <a:pPr lvl="0"/>
            <a:r>
              <a:rPr lang="ko-KR" altLang="ko-KR" dirty="0"/>
              <a:t>한 부분의 수정이 다른 부분에 미치는 영향</a:t>
            </a:r>
            <a:endParaRPr lang="en-US" altLang="ko-KR" dirty="0"/>
          </a:p>
          <a:p>
            <a:pPr lvl="2"/>
            <a:endParaRPr lang="ko-KR" altLang="ko-KR" dirty="0"/>
          </a:p>
          <a:p>
            <a:pPr lvl="0"/>
            <a:r>
              <a:rPr lang="ko-KR" altLang="ko-KR" dirty="0">
                <a:solidFill>
                  <a:srgbClr val="C00000"/>
                </a:solidFill>
              </a:rPr>
              <a:t>C++ 사용</a:t>
            </a:r>
            <a:r>
              <a:rPr lang="ko-KR" altLang="en-US" dirty="0">
                <a:solidFill>
                  <a:srgbClr val="C00000"/>
                </a:solidFill>
              </a:rPr>
              <a:t>으로 </a:t>
            </a:r>
            <a:r>
              <a:rPr lang="en-US" altLang="ko-KR" dirty="0">
                <a:solidFill>
                  <a:srgbClr val="C00000"/>
                </a:solidFill>
              </a:rPr>
              <a:t>C</a:t>
            </a:r>
            <a:r>
              <a:rPr lang="ko-KR" altLang="en-US" dirty="0">
                <a:solidFill>
                  <a:srgbClr val="C00000"/>
                </a:solidFill>
              </a:rPr>
              <a:t>의 </a:t>
            </a:r>
            <a:r>
              <a:rPr lang="ko-KR" altLang="ko-KR" dirty="0">
                <a:solidFill>
                  <a:srgbClr val="C00000"/>
                </a:solidFill>
              </a:rPr>
              <a:t>모든 오류가 자동으로 </a:t>
            </a:r>
            <a:r>
              <a:rPr lang="ko-KR" altLang="en-US" dirty="0">
                <a:solidFill>
                  <a:srgbClr val="C00000"/>
                </a:solidFill>
              </a:rPr>
              <a:t>수정되는 것 아님</a:t>
            </a:r>
            <a:endParaRPr lang="en-US" altLang="ko-KR" dirty="0">
              <a:solidFill>
                <a:srgbClr val="C00000"/>
              </a:solidFill>
            </a:endParaRPr>
          </a:p>
          <a:p>
            <a:pPr lvl="0"/>
            <a:r>
              <a:rPr lang="ko-KR" altLang="ko-KR" dirty="0"/>
              <a:t>클래스, RAII, 표준 컨테이너, 스마트 포인터와</a:t>
            </a:r>
            <a:br>
              <a:rPr lang="en-US" altLang="ko-KR" dirty="0"/>
            </a:br>
            <a:r>
              <a:rPr lang="ko-KR" altLang="ko-KR" dirty="0"/>
              <a:t>타입 시스템으로</a:t>
            </a:r>
            <a:r>
              <a:rPr lang="en-US" altLang="ko-KR" dirty="0"/>
              <a:t> </a:t>
            </a:r>
            <a:r>
              <a:rPr lang="ko-KR" altLang="en-US" dirty="0"/>
              <a:t>자원</a:t>
            </a:r>
            <a:r>
              <a:rPr lang="ko-KR" altLang="ko-KR" dirty="0"/>
              <a:t> </a:t>
            </a:r>
            <a:r>
              <a:rPr lang="ko-KR" altLang="ko-KR" dirty="0">
                <a:solidFill>
                  <a:srgbClr val="C00000"/>
                </a:solidFill>
              </a:rPr>
              <a:t>관리 범위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ko-KR" altLang="en-US" dirty="0">
                <a:solidFill>
                  <a:srgbClr val="C00000"/>
                </a:solidFill>
              </a:rPr>
              <a:t>축소</a:t>
            </a:r>
            <a:endParaRPr lang="ko-KR" altLang="ko-KR" dirty="0">
              <a:solidFill>
                <a:srgbClr val="C0000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3628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4596-F694-A05A-4B54-01E6C384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FF1CC-7507-E66B-DB2D-7EEFC1FD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1.2.5 C++을 </a:t>
            </a:r>
            <a:r>
              <a:rPr lang="ko-KR" altLang="ko-KR" dirty="0" err="1"/>
              <a:t>C처럼만</a:t>
            </a:r>
            <a:r>
              <a:rPr lang="ko-KR" altLang="ko-KR" dirty="0"/>
              <a:t> 사용할 때의 한계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45B91-88AA-8B36-6841-DD3AFF023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C++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vector가</a:t>
            </a:r>
            <a:r>
              <a:rPr lang="ko-KR" altLang="ko-KR" dirty="0"/>
              <a:t> 저장 공간과 원소 수를 함께 관리</a:t>
            </a:r>
          </a:p>
          <a:p>
            <a:pPr lvl="0"/>
            <a:r>
              <a:rPr lang="ko-KR" altLang="ko-KR" dirty="0"/>
              <a:t>객체의 수명이 끝나면 내부 메모리 자동 해제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293F0-5BBA-9F34-470A-C1F2AF8D691F}"/>
              </a:ext>
            </a:extLst>
          </p:cNvPr>
          <p:cNvSpPr txBox="1"/>
          <p:nvPr/>
        </p:nvSpPr>
        <p:spPr>
          <a:xfrm>
            <a:off x="539750" y="1785382"/>
            <a:ext cx="7920682" cy="477053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 방식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cstdlib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데이터 사용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C++ 방식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데이터 사용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28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D549-63AF-8659-A7D4-B5E3335E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DD11A-2717-D3CC-9A55-0AD9E609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1.3 C++의 기본형 타입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D497A8E1-6180-B59C-BEFC-F64AE837AA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108707"/>
              </p:ext>
            </p:extLst>
          </p:nvPr>
        </p:nvGraphicFramePr>
        <p:xfrm>
          <a:off x="586656" y="620687"/>
          <a:ext cx="6721648" cy="2101260"/>
        </p:xfrm>
        <a:graphic>
          <a:graphicData uri="http://schemas.openxmlformats.org/drawingml/2006/table">
            <a:tbl>
              <a:tblPr/>
              <a:tblGrid>
                <a:gridCol w="1897112">
                  <a:extLst>
                    <a:ext uri="{9D8B030D-6E8A-4147-A177-3AD203B41FA5}">
                      <a16:colId xmlns:a16="http://schemas.microsoft.com/office/drawing/2014/main" val="2339738075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816995601"/>
                    </a:ext>
                  </a:extLst>
                </a:gridCol>
              </a:tblGrid>
              <a:tr h="5253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분류</a:t>
                      </a:r>
                      <a:endParaRPr lang="ko-KR" sz="36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내용</a:t>
                      </a:r>
                      <a:endParaRPr lang="ko-KR" sz="36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02425"/>
                  </a:ext>
                </a:extLst>
              </a:tr>
              <a:tr h="5253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기본형 타입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언어가 직접 제공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696043"/>
                  </a:ext>
                </a:extLst>
              </a:tr>
              <a:tr h="5253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복합 타입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포인터, 참조, 배열, 함수 타입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91476"/>
                  </a:ext>
                </a:extLst>
              </a:tr>
              <a:tr h="5253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사용자 정의 타입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클래스, 구조체, 공용체, 열거형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7403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E900C8C-C8F9-ED3E-68C3-33A386424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173345"/>
              </p:ext>
            </p:extLst>
          </p:nvPr>
        </p:nvGraphicFramePr>
        <p:xfrm>
          <a:off x="586657" y="2776137"/>
          <a:ext cx="8162056" cy="3677198"/>
        </p:xfrm>
        <a:graphic>
          <a:graphicData uri="http://schemas.openxmlformats.org/drawingml/2006/table">
            <a:tbl>
              <a:tblPr/>
              <a:tblGrid>
                <a:gridCol w="1897111">
                  <a:extLst>
                    <a:ext uri="{9D8B030D-6E8A-4147-A177-3AD203B41FA5}">
                      <a16:colId xmlns:a16="http://schemas.microsoft.com/office/drawing/2014/main" val="1991068286"/>
                    </a:ext>
                  </a:extLst>
                </a:gridCol>
                <a:gridCol w="6264945">
                  <a:extLst>
                    <a:ext uri="{9D8B030D-6E8A-4147-A177-3AD203B41FA5}">
                      <a16:colId xmlns:a16="http://schemas.microsoft.com/office/drawing/2014/main" val="3357800860"/>
                    </a:ext>
                  </a:extLst>
                </a:gridCol>
              </a:tblGrid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기본형 분류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619698"/>
                  </a:ext>
                </a:extLst>
              </a:tr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논리형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bool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495240"/>
                  </a:ext>
                </a:extLst>
              </a:tr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문자형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wchar_t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char8_t, char16_t, char32_t</a:t>
                      </a:r>
                      <a:r>
                        <a:rPr 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등</a:t>
                      </a:r>
                      <a:endParaRPr lang="ko-KR" sz="3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808128"/>
                  </a:ext>
                </a:extLst>
              </a:tr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정수형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short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long과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unsigned</a:t>
                      </a:r>
                      <a:r>
                        <a:rPr lang="ko-K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형식</a:t>
                      </a:r>
                      <a:endParaRPr lang="ko-KR" sz="3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11230"/>
                  </a:ext>
                </a:extLst>
              </a:tr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부동소수점형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690154"/>
                  </a:ext>
                </a:extLst>
              </a:tr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빈 타입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void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454662"/>
                  </a:ext>
                </a:extLst>
              </a:tr>
              <a:tr h="525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널 포인터 타입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nullptr_t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308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071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C9C5-304A-B3F1-4BF5-FF3FC674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4565B-84EB-D359-9F46-C1E55961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1.3.2 정수형과 리터럴 접미사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779D07-886B-5B99-3DB3-97E2AC1C4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소문자 </a:t>
            </a:r>
            <a:r>
              <a:rPr lang="ko-KR" altLang="ko-KR" dirty="0" err="1"/>
              <a:t>l은</a:t>
            </a:r>
            <a:r>
              <a:rPr lang="ko-KR" altLang="ko-KR" dirty="0"/>
              <a:t> 숫자 1과 구분하기 어려우므로 대문자 </a:t>
            </a:r>
            <a:r>
              <a:rPr lang="ko-KR" altLang="ko-KR" dirty="0" err="1"/>
              <a:t>L</a:t>
            </a:r>
            <a:r>
              <a:rPr lang="ko-KR" altLang="ko-KR" dirty="0"/>
              <a:t> 권장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29A0B0-978C-7A2F-BFE7-25A47AD96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313889"/>
              </p:ext>
            </p:extLst>
          </p:nvPr>
        </p:nvGraphicFramePr>
        <p:xfrm>
          <a:off x="665658" y="1452463"/>
          <a:ext cx="7506741" cy="3141544"/>
        </p:xfrm>
        <a:graphic>
          <a:graphicData uri="http://schemas.openxmlformats.org/drawingml/2006/table">
            <a:tbl>
              <a:tblPr/>
              <a:tblGrid>
                <a:gridCol w="1505600">
                  <a:extLst>
                    <a:ext uri="{9D8B030D-6E8A-4147-A177-3AD203B41FA5}">
                      <a16:colId xmlns:a16="http://schemas.microsoft.com/office/drawing/2014/main" val="1032073919"/>
                    </a:ext>
                  </a:extLst>
                </a:gridCol>
                <a:gridCol w="4360220">
                  <a:extLst>
                    <a:ext uri="{9D8B030D-6E8A-4147-A177-3AD203B41FA5}">
                      <a16:colId xmlns:a16="http://schemas.microsoft.com/office/drawing/2014/main" val="3531835926"/>
                    </a:ext>
                  </a:extLst>
                </a:gridCol>
                <a:gridCol w="1640921">
                  <a:extLst>
                    <a:ext uri="{9D8B030D-6E8A-4147-A177-3AD203B41FA5}">
                      <a16:colId xmlns:a16="http://schemas.microsoft.com/office/drawing/2014/main" val="2206079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접미사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리터럴 타입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9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값을 표현할 수 있는 표준 정수형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006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부호 없는 정수형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r>
                        <a:rPr lang="ko-KR" sz="20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2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r>
                        <a:rPr lang="ko-KR" sz="20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6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 long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r>
                        <a:rPr lang="ko-KR" sz="20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LL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58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unsigned long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r>
                        <a:rPr lang="ko-KR" sz="20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UL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516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ULL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unsigned long long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r>
                        <a:rPr lang="ko-KR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ULL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663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04E0797-925D-16CF-3E4F-DA8EE6FCA63E}"/>
              </a:ext>
            </a:extLst>
          </p:cNvPr>
          <p:cNvSpPr txBox="1"/>
          <p:nvPr/>
        </p:nvSpPr>
        <p:spPr>
          <a:xfrm>
            <a:off x="665659" y="4927600"/>
            <a:ext cx="750674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short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smallValue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long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largeValue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1000</a:t>
            </a:r>
            <a:r>
              <a:rPr lang="ko-KR" altLang="ko-KR" sz="20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long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long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veryLargeValue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10000</a:t>
            </a:r>
            <a:r>
              <a:rPr lang="ko-KR" altLang="ko-KR" sz="20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LL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endParaRPr lang="ko-KR" altLang="en-US" sz="44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233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08DA-0C37-169B-1CD8-9F0D6021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96ACD-38CD-0391-4DB6-21EB32F2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1.3.2 정수형과 리터럴 접미사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6B31C-9B38-7BDC-9941-50DFE58BC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000" dirty="0"/>
              <a:t>2진수 </a:t>
            </a:r>
            <a:r>
              <a:rPr lang="ko-KR" altLang="ko-KR" sz="2000" dirty="0" err="1"/>
              <a:t>리터럴과</a:t>
            </a:r>
            <a:r>
              <a:rPr lang="ko-KR" altLang="ko-KR" sz="2000" dirty="0"/>
              <a:t> 고정 폭 정수형</a:t>
            </a:r>
            <a:endParaRPr lang="en-US" altLang="ko-KR" sz="2000" dirty="0"/>
          </a:p>
          <a:p>
            <a:r>
              <a:rPr lang="ko-KR" altLang="ko-KR" sz="2000" dirty="0"/>
              <a:t>C++14부터 </a:t>
            </a:r>
            <a:r>
              <a:rPr lang="ko-KR" altLang="ko-KR" sz="2000" dirty="0">
                <a:solidFill>
                  <a:srgbClr val="FF0000"/>
                </a:solidFill>
              </a:rPr>
              <a:t>0b</a:t>
            </a:r>
            <a:r>
              <a:rPr lang="ko-KR" altLang="ko-KR" sz="2000" dirty="0"/>
              <a:t>, </a:t>
            </a:r>
            <a:r>
              <a:rPr lang="ko-KR" altLang="ko-KR" sz="2000" dirty="0">
                <a:solidFill>
                  <a:srgbClr val="FF0000"/>
                </a:solidFill>
              </a:rPr>
              <a:t>0B</a:t>
            </a:r>
            <a:r>
              <a:rPr lang="ko-KR" altLang="ko-KR" sz="2000" dirty="0"/>
              <a:t> 접두사 사용</a:t>
            </a:r>
          </a:p>
          <a:p>
            <a:r>
              <a:rPr lang="ko-KR" altLang="ko-KR" sz="2000" dirty="0"/>
              <a:t>작은따옴표를 자릿수 구분자로 사용</a:t>
            </a:r>
          </a:p>
          <a:p>
            <a:r>
              <a:rPr lang="ko-KR" altLang="ko-KR" sz="2000" dirty="0"/>
              <a:t>정확한 비트 폭이 필요한 경우 &lt;</a:t>
            </a:r>
            <a:r>
              <a:rPr lang="ko-KR" altLang="ko-KR" sz="2000" dirty="0" err="1"/>
              <a:t>cstdint</a:t>
            </a:r>
            <a:r>
              <a:rPr lang="ko-KR" altLang="ko-KR" sz="2000" dirty="0"/>
              <a:t>&gt;의 고정 폭 정수형 사용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AF09FEE-B721-47F1-95DF-2A8554BD7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684057"/>
              </p:ext>
            </p:extLst>
          </p:nvPr>
        </p:nvGraphicFramePr>
        <p:xfrm>
          <a:off x="562620" y="2422426"/>
          <a:ext cx="6336506" cy="1799480"/>
        </p:xfrm>
        <a:graphic>
          <a:graphicData uri="http://schemas.openxmlformats.org/drawingml/2006/table">
            <a:tbl>
              <a:tblPr/>
              <a:tblGrid>
                <a:gridCol w="2142691">
                  <a:extLst>
                    <a:ext uri="{9D8B030D-6E8A-4147-A177-3AD203B41FA5}">
                      <a16:colId xmlns:a16="http://schemas.microsoft.com/office/drawing/2014/main" val="2210678468"/>
                    </a:ext>
                  </a:extLst>
                </a:gridCol>
                <a:gridCol w="4193815">
                  <a:extLst>
                    <a:ext uri="{9D8B030D-6E8A-4147-A177-3AD203B41FA5}">
                      <a16:colId xmlns:a16="http://schemas.microsoft.com/office/drawing/2014/main" val="352835847"/>
                    </a:ext>
                  </a:extLst>
                </a:gridCol>
              </a:tblGrid>
              <a:tr h="449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34089"/>
                  </a:ext>
                </a:extLst>
              </a:tr>
              <a:tr h="449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정수형, 최소 64비트 범위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43674"/>
                  </a:ext>
                </a:extLst>
              </a:tr>
              <a:tr h="449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::int64_t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정확히 64비트인 정수형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96645"/>
                  </a:ext>
                </a:extLst>
              </a:tr>
              <a:tr h="449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__int64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Microsoft 전용 비표준 타입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9197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5C74C1-7193-2084-0D67-79A358B0C403}"/>
              </a:ext>
            </a:extLst>
          </p:cNvPr>
          <p:cNvSpPr txBox="1"/>
          <p:nvPr/>
        </p:nvSpPr>
        <p:spPr>
          <a:xfrm>
            <a:off x="539750" y="4437112"/>
            <a:ext cx="6359376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0b1010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decimalValue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cstdint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fileSize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5000000000</a:t>
            </a:r>
            <a:r>
              <a:rPr lang="ko-KR" altLang="ko-KR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ULL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53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09F4-164E-4E29-B298-FDBD3001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777A9-D1D1-1A11-9E39-14FDB79C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1.3.3 논리형(</a:t>
            </a:r>
            <a:r>
              <a:rPr lang="ko-KR" altLang="ko-KR" dirty="0" err="1"/>
              <a:t>bool</a:t>
            </a:r>
            <a:r>
              <a:rPr lang="ko-KR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435F3-4650-9824-9CD7-627971D05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bool type</a:t>
            </a:r>
          </a:p>
          <a:p>
            <a:pPr lvl="1"/>
            <a:r>
              <a:rPr lang="ko-KR" altLang="en-US" dirty="0"/>
              <a:t>값</a:t>
            </a:r>
            <a:r>
              <a:rPr lang="en-US" altLang="ko-KR" dirty="0"/>
              <a:t>: true, false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95A7841-BE09-17D2-CB4C-58EC56181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045444"/>
              </p:ext>
            </p:extLst>
          </p:nvPr>
        </p:nvGraphicFramePr>
        <p:xfrm>
          <a:off x="539750" y="1772816"/>
          <a:ext cx="7056586" cy="2091560"/>
        </p:xfrm>
        <a:graphic>
          <a:graphicData uri="http://schemas.openxmlformats.org/drawingml/2006/table">
            <a:tbl>
              <a:tblPr/>
              <a:tblGrid>
                <a:gridCol w="3207419">
                  <a:extLst>
                    <a:ext uri="{9D8B030D-6E8A-4147-A177-3AD203B41FA5}">
                      <a16:colId xmlns:a16="http://schemas.microsoft.com/office/drawing/2014/main" val="577609205"/>
                    </a:ext>
                  </a:extLst>
                </a:gridCol>
                <a:gridCol w="3849167">
                  <a:extLst>
                    <a:ext uri="{9D8B030D-6E8A-4147-A177-3AD203B41FA5}">
                      <a16:colId xmlns:a16="http://schemas.microsoft.com/office/drawing/2014/main" val="1289967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변환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57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정수 0 →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bool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false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57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0이 아닌 정수 → bool</a:t>
                      </a:r>
                      <a:endParaRPr lang="ko-KR" sz="32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true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5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false → 정수</a:t>
                      </a:r>
                      <a:endParaRPr lang="ko-KR" sz="32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17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true → 정수</a:t>
                      </a:r>
                      <a:endParaRPr lang="ko-KR" sz="32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8281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BC999E2-1070-306C-DE22-CD5BEF95090B}"/>
              </a:ext>
            </a:extLst>
          </p:cNvPr>
          <p:cNvSpPr txBox="1"/>
          <p:nvPr/>
        </p:nvSpPr>
        <p:spPr>
          <a:xfrm>
            <a:off x="539750" y="4062551"/>
            <a:ext cx="7056586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조건의 의미를 직접 표현하기 위해 1대신 </a:t>
            </a:r>
            <a:r>
              <a:rPr lang="ko-KR" altLang="ko-KR" sz="2000" b="1" i="1" u="none" strike="noStrike" dirty="0" err="1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사용.</a:t>
            </a:r>
            <a:endParaRPr lang="ko-KR" altLang="ko-KR" sz="20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isAlive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&gt;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while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2000" b="1" i="0" u="none" strike="noStrike" dirty="0" err="1">
                <a:solidFill>
                  <a:srgbClr val="0184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반복 처리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4522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4D68-CA2F-B094-B433-754FB451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9218-8063-FCF6-2A6F-3B46601F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1.3.3 논리형(</a:t>
            </a:r>
            <a:r>
              <a:rPr lang="ko-KR" altLang="ko-KR" dirty="0" err="1"/>
              <a:t>bool</a:t>
            </a:r>
            <a:r>
              <a:rPr lang="ko-KR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122C0-6626-097A-DCD5-2BA70AA35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bool</a:t>
            </a:r>
            <a:r>
              <a:rPr lang="ko-KR" altLang="ko-KR" dirty="0"/>
              <a:t> 값 출력</a:t>
            </a:r>
          </a:p>
          <a:p>
            <a:pPr lvl="0"/>
            <a:r>
              <a:rPr lang="ko-KR" altLang="ko-KR" dirty="0" err="1"/>
              <a:t>cout은</a:t>
            </a:r>
            <a:r>
              <a:rPr lang="ko-KR" altLang="ko-KR" dirty="0"/>
              <a:t> 기본적으로 </a:t>
            </a:r>
            <a:r>
              <a:rPr lang="ko-KR" altLang="ko-KR" dirty="0" err="1"/>
              <a:t>bool</a:t>
            </a:r>
            <a:r>
              <a:rPr lang="ko-KR" altLang="ko-KR" dirty="0"/>
              <a:t> 값을 0과 1로 출력</a:t>
            </a:r>
          </a:p>
          <a:p>
            <a:pPr lvl="0"/>
            <a:r>
              <a:rPr lang="ko-KR" altLang="ko-KR" dirty="0" err="1">
                <a:solidFill>
                  <a:srgbClr val="CC00FF"/>
                </a:solidFill>
              </a:rPr>
              <a:t>std</a:t>
            </a:r>
            <a:r>
              <a:rPr lang="ko-KR" altLang="ko-KR" dirty="0">
                <a:solidFill>
                  <a:srgbClr val="CC00FF"/>
                </a:solidFill>
              </a:rPr>
              <a:t>::</a:t>
            </a:r>
            <a:r>
              <a:rPr lang="ko-KR" altLang="ko-KR" dirty="0" err="1">
                <a:solidFill>
                  <a:srgbClr val="CC00FF"/>
                </a:solidFill>
              </a:rPr>
              <a:t>boolalpha</a:t>
            </a:r>
            <a:r>
              <a:rPr lang="ko-KR" altLang="ko-KR" dirty="0" err="1"/>
              <a:t>를</a:t>
            </a:r>
            <a:r>
              <a:rPr lang="ko-KR" altLang="ko-KR" dirty="0"/>
              <a:t> 사용하면 </a:t>
            </a:r>
            <a:r>
              <a:rPr lang="ko-KR" altLang="ko-KR" dirty="0" err="1">
                <a:solidFill>
                  <a:srgbClr val="0000FF"/>
                </a:solidFill>
              </a:rPr>
              <a:t>false</a:t>
            </a:r>
            <a:r>
              <a:rPr lang="ko-KR" altLang="ko-KR" dirty="0"/>
              <a:t>, </a:t>
            </a:r>
            <a:r>
              <a:rPr lang="ko-KR" altLang="ko-KR" dirty="0" err="1">
                <a:solidFill>
                  <a:srgbClr val="0000FF"/>
                </a:solidFill>
              </a:rPr>
              <a:t>true</a:t>
            </a:r>
            <a:r>
              <a:rPr lang="ko-KR" altLang="ko-KR" dirty="0" err="1"/>
              <a:t>로</a:t>
            </a:r>
            <a:r>
              <a:rPr lang="ko-KR" altLang="ko-KR" dirty="0"/>
              <a:t> 출력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D866F-ADCD-B34E-4405-07F0F958E776}"/>
              </a:ext>
            </a:extLst>
          </p:cNvPr>
          <p:cNvSpPr txBox="1"/>
          <p:nvPr/>
        </p:nvSpPr>
        <p:spPr>
          <a:xfrm>
            <a:off x="539750" y="2492896"/>
            <a:ext cx="6784553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641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1FBC-1529-1AF5-010B-343003F0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5FFED-7FBB-6A92-3BA4-AB01C421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/>
              <a:t>1.3.4 확장된 문자형과 리터럴 접두사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8273C683-1303-99AA-BA0E-C5309E6AE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776799"/>
              </p:ext>
            </p:extLst>
          </p:nvPr>
        </p:nvGraphicFramePr>
        <p:xfrm>
          <a:off x="755576" y="758307"/>
          <a:ext cx="6408712" cy="2662272"/>
        </p:xfrm>
        <a:graphic>
          <a:graphicData uri="http://schemas.openxmlformats.org/drawingml/2006/table">
            <a:tbl>
              <a:tblPr/>
              <a:tblGrid>
                <a:gridCol w="1265918">
                  <a:extLst>
                    <a:ext uri="{9D8B030D-6E8A-4147-A177-3AD203B41FA5}">
                      <a16:colId xmlns:a16="http://schemas.microsoft.com/office/drawing/2014/main" val="109898548"/>
                    </a:ext>
                  </a:extLst>
                </a:gridCol>
                <a:gridCol w="1720858">
                  <a:extLst>
                    <a:ext uri="{9D8B030D-6E8A-4147-A177-3AD203B41FA5}">
                      <a16:colId xmlns:a16="http://schemas.microsoft.com/office/drawing/2014/main" val="1094816787"/>
                    </a:ext>
                  </a:extLst>
                </a:gridCol>
                <a:gridCol w="3421936">
                  <a:extLst>
                    <a:ext uri="{9D8B030D-6E8A-4147-A177-3AD203B41FA5}">
                      <a16:colId xmlns:a16="http://schemas.microsoft.com/office/drawing/2014/main" val="3657526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표기</a:t>
                      </a:r>
                      <a:endParaRPr lang="ko-KR" sz="1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1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sz="1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6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문자 코드 단위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9900FF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wchar_t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와이드 문자 코드 단위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40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9900FF"/>
                          </a:solidFill>
                          <a:effectLst/>
                          <a:latin typeface="Arial" panose="020B0604020202020204" pitchFamily="34" charset="0"/>
                        </a:rPr>
                        <a:t>u8</a:t>
                      </a: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char8_t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UTF-8 코드 단위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91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9900FF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char16_t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UTF-16 코드 단위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20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9900FF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char32_t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UTF-32 코드 단위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97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138782-D7F1-FF1D-D412-05017060F7DA}"/>
              </a:ext>
            </a:extLst>
          </p:cNvPr>
          <p:cNvSpPr txBox="1"/>
          <p:nvPr/>
        </p:nvSpPr>
        <p:spPr>
          <a:xfrm>
            <a:off x="755576" y="4077072"/>
            <a:ext cx="6408712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asciiCharacter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wchar_t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wideCharacter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L'A'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char8_t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utf8Character =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u8'A'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char16_t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utf16Character = 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u'A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char32_t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utf32Character =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U'A'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693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24B3-845E-AA02-410B-7F83B90D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01C10-8A9D-783A-A0F0-FDFBC116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/>
              <a:t>1.3.5 부동소수점형의 종류와 접미사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4D45A-821A-FAC3-221E-30869E8B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C와</a:t>
            </a:r>
            <a:r>
              <a:rPr lang="ko-KR" altLang="ko-KR" dirty="0"/>
              <a:t> 동일</a:t>
            </a:r>
            <a:endParaRPr lang="en-US" altLang="ko-KR" dirty="0"/>
          </a:p>
          <a:p>
            <a:pPr lvl="0"/>
            <a:r>
              <a:rPr lang="ko-KR" altLang="ko-KR" dirty="0"/>
              <a:t>접미사가 없으면 기본적으로 </a:t>
            </a:r>
            <a:r>
              <a:rPr lang="ko-KR" altLang="ko-KR" dirty="0" err="1"/>
              <a:t>double</a:t>
            </a:r>
            <a:endParaRPr lang="ko-KR" altLang="ko-KR" dirty="0"/>
          </a:p>
          <a:p>
            <a:pPr lvl="0"/>
            <a:r>
              <a:rPr lang="ko-KR" altLang="ko-KR" dirty="0" err="1"/>
              <a:t>long</a:t>
            </a:r>
            <a:r>
              <a:rPr lang="ko-KR" altLang="ko-KR" dirty="0"/>
              <a:t> </a:t>
            </a:r>
            <a:r>
              <a:rPr lang="ko-KR" altLang="ko-KR" dirty="0" err="1"/>
              <a:t>double에는</a:t>
            </a:r>
            <a:r>
              <a:rPr lang="ko-KR" altLang="ko-KR" dirty="0"/>
              <a:t> 대문자 </a:t>
            </a:r>
            <a:r>
              <a:rPr lang="ko-KR" altLang="ko-KR" dirty="0" err="1"/>
              <a:t>L</a:t>
            </a:r>
            <a:r>
              <a:rPr lang="ko-KR" altLang="ko-KR" dirty="0"/>
              <a:t> 권장</a:t>
            </a:r>
          </a:p>
          <a:p>
            <a:pPr lvl="0"/>
            <a:r>
              <a:rPr lang="ko-KR" altLang="ko-KR" dirty="0"/>
              <a:t>일부 실수는 근사값으로 저장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DA2500A-588B-28CA-B701-AC6EA1B42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848065"/>
              </p:ext>
            </p:extLst>
          </p:nvPr>
        </p:nvGraphicFramePr>
        <p:xfrm>
          <a:off x="611560" y="2924944"/>
          <a:ext cx="4935216" cy="1764688"/>
        </p:xfrm>
        <a:graphic>
          <a:graphicData uri="http://schemas.openxmlformats.org/drawingml/2006/table">
            <a:tbl>
              <a:tblPr/>
              <a:tblGrid>
                <a:gridCol w="1095289">
                  <a:extLst>
                    <a:ext uri="{9D8B030D-6E8A-4147-A177-3AD203B41FA5}">
                      <a16:colId xmlns:a16="http://schemas.microsoft.com/office/drawing/2014/main" val="1142615003"/>
                    </a:ext>
                  </a:extLst>
                </a:gridCol>
                <a:gridCol w="1919964">
                  <a:extLst>
                    <a:ext uri="{9D8B030D-6E8A-4147-A177-3AD203B41FA5}">
                      <a16:colId xmlns:a16="http://schemas.microsoft.com/office/drawing/2014/main" val="3498784789"/>
                    </a:ext>
                  </a:extLst>
                </a:gridCol>
                <a:gridCol w="1919963">
                  <a:extLst>
                    <a:ext uri="{9D8B030D-6E8A-4147-A177-3AD203B41FA5}">
                      <a16:colId xmlns:a16="http://schemas.microsoft.com/office/drawing/2014/main" val="3681376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접미사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리터럴 타입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27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3.5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9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 또는 F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3.5</a:t>
                      </a:r>
                      <a:r>
                        <a:rPr lang="ko-KR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endParaRPr lang="ko-KR" sz="36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4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또는 L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3.5</a:t>
                      </a:r>
                      <a:r>
                        <a:rPr lang="ko-KR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  <a:endParaRPr lang="ko-KR" sz="36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3319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A2F454-B0A0-7BD4-BB13-DE139D7D0C55}"/>
              </a:ext>
            </a:extLst>
          </p:cNvPr>
          <p:cNvSpPr txBox="1"/>
          <p:nvPr/>
        </p:nvSpPr>
        <p:spPr>
          <a:xfrm>
            <a:off x="630584" y="5106248"/>
            <a:ext cx="7541815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3.5f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distance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1250.75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extendedPi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3.1415926535897932384626433832795</a:t>
            </a:r>
            <a:r>
              <a:rPr lang="ko-KR" altLang="ko-KR" sz="1800" b="1" i="0" u="none" strike="noStrike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lightSpeed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2.99792458</a:t>
            </a:r>
            <a:r>
              <a:rPr lang="ko-KR" altLang="ko-KR" sz="1800" b="1" i="0" u="none" strike="noStrike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epsilon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1.0</a:t>
            </a:r>
            <a:r>
              <a:rPr lang="ko-KR" altLang="ko-KR" sz="1800" b="1" i="0" u="none" strike="noStrike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-6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6934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12CC-4322-2B9D-412B-802C150F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4EA33-46FF-5A9E-26B9-3D64CC5E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/>
              <a:t>1.3.6 </a:t>
            </a:r>
            <a:r>
              <a:rPr lang="ko-KR" altLang="ko-KR" b="0" dirty="0" err="1"/>
              <a:t>void</a:t>
            </a:r>
            <a:r>
              <a:rPr lang="ko-KR" altLang="ko-KR" b="0" dirty="0"/>
              <a:t>, nullptr, </a:t>
            </a:r>
            <a:r>
              <a:rPr lang="ko-KR" altLang="ko-KR" b="0" dirty="0" err="1"/>
              <a:t>std</a:t>
            </a:r>
            <a:r>
              <a:rPr lang="ko-KR" altLang="ko-KR" b="0" dirty="0"/>
              <a:t>::</a:t>
            </a:r>
            <a:r>
              <a:rPr lang="ko-KR" altLang="ko-KR" b="0" dirty="0" err="1"/>
              <a:t>nullptr_t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D3C260-F971-C91E-0832-B949D3D83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void</a:t>
            </a:r>
            <a:endParaRPr lang="en-US" altLang="ko-KR" dirty="0"/>
          </a:p>
          <a:p>
            <a:pPr lvl="1"/>
            <a:r>
              <a:rPr lang="ko-KR" altLang="ko-KR" dirty="0"/>
              <a:t>값이 없음을 나타내는 타입</a:t>
            </a:r>
          </a:p>
          <a:p>
            <a:pPr lvl="1"/>
            <a:r>
              <a:rPr lang="ko-KR" altLang="ko-KR" dirty="0"/>
              <a:t>반환 타입에 사용하면 </a:t>
            </a:r>
            <a:r>
              <a:rPr lang="ko-KR" altLang="ko-KR" dirty="0" err="1"/>
              <a:t>반환값이</a:t>
            </a:r>
            <a:r>
              <a:rPr lang="ko-KR" altLang="ko-KR" dirty="0"/>
              <a:t> 없는 함수</a:t>
            </a:r>
          </a:p>
          <a:p>
            <a:pPr lvl="1"/>
            <a:r>
              <a:rPr lang="ko-KR" altLang="ko-KR" dirty="0"/>
              <a:t>C++에서 매개변수가 없는 함수는 빈 괄호 () 사용</a:t>
            </a:r>
          </a:p>
          <a:p>
            <a:pPr lvl="1"/>
            <a:r>
              <a:rPr lang="ko-KR" altLang="ko-KR" dirty="0" err="1"/>
              <a:t>void</a:t>
            </a:r>
            <a:r>
              <a:rPr lang="ko-KR" altLang="ko-KR" dirty="0"/>
              <a:t> 객체나 배열은 만들 수 없음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void</a:t>
            </a:r>
            <a:r>
              <a:rPr lang="ko-KR" altLang="ko-KR" dirty="0"/>
              <a:t>*</a:t>
            </a:r>
          </a:p>
          <a:p>
            <a:pPr lvl="1"/>
            <a:r>
              <a:rPr lang="ko-KR" altLang="ko-KR" dirty="0"/>
              <a:t>구체적인 객체 타입이 정해지지 않은 포인터</a:t>
            </a:r>
          </a:p>
          <a:p>
            <a:pPr lvl="1"/>
            <a:r>
              <a:rPr lang="ko-KR" altLang="ko-KR" dirty="0"/>
              <a:t>값을 사용하려면 원래 포인터 타입으로 변환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1ABF4-0E8E-6EBD-8A3C-74EB4BB23B4B}"/>
              </a:ext>
            </a:extLst>
          </p:cNvPr>
          <p:cNvSpPr txBox="1"/>
          <p:nvPr/>
        </p:nvSpPr>
        <p:spPr>
          <a:xfrm>
            <a:off x="4932040" y="2924944"/>
            <a:ext cx="3960440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PrintMessage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&lt;&lt;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Hello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&lt;&lt;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}</a:t>
            </a:r>
            <a:endParaRPr lang="ko-KR" altLang="en-US" sz="40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FF651-9C9D-FFDD-23AA-F81A3FC77B6B}"/>
              </a:ext>
            </a:extLst>
          </p:cNvPr>
          <p:cNvSpPr txBox="1"/>
          <p:nvPr/>
        </p:nvSpPr>
        <p:spPr>
          <a:xfrm>
            <a:off x="899592" y="5570656"/>
            <a:ext cx="302433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2392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50EB-C573-4D17-A6DA-CCD4BDDC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AB6A1-2BA2-E9B3-E0A1-689426D0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/>
              <a:t>1.3.6 </a:t>
            </a:r>
            <a:r>
              <a:rPr lang="ko-KR" altLang="ko-KR" b="0" dirty="0" err="1"/>
              <a:t>void</a:t>
            </a:r>
            <a:r>
              <a:rPr lang="ko-KR" altLang="ko-KR" b="0" dirty="0"/>
              <a:t>, nullptr, </a:t>
            </a:r>
            <a:r>
              <a:rPr lang="ko-KR" altLang="ko-KR" b="0" dirty="0" err="1"/>
              <a:t>std</a:t>
            </a:r>
            <a:r>
              <a:rPr lang="ko-KR" altLang="ko-KR" b="0" dirty="0"/>
              <a:t>::</a:t>
            </a:r>
            <a:r>
              <a:rPr lang="ko-KR" altLang="ko-KR" b="0" dirty="0" err="1"/>
              <a:t>nullptr_t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B2BBE8-8A58-CBF1-7EA0-1375EF7B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NULL Pointer</a:t>
            </a:r>
          </a:p>
          <a:p>
            <a:pPr lvl="1"/>
            <a:r>
              <a:rPr lang="ko-KR" altLang="ko-KR" sz="2000" dirty="0"/>
              <a:t>기존 코드에서는 0이나 NULL 사용</a:t>
            </a:r>
            <a:endParaRPr lang="ko-KR" altLang="ko-KR" dirty="0"/>
          </a:p>
          <a:p>
            <a:pPr lvl="1"/>
            <a:r>
              <a:rPr lang="ko-KR" altLang="ko-KR" sz="2000" dirty="0"/>
              <a:t>C++11부터 널 포인터를 명확하게 표현하는 nullptr 제공</a:t>
            </a:r>
            <a:endParaRPr lang="ko-KR" altLang="ko-KR" dirty="0"/>
          </a:p>
          <a:p>
            <a:pPr lvl="1"/>
            <a:r>
              <a:rPr lang="ko-KR" altLang="ko-KR" sz="2000" dirty="0"/>
              <a:t>새 C++ 코드에서는 nullptr 사용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nullptr_t</a:t>
            </a:r>
            <a:r>
              <a:rPr lang="ko-KR" altLang="ko-KR" sz="2400" dirty="0"/>
              <a:t>: </a:t>
            </a:r>
            <a:r>
              <a:rPr lang="ko-KR" altLang="ko-KR" sz="2400" dirty="0" err="1"/>
              <a:t>nullptr의</a:t>
            </a:r>
            <a:r>
              <a:rPr lang="ko-KR" altLang="ko-KR" sz="2400" dirty="0"/>
              <a:t> 타입</a:t>
            </a:r>
            <a:endParaRPr lang="ko-KR" altLang="ko-KR" dirty="0"/>
          </a:p>
          <a:p>
            <a:pPr lvl="1"/>
            <a:r>
              <a:rPr lang="ko-KR" altLang="ko-KR" sz="2000" dirty="0"/>
              <a:t>함수 오버로딩이나 템플릿에서 nullptr 자체를 구분할 때 활용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C9491-534D-8A48-5031-82707BB5D129}"/>
              </a:ext>
            </a:extLst>
          </p:cNvPr>
          <p:cNvSpPr txBox="1"/>
          <p:nvPr/>
        </p:nvSpPr>
        <p:spPr>
          <a:xfrm>
            <a:off x="947166" y="2420888"/>
            <a:ext cx="5497042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firstPointer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secondPointer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CC00CC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E43D8-87D3-4FC6-9C87-C1194D400206}"/>
              </a:ext>
            </a:extLst>
          </p:cNvPr>
          <p:cNvSpPr txBox="1"/>
          <p:nvPr/>
        </p:nvSpPr>
        <p:spPr>
          <a:xfrm>
            <a:off x="947166" y="5229200"/>
            <a:ext cx="5497042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2000" b="1" i="0" u="none" strike="noStrike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&lt;cstddef&gt;</a:t>
            </a:r>
            <a:br>
              <a:rPr lang="ko-KR" altLang="ko-KR" sz="20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nullptr_t</a:t>
            </a:r>
            <a:r>
              <a:rPr lang="ko-KR" altLang="ko-KR" sz="20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nullValue = </a:t>
            </a:r>
            <a:r>
              <a:rPr lang="ko-KR" altLang="ko-KR" sz="2000" b="1" i="0" u="none" strike="noStrike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20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579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5113-7D3E-6E93-7D9E-A317A8827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9BB83-3803-04AC-DB5A-82A9706E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 C++에서 추가된 편리한 문법과 기능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80D742-4AFB-0EC7-8579-8359D2B80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기존 C 문법 사용</a:t>
            </a:r>
            <a:r>
              <a:rPr lang="en-US" altLang="ko-KR" sz="2400" dirty="0"/>
              <a:t> </a:t>
            </a:r>
            <a:r>
              <a:rPr lang="ko-KR" altLang="en-US" sz="2400" dirty="0"/>
              <a:t>가능 →</a:t>
            </a:r>
            <a:r>
              <a:rPr lang="ko-KR" altLang="ko-KR" sz="2400" dirty="0"/>
              <a:t> 더 간결하고 명확한 작성 방법 제공</a:t>
            </a:r>
          </a:p>
          <a:p>
            <a:pPr lvl="0"/>
            <a:r>
              <a:rPr lang="ko-KR" altLang="ko-KR" sz="2400" dirty="0"/>
              <a:t>프로젝트에서 사용하는 C++ 표준 버전 확인 필요</a:t>
            </a:r>
          </a:p>
          <a:p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7C7749-211E-545E-050C-1221D906B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15901"/>
              </p:ext>
            </p:extLst>
          </p:nvPr>
        </p:nvGraphicFramePr>
        <p:xfrm>
          <a:off x="539750" y="1925424"/>
          <a:ext cx="7613228" cy="4240425"/>
        </p:xfrm>
        <a:graphic>
          <a:graphicData uri="http://schemas.openxmlformats.org/drawingml/2006/table">
            <a:tbl>
              <a:tblPr/>
              <a:tblGrid>
                <a:gridCol w="5472410">
                  <a:extLst>
                    <a:ext uri="{9D8B030D-6E8A-4147-A177-3AD203B41FA5}">
                      <a16:colId xmlns:a16="http://schemas.microsoft.com/office/drawing/2014/main" val="488980859"/>
                    </a:ext>
                  </a:extLst>
                </a:gridCol>
                <a:gridCol w="2140818">
                  <a:extLst>
                    <a:ext uri="{9D8B030D-6E8A-4147-A177-3AD203B41FA5}">
                      <a16:colId xmlns:a16="http://schemas.microsoft.com/office/drawing/2014/main" val="3864359162"/>
                    </a:ext>
                  </a:extLst>
                </a:gridCol>
              </a:tblGrid>
              <a:tr h="57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버전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04097"/>
                  </a:ext>
                </a:extLst>
              </a:tr>
              <a:tr h="6117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new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new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[],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[]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C++98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364689"/>
                  </a:ext>
                </a:extLst>
              </a:tr>
              <a:tr h="6117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조건에서 변수 선언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C++98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598293"/>
                  </a:ext>
                </a:extLst>
              </a:tr>
              <a:tr h="6117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범위 기반 </a:t>
                      </a:r>
                      <a:r>
                        <a:rPr lang="ko-KR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for문</a:t>
                      </a:r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US" alt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range for</a:t>
                      </a:r>
                      <a:r>
                        <a:rPr lang="en-US" alt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C++11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4919"/>
                  </a:ext>
                </a:extLst>
              </a:tr>
              <a:tr h="6117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random</a:t>
                      </a: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 난수 라이브러리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C++11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564626"/>
                  </a:ext>
                </a:extLst>
              </a:tr>
              <a:tr h="6117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if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switch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초기화 구문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C++17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203834"/>
                  </a:ext>
                </a:extLst>
              </a:tr>
              <a:tr h="6117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초기화 구문이 있는 범위 기반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for문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C++20</a:t>
                      </a:r>
                      <a:endParaRPr lang="ko-KR" sz="40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76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8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8516-543B-7E8B-C5A0-82858222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5F061-4FAC-54AF-0D5B-1C28BB53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1.4.1 </a:t>
            </a:r>
            <a:r>
              <a:rPr lang="ko-KR" altLang="ko-KR" dirty="0" err="1"/>
              <a:t>new</a:t>
            </a:r>
            <a:r>
              <a:rPr lang="en-US" altLang="ko-KR" dirty="0"/>
              <a:t> /</a:t>
            </a:r>
            <a:r>
              <a:rPr lang="ko-KR" altLang="ko-KR" dirty="0"/>
              <a:t> </a:t>
            </a:r>
            <a:r>
              <a:rPr lang="ko-KR" altLang="ko-KR" dirty="0" err="1"/>
              <a:t>delete</a:t>
            </a:r>
            <a:r>
              <a:rPr lang="ko-KR" altLang="ko-KR" dirty="0"/>
              <a:t> 동적 메모리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D9965-C2FD-F428-DD39-1F361B444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/>
              <a:t>한 개의</a:t>
            </a:r>
            <a:r>
              <a:rPr lang="en-US" altLang="ko-KR" sz="2400" dirty="0"/>
              <a:t> </a:t>
            </a:r>
            <a:r>
              <a:rPr lang="ko-KR" altLang="en-US" sz="2400" dirty="0"/>
              <a:t>인스턴스 → </a:t>
            </a:r>
            <a:r>
              <a:rPr lang="en-US" altLang="ko-KR" sz="2400" dirty="0"/>
              <a:t>new</a:t>
            </a:r>
          </a:p>
          <a:p>
            <a:pPr lvl="0"/>
            <a:r>
              <a:rPr lang="ko-KR" altLang="ko-KR" sz="2400" dirty="0"/>
              <a:t>객체 배열 생성</a:t>
            </a:r>
            <a:r>
              <a:rPr lang="ko-KR" altLang="en-US" sz="2400" dirty="0"/>
              <a:t> → </a:t>
            </a:r>
            <a:r>
              <a:rPr lang="ko-KR" altLang="ko-KR" sz="2400" dirty="0" err="1"/>
              <a:t>new</a:t>
            </a:r>
            <a:r>
              <a:rPr lang="ko-KR" altLang="ko-KR" sz="2400" dirty="0"/>
              <a:t>[]</a:t>
            </a:r>
          </a:p>
          <a:p>
            <a:pPr lvl="0"/>
            <a:r>
              <a:rPr lang="ko-KR" altLang="ko-KR" sz="2400" dirty="0"/>
              <a:t>()</a:t>
            </a:r>
            <a:r>
              <a:rPr lang="ko-KR" altLang="ko-KR" sz="2400" dirty="0" err="1"/>
              <a:t>를</a:t>
            </a:r>
            <a:r>
              <a:rPr lang="ko-KR" altLang="ko-KR" sz="2400" dirty="0"/>
              <a:t> 사용하면 모든 원소를 0으로 값 초기화</a:t>
            </a:r>
          </a:p>
          <a:p>
            <a:pPr lvl="0"/>
            <a:r>
              <a:rPr lang="ko-KR" altLang="ko-KR" sz="2400" dirty="0" err="1"/>
              <a:t>new</a:t>
            </a:r>
            <a:r>
              <a:rPr lang="en-US" altLang="ko-KR" sz="2400" dirty="0"/>
              <a:t>,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delete</a:t>
            </a:r>
            <a:r>
              <a:rPr lang="en-US" altLang="ko-KR" sz="2400" dirty="0"/>
              <a:t> </a:t>
            </a:r>
            <a:r>
              <a:rPr lang="ko-KR" altLang="en-US" sz="2400" dirty="0"/>
              <a:t>→</a:t>
            </a:r>
            <a:r>
              <a:rPr lang="ko-KR" altLang="ko-KR" sz="2400" dirty="0"/>
              <a:t> C++ 언어의 연산자</a:t>
            </a:r>
            <a:r>
              <a:rPr lang="en-US" altLang="ko-KR" sz="2400" dirty="0"/>
              <a:t> (</a:t>
            </a:r>
            <a:r>
              <a:rPr lang="ko-KR" altLang="en-US" sz="2400" dirty="0"/>
              <a:t>문법으로 지원</a:t>
            </a:r>
            <a:r>
              <a:rPr lang="en-US" altLang="ko-KR" sz="2400" dirty="0"/>
              <a:t>)</a:t>
            </a:r>
            <a:endParaRPr lang="ko-KR" altLang="ko-KR" sz="2400" dirty="0"/>
          </a:p>
          <a:p>
            <a:pPr lvl="0"/>
            <a:r>
              <a:rPr lang="ko-KR" altLang="ko-KR" sz="2400" dirty="0"/>
              <a:t>할당 실패 시 </a:t>
            </a: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bad_alloc</a:t>
            </a:r>
            <a:r>
              <a:rPr lang="ko-KR" altLang="ko-KR" sz="2400" dirty="0">
                <a:solidFill>
                  <a:srgbClr val="0000FF"/>
                </a:solidFill>
              </a:rPr>
              <a:t> </a:t>
            </a:r>
            <a:r>
              <a:rPr lang="ko-KR" altLang="ko-KR" sz="2400" dirty="0"/>
              <a:t>예외가 발생, </a:t>
            </a:r>
            <a:r>
              <a:rPr lang="ko-KR" altLang="ko-KR" sz="2400" dirty="0" err="1">
                <a:solidFill>
                  <a:srgbClr val="0000FF"/>
                </a:solidFill>
              </a:rPr>
              <a:t>try-catch</a:t>
            </a:r>
            <a:r>
              <a:rPr lang="ko-KR" altLang="ko-KR" sz="2400" dirty="0" err="1"/>
              <a:t>에서</a:t>
            </a:r>
            <a:r>
              <a:rPr lang="ko-KR" altLang="ko-KR" sz="2400" dirty="0"/>
              <a:t> 처리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E8BE9-FFBF-43C7-EE71-FAA69B9DE7ED}"/>
              </a:ext>
            </a:extLst>
          </p:cNvPr>
          <p:cNvSpPr txBox="1"/>
          <p:nvPr/>
        </p:nvSpPr>
        <p:spPr>
          <a:xfrm>
            <a:off x="286197" y="3284984"/>
            <a:ext cx="4357811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C방식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cstdlib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cstring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헤더파일 필요</a:t>
            </a:r>
            <a:endParaRPr lang="ko-KR" altLang="ko-KR" sz="16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cstdlib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cstring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malloc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sizeof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b="1" i="0" u="none" strike="noStrike" dirty="0">
              <a:solidFill>
                <a:srgbClr val="383A4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!= 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memset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free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8C9B3-2C77-CBD6-1D25-ED826603CE52}"/>
              </a:ext>
            </a:extLst>
          </p:cNvPr>
          <p:cNvSpPr txBox="1"/>
          <p:nvPr/>
        </p:nvSpPr>
        <p:spPr>
          <a:xfrm>
            <a:off x="5185395" y="3284984"/>
            <a:ext cx="3672408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C++</a:t>
            </a:r>
            <a:endParaRPr lang="ko-KR" altLang="ko-KR" sz="16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메모리 사용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delete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[]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endParaRPr lang="ko-KR" altLang="ko-KR" sz="16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5688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D9999-2C27-F6BC-4C78-F490171A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89CEF-FA9C-0BDA-EBEC-A37A6109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1.4.1 </a:t>
            </a:r>
            <a:r>
              <a:rPr lang="ko-KR" altLang="ko-KR" dirty="0" err="1"/>
              <a:t>new</a:t>
            </a:r>
            <a:r>
              <a:rPr lang="en-US" altLang="ko-KR" dirty="0"/>
              <a:t> /</a:t>
            </a:r>
            <a:r>
              <a:rPr lang="ko-KR" altLang="ko-KR" dirty="0"/>
              <a:t> </a:t>
            </a:r>
            <a:r>
              <a:rPr lang="ko-KR" altLang="ko-KR" dirty="0" err="1"/>
              <a:t>delete</a:t>
            </a:r>
            <a:r>
              <a:rPr lang="ko-KR" altLang="ko-KR" dirty="0"/>
              <a:t> 동적 메모리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26C586-A55B-C401-0407-82EA69FB0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z="2400" dirty="0"/>
              <a:t>new </a:t>
            </a:r>
            <a:r>
              <a:rPr lang="ko-KR" altLang="ko-KR" sz="2400" dirty="0"/>
              <a:t>할당 실패를 </a:t>
            </a:r>
            <a:r>
              <a:rPr lang="ko-KR" altLang="ko-KR" sz="2400" dirty="0" err="1">
                <a:solidFill>
                  <a:srgbClr val="0070C0"/>
                </a:solidFill>
              </a:rPr>
              <a:t>nullptr</a:t>
            </a:r>
            <a:r>
              <a:rPr lang="ko-KR" altLang="ko-KR" sz="2400" dirty="0" err="1"/>
              <a:t>로</a:t>
            </a:r>
            <a:r>
              <a:rPr lang="ko-KR" altLang="ko-KR" sz="2400" dirty="0"/>
              <a:t> 확인하는 경우</a:t>
            </a:r>
            <a:endParaRPr lang="en-US" altLang="ko-KR" sz="2400" dirty="0"/>
          </a:p>
          <a:p>
            <a:pPr lvl="0"/>
            <a:endParaRPr lang="en-US" altLang="ko-KR" sz="1800" dirty="0"/>
          </a:p>
          <a:p>
            <a:pPr lvl="0"/>
            <a:endParaRPr lang="en-US" altLang="ko-KR" sz="1800" dirty="0"/>
          </a:p>
          <a:p>
            <a:pPr lvl="0"/>
            <a:endParaRPr lang="en-US" altLang="ko-KR" sz="1800" dirty="0"/>
          </a:p>
          <a:p>
            <a:pPr lvl="0"/>
            <a:endParaRPr lang="en-US" altLang="ko-KR" sz="1800" dirty="0"/>
          </a:p>
          <a:p>
            <a:pPr lvl="0"/>
            <a:endParaRPr lang="en-US" altLang="ko-KR" sz="1800" dirty="0"/>
          </a:p>
          <a:p>
            <a:pPr lvl="0"/>
            <a:endParaRPr lang="en-US" altLang="ko-KR" sz="1800" dirty="0"/>
          </a:p>
          <a:p>
            <a:endParaRPr lang="en-US" altLang="ko-KR" dirty="0"/>
          </a:p>
          <a:p>
            <a:r>
              <a:rPr lang="ko-KR" altLang="ko-KR" sz="2400" dirty="0"/>
              <a:t>동적 할당과 해제 짝 맞추기</a:t>
            </a:r>
            <a:endParaRPr lang="ko-KR" altLang="ko-KR" sz="2000" dirty="0"/>
          </a:p>
          <a:p>
            <a:pPr lvl="1"/>
            <a:r>
              <a:rPr lang="ko-KR" altLang="ko-KR" sz="2000" dirty="0"/>
              <a:t>서로 다른 할당과 해제 방식을 혼합하면 안 됨</a:t>
            </a:r>
          </a:p>
          <a:p>
            <a:pPr lvl="1"/>
            <a:r>
              <a:rPr lang="ko-KR" altLang="ko-KR" sz="2000" dirty="0"/>
              <a:t>일반적인 새 C++ 코드에서는 </a:t>
            </a:r>
            <a:r>
              <a:rPr lang="ko-KR" altLang="ko-KR" sz="2000" dirty="0" err="1">
                <a:solidFill>
                  <a:srgbClr val="FF00FF"/>
                </a:solidFill>
              </a:rPr>
              <a:t>std</a:t>
            </a:r>
            <a:r>
              <a:rPr lang="ko-KR" altLang="ko-KR" sz="2000" dirty="0">
                <a:solidFill>
                  <a:srgbClr val="FF00FF"/>
                </a:solidFill>
              </a:rPr>
              <a:t>::</a:t>
            </a:r>
            <a:r>
              <a:rPr lang="ko-KR" altLang="ko-KR" sz="2000" dirty="0" err="1">
                <a:solidFill>
                  <a:srgbClr val="FF00FF"/>
                </a:solidFill>
              </a:rPr>
              <a:t>vector</a:t>
            </a:r>
            <a:r>
              <a:rPr lang="en-US" altLang="ko-KR" sz="2000" dirty="0">
                <a:solidFill>
                  <a:srgbClr val="0000FF"/>
                </a:solidFill>
              </a:rPr>
              <a:t> </a:t>
            </a:r>
            <a:r>
              <a:rPr lang="ko-KR" altLang="ko-KR" sz="2000" dirty="0"/>
              <a:t>와 스마트 포인터 우선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7B37E-DAF2-E106-8DE5-E0500ECE6668}"/>
              </a:ext>
            </a:extLst>
          </p:cNvPr>
          <p:cNvSpPr txBox="1"/>
          <p:nvPr/>
        </p:nvSpPr>
        <p:spPr>
          <a:xfrm>
            <a:off x="683568" y="1340311"/>
            <a:ext cx="6840562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800" b="1" i="0" u="none" strike="noStrike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nothrow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]();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ko-KR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endParaRPr lang="ko-KR" altLang="ko-KR" sz="1800" b="1" dirty="0"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    // 메모리 사용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601B55E-72BA-B700-43EA-2FC809287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736231"/>
              </p:ext>
            </p:extLst>
          </p:nvPr>
        </p:nvGraphicFramePr>
        <p:xfrm>
          <a:off x="1115616" y="4973297"/>
          <a:ext cx="5263021" cy="1551328"/>
        </p:xfrm>
        <a:graphic>
          <a:graphicData uri="http://schemas.openxmlformats.org/drawingml/2006/table">
            <a:tbl>
              <a:tblPr/>
              <a:tblGrid>
                <a:gridCol w="3827652">
                  <a:extLst>
                    <a:ext uri="{9D8B030D-6E8A-4147-A177-3AD203B41FA5}">
                      <a16:colId xmlns:a16="http://schemas.microsoft.com/office/drawing/2014/main" val="4259523528"/>
                    </a:ext>
                  </a:extLst>
                </a:gridCol>
                <a:gridCol w="1435369">
                  <a:extLst>
                    <a:ext uri="{9D8B030D-6E8A-4147-A177-3AD203B41FA5}">
                      <a16:colId xmlns:a16="http://schemas.microsoft.com/office/drawing/2014/main" val="3194000951"/>
                    </a:ext>
                  </a:extLst>
                </a:gridCol>
              </a:tblGrid>
              <a:tr h="3472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동적 할당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해제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182579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단일 객체 </a:t>
                      </a: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new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86990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 배열 </a:t>
                      </a: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new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[]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[]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211026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malloc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(), calloc(), realloc()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free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5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563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11FE-BE6B-53A3-5F3A-2C3A66E9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AA84A-219D-B4A4-D148-ED57C095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1.4.2 제어문에서 변수 선언하기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804F48-272A-BB37-378E-9FDF2924C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조건에서 변수 선언 — C++98</a:t>
            </a:r>
            <a:endParaRPr lang="en-US" altLang="ko-KR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F4001-DF2B-2A27-28D5-8AF8413A1B32}"/>
              </a:ext>
            </a:extLst>
          </p:cNvPr>
          <p:cNvSpPr txBox="1"/>
          <p:nvPr/>
        </p:nvSpPr>
        <p:spPr>
          <a:xfrm>
            <a:off x="539750" y="1358766"/>
            <a:ext cx="7820472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GetNextNode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909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2998-DDDE-3C2F-D002-520A7E55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D984A-A7E3-B935-18FA-E4E0EC86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1.4.2 제어문에서 변수 선언하기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9B83B-2780-14E6-4BDD-E3DFD2918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초기화 구문이 있는 </a:t>
            </a:r>
            <a:r>
              <a:rPr lang="ko-KR" altLang="ko-KR" dirty="0" err="1"/>
              <a:t>if문</a:t>
            </a:r>
            <a:r>
              <a:rPr lang="ko-KR" altLang="ko-KR" dirty="0"/>
              <a:t> — C++17</a:t>
            </a:r>
            <a:endParaRPr lang="en-US" altLang="ko-KR" dirty="0"/>
          </a:p>
          <a:p>
            <a:pPr lvl="1"/>
            <a:r>
              <a:rPr lang="ko-KR" altLang="ko-KR" dirty="0"/>
              <a:t>선언한 변수의 범위를 제어문 안으로 제한</a:t>
            </a:r>
          </a:p>
          <a:p>
            <a:pPr lvl="1"/>
            <a:r>
              <a:rPr lang="ko-KR" altLang="ko-KR" dirty="0" err="1"/>
              <a:t>if</a:t>
            </a:r>
            <a:r>
              <a:rPr lang="ko-KR" altLang="ko-KR" dirty="0"/>
              <a:t>, </a:t>
            </a:r>
            <a:r>
              <a:rPr lang="ko-KR" altLang="ko-KR" dirty="0" err="1"/>
              <a:t>switch는</a:t>
            </a:r>
            <a:r>
              <a:rPr lang="ko-KR" altLang="ko-KR" dirty="0"/>
              <a:t> 초기화 구문 지원</a:t>
            </a:r>
          </a:p>
          <a:p>
            <a:pPr lvl="1"/>
            <a:r>
              <a:rPr lang="ko-KR" altLang="ko-KR" dirty="0" err="1"/>
              <a:t>while은</a:t>
            </a:r>
            <a:r>
              <a:rPr lang="ko-KR" altLang="ko-KR" dirty="0"/>
              <a:t> 초기화 구문을 지원하지 않음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78793-8496-2781-A3C3-BBFE2491099B}"/>
              </a:ext>
            </a:extLst>
          </p:cNvPr>
          <p:cNvSpPr txBox="1"/>
          <p:nvPr/>
        </p:nvSpPr>
        <p:spPr>
          <a:xfrm>
            <a:off x="877887" y="2708920"/>
            <a:ext cx="7150497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"양수: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"0 또는 음수: 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4D8B3-0777-E9A2-194D-AAFFDF0DB87D}"/>
              </a:ext>
            </a:extLst>
          </p:cNvPr>
          <p:cNvSpPr txBox="1"/>
          <p:nvPr/>
        </p:nvSpPr>
        <p:spPr>
          <a:xfrm>
            <a:off x="877887" y="5169966"/>
            <a:ext cx="7150497" cy="126188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GetCommand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525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C6DE-52C3-2954-84FB-6F4231DB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15ABE-3457-4454-96E8-B051630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1.4.3 범위 기반 </a:t>
            </a:r>
            <a:r>
              <a:rPr lang="ko-KR" altLang="ko-KR" dirty="0" err="1"/>
              <a:t>for문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18DF-516A-0318-9456-26A646536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C++11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C++</a:t>
            </a:r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93EBE-CCB1-4C03-BADC-B39547CBF212}"/>
              </a:ext>
            </a:extLst>
          </p:cNvPr>
          <p:cNvSpPr txBox="1"/>
          <p:nvPr/>
        </p:nvSpPr>
        <p:spPr>
          <a:xfrm>
            <a:off x="539749" y="1268760"/>
            <a:ext cx="8208963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76690-35EE-9E4B-0F92-F805BAEB631D}"/>
              </a:ext>
            </a:extLst>
          </p:cNvPr>
          <p:cNvSpPr txBox="1"/>
          <p:nvPr/>
        </p:nvSpPr>
        <p:spPr>
          <a:xfrm>
            <a:off x="539749" y="3322698"/>
            <a:ext cx="8208962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2E66AD2-EE4D-6760-5212-01EE09A54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191954"/>
              </p:ext>
            </p:extLst>
          </p:nvPr>
        </p:nvGraphicFramePr>
        <p:xfrm>
          <a:off x="539748" y="4850882"/>
          <a:ext cx="8208961" cy="1656578"/>
        </p:xfrm>
        <a:graphic>
          <a:graphicData uri="http://schemas.openxmlformats.org/drawingml/2006/table">
            <a:tbl>
              <a:tblPr/>
              <a:tblGrid>
                <a:gridCol w="3835851">
                  <a:extLst>
                    <a:ext uri="{9D8B030D-6E8A-4147-A177-3AD203B41FA5}">
                      <a16:colId xmlns:a16="http://schemas.microsoft.com/office/drawing/2014/main" val="971609398"/>
                    </a:ext>
                  </a:extLst>
                </a:gridCol>
                <a:gridCol w="4373110">
                  <a:extLst>
                    <a:ext uri="{9D8B030D-6E8A-4147-A177-3AD203B41FA5}">
                      <a16:colId xmlns:a16="http://schemas.microsoft.com/office/drawing/2014/main" val="2992065742"/>
                    </a:ext>
                  </a:extLst>
                </a:gridCol>
              </a:tblGrid>
              <a:tr h="4016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형태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916857"/>
                  </a:ext>
                </a:extLst>
              </a:tr>
              <a:tr h="40164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일반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for문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인덱스가 필요하거나 일부 원소 순회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854800"/>
                  </a:ext>
                </a:extLst>
              </a:tr>
              <a:tr h="40164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범위 기반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for문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모든 원소를 차례로 순회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785447"/>
                  </a:ext>
                </a:extLst>
              </a:tr>
              <a:tr h="40164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초기화 구문이 있는 범위 기반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for문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반복에 필요한 범위를 먼저 생성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1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207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954B-A13A-8C63-6FD0-49DE4034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D6422-EBA0-6DC4-ED9D-13774D44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1.4.4 C++ 난수 라이브러리(C++11)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BE869-3B13-D4F5-F9E7-2EDE8BC66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000" dirty="0">
                <a:latin typeface="+mn-ea"/>
                <a:ea typeface="+mn-ea"/>
              </a:rPr>
              <a:t>C의 </a:t>
            </a:r>
            <a:r>
              <a:rPr lang="ko-KR" altLang="ko-KR" sz="2000" dirty="0" err="1">
                <a:latin typeface="+mn-ea"/>
                <a:ea typeface="+mn-ea"/>
              </a:rPr>
              <a:t>rand</a:t>
            </a:r>
            <a:r>
              <a:rPr lang="ko-KR" altLang="ko-KR" sz="2000" dirty="0">
                <a:latin typeface="+mn-ea"/>
                <a:ea typeface="+mn-ea"/>
              </a:rPr>
              <a:t>()와 % 연산보다 난수 생성 역할을 명확하게 분리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>
                <a:latin typeface="+mn-ea"/>
                <a:ea typeface="+mn-ea"/>
              </a:rPr>
              <a:t>난수 엔진: 원시 </a:t>
            </a:r>
            <a:r>
              <a:rPr lang="ko-KR" altLang="ko-KR" sz="2000" dirty="0" err="1">
                <a:latin typeface="+mn-ea"/>
                <a:ea typeface="+mn-ea"/>
              </a:rPr>
              <a:t>난수열</a:t>
            </a:r>
            <a:r>
              <a:rPr lang="ko-KR" altLang="ko-KR" sz="2000" dirty="0">
                <a:latin typeface="+mn-ea"/>
                <a:ea typeface="+mn-ea"/>
              </a:rPr>
              <a:t> 생성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>
                <a:latin typeface="+mn-ea"/>
                <a:ea typeface="+mn-ea"/>
              </a:rPr>
              <a:t>분포: 원하는 범위와 확률 분포로 변환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>
                <a:latin typeface="+mn-ea"/>
                <a:ea typeface="+mn-ea"/>
              </a:rPr>
              <a:t>같은 엔진과 같은 </a:t>
            </a:r>
            <a:r>
              <a:rPr lang="en-US" altLang="ko-KR" sz="2000" dirty="0">
                <a:latin typeface="+mn-ea"/>
                <a:ea typeface="+mn-ea"/>
              </a:rPr>
              <a:t>Seed</a:t>
            </a:r>
            <a:r>
              <a:rPr lang="ko-KR" altLang="ko-KR" sz="2000" dirty="0">
                <a:latin typeface="+mn-ea"/>
                <a:ea typeface="+mn-ea"/>
              </a:rPr>
              <a:t> → 같은 </a:t>
            </a:r>
            <a:r>
              <a:rPr lang="ko-KR" altLang="ko-KR" sz="2000" dirty="0" err="1">
                <a:latin typeface="+mn-ea"/>
                <a:ea typeface="+mn-ea"/>
              </a:rPr>
              <a:t>난수열</a:t>
            </a:r>
            <a:endParaRPr lang="ko-KR" altLang="ko-KR" sz="2000" dirty="0">
              <a:latin typeface="+mn-ea"/>
              <a:ea typeface="+mn-ea"/>
            </a:endParaRPr>
          </a:p>
          <a:p>
            <a:pPr lvl="0">
              <a:lnSpc>
                <a:spcPct val="120000"/>
              </a:lnSpc>
            </a:pPr>
            <a:r>
              <a:rPr lang="ko-KR" altLang="ko-KR" sz="2000" dirty="0">
                <a:latin typeface="+mn-ea"/>
                <a:ea typeface="+mn-ea"/>
              </a:rPr>
              <a:t>고정 시드는 오류 재현과 테스트에 활용</a:t>
            </a:r>
            <a:endParaRPr lang="en-US" altLang="ko-KR" sz="2000" dirty="0">
              <a:latin typeface="+mn-ea"/>
              <a:ea typeface="+mn-ea"/>
            </a:endParaRPr>
          </a:p>
          <a:p>
            <a:pPr lvl="0">
              <a:lnSpc>
                <a:spcPct val="120000"/>
              </a:lnSpc>
            </a:pPr>
            <a:endParaRPr lang="en-US" altLang="ko-KR" sz="2000" dirty="0">
              <a:latin typeface="+mn-ea"/>
              <a:ea typeface="+mn-ea"/>
            </a:endParaRPr>
          </a:p>
          <a:p>
            <a:pPr lvl="1">
              <a:lnSpc>
                <a:spcPct val="120000"/>
              </a:lnSpc>
            </a:pPr>
            <a:r>
              <a:rPr lang="ko-KR" altLang="ko-KR" sz="1800" dirty="0" err="1">
                <a:latin typeface="+mn-ea"/>
                <a:ea typeface="+mn-ea"/>
              </a:rPr>
              <a:t>uniform_int_distribution</a:t>
            </a:r>
            <a:r>
              <a:rPr lang="en-US" altLang="ko-KR" sz="1800" dirty="0">
                <a:latin typeface="+mn-ea"/>
                <a:ea typeface="+mn-ea"/>
              </a:rPr>
              <a:t>    [a, b]</a:t>
            </a:r>
          </a:p>
          <a:p>
            <a:pPr lvl="1">
              <a:lnSpc>
                <a:spcPct val="120000"/>
              </a:lnSpc>
            </a:pPr>
            <a:r>
              <a:rPr lang="en-US" altLang="ko-KR" sz="1800" dirty="0" err="1">
                <a:latin typeface="+mn-ea"/>
                <a:ea typeface="+mn-ea"/>
              </a:rPr>
              <a:t>uniform_real_distribution</a:t>
            </a:r>
            <a:r>
              <a:rPr lang="en-US" altLang="ko-KR" sz="1800" dirty="0">
                <a:latin typeface="+mn-ea"/>
                <a:ea typeface="+mn-ea"/>
              </a:rPr>
              <a:t> [a,b)</a:t>
            </a:r>
            <a:endParaRPr lang="ko-KR" altLang="ko-KR" sz="18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ko-KR" altLang="en-US" sz="2000" dirty="0">
              <a:latin typeface="+mn-ea"/>
              <a:ea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2606718-BE3E-4325-BAAF-EDD13CB3A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24370"/>
              </p:ext>
            </p:extLst>
          </p:nvPr>
        </p:nvGraphicFramePr>
        <p:xfrm>
          <a:off x="6012160" y="1340768"/>
          <a:ext cx="2736553" cy="3953764"/>
        </p:xfrm>
        <a:graphic>
          <a:graphicData uri="http://schemas.openxmlformats.org/drawingml/2006/table">
            <a:tbl>
              <a:tblPr/>
              <a:tblGrid>
                <a:gridCol w="2736553">
                  <a:extLst>
                    <a:ext uri="{9D8B030D-6E8A-4147-A177-3AD203B41FA5}">
                      <a16:colId xmlns:a16="http://schemas.microsoft.com/office/drawing/2014/main" val="1123154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5000"/>
                        </a:lnSpc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┌──────────────┐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난수 엔진   │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└──────────────┘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    </a:t>
                      </a: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     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  ⬇️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┌──────────────┐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분포     │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└──────────────┘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     </a:t>
                      </a: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     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⬇️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┌──────────────┐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원하는 범위  │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└──────────────┘</a:t>
                      </a:r>
                      <a:endParaRPr lang="ko-KR" sz="40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9047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C3845C9-0B16-76F8-0EC7-83B26B5709AB}"/>
              </a:ext>
            </a:extLst>
          </p:cNvPr>
          <p:cNvSpPr txBox="1"/>
          <p:nvPr/>
        </p:nvSpPr>
        <p:spPr>
          <a:xfrm>
            <a:off x="323528" y="4350003"/>
            <a:ext cx="5544616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random_device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::mt19937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uniform_int_distribution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324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3A143-2CEA-9622-E107-1F00451E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79A50-D903-DCA6-32DD-F0CC62F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1.4.5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sort</a:t>
            </a:r>
            <a:r>
              <a:rPr lang="ko-KR" altLang="ko-KR" dirty="0"/>
              <a:t>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3B9323-B718-CD97-F0E5-B2B3AF832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정렬 범위의 시작 위치와 마지막 원소 다음 위치 전달</a:t>
            </a:r>
          </a:p>
          <a:p>
            <a:pPr lvl="0"/>
            <a:r>
              <a:rPr lang="ko-KR" altLang="ko-KR" dirty="0"/>
              <a:t>비교 기준을 지정하지 않으면 오름차순</a:t>
            </a:r>
          </a:p>
          <a:p>
            <a:pPr lvl="0"/>
            <a:r>
              <a:rPr lang="ko-KR" altLang="ko-KR" dirty="0" err="1">
                <a:solidFill>
                  <a:srgbClr val="0000FF"/>
                </a:solidFill>
              </a:rPr>
              <a:t>std</a:t>
            </a:r>
            <a:r>
              <a:rPr lang="ko-KR" altLang="ko-KR" dirty="0">
                <a:solidFill>
                  <a:srgbClr val="0000FF"/>
                </a:solidFill>
              </a:rPr>
              <a:t>::</a:t>
            </a:r>
            <a:r>
              <a:rPr lang="ko-KR" altLang="ko-KR" dirty="0" err="1">
                <a:solidFill>
                  <a:srgbClr val="0000FF"/>
                </a:solidFill>
              </a:rPr>
              <a:t>greater</a:t>
            </a:r>
            <a:r>
              <a:rPr lang="ko-KR" altLang="ko-KR" dirty="0">
                <a:solidFill>
                  <a:srgbClr val="0000FF"/>
                </a:solidFill>
              </a:rPr>
              <a:t>&lt;&gt;</a:t>
            </a:r>
            <a:r>
              <a:rPr lang="ko-KR" altLang="ko-KR" dirty="0" err="1"/>
              <a:t>를</a:t>
            </a:r>
            <a:r>
              <a:rPr lang="ko-KR" altLang="ko-KR" dirty="0"/>
              <a:t> 사용하면 내림차순</a:t>
            </a:r>
          </a:p>
          <a:p>
            <a:pPr lvl="0"/>
            <a:r>
              <a:rPr lang="ko-KR" altLang="ko-KR" dirty="0" err="1">
                <a:solidFill>
                  <a:srgbClr val="0000FF"/>
                </a:solidFill>
              </a:rPr>
              <a:t>std</a:t>
            </a:r>
            <a:r>
              <a:rPr lang="ko-KR" altLang="ko-KR" dirty="0">
                <a:solidFill>
                  <a:srgbClr val="0000FF"/>
                </a:solidFill>
              </a:rPr>
              <a:t>::</a:t>
            </a:r>
            <a:r>
              <a:rPr lang="ko-KR" altLang="ko-KR" dirty="0" err="1">
                <a:solidFill>
                  <a:srgbClr val="0000FF"/>
                </a:solidFill>
              </a:rPr>
              <a:t>span</a:t>
            </a:r>
            <a:r>
              <a:rPr lang="ko-KR" altLang="ko-KR" dirty="0" err="1"/>
              <a:t>은</a:t>
            </a:r>
            <a:r>
              <a:rPr lang="ko-KR" altLang="ko-KR" dirty="0"/>
              <a:t> 배열을 복사하지 않고 하나의 범위로 표현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B56B8-0C1F-E786-111C-148B9693B59B}"/>
              </a:ext>
            </a:extLst>
          </p:cNvPr>
          <p:cNvSpPr txBox="1"/>
          <p:nvPr/>
        </p:nvSpPr>
        <p:spPr>
          <a:xfrm>
            <a:off x="539749" y="3068960"/>
            <a:ext cx="8208963" cy="317009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algorithm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functional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range.begin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range.end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range.begin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range.end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&lt;&gt;());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8079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F133-FFA1-C084-1393-FD7F8636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95AF7-E346-68B4-1227-440445A7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1.5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2FB232-2B62-B924-3A0B-576B0884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C++</a:t>
            </a:r>
            <a:r>
              <a:rPr lang="en-US" altLang="ko-KR" sz="2400" dirty="0"/>
              <a:t> </a:t>
            </a:r>
            <a:r>
              <a:rPr lang="ko-KR" altLang="en-US" sz="2400" dirty="0"/>
              <a:t>특징</a:t>
            </a:r>
            <a:endParaRPr lang="en-US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C의 기본 문법을 상당 부분 계승</a:t>
            </a:r>
            <a:endParaRPr lang="en-US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cin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cout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getline</a:t>
            </a:r>
            <a:r>
              <a:rPr lang="ko-KR" altLang="ko-KR" sz="2400" dirty="0"/>
              <a:t>()을 이용한 타입 기반 입출력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bool</a:t>
            </a:r>
            <a:r>
              <a:rPr lang="ko-KR" altLang="ko-KR" sz="2400" dirty="0"/>
              <a:t>, 확장 문자형, nullptr 등의 기본형과 표현 추가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new</a:t>
            </a:r>
            <a:r>
              <a:rPr lang="en-US" altLang="ko-KR" sz="2400" dirty="0"/>
              <a:t>[]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delete</a:t>
            </a:r>
            <a:r>
              <a:rPr lang="en-US" altLang="ko-KR" sz="2400"/>
              <a:t>[]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제어문 안의 변수 선언으로 유효 범위 제한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범위 기반 </a:t>
            </a:r>
            <a:r>
              <a:rPr lang="ko-KR" altLang="ko-KR" sz="2400" dirty="0" err="1"/>
              <a:t>for문으로</a:t>
            </a:r>
            <a:r>
              <a:rPr lang="ko-KR" altLang="ko-KR" sz="2400" dirty="0"/>
              <a:t> 배열과 컨테이너 순회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&lt;</a:t>
            </a:r>
            <a:r>
              <a:rPr lang="ko-KR" altLang="ko-KR" sz="2400" dirty="0" err="1"/>
              <a:t>random</a:t>
            </a:r>
            <a:r>
              <a:rPr lang="ko-KR" altLang="ko-KR" sz="2400" dirty="0"/>
              <a:t>&gt;</a:t>
            </a:r>
            <a:endParaRPr lang="en-US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sort</a:t>
            </a:r>
            <a:r>
              <a:rPr lang="ko-KR" altLang="ko-KR" sz="2400" dirty="0"/>
              <a:t>()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C 방식</a:t>
            </a:r>
            <a:r>
              <a:rPr lang="en-US" altLang="ko-KR" sz="2400" dirty="0"/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→</a:t>
            </a:r>
            <a:r>
              <a:rPr lang="en-US" altLang="ko-KR" sz="2400" dirty="0">
                <a:sym typeface="Wingdings" panose="05000000000000000000" pitchFamily="2" charset="2"/>
              </a:rPr>
              <a:t> C++ </a:t>
            </a:r>
            <a:r>
              <a:rPr lang="ko-KR" altLang="ko-KR" sz="2400" dirty="0"/>
              <a:t>클래스, RAII, 표준 컨테이너와 타입 시스템 활용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256064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B1D5-892E-C93A-1A26-75D361CC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9633B-894C-D641-45C6-4E608028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1.5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31218-FBB1-8004-A43E-39E2931FF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en-US" sz="2400" dirty="0"/>
              <a:t>자주 사용되는 헤더파일</a:t>
            </a:r>
            <a:endParaRPr lang="en-US" altLang="ko-KR" sz="2400" dirty="0"/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iostream </a:t>
            </a:r>
            <a:r>
              <a:rPr lang="en-US" altLang="ko-KR" sz="2000" dirty="0" err="1"/>
              <a:t>cstdio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cstdlib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cstring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algorithm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functional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string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map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memory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vector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 err="1"/>
              <a:t>cassert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en-US" altLang="ko-KR" sz="2000" dirty="0" err="1"/>
              <a:t>unorded_map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span</a:t>
            </a: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random</a:t>
            </a:r>
            <a:endParaRPr lang="ko-KR" altLang="ko-KR" sz="2000" dirty="0"/>
          </a:p>
          <a:p>
            <a:pPr lvl="1">
              <a:lnSpc>
                <a:spcPct val="120000"/>
              </a:lnSpc>
            </a:pPr>
            <a:r>
              <a:rPr lang="ko-KR" altLang="ko-KR" sz="2000" dirty="0" err="1"/>
              <a:t>new</a:t>
            </a:r>
            <a:endParaRPr lang="en-US" altLang="ko-KR" sz="2000" dirty="0"/>
          </a:p>
          <a:p>
            <a:pPr lvl="0">
              <a:lnSpc>
                <a:spcPct val="120000"/>
              </a:lnSpc>
            </a:pPr>
            <a:endParaRPr lang="en-US" altLang="ko-KR" sz="2400" dirty="0"/>
          </a:p>
          <a:p>
            <a:pPr lvl="0"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2514122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1" i="0" u="none" strike="noStrike" dirty="0">
            <a:solidFill>
              <a:srgbClr val="C18401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9332</TotalTime>
  <Words>4099</Words>
  <Application>Microsoft Office PowerPoint</Application>
  <PresentationFormat>화면 슬라이드 쇼(4:3)</PresentationFormat>
  <Paragraphs>591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1" baseType="lpstr">
      <vt:lpstr>Noto Sans KR</vt:lpstr>
      <vt:lpstr>HY견고딕</vt:lpstr>
      <vt:lpstr>Consolas</vt:lpstr>
      <vt:lpstr>Wingdings</vt:lpstr>
      <vt:lpstr>Arial</vt:lpstr>
      <vt:lpstr>나눔바른고딕</vt:lpstr>
      <vt:lpstr>Noto Sans KR Medium</vt:lpstr>
      <vt:lpstr>나눔고딕 ExtraBold</vt:lpstr>
      <vt:lpstr>굴림</vt:lpstr>
      <vt:lpstr>가을체</vt:lpstr>
      <vt:lpstr>D2Coding</vt:lpstr>
      <vt:lpstr>기본 디자인</vt:lpstr>
      <vt:lpstr>01. C++ 언어의 특징과 C에서 C++로</vt:lpstr>
      <vt:lpstr>1.0 목차</vt:lpstr>
      <vt:lpstr>1.1 C++ 언어의 특징</vt:lpstr>
      <vt:lpstr>1.1 C++ 언어의 특징</vt:lpstr>
      <vt:lpstr>1.1.1 절차적 프로그래밍과 우수한 성능</vt:lpstr>
      <vt:lpstr>1.1.1 절차적 프로그래밍과 우수한 성능</vt:lpstr>
      <vt:lpstr>1.1.1 절차적 프로그래밍과 우수한 성능</vt:lpstr>
      <vt:lpstr>1.1.1 절차적 프로그래밍과 우수한 성능</vt:lpstr>
      <vt:lpstr>1.1.1 절차적 프로그래밍과 우수한 성능</vt:lpstr>
      <vt:lpstr>1.1.1 절차적 프로그래밍과 우수한 성능</vt:lpstr>
      <vt:lpstr>1.1.2 객체지향 프로그래밍과 유지보수</vt:lpstr>
      <vt:lpstr>1.1.2 객체지향 프로그래밍과 유지보수</vt:lpstr>
      <vt:lpstr>1.1.3 제네릭 프로그래밍과 표준 라이브러리</vt:lpstr>
      <vt:lpstr>1.1.3 제네릭 프로그래밍과 표준 라이브러리</vt:lpstr>
      <vt:lpstr>1.1.4 정적 타입과 컴파일 타임 처리</vt:lpstr>
      <vt:lpstr>1.1.4 정적 타입과 컴파일 타임 처리</vt:lpstr>
      <vt:lpstr>1.1.5 자원 관리와 RAII</vt:lpstr>
      <vt:lpstr>1.1.5 자원 관리와 RAII</vt:lpstr>
      <vt:lpstr>1.1.6 여러 분야에서 사용되는 C++</vt:lpstr>
      <vt:lpstr>1.2 C와 C++의 관계</vt:lpstr>
      <vt:lpstr>1.2.1 타입을 이용한 안전한 입출력</vt:lpstr>
      <vt:lpstr>1.2.1 타입을 이용한 안전한 입출력</vt:lpstr>
      <vt:lpstr>1.2.1 타입을 이용한 안전한 입출력</vt:lpstr>
      <vt:lpstr>1.2.2 C 문법의 계승</vt:lpstr>
      <vt:lpstr>1.2.2 C 문법의 계승</vt:lpstr>
      <vt:lpstr>1.2.3 C와 C++의 차이</vt:lpstr>
      <vt:lpstr>1.2.3 C와 C++의 차이</vt:lpstr>
      <vt:lpstr>1.2.4 C++의 주요 키워드</vt:lpstr>
      <vt:lpstr>1.2.5 C++을 C처럼만 사용할 때의 한계</vt:lpstr>
      <vt:lpstr>1.2.5 C++을 C처럼만 사용할 때의 한계</vt:lpstr>
      <vt:lpstr>1.3 C++의 기본형 타입</vt:lpstr>
      <vt:lpstr>1.3.2 정수형과 리터럴 접미사</vt:lpstr>
      <vt:lpstr>1.3.2 정수형과 리터럴 접미사</vt:lpstr>
      <vt:lpstr>1.3.3 논리형(bool)</vt:lpstr>
      <vt:lpstr>1.3.3 논리형(bool)</vt:lpstr>
      <vt:lpstr>1.3.4 확장된 문자형과 리터럴 접두사</vt:lpstr>
      <vt:lpstr>1.3.5 부동소수점형의 종류와 접미사</vt:lpstr>
      <vt:lpstr>1.3.6 void, nullptr, std::nullptr_t</vt:lpstr>
      <vt:lpstr>1.3.6 void, nullptr, std::nullptr_t</vt:lpstr>
      <vt:lpstr>1.4 C++에서 추가된 편리한 문법과 기능</vt:lpstr>
      <vt:lpstr>1.4.1 new / delete 동적 메모리</vt:lpstr>
      <vt:lpstr>1.4.1 new / delete 동적 메모리</vt:lpstr>
      <vt:lpstr>1.4.2 제어문에서 변수 선언하기</vt:lpstr>
      <vt:lpstr>1.4.2 제어문에서 변수 선언하기</vt:lpstr>
      <vt:lpstr>1.4.3 범위 기반 for문</vt:lpstr>
      <vt:lpstr>1.4.4 C++ 난수 라이브러리(C++11)</vt:lpstr>
      <vt:lpstr>1.4.5 std::sort()</vt:lpstr>
      <vt:lpstr>1.5 학습 정리</vt:lpstr>
      <vt:lpstr>1.5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317</cp:revision>
  <dcterms:created xsi:type="dcterms:W3CDTF">2003-11-30T16:03:20Z</dcterms:created>
  <dcterms:modified xsi:type="dcterms:W3CDTF">2026-08-24T01:02:21Z</dcterms:modified>
</cp:coreProperties>
</file>