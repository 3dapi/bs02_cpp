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5"/>
  </p:notesMasterIdLst>
  <p:sldIdLst>
    <p:sldId id="328" r:id="rId2"/>
    <p:sldId id="384" r:id="rId3"/>
    <p:sldId id="329" r:id="rId4"/>
    <p:sldId id="330" r:id="rId5"/>
    <p:sldId id="331" r:id="rId6"/>
    <p:sldId id="332" r:id="rId7"/>
    <p:sldId id="333" r:id="rId8"/>
    <p:sldId id="334" r:id="rId9"/>
    <p:sldId id="335" r:id="rId10"/>
    <p:sldId id="336" r:id="rId11"/>
    <p:sldId id="337" r:id="rId12"/>
    <p:sldId id="338" r:id="rId13"/>
    <p:sldId id="339" r:id="rId14"/>
    <p:sldId id="340" r:id="rId15"/>
    <p:sldId id="341" r:id="rId16"/>
    <p:sldId id="342" r:id="rId17"/>
    <p:sldId id="343" r:id="rId18"/>
    <p:sldId id="344" r:id="rId19"/>
    <p:sldId id="345" r:id="rId20"/>
    <p:sldId id="346" r:id="rId21"/>
    <p:sldId id="347" r:id="rId22"/>
    <p:sldId id="348" r:id="rId23"/>
    <p:sldId id="349" r:id="rId24"/>
    <p:sldId id="350" r:id="rId25"/>
    <p:sldId id="351" r:id="rId26"/>
    <p:sldId id="352" r:id="rId27"/>
    <p:sldId id="353" r:id="rId28"/>
    <p:sldId id="354" r:id="rId29"/>
    <p:sldId id="355" r:id="rId30"/>
    <p:sldId id="356" r:id="rId31"/>
    <p:sldId id="357" r:id="rId32"/>
    <p:sldId id="358" r:id="rId33"/>
    <p:sldId id="359" r:id="rId34"/>
    <p:sldId id="361" r:id="rId35"/>
    <p:sldId id="362" r:id="rId36"/>
    <p:sldId id="363" r:id="rId37"/>
    <p:sldId id="364" r:id="rId38"/>
    <p:sldId id="365" r:id="rId39"/>
    <p:sldId id="366" r:id="rId40"/>
    <p:sldId id="385" r:id="rId41"/>
    <p:sldId id="367" r:id="rId42"/>
    <p:sldId id="368" r:id="rId43"/>
    <p:sldId id="369" r:id="rId44"/>
    <p:sldId id="370" r:id="rId45"/>
    <p:sldId id="371" r:id="rId46"/>
    <p:sldId id="372" r:id="rId47"/>
    <p:sldId id="373" r:id="rId48"/>
    <p:sldId id="374" r:id="rId49"/>
    <p:sldId id="375" r:id="rId50"/>
    <p:sldId id="376" r:id="rId51"/>
    <p:sldId id="377" r:id="rId52"/>
    <p:sldId id="378" r:id="rId53"/>
    <p:sldId id="379" r:id="rId54"/>
  </p:sldIdLst>
  <p:sldSz cx="9144000" cy="6858000" type="screen4x3"/>
  <p:notesSz cx="6858000" cy="9144000"/>
  <p:embeddedFontLst>
    <p:embeddedFont>
      <p:font typeface="HY견고딕" panose="02030600000101010101" pitchFamily="18" charset="-127"/>
      <p:regular r:id="rId56"/>
    </p:embeddedFont>
    <p:embeddedFont>
      <p:font typeface="Pretendard ExtraBold" panose="02000903000000020004" pitchFamily="50" charset="-127"/>
      <p:bold r:id="rId57"/>
    </p:embeddedFont>
    <p:embeddedFont>
      <p:font typeface="가을체" panose="02030600000101010101" pitchFamily="18" charset="-127"/>
      <p:regular r:id="rId58"/>
    </p:embeddedFont>
    <p:embeddedFont>
      <p:font typeface="나눔고딕 ExtraBold" panose="020D0904000000000000" pitchFamily="50" charset="-127"/>
      <p:bold r:id="rId59"/>
    </p:embeddedFont>
    <p:embeddedFont>
      <p:font typeface="나눔바른고딕" panose="020B0603020101020101" pitchFamily="50" charset="-127"/>
      <p:regular r:id="rId60"/>
      <p:bold r:id="rId61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0000FF"/>
    <a:srgbClr val="EFEFED"/>
    <a:srgbClr val="FF9900"/>
    <a:srgbClr val="C18401"/>
    <a:srgbClr val="3399FF"/>
    <a:srgbClr val="CC00FF"/>
    <a:srgbClr val="CC00CC"/>
    <a:srgbClr val="FF00FF"/>
    <a:srgbClr val="CC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55" autoAdjust="0"/>
    <p:restoredTop sz="94582" autoAdjust="0"/>
  </p:normalViewPr>
  <p:slideViewPr>
    <p:cSldViewPr>
      <p:cViewPr>
        <p:scale>
          <a:sx n="100" d="100"/>
          <a:sy n="100" d="100"/>
        </p:scale>
        <p:origin x="2472" y="67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3.fntdata"/><Relationship Id="rId5" Type="http://schemas.openxmlformats.org/officeDocument/2006/relationships/slide" Target="slides/slide4.xml"/><Relationship Id="rId61" Type="http://schemas.openxmlformats.org/officeDocument/2006/relationships/font" Target="fonts/font6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1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5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buSzPct val="6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37CE4-DC6E-0507-7ADF-E2E78392D644}"/>
              </a:ext>
            </a:extLst>
          </p:cNvPr>
          <p:cNvSpPr txBox="1"/>
          <p:nvPr userDrawn="1"/>
        </p:nvSpPr>
        <p:spPr>
          <a:xfrm>
            <a:off x="7253184" y="6610716"/>
            <a:ext cx="1542657" cy="234286"/>
          </a:xfrm>
          <a:prstGeom prst="rect">
            <a:avLst/>
          </a:prstGeom>
          <a:noFill/>
          <a:ln w="25400">
            <a:noFill/>
            <a:prstDash val="sysDot"/>
          </a:ln>
        </p:spPr>
        <p:txBody>
          <a:bodyPr wrap="none" lIns="36000" tIns="36000" rIns="36000" bIns="36000" rtlCol="0">
            <a:spAutoFit/>
          </a:bodyPr>
          <a:lstStyle/>
          <a:p>
            <a:pPr>
              <a:defRPr/>
            </a:pPr>
            <a:r>
              <a:rPr lang="ko-KR" altLang="en-US" sz="1050" b="0" dirty="0">
                <a:solidFill>
                  <a:schemeClr val="bg2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게임 프로그래밍 교육과정</a:t>
            </a:r>
            <a:endParaRPr lang="ko-KR" altLang="en-US" b="0" dirty="0">
              <a:solidFill>
                <a:schemeClr val="bg2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60" r:id="rId7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38BED-C94A-AD80-6433-3377FEE7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0E0D7-1C34-C1FB-CCCC-F954324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576" y="1122363"/>
            <a:ext cx="7560840" cy="2387600"/>
          </a:xfrm>
        </p:spPr>
        <p:txBody>
          <a:bodyPr/>
          <a:lstStyle/>
          <a:p>
            <a:r>
              <a:rPr lang="en-US" altLang="ko-KR" dirty="0"/>
              <a:t>12. </a:t>
            </a:r>
            <a:r>
              <a:rPr lang="ko-KR" altLang="en-US" dirty="0"/>
              <a:t>연관 컨테이너와</a:t>
            </a:r>
            <a:br>
              <a:rPr lang="en-US" altLang="ko-KR" dirty="0"/>
            </a:br>
            <a:r>
              <a:rPr lang="ko-KR" altLang="en-US" dirty="0"/>
              <a:t>컨테이너 어댑터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FEA1F-7311-E697-BFC8-C48378530F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095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E2DC5D-5B8F-0AC1-5E07-AA904DFE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 </a:t>
            </a:r>
            <a:r>
              <a:rPr lang="ko-KR" altLang="en-US" dirty="0"/>
              <a:t>연관 컨테이너와 컨테이너 어댑터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D3846D-F414-2DFF-C564-2370B4782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키를 기준으로 저장하고 탐색하는 연관 컨테이너</a:t>
            </a:r>
          </a:p>
          <a:p>
            <a:r>
              <a:rPr lang="ko-KR" altLang="en-US" dirty="0"/>
              <a:t>정렬 연관 컨테이너와 비 정렬 연관 컨테이너</a:t>
            </a:r>
          </a:p>
          <a:p>
            <a:pPr lvl="1"/>
            <a:r>
              <a:rPr lang="en-US" altLang="ko-KR" dirty="0"/>
              <a:t>std::set, std::multiset</a:t>
            </a:r>
          </a:p>
          <a:p>
            <a:pPr lvl="1"/>
            <a:r>
              <a:rPr lang="en-US" altLang="ko-KR" dirty="0"/>
              <a:t>std::map, std::multimap</a:t>
            </a:r>
          </a:p>
          <a:p>
            <a:pPr lvl="1"/>
            <a:r>
              <a:rPr lang="en-US" altLang="ko-KR" dirty="0"/>
              <a:t>std::</a:t>
            </a:r>
            <a:r>
              <a:rPr lang="en-US" altLang="ko-KR" dirty="0" err="1"/>
              <a:t>unordered_set</a:t>
            </a:r>
            <a:r>
              <a:rPr lang="en-US" altLang="ko-KR" dirty="0"/>
              <a:t>, std::</a:t>
            </a:r>
            <a:r>
              <a:rPr lang="en-US" altLang="ko-KR" dirty="0" err="1"/>
              <a:t>unordered_map</a:t>
            </a:r>
            <a:endParaRPr lang="en-US" altLang="ko-KR" dirty="0"/>
          </a:p>
          <a:p>
            <a:pPr lvl="1"/>
            <a:r>
              <a:rPr lang="en-US" altLang="ko-KR" dirty="0"/>
              <a:t>std::stack, std::queue, std::</a:t>
            </a:r>
            <a:r>
              <a:rPr lang="en-US" altLang="ko-KR" dirty="0" err="1"/>
              <a:t>priority_queue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사용자 정의 타입의 비교와 해시</a:t>
            </a:r>
          </a:p>
          <a:p>
            <a:r>
              <a:rPr lang="ko-KR" altLang="en-US" dirty="0"/>
              <a:t>컨테이너와 객체 수명</a:t>
            </a:r>
          </a:p>
          <a:p>
            <a:r>
              <a:rPr lang="ko-KR" altLang="en-US" dirty="0"/>
              <a:t>반복자</a:t>
            </a:r>
            <a:r>
              <a:rPr lang="en-US" altLang="ko-KR" dirty="0"/>
              <a:t>·</a:t>
            </a:r>
            <a:r>
              <a:rPr lang="ko-KR" altLang="en-US" dirty="0"/>
              <a:t>포인터</a:t>
            </a:r>
            <a:r>
              <a:rPr lang="en-US" altLang="ko-KR" dirty="0"/>
              <a:t>·</a:t>
            </a:r>
            <a:r>
              <a:rPr lang="ko-KR" altLang="en-US" dirty="0"/>
              <a:t>참조의 유효성</a:t>
            </a:r>
          </a:p>
          <a:p>
            <a:r>
              <a:rPr lang="ko-KR" altLang="en-US" dirty="0"/>
              <a:t>컨테이너 선택 기준</a:t>
            </a:r>
          </a:p>
        </p:txBody>
      </p:sp>
    </p:spTree>
    <p:extLst>
      <p:ext uri="{BB962C8B-B14F-4D97-AF65-F5344CB8AC3E}">
        <p14:creationId xmlns:p14="http://schemas.microsoft.com/office/powerpoint/2010/main" val="1127312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DBDA17-081E-FC77-6D9A-DA92D5A69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std::set</a:t>
            </a:r>
            <a:r>
              <a:rPr lang="ko-KR" altLang="en-US" dirty="0"/>
              <a:t>과 </a:t>
            </a:r>
            <a:r>
              <a:rPr lang="en-US" altLang="ko-KR" dirty="0"/>
              <a:t>std::multiset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F82FB6-862A-B4FC-ADEA-E60234F8A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std::set&lt;Key&gt;: </a:t>
            </a:r>
            <a:r>
              <a:rPr lang="ko-KR" altLang="en-US" dirty="0"/>
              <a:t>중복되지 않는 키 저장</a:t>
            </a:r>
          </a:p>
          <a:p>
            <a:r>
              <a:rPr lang="en-US" altLang="ko-KR" dirty="0"/>
              <a:t>std::multiset&lt;Key&gt;: </a:t>
            </a:r>
            <a:r>
              <a:rPr lang="ko-KR" altLang="en-US" dirty="0"/>
              <a:t>동등한 키를 여러 개 저장</a:t>
            </a:r>
          </a:p>
          <a:p>
            <a:r>
              <a:rPr lang="ko-KR" altLang="en-US" dirty="0"/>
              <a:t>비교 규칙에 따라 키 정렬</a:t>
            </a:r>
          </a:p>
          <a:p>
            <a:r>
              <a:rPr lang="ko-KR" altLang="en-US" dirty="0"/>
              <a:t>삽입</a:t>
            </a:r>
            <a:r>
              <a:rPr lang="en-US" altLang="ko-KR" dirty="0"/>
              <a:t>, </a:t>
            </a:r>
            <a:r>
              <a:rPr lang="ko-KR" altLang="en-US" dirty="0"/>
              <a:t>탐색</a:t>
            </a:r>
            <a:r>
              <a:rPr lang="en-US" altLang="ko-KR" dirty="0"/>
              <a:t>, </a:t>
            </a:r>
            <a:r>
              <a:rPr lang="ko-KR" altLang="en-US" dirty="0"/>
              <a:t>제거는 로그 시간 복잡도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A6BB64-25D5-5092-32B4-91FC1D962B15}"/>
              </a:ext>
            </a:extLst>
          </p:cNvPr>
          <p:cNvSpPr txBox="1"/>
          <p:nvPr/>
        </p:nvSpPr>
        <p:spPr>
          <a:xfrm>
            <a:off x="683568" y="3212976"/>
            <a:ext cx="7344816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uniqueIds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multiset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90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70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33333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uniqueIds</a:t>
            </a:r>
            <a:r>
              <a:rPr lang="ko-KR" altLang="ko-KR" sz="2000" b="0" i="0" u="none" strike="noStrike" dirty="0">
                <a:solidFill>
                  <a:srgbClr val="333333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→ 10 20 30</a:t>
            </a:r>
            <a:br>
              <a:rPr lang="ko-KR" altLang="ko-KR" sz="2000" b="0" i="0" u="none" strike="noStrike" dirty="0">
                <a:solidFill>
                  <a:srgbClr val="333333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33333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scores</a:t>
            </a:r>
            <a:r>
              <a:rPr lang="ko-KR" altLang="ko-KR" sz="2000" b="0" i="0" u="none" strike="noStrike" dirty="0">
                <a:solidFill>
                  <a:srgbClr val="333333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→ 70 80 80 90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780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41ACA-DA5C-508E-9857-AFD6BBCF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8AC4A-5E16-4798-504D-861870B40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12.1.1 </a:t>
            </a:r>
            <a:r>
              <a:rPr lang="ko-KR" altLang="en-US" dirty="0"/>
              <a:t>정렬된 키와 키 동등성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275B84-816E-413E-7B3A-C5290705F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비교 함수 → </a:t>
            </a:r>
            <a:r>
              <a:rPr lang="en-US" altLang="ko-KR" dirty="0"/>
              <a:t>std::less&lt;Key&gt;</a:t>
            </a:r>
          </a:p>
          <a:p>
            <a:r>
              <a:rPr lang="ko-KR" altLang="en-US" dirty="0"/>
              <a:t>비교 결과에 따라 키 자동 정렬</a:t>
            </a:r>
          </a:p>
          <a:p>
            <a:r>
              <a:rPr lang="ko-KR" altLang="en-US" dirty="0"/>
              <a:t>두 방향 비교가 모두 거짓 → 동등한 키</a:t>
            </a:r>
            <a:endParaRPr lang="en-US" altLang="ko-KR" dirty="0"/>
          </a:p>
          <a:p>
            <a:r>
              <a:rPr lang="ko-KR" altLang="ko-KR" dirty="0"/>
              <a:t>정렬 연관 컨테이너의 동등성</a:t>
            </a:r>
            <a:br>
              <a:rPr lang="en-US" altLang="ko-KR" dirty="0"/>
            </a:br>
            <a:r>
              <a:rPr lang="en-US" altLang="ko-KR" dirty="0"/>
              <a:t> </a:t>
            </a:r>
            <a:r>
              <a:rPr lang="ko-KR" altLang="ko-KR" dirty="0"/>
              <a:t>→ </a:t>
            </a:r>
            <a:r>
              <a:rPr lang="ko-KR" altLang="ko-KR" dirty="0" err="1"/>
              <a:t>operator</a:t>
            </a:r>
            <a:r>
              <a:rPr lang="ko-KR" altLang="ko-KR" dirty="0"/>
              <a:t>==가 아닌 비교 규칙 기준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092A69-82A1-5835-DF1C-FF1037E0C428}"/>
              </a:ext>
            </a:extLst>
          </p:cNvPr>
          <p:cNvSpPr txBox="1"/>
          <p:nvPr/>
        </p:nvSpPr>
        <p:spPr>
          <a:xfrm>
            <a:off x="523726" y="3608387"/>
            <a:ext cx="6944444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left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도 앞서지 않고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right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도 앞서지 않음</a:t>
            </a:r>
            <a:endParaRPr lang="en-US" altLang="ko-KR" b="0" i="0" u="none" strike="noStrike" dirty="0">
              <a:solidFill>
                <a:schemeClr val="bg1">
                  <a:lumMod val="50000"/>
                </a:schemeClr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!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&amp;&amp; !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endParaRPr lang="ko-KR" altLang="en-US" sz="4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3691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973B8-4510-CBE9-7393-AFF34A53F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9F9A9F-137C-6275-E770-1F87FA3F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12.1.2 </a:t>
            </a:r>
            <a:r>
              <a:rPr lang="ko-KR" altLang="en-US" dirty="0"/>
              <a:t>중복 허용 여부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C30F65-9511-55CD-0FBE-BA66E746D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set::insert()</a:t>
            </a:r>
            <a:r>
              <a:rPr lang="ko-KR" altLang="en-US" dirty="0"/>
              <a:t>는 삽입 위치와 성공 여부 반환</a:t>
            </a:r>
          </a:p>
          <a:p>
            <a:r>
              <a:rPr lang="ko-KR" altLang="en-US" dirty="0"/>
              <a:t>같은 키가 있으면 새 원소를 삽입하지 않음</a:t>
            </a:r>
          </a:p>
          <a:p>
            <a:r>
              <a:rPr lang="en-US" altLang="ko-KR" dirty="0"/>
              <a:t>multiset</a:t>
            </a:r>
            <a:r>
              <a:rPr lang="ko-KR" altLang="en-US" dirty="0"/>
              <a:t>은 중복 키를 모두 저장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8A60F-69CE-4C86-10F8-B46F50F13D04}"/>
              </a:ext>
            </a:extLst>
          </p:cNvPr>
          <p:cNvSpPr txBox="1"/>
          <p:nvPr/>
        </p:nvSpPr>
        <p:spPr>
          <a:xfrm>
            <a:off x="539750" y="2367171"/>
            <a:ext cx="6336506" cy="34163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[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inserted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 =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ids.insert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inserted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inserted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*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multiset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scores.insert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scores.insert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scores.insert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90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79C2694-F055-C44E-A8DE-340FE9CF5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393528"/>
              </p:ext>
            </p:extLst>
          </p:nvPr>
        </p:nvGraphicFramePr>
        <p:xfrm>
          <a:off x="4283968" y="5013176"/>
          <a:ext cx="4608512" cy="1315896"/>
        </p:xfrm>
        <a:graphic>
          <a:graphicData uri="http://schemas.openxmlformats.org/drawingml/2006/table">
            <a:tbl>
              <a:tblPr/>
              <a:tblGrid>
                <a:gridCol w="2346152">
                  <a:extLst>
                    <a:ext uri="{9D8B030D-6E8A-4147-A177-3AD203B41FA5}">
                      <a16:colId xmlns:a16="http://schemas.microsoft.com/office/drawing/2014/main" val="670198109"/>
                    </a:ext>
                  </a:extLst>
                </a:gridCol>
                <a:gridCol w="2262360">
                  <a:extLst>
                    <a:ext uri="{9D8B030D-6E8A-4147-A177-3AD203B41FA5}">
                      <a16:colId xmlns:a16="http://schemas.microsoft.com/office/drawing/2014/main" val="10779906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요구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선택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413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키 중복 제거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set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208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같은 키 여러 개 저장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multiset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756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859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33705-C1FF-6CE1-81A9-734AE688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515F16-384F-6111-0CE1-7622D8E7D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12.1.3 </a:t>
            </a:r>
            <a:r>
              <a:rPr lang="ko-KR" altLang="en-US" dirty="0"/>
              <a:t>삽입</a:t>
            </a:r>
            <a:r>
              <a:rPr lang="en-US" altLang="ko-KR" dirty="0"/>
              <a:t>, </a:t>
            </a:r>
            <a:r>
              <a:rPr lang="ko-KR" altLang="en-US" dirty="0"/>
              <a:t>탐색</a:t>
            </a:r>
            <a:r>
              <a:rPr lang="en-US" altLang="ko-KR" dirty="0"/>
              <a:t>, </a:t>
            </a:r>
            <a:r>
              <a:rPr lang="ko-KR" altLang="en-US" dirty="0"/>
              <a:t>범위 검색과 제거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1CE4C3-67C7-81CF-0395-9C5E55286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insert(), emplace() → </a:t>
            </a:r>
            <a:r>
              <a:rPr lang="ko-KR" altLang="en-US" sz="2000" dirty="0"/>
              <a:t>원소 삽입</a:t>
            </a:r>
          </a:p>
          <a:p>
            <a:r>
              <a:rPr lang="en-US" altLang="ko-KR" sz="2000" dirty="0"/>
              <a:t>find() → </a:t>
            </a:r>
            <a:r>
              <a:rPr lang="ko-KR" altLang="en-US" sz="2000" dirty="0"/>
              <a:t>키 탐색</a:t>
            </a:r>
          </a:p>
          <a:p>
            <a:r>
              <a:rPr lang="en-US" altLang="ko-KR" sz="2000" dirty="0"/>
              <a:t>contains() → </a:t>
            </a:r>
            <a:r>
              <a:rPr lang="ko-KR" altLang="en-US" sz="2000" dirty="0"/>
              <a:t>존재 여부 확인</a:t>
            </a:r>
          </a:p>
          <a:p>
            <a:r>
              <a:rPr lang="en-US" altLang="ko-KR" sz="2000" dirty="0"/>
              <a:t>count() → </a:t>
            </a:r>
            <a:r>
              <a:rPr lang="ko-KR" altLang="en-US" sz="2000" dirty="0"/>
              <a:t>동등한 키 개수</a:t>
            </a:r>
          </a:p>
          <a:p>
            <a:r>
              <a:rPr lang="en-US" altLang="ko-KR" sz="2000" dirty="0" err="1"/>
              <a:t>lower_bound</a:t>
            </a:r>
            <a:r>
              <a:rPr lang="en-US" altLang="ko-KR" sz="2000" dirty="0"/>
              <a:t>() → </a:t>
            </a:r>
            <a:r>
              <a:rPr lang="ko-KR" altLang="en-US" sz="2000" dirty="0"/>
              <a:t>키보다 작지 않은 첫 위치</a:t>
            </a:r>
          </a:p>
          <a:p>
            <a:r>
              <a:rPr lang="en-US" altLang="ko-KR" sz="2000" dirty="0" err="1"/>
              <a:t>upper_bound</a:t>
            </a:r>
            <a:r>
              <a:rPr lang="en-US" altLang="ko-KR" sz="2000" dirty="0"/>
              <a:t>() → </a:t>
            </a:r>
            <a:r>
              <a:rPr lang="ko-KR" altLang="en-US" sz="2000" dirty="0"/>
              <a:t>키보다 큰 첫 위치</a:t>
            </a:r>
          </a:p>
          <a:p>
            <a:r>
              <a:rPr lang="en-US" altLang="ko-KR" sz="2000" dirty="0" err="1"/>
              <a:t>equal_range</a:t>
            </a:r>
            <a:r>
              <a:rPr lang="en-US" altLang="ko-KR" sz="2000" dirty="0"/>
              <a:t>() → </a:t>
            </a:r>
            <a:r>
              <a:rPr lang="ko-KR" altLang="en-US" sz="2000" dirty="0"/>
              <a:t>동등한 키 범위</a:t>
            </a:r>
          </a:p>
          <a:p>
            <a:r>
              <a:rPr lang="en-US" altLang="ko-KR" sz="2000" dirty="0"/>
              <a:t>erase() → </a:t>
            </a:r>
            <a:r>
              <a:rPr lang="ko-KR" altLang="en-US" sz="2000" dirty="0"/>
              <a:t>키 또는 반복자로 제거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CFE087-AC3C-8249-922F-42A4A8287A79}"/>
              </a:ext>
            </a:extLst>
          </p:cNvPr>
          <p:cNvSpPr txBox="1"/>
          <p:nvPr/>
        </p:nvSpPr>
        <p:spPr>
          <a:xfrm>
            <a:off x="464269" y="3756238"/>
            <a:ext cx="4323854" cy="280076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anchor="ctr" anchorCtr="0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names.insert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Alice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names.emplace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Bob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names.find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Alice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!=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names.end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*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529CAB-E8E8-70C6-BA09-85336809443C}"/>
              </a:ext>
            </a:extLst>
          </p:cNvPr>
          <p:cNvSpPr txBox="1"/>
          <p:nvPr/>
        </p:nvSpPr>
        <p:spPr>
          <a:xfrm>
            <a:off x="4328187" y="5301208"/>
            <a:ext cx="4572000" cy="83099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40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first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values.lower_bound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values.upper_bound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40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0510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E2AF6-839A-ABD5-AA5F-0A91D003D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6F1857-DC7C-4A2F-150F-B21DEA8F3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12.1.4 </a:t>
            </a:r>
            <a:r>
              <a:rPr lang="ko-KR" altLang="en-US" dirty="0"/>
              <a:t>비교 함수와 정렬 기준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8D5EBD-8742-47D1-476E-D8C8B7127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기본 오름차순 → </a:t>
            </a:r>
            <a:r>
              <a:rPr lang="en-US" altLang="ko-KR" sz="2400" dirty="0"/>
              <a:t>std::less&lt;Key&gt;</a:t>
            </a:r>
          </a:p>
          <a:p>
            <a:r>
              <a:rPr lang="ko-KR" altLang="en-US" sz="2400" dirty="0"/>
              <a:t>내림차순 → </a:t>
            </a:r>
            <a:r>
              <a:rPr lang="en-US" altLang="ko-KR" sz="2400" dirty="0"/>
              <a:t>std::greater&lt;Key&gt;</a:t>
            </a:r>
          </a:p>
          <a:p>
            <a:r>
              <a:rPr lang="ko-KR" altLang="en-US" sz="2400" dirty="0"/>
              <a:t>사용자 정의 타입 → 비교 함수 객체 지정 가능</a:t>
            </a:r>
          </a:p>
          <a:p>
            <a:r>
              <a:rPr lang="ko-KR" altLang="en-US" sz="2400" dirty="0"/>
              <a:t>비교 함수 → 엄격 </a:t>
            </a:r>
            <a:r>
              <a:rPr lang="ko-KR" altLang="en-US" sz="2400" dirty="0" err="1"/>
              <a:t>약순서</a:t>
            </a:r>
            <a:r>
              <a:rPr lang="en-US" altLang="ko-KR" sz="2400" dirty="0"/>
              <a:t>(strict weak ordering) </a:t>
            </a:r>
            <a:r>
              <a:rPr lang="ko-KR" altLang="en-US" sz="2400" dirty="0"/>
              <a:t>만족 필요</a:t>
            </a:r>
          </a:p>
          <a:p>
            <a:r>
              <a:rPr lang="ko-KR" altLang="en-US" sz="2400" dirty="0"/>
              <a:t>동점 발생 → 보조 기준으로 키 구분 필요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3A6E8-B1DB-EA60-4F3B-63C68D62C476}"/>
              </a:ext>
            </a:extLst>
          </p:cNvPr>
          <p:cNvSpPr txBox="1"/>
          <p:nvPr/>
        </p:nvSpPr>
        <p:spPr>
          <a:xfrm>
            <a:off x="467544" y="2924944"/>
            <a:ext cx="5904458" cy="1169551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BA778-F631-742B-BFB6-4DB82448CB9B}"/>
              </a:ext>
            </a:extLst>
          </p:cNvPr>
          <p:cNvSpPr txBox="1"/>
          <p:nvPr/>
        </p:nvSpPr>
        <p:spPr>
          <a:xfrm>
            <a:off x="467544" y="4077072"/>
            <a:ext cx="5904458" cy="267765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ComparePlayer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left.score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!=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right.score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left.score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right.score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left.id &lt;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right.id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AA1FB0-FCA6-7AF2-57C7-A2D1BD5FCC53}"/>
              </a:ext>
            </a:extLst>
          </p:cNvPr>
          <p:cNvSpPr txBox="1"/>
          <p:nvPr/>
        </p:nvSpPr>
        <p:spPr>
          <a:xfrm>
            <a:off x="4541465" y="6003568"/>
            <a:ext cx="4356695" cy="33855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ComparePlayer&gt;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ranking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79185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5C155-91F9-FF3A-AC84-21D935E4A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7BD01-41F1-F0C9-7BEE-6CDFD4882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12.1.5 </a:t>
            </a:r>
            <a:r>
              <a:rPr lang="ko-KR" altLang="en-US" dirty="0"/>
              <a:t>원소 수정 제한과 노드 핸들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1F0EDB-FB66-D4DC-3CDE-1EC9C6231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std::set</a:t>
            </a:r>
            <a:r>
              <a:rPr lang="ko-KR" altLang="en-US" sz="2400" dirty="0"/>
              <a:t>의 저장 원소 → 직접 수정 불가</a:t>
            </a:r>
          </a:p>
          <a:p>
            <a:r>
              <a:rPr lang="ko-KR" altLang="en-US" sz="2400" dirty="0"/>
              <a:t>키 변경 → 정렬 위치 변경 가능</a:t>
            </a:r>
          </a:p>
          <a:p>
            <a:r>
              <a:rPr lang="ko-KR" altLang="en-US" sz="2400" dirty="0"/>
              <a:t>일반적인 변경 → 제거 후 </a:t>
            </a:r>
            <a:r>
              <a:rPr lang="ko-KR" altLang="en-US" sz="2400" dirty="0" err="1"/>
              <a:t>재삽입</a:t>
            </a:r>
            <a:endParaRPr lang="ko-KR" altLang="en-US" sz="2400" dirty="0"/>
          </a:p>
          <a:p>
            <a:r>
              <a:rPr lang="en-US" altLang="ko-KR" sz="2400" dirty="0"/>
              <a:t>C++17 </a:t>
            </a:r>
            <a:r>
              <a:rPr lang="ko-KR" altLang="en-US" sz="2400" dirty="0"/>
              <a:t>노드 핸들 → 노드 분리 후 키 수정 가능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5A5C4-552F-AD96-34F7-A85820543933}"/>
              </a:ext>
            </a:extLst>
          </p:cNvPr>
          <p:cNvSpPr txBox="1"/>
          <p:nvPr/>
        </p:nvSpPr>
        <p:spPr>
          <a:xfrm>
            <a:off x="539750" y="2551837"/>
            <a:ext cx="5159623" cy="175432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values.find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*</a:t>
            </a:r>
            <a:r>
              <a:rPr lang="ko-KR" altLang="ko-KR" sz="18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25; // 오류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일반적인 변경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values.erase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values.insert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25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FD314E-20A3-D558-1C04-5C6B2B7C68EC}"/>
              </a:ext>
            </a:extLst>
          </p:cNvPr>
          <p:cNvSpPr txBox="1"/>
          <p:nvPr/>
        </p:nvSpPr>
        <p:spPr>
          <a:xfrm>
            <a:off x="2987824" y="3908817"/>
            <a:ext cx="5889823" cy="258532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C++17 노드 핸들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Alice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Bob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Carol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node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names.extract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Bob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node.empty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node.value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Bobby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names.insert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node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6980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49A69-5DF5-9636-3B66-A6952E451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05932-27A0-A302-AE13-E38B252DD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12.2 std::map</a:t>
            </a:r>
            <a:r>
              <a:rPr lang="ko-KR" altLang="en-US" dirty="0"/>
              <a:t>과 </a:t>
            </a:r>
            <a:r>
              <a:rPr lang="en-US" altLang="ko-KR" dirty="0"/>
              <a:t>std::multimap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44E1F8-6739-3149-13C4-59C784B12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std::map&lt;Key, T&gt; → </a:t>
            </a:r>
            <a:r>
              <a:rPr lang="ko-KR" altLang="en-US" sz="2400" dirty="0"/>
              <a:t>하나의 키에 하나의 값 연결</a:t>
            </a:r>
          </a:p>
          <a:p>
            <a:r>
              <a:rPr lang="en-US" altLang="ko-KR" sz="2400" dirty="0"/>
              <a:t>std::multimap&lt;Key, T&gt; → </a:t>
            </a:r>
            <a:r>
              <a:rPr lang="ko-KR" altLang="en-US" sz="2400" dirty="0"/>
              <a:t>같은 키에 여러 값 연결</a:t>
            </a:r>
          </a:p>
          <a:p>
            <a:r>
              <a:rPr lang="ko-KR" altLang="en-US" sz="2400" dirty="0"/>
              <a:t>키 기준 자동 정렬</a:t>
            </a:r>
          </a:p>
          <a:p>
            <a:r>
              <a:rPr lang="ko-KR" altLang="en-US" sz="2400" dirty="0"/>
              <a:t>삽입</a:t>
            </a:r>
            <a:r>
              <a:rPr lang="en-US" altLang="ko-KR" sz="2400" dirty="0"/>
              <a:t>·</a:t>
            </a:r>
            <a:r>
              <a:rPr lang="ko-KR" altLang="en-US" sz="2400" dirty="0"/>
              <a:t>탐색</a:t>
            </a:r>
            <a:r>
              <a:rPr lang="en-US" altLang="ko-KR" sz="2400" dirty="0"/>
              <a:t>·</a:t>
            </a:r>
            <a:r>
              <a:rPr lang="ko-KR" altLang="en-US" sz="2400" dirty="0"/>
              <a:t>제거 → </a:t>
            </a:r>
            <a:r>
              <a:rPr lang="en-US" altLang="ko-KR" sz="2400" dirty="0"/>
              <a:t>O(log n)</a:t>
            </a:r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9C43A0-B48A-F2FA-4E5C-B0BF13A4A60C}"/>
              </a:ext>
            </a:extLst>
          </p:cNvPr>
          <p:cNvSpPr txBox="1"/>
          <p:nvPr/>
        </p:nvSpPr>
        <p:spPr>
          <a:xfrm>
            <a:off x="539750" y="2708920"/>
            <a:ext cx="7992690" cy="369331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1002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Ether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multimap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categoryItems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Small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Large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Sword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86937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3F2BF-03EA-5C67-D6C4-51725F120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5C4CBB-0A5F-4BEA-2F83-E307C4C9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12.2.1 </a:t>
            </a:r>
            <a:r>
              <a:rPr lang="ko-KR" altLang="en-US" dirty="0"/>
              <a:t>키와 값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F92101-1570-B4B7-7D76-26B2EB185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value_type</a:t>
            </a:r>
            <a:r>
              <a:rPr lang="en-US" altLang="ko-KR" dirty="0"/>
              <a:t> → std::pair&lt;const Key, T&gt;</a:t>
            </a:r>
          </a:p>
          <a:p>
            <a:r>
              <a:rPr lang="en-US" altLang="ko-KR" dirty="0"/>
              <a:t>first → </a:t>
            </a:r>
            <a:r>
              <a:rPr lang="ko-KR" altLang="en-US" dirty="0"/>
              <a:t>키</a:t>
            </a:r>
          </a:p>
          <a:p>
            <a:r>
              <a:rPr lang="en-US" altLang="ko-KR" dirty="0"/>
              <a:t>second → </a:t>
            </a:r>
            <a:r>
              <a:rPr lang="ko-KR" altLang="en-US" dirty="0"/>
              <a:t>값</a:t>
            </a:r>
          </a:p>
          <a:p>
            <a:r>
              <a:rPr lang="ko-KR" altLang="en-US" dirty="0"/>
              <a:t>저장된 키 → 직접 수정 불가</a:t>
            </a:r>
          </a:p>
          <a:p>
            <a:r>
              <a:rPr lang="ko-KR" altLang="en-US" dirty="0"/>
              <a:t>저장된 값 → 수정 가능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F90A4-82AE-3716-1C0B-D5EB5D1C0BF4}"/>
              </a:ext>
            </a:extLst>
          </p:cNvPr>
          <p:cNvSpPr txBox="1"/>
          <p:nvPr/>
        </p:nvSpPr>
        <p:spPr>
          <a:xfrm>
            <a:off x="539750" y="3501008"/>
            <a:ext cx="4572000" cy="224676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entry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entry.first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": "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entry.second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556D4C-8B92-E54D-DE66-01C2252DA97F}"/>
              </a:ext>
            </a:extLst>
          </p:cNvPr>
          <p:cNvSpPr txBox="1"/>
          <p:nvPr/>
        </p:nvSpPr>
        <p:spPr>
          <a:xfrm>
            <a:off x="3851920" y="4893409"/>
            <a:ext cx="5076874" cy="163121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itemNames.find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!=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itemNames.end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second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High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0329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871F7-499B-87F7-D305-292494046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71F18A-1DBD-DE1E-E29A-1D5885473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12.2.2 operator[]</a:t>
            </a:r>
            <a:r>
              <a:rPr lang="ko-KR" altLang="en-US" dirty="0"/>
              <a:t>와 </a:t>
            </a:r>
            <a:r>
              <a:rPr lang="en-US" altLang="ko-KR" dirty="0"/>
              <a:t>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67B8CD-34DC-039B-03F4-69D365223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operator[] → </a:t>
            </a:r>
            <a:r>
              <a:rPr lang="ko-KR" altLang="en-US" sz="2400" dirty="0"/>
              <a:t>값 참조 반환</a:t>
            </a:r>
          </a:p>
          <a:p>
            <a:r>
              <a:rPr lang="ko-KR" altLang="en-US" sz="2400" dirty="0"/>
              <a:t>키가 없으면 → 새 원소 삽입 후 값 초기화</a:t>
            </a:r>
          </a:p>
          <a:p>
            <a:r>
              <a:rPr lang="en-US" altLang="ko-KR" sz="2400" dirty="0"/>
              <a:t>at() → </a:t>
            </a:r>
            <a:r>
              <a:rPr lang="ko-KR" altLang="en-US" sz="2400" dirty="0"/>
              <a:t>값 참조 반환</a:t>
            </a:r>
          </a:p>
          <a:p>
            <a:r>
              <a:rPr lang="ko-KR" altLang="en-US" sz="2400" dirty="0"/>
              <a:t>키가 없으면 → </a:t>
            </a:r>
            <a:r>
              <a:rPr lang="en-US" altLang="ko-KR" sz="2400" dirty="0">
                <a:solidFill>
                  <a:srgbClr val="0000FF"/>
                </a:solidFill>
              </a:rPr>
              <a:t>std::</a:t>
            </a:r>
            <a:r>
              <a:rPr lang="en-US" altLang="ko-KR" sz="2400" dirty="0" err="1">
                <a:solidFill>
                  <a:srgbClr val="0000FF"/>
                </a:solidFill>
              </a:rPr>
              <a:t>out_of_range</a:t>
            </a:r>
            <a:r>
              <a:rPr lang="en-US" altLang="ko-KR" sz="2400" dirty="0"/>
              <a:t> </a:t>
            </a:r>
            <a:r>
              <a:rPr lang="ko-KR" altLang="en-US" sz="2400" dirty="0"/>
              <a:t>예외</a:t>
            </a:r>
          </a:p>
          <a:p>
            <a:r>
              <a:rPr lang="en-US" altLang="ko-KR" sz="2400" dirty="0"/>
              <a:t>const std::map → at() </a:t>
            </a:r>
            <a:r>
              <a:rPr lang="ko-KR" altLang="en-US" sz="2400" dirty="0"/>
              <a:t>사용 가능</a:t>
            </a:r>
            <a:r>
              <a:rPr lang="en-US" altLang="ko-KR" sz="2400" dirty="0"/>
              <a:t>, operator[] </a:t>
            </a:r>
            <a:r>
              <a:rPr lang="ko-KR" altLang="en-US" sz="2400" dirty="0"/>
              <a:t>사용 불가</a:t>
            </a:r>
          </a:p>
          <a:p>
            <a:r>
              <a:rPr lang="en-US" altLang="ko-KR" sz="2400" dirty="0"/>
              <a:t>std::multimap → operator[], at() </a:t>
            </a:r>
            <a:r>
              <a:rPr lang="ko-KR" altLang="en-US" sz="2400" dirty="0"/>
              <a:t>제공 안 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A5A4F3-9D9C-C74D-144B-546B5010A0AF}"/>
              </a:ext>
            </a:extLst>
          </p:cNvPr>
          <p:cNvSpPr txBox="1"/>
          <p:nvPr/>
        </p:nvSpPr>
        <p:spPr>
          <a:xfrm>
            <a:off x="539750" y="3608387"/>
            <a:ext cx="5904458" cy="101566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20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20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[] 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++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];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B5DEA6-3090-84AA-024B-8B58777558F9}"/>
              </a:ext>
            </a:extLst>
          </p:cNvPr>
          <p:cNvSpPr txBox="1"/>
          <p:nvPr/>
        </p:nvSpPr>
        <p:spPr>
          <a:xfrm>
            <a:off x="539750" y="4730368"/>
            <a:ext cx="5904458" cy="163121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20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</a:t>
            </a:r>
            <a:r>
              <a:rPr lang="ko-KR" altLang="ko-KR" sz="20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counts.contains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counts.at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&lt;&lt;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5716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0267-6578-D370-F5D4-9168525E7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2F739-C2E6-8B88-1D38-1DD005E4C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12.2.3 insert, emplace</a:t>
            </a:r>
            <a:r>
              <a:rPr lang="ko-KR" altLang="en-US" dirty="0"/>
              <a:t>와 </a:t>
            </a:r>
            <a:r>
              <a:rPr lang="en-US" altLang="ko-KR" dirty="0" err="1"/>
              <a:t>try_emplace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51AF28-ECDB-371A-D630-0FDA4029A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insert() → </a:t>
            </a:r>
            <a:r>
              <a:rPr lang="ko-KR" altLang="en-US" sz="2400" dirty="0"/>
              <a:t>완성된 원소 삽입</a:t>
            </a:r>
          </a:p>
          <a:p>
            <a:r>
              <a:rPr lang="en-US" altLang="ko-KR" sz="2400" dirty="0"/>
              <a:t>emplace() → </a:t>
            </a:r>
            <a:r>
              <a:rPr lang="ko-KR" altLang="en-US" sz="2400" dirty="0"/>
              <a:t>전달한 인수로 원소 생성</a:t>
            </a:r>
          </a:p>
          <a:p>
            <a:r>
              <a:rPr lang="en-US" altLang="ko-KR" sz="2400" dirty="0" err="1">
                <a:solidFill>
                  <a:srgbClr val="0000FF"/>
                </a:solidFill>
              </a:rPr>
              <a:t>try_emplace</a:t>
            </a:r>
            <a:r>
              <a:rPr lang="en-US" altLang="ko-KR" sz="2400" dirty="0">
                <a:solidFill>
                  <a:srgbClr val="0000FF"/>
                </a:solidFill>
              </a:rPr>
              <a:t>()</a:t>
            </a:r>
            <a:r>
              <a:rPr lang="en-US" altLang="ko-KR" sz="2400" dirty="0"/>
              <a:t> → </a:t>
            </a:r>
            <a:r>
              <a:rPr lang="ko-KR" altLang="en-US" sz="2400" dirty="0"/>
              <a:t>키가 없을 때만 값 생성</a:t>
            </a:r>
          </a:p>
          <a:p>
            <a:r>
              <a:rPr lang="ko-KR" altLang="en-US" sz="2400" dirty="0">
                <a:solidFill>
                  <a:srgbClr val="0000FF"/>
                </a:solidFill>
              </a:rPr>
              <a:t>값 생성 비용이 크거나 이동 전용 값 </a:t>
            </a:r>
            <a:r>
              <a:rPr lang="ko-KR" altLang="en-US" sz="2400" dirty="0"/>
              <a:t>→ </a:t>
            </a:r>
            <a:r>
              <a:rPr lang="en-US" altLang="ko-KR" sz="2400" dirty="0" err="1">
                <a:solidFill>
                  <a:srgbClr val="0000FF"/>
                </a:solidFill>
              </a:rPr>
              <a:t>try_emplace</a:t>
            </a:r>
            <a:r>
              <a:rPr lang="en-US" altLang="ko-KR" sz="2400" dirty="0">
                <a:solidFill>
                  <a:srgbClr val="0000FF"/>
                </a:solidFill>
              </a:rPr>
              <a:t>()</a:t>
            </a:r>
            <a:r>
              <a:rPr lang="en-US" altLang="ko-KR" sz="2400" dirty="0"/>
              <a:t> </a:t>
            </a:r>
            <a:r>
              <a:rPr lang="ko-KR" altLang="en-US" sz="2400" dirty="0"/>
              <a:t>활용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EB5C03-ED9F-72A0-21DF-17E0DF360B92}"/>
              </a:ext>
            </a:extLst>
          </p:cNvPr>
          <p:cNvSpPr txBox="1"/>
          <p:nvPr/>
        </p:nvSpPr>
        <p:spPr>
          <a:xfrm>
            <a:off x="539750" y="2636912"/>
            <a:ext cx="5327427" cy="138499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[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inserted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 =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names.insert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names.emplace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1002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Ether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names.try_emplace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1003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Elixir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08C4C2-1AF4-76C5-5DA6-1A78CD6B0829}"/>
              </a:ext>
            </a:extLst>
          </p:cNvPr>
          <p:cNvSpPr txBox="1"/>
          <p:nvPr/>
        </p:nvSpPr>
        <p:spPr>
          <a:xfrm>
            <a:off x="539751" y="4132343"/>
            <a:ext cx="5327426" cy="203132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price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price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)),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price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price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447559-7D45-E761-5C66-BA5B27185C4D}"/>
              </a:ext>
            </a:extLst>
          </p:cNvPr>
          <p:cNvSpPr txBox="1"/>
          <p:nvPr/>
        </p:nvSpPr>
        <p:spPr>
          <a:xfrm>
            <a:off x="4716016" y="4850973"/>
            <a:ext cx="4176464" cy="58477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items.try_emplace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9797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23909-B0B7-323A-ECEA-7FBF95E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41948-A705-81D7-7D23-480D7A109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12.2.4 </a:t>
            </a:r>
            <a:r>
              <a:rPr lang="en-US" altLang="ko-KR" dirty="0" err="1"/>
              <a:t>insert_or_assign</a:t>
            </a:r>
            <a:r>
              <a:rPr lang="ko-KR" altLang="en-US" dirty="0"/>
              <a:t>과 값 갱신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DE56C8-C163-A851-B1FA-463600BBA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키가 없으면 삽입</a:t>
            </a:r>
          </a:p>
          <a:p>
            <a:r>
              <a:rPr lang="ko-KR" altLang="en-US" sz="2400" dirty="0"/>
              <a:t>키가 있으면 함수에 따라 기존 값 유지 또는 갱신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0678236-2E9E-2A81-5824-DF4EDA33DC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071932"/>
              </p:ext>
            </p:extLst>
          </p:nvPr>
        </p:nvGraphicFramePr>
        <p:xfrm>
          <a:off x="548531" y="1691216"/>
          <a:ext cx="6624737" cy="2750820"/>
        </p:xfrm>
        <a:graphic>
          <a:graphicData uri="http://schemas.openxmlformats.org/drawingml/2006/table">
            <a:tbl>
              <a:tblPr/>
              <a:tblGrid>
                <a:gridCol w="2472828">
                  <a:extLst>
                    <a:ext uri="{9D8B030D-6E8A-4147-A177-3AD203B41FA5}">
                      <a16:colId xmlns:a16="http://schemas.microsoft.com/office/drawing/2014/main" val="3206027914"/>
                    </a:ext>
                  </a:extLst>
                </a:gridCol>
                <a:gridCol w="1969104">
                  <a:extLst>
                    <a:ext uri="{9D8B030D-6E8A-4147-A177-3AD203B41FA5}">
                      <a16:colId xmlns:a16="http://schemas.microsoft.com/office/drawing/2014/main" val="2097290788"/>
                    </a:ext>
                  </a:extLst>
                </a:gridCol>
                <a:gridCol w="2182805">
                  <a:extLst>
                    <a:ext uri="{9D8B030D-6E8A-4147-A177-3AD203B41FA5}">
                      <a16:colId xmlns:a16="http://schemas.microsoft.com/office/drawing/2014/main" val="375496681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</a:t>
                      </a:r>
                      <a:endParaRPr lang="ko-KR" sz="24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키가 없을 때</a:t>
                      </a:r>
                      <a:endParaRPr lang="ko-KR" sz="24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키가 있을 때</a:t>
                      </a:r>
                      <a:endParaRPr lang="ko-KR" sz="24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7662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insert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삽입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기존 원소 유지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53432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emplace()</a:t>
                      </a:r>
                      <a:endParaRPr lang="ko-KR" sz="32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삽입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기존 원소 유지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03332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try_emplace()</a:t>
                      </a:r>
                      <a:endParaRPr lang="ko-KR" sz="32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값 생성 후 삽입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값 생성 없이 유지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16108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insert_or_assign()</a:t>
                      </a:r>
                      <a:endParaRPr lang="ko-KR" sz="32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삽입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기존 값에 대입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87184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operator[]</a:t>
                      </a:r>
                      <a:endParaRPr lang="ko-KR" sz="32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기본값 삽입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값 참조 반환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75526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at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예외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값 참조 반환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594004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527EE67-E3C2-42D4-9982-02DF0D43B0FF}"/>
              </a:ext>
            </a:extLst>
          </p:cNvPr>
          <p:cNvSpPr txBox="1"/>
          <p:nvPr/>
        </p:nvSpPr>
        <p:spPr>
          <a:xfrm>
            <a:off x="571029" y="4599841"/>
            <a:ext cx="4793059" cy="83099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names.insert_or_assign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names.insert_or_assign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High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3306AF-067D-33F1-787D-589CA8B37C76}"/>
              </a:ext>
            </a:extLst>
          </p:cNvPr>
          <p:cNvSpPr txBox="1"/>
          <p:nvPr/>
        </p:nvSpPr>
        <p:spPr>
          <a:xfrm>
            <a:off x="4427984" y="5490111"/>
            <a:ext cx="4653905" cy="132343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++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05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498EF-5E50-780B-CE67-E254B4FC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4B337-8B83-CAC3-6FCB-31E3784E5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12.2.5 </a:t>
            </a:r>
            <a:r>
              <a:rPr lang="ko-KR" altLang="en-US" dirty="0"/>
              <a:t>구조적 바인딩을 이용한 순회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59DEB-B8A2-24C0-06A8-D9C47E7444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구조적 바인딩 → 키와 값을 각각 이름으로 분리</a:t>
            </a:r>
          </a:p>
          <a:p>
            <a:r>
              <a:rPr lang="en-US" altLang="ko-KR" dirty="0"/>
              <a:t>const auto&amp; → </a:t>
            </a:r>
            <a:r>
              <a:rPr lang="ko-KR" altLang="en-US" dirty="0"/>
              <a:t>읽기 전용 순회</a:t>
            </a:r>
          </a:p>
          <a:p>
            <a:r>
              <a:rPr lang="en-US" altLang="ko-KR" dirty="0"/>
              <a:t>auto&amp; → </a:t>
            </a:r>
            <a:r>
              <a:rPr lang="ko-KR" altLang="en-US" dirty="0"/>
              <a:t>값 수정 가능</a:t>
            </a:r>
          </a:p>
          <a:p>
            <a:r>
              <a:rPr lang="ko-KR" altLang="en-US" dirty="0"/>
              <a:t>키 → </a:t>
            </a:r>
            <a:r>
              <a:rPr lang="en-US" altLang="ko-KR" dirty="0"/>
              <a:t>const</a:t>
            </a:r>
            <a:r>
              <a:rPr lang="ko-KR" altLang="en-US" dirty="0"/>
              <a:t>이므로 수정 불가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DF0414-AED8-2C25-FA2F-C4C1FBBB0517}"/>
              </a:ext>
            </a:extLst>
          </p:cNvPr>
          <p:cNvSpPr txBox="1"/>
          <p:nvPr/>
        </p:nvSpPr>
        <p:spPr>
          <a:xfrm>
            <a:off x="539749" y="2924944"/>
            <a:ext cx="5045521" cy="329320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[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 :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": 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prices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1002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[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price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 :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prices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price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+=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907355-A19F-EA70-DFA9-23C79336495B}"/>
              </a:ext>
            </a:extLst>
          </p:cNvPr>
          <p:cNvSpPr txBox="1"/>
          <p:nvPr/>
        </p:nvSpPr>
        <p:spPr>
          <a:xfrm>
            <a:off x="4355976" y="4437112"/>
            <a:ext cx="4572000" cy="1077218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id는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</a:t>
            </a:r>
            <a:endParaRPr lang="ko-KR" altLang="ko-KR" sz="16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price는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</a:t>
            </a:r>
            <a:endParaRPr lang="ko-KR" altLang="ko-KR" sz="16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multimap의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같은 키 범위 → 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equal_range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사용</a:t>
            </a:r>
            <a:endParaRPr lang="ko-KR" altLang="ko-KR" sz="16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1DF27A-E2A4-8C65-C6F3-9A488F0B4F80}"/>
              </a:ext>
            </a:extLst>
          </p:cNvPr>
          <p:cNvSpPr txBox="1"/>
          <p:nvPr/>
        </p:nvSpPr>
        <p:spPr>
          <a:xfrm>
            <a:off x="538212" y="6218262"/>
            <a:ext cx="5047059" cy="33855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[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first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items.equal_range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39354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644BC-BDD4-139D-B4D9-7909F47C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C05C4-A555-4FE4-ED98-FCEF11BC5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 </a:t>
            </a:r>
            <a:r>
              <a:rPr lang="ko-KR" altLang="en-US" dirty="0"/>
              <a:t>비 정렬 연관 컨테이너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308FC2-4995-AD9E-066C-C86951BE4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키의 </a:t>
            </a:r>
            <a:r>
              <a:rPr lang="ko-KR" altLang="en-US" dirty="0" err="1"/>
              <a:t>해시값으로</a:t>
            </a:r>
            <a:r>
              <a:rPr lang="ko-KR" altLang="en-US" dirty="0"/>
              <a:t> 버킷 선택</a:t>
            </a:r>
          </a:p>
          <a:p>
            <a:r>
              <a:rPr lang="ko-KR" altLang="en-US" dirty="0"/>
              <a:t>키 정렬 없음</a:t>
            </a:r>
          </a:p>
          <a:p>
            <a:r>
              <a:rPr lang="ko-KR" altLang="en-US" dirty="0"/>
              <a:t>순회 순서에 의미 없음</a:t>
            </a:r>
          </a:p>
          <a:p>
            <a:r>
              <a:rPr lang="ko-KR" altLang="en-US" dirty="0"/>
              <a:t>정확한 키 검색 중심</a:t>
            </a:r>
          </a:p>
          <a:p>
            <a:r>
              <a:rPr lang="ko-KR" altLang="en-US" dirty="0"/>
              <a:t>평균 탐색 → </a:t>
            </a:r>
            <a:r>
              <a:rPr lang="en-US" altLang="ko-KR" dirty="0"/>
              <a:t>O(1)</a:t>
            </a:r>
          </a:p>
          <a:p>
            <a:r>
              <a:rPr lang="ko-KR" altLang="en-US" dirty="0"/>
              <a:t>최악 탐색 → </a:t>
            </a:r>
            <a:r>
              <a:rPr lang="en-US" altLang="ko-KR" dirty="0"/>
              <a:t>O(n)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00621CF-9579-E7B0-FE07-596063A7E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98139"/>
              </p:ext>
            </p:extLst>
          </p:nvPr>
        </p:nvGraphicFramePr>
        <p:xfrm>
          <a:off x="5148064" y="833120"/>
          <a:ext cx="2160240" cy="2756880"/>
        </p:xfrm>
        <a:graphic>
          <a:graphicData uri="http://schemas.openxmlformats.org/drawingml/2006/table">
            <a:tbl>
              <a:tblPr/>
              <a:tblGrid>
                <a:gridCol w="2160240">
                  <a:extLst>
                    <a:ext uri="{9D8B030D-6E8A-4147-A177-3AD203B41FA5}">
                      <a16:colId xmlns:a16="http://schemas.microsoft.com/office/drawing/2014/main" val="11781739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키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         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 </a:t>
                      </a: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hash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해시값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버킷 선택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동등 비교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원소 탐색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216000" marR="216000" marT="144000" marB="14400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2958464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80649F0-BDC7-6190-888B-80D18D336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788255"/>
              </p:ext>
            </p:extLst>
          </p:nvPr>
        </p:nvGraphicFramePr>
        <p:xfrm>
          <a:off x="1115616" y="4149080"/>
          <a:ext cx="6192688" cy="2183000"/>
        </p:xfrm>
        <a:graphic>
          <a:graphicData uri="http://schemas.openxmlformats.org/drawingml/2006/table">
            <a:tbl>
              <a:tblPr/>
              <a:tblGrid>
                <a:gridCol w="3557502">
                  <a:extLst>
                    <a:ext uri="{9D8B030D-6E8A-4147-A177-3AD203B41FA5}">
                      <a16:colId xmlns:a16="http://schemas.microsoft.com/office/drawing/2014/main" val="2624890581"/>
                    </a:ext>
                  </a:extLst>
                </a:gridCol>
                <a:gridCol w="2635186">
                  <a:extLst>
                    <a:ext uri="{9D8B030D-6E8A-4147-A177-3AD203B41FA5}">
                      <a16:colId xmlns:a16="http://schemas.microsoft.com/office/drawing/2014/main" val="11057079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컨테이너</a:t>
                      </a:r>
                      <a:endParaRPr lang="ko-KR" sz="28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중복 키</a:t>
                      </a:r>
                      <a:endParaRPr lang="ko-KR" sz="28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21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unordered_set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허용하지 않음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94734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unordered_multiset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허용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0429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unordered_map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허용하지 않음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9134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unordered_multimap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허용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022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8361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F2E96-558F-F1D5-7C68-043F17F5A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53C53F-12CB-F7EB-D727-8C9B8D755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12.3.1 </a:t>
            </a:r>
            <a:r>
              <a:rPr lang="en-US" altLang="ko-KR" dirty="0" err="1"/>
              <a:t>unordered_set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 err="1"/>
              <a:t>unordered_multiset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CDEF2B-A329-ACC3-AF94-05A1A9729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unordered_set</a:t>
            </a:r>
            <a:r>
              <a:rPr lang="en-US" altLang="ko-KR" dirty="0"/>
              <a:t> → </a:t>
            </a:r>
            <a:r>
              <a:rPr lang="ko-KR" altLang="en-US" dirty="0"/>
              <a:t>중복 키 허용 안 함</a:t>
            </a:r>
          </a:p>
          <a:p>
            <a:r>
              <a:rPr lang="en-US" altLang="ko-KR" dirty="0" err="1"/>
              <a:t>unordered_multiset</a:t>
            </a:r>
            <a:r>
              <a:rPr lang="en-US" altLang="ko-KR" dirty="0"/>
              <a:t> → </a:t>
            </a:r>
            <a:r>
              <a:rPr lang="ko-KR" altLang="en-US" dirty="0"/>
              <a:t>중복 키 허용</a:t>
            </a:r>
          </a:p>
          <a:p>
            <a:r>
              <a:rPr lang="ko-KR" altLang="en-US" dirty="0"/>
              <a:t>삽입 순서나 정렬 순서 보장 안 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750C75-49B4-EBFA-730A-10EE5BC84FF5}"/>
              </a:ext>
            </a:extLst>
          </p:cNvPr>
          <p:cNvSpPr txBox="1"/>
          <p:nvPr/>
        </p:nvSpPr>
        <p:spPr>
          <a:xfrm>
            <a:off x="539750" y="2616324"/>
            <a:ext cx="7200602" cy="286232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unordered_set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unordered_set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unordered_multiset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90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70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ids.insert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ids.contains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ids.erase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2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45907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7DDF-C137-F251-A1C1-FC4612A14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0D7558-472E-8FA9-090B-3FC66491E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12.3.2 </a:t>
            </a:r>
            <a:r>
              <a:rPr lang="en-US" altLang="ko-KR" dirty="0" err="1"/>
              <a:t>unordered_map</a:t>
            </a:r>
            <a:r>
              <a:rPr lang="en-US" altLang="ko-KR" dirty="0"/>
              <a:t>, </a:t>
            </a:r>
            <a:r>
              <a:rPr lang="en-US" altLang="ko-KR" dirty="0" err="1"/>
              <a:t>unordered_multimap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50B85C-A3A4-561A-5ED4-961ECA640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 err="1"/>
              <a:t>unordered_map</a:t>
            </a:r>
            <a:r>
              <a:rPr lang="en-US" altLang="ko-KR" sz="2400" dirty="0"/>
              <a:t> → </a:t>
            </a:r>
            <a:r>
              <a:rPr lang="ko-KR" altLang="en-US" sz="2400" dirty="0"/>
              <a:t>하나의 키에 하나의 값</a:t>
            </a:r>
          </a:p>
          <a:p>
            <a:r>
              <a:rPr lang="en-US" altLang="ko-KR" sz="2400" dirty="0" err="1"/>
              <a:t>unordered_multimap</a:t>
            </a:r>
            <a:r>
              <a:rPr lang="en-US" altLang="ko-KR" sz="2400" dirty="0"/>
              <a:t> → </a:t>
            </a:r>
            <a:r>
              <a:rPr lang="ko-KR" altLang="en-US" sz="2400" dirty="0"/>
              <a:t>같은 키에 여러 값</a:t>
            </a:r>
          </a:p>
          <a:p>
            <a:r>
              <a:rPr lang="en-US" altLang="ko-KR" sz="2400" dirty="0" err="1"/>
              <a:t>unordered_map</a:t>
            </a:r>
            <a:r>
              <a:rPr lang="en-US" altLang="ko-KR" sz="2400" dirty="0"/>
              <a:t> → operator[], at(), </a:t>
            </a:r>
            <a:r>
              <a:rPr lang="en-US" altLang="ko-KR" sz="2400" dirty="0" err="1"/>
              <a:t>try_emplace</a:t>
            </a:r>
            <a:r>
              <a:rPr lang="en-US" altLang="ko-KR" sz="2400" dirty="0"/>
              <a:t>() </a:t>
            </a:r>
            <a:r>
              <a:rPr lang="ko-KR" altLang="en-US" sz="2400" dirty="0"/>
              <a:t>사용 가능</a:t>
            </a:r>
          </a:p>
          <a:p>
            <a:r>
              <a:rPr lang="en-US" altLang="ko-KR" sz="2400" dirty="0" err="1"/>
              <a:t>unordered_multimap</a:t>
            </a:r>
            <a:r>
              <a:rPr lang="en-US" altLang="ko-KR" sz="2400" dirty="0"/>
              <a:t> → operator[], at() </a:t>
            </a:r>
            <a:r>
              <a:rPr lang="ko-KR" altLang="en-US" sz="2400" dirty="0"/>
              <a:t>제공 안 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B69D9F-CFB8-0B1A-EFFC-47F9992FAB29}"/>
              </a:ext>
            </a:extLst>
          </p:cNvPr>
          <p:cNvSpPr txBox="1"/>
          <p:nvPr/>
        </p:nvSpPr>
        <p:spPr>
          <a:xfrm>
            <a:off x="539750" y="3068960"/>
            <a:ext cx="7632650" cy="163121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unordered_map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1003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 =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Elixir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itemNames.try_emplace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1004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Antidote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itemNames.insert_or_assign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1003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High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Elixir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2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39810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35BC8-D677-58D1-FA0F-C12636006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BAB31B-F3A2-C302-0141-18487A11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12.3.3 </a:t>
            </a:r>
            <a:r>
              <a:rPr lang="ko-KR" altLang="en-US" dirty="0"/>
              <a:t>해시 함수</a:t>
            </a:r>
            <a:r>
              <a:rPr lang="en-US" altLang="ko-KR" dirty="0"/>
              <a:t>, </a:t>
            </a:r>
            <a:r>
              <a:rPr lang="ko-KR" altLang="en-US" dirty="0"/>
              <a:t>동등 비교와 버킷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4E0D6C-47CC-207E-03BA-F16B9AAD1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기본 해시 함수 → </a:t>
            </a:r>
            <a:r>
              <a:rPr lang="en-US" altLang="ko-KR" sz="2400" dirty="0"/>
              <a:t>std::hash&lt;Key&gt;</a:t>
            </a:r>
          </a:p>
          <a:p>
            <a:r>
              <a:rPr lang="ko-KR" altLang="en-US" sz="2400" dirty="0"/>
              <a:t>기본 동등 비교 → </a:t>
            </a:r>
            <a:r>
              <a:rPr lang="en-US" altLang="ko-KR" sz="2400" dirty="0"/>
              <a:t>std::</a:t>
            </a:r>
            <a:r>
              <a:rPr lang="en-US" altLang="ko-KR" sz="2400" dirty="0" err="1"/>
              <a:t>equal_to</a:t>
            </a:r>
            <a:r>
              <a:rPr lang="en-US" altLang="ko-KR" sz="2400" dirty="0"/>
              <a:t>&lt;Key&gt;</a:t>
            </a:r>
          </a:p>
          <a:p>
            <a:r>
              <a:rPr lang="ko-KR" altLang="en-US" sz="2400" dirty="0"/>
              <a:t>해시 함수 → 후보 버킷 선택</a:t>
            </a:r>
          </a:p>
          <a:p>
            <a:r>
              <a:rPr lang="ko-KR" altLang="en-US" sz="2400" dirty="0"/>
              <a:t>동등 비교 → 버킷 안에서 정확한 키 확인</a:t>
            </a:r>
          </a:p>
          <a:p>
            <a:r>
              <a:rPr lang="ko-KR" altLang="en-US" sz="2400" dirty="0"/>
              <a:t>버킷 번호 → 일반적인 코드에서는 직접 관리하지 않음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3AA7C1-1726-826A-6615-3CA10882245D}"/>
              </a:ext>
            </a:extLst>
          </p:cNvPr>
          <p:cNvSpPr txBox="1"/>
          <p:nvPr/>
        </p:nvSpPr>
        <p:spPr>
          <a:xfrm>
            <a:off x="522610" y="2985195"/>
            <a:ext cx="7721798" cy="353943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size_t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&gt;{}(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using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Table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unordered_map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equal_to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&gt;;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unordered_set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Alice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Bob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Carol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names.bucket_count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names.bucket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Alice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4333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021E2-7401-BEC8-5F45-D4C96CBD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44DCBA-EA04-9AB0-CDDA-095E607EC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12.3.4 </a:t>
            </a:r>
            <a:r>
              <a:rPr lang="ko-KR" altLang="en-US" dirty="0"/>
              <a:t>충돌</a:t>
            </a:r>
            <a:r>
              <a:rPr lang="en-US" altLang="ko-KR" dirty="0"/>
              <a:t>, </a:t>
            </a:r>
            <a:r>
              <a:rPr lang="ko-KR" altLang="en-US" dirty="0"/>
              <a:t>적재율과 재 해시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D802E0-43E8-4E1B-A873-C869A833B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서로 다른 키가 같은 버킷에 배치 → 해시 충돌</a:t>
            </a:r>
          </a:p>
          <a:p>
            <a:r>
              <a:rPr lang="ko-KR" altLang="en-US" sz="2000" dirty="0"/>
              <a:t>충돌 → 오류 아님</a:t>
            </a:r>
          </a:p>
          <a:p>
            <a:r>
              <a:rPr lang="ko-KR" altLang="en-US" sz="2000" dirty="0"/>
              <a:t>버킷 안의 동등 비교로 키 구분</a:t>
            </a:r>
          </a:p>
          <a:p>
            <a:r>
              <a:rPr lang="ko-KR" altLang="en-US" sz="2000" dirty="0" err="1"/>
              <a:t>적재율</a:t>
            </a:r>
            <a:r>
              <a:rPr lang="ko-KR" altLang="en-US" sz="2000" dirty="0"/>
              <a:t> → 원소 수 </a:t>
            </a:r>
            <a:r>
              <a:rPr lang="en-US" altLang="ko-KR" sz="2000" dirty="0"/>
              <a:t>/ </a:t>
            </a:r>
            <a:r>
              <a:rPr lang="ko-KR" altLang="en-US" sz="2000" dirty="0"/>
              <a:t>버킷 수</a:t>
            </a:r>
          </a:p>
          <a:p>
            <a:r>
              <a:rPr lang="en-US" altLang="ko-KR" sz="2000" dirty="0"/>
              <a:t>reserve(n) → </a:t>
            </a:r>
            <a:r>
              <a:rPr lang="ko-KR" altLang="en-US" sz="2000" dirty="0"/>
              <a:t>원소 수 기준 저장 공간 준비</a:t>
            </a:r>
          </a:p>
          <a:p>
            <a:r>
              <a:rPr lang="en-US" altLang="ko-KR" sz="2000" dirty="0"/>
              <a:t>rehash(n) → </a:t>
            </a:r>
            <a:r>
              <a:rPr lang="ko-KR" altLang="en-US" sz="2000" dirty="0"/>
              <a:t>버킷 수 기준 재구성 요청</a:t>
            </a:r>
          </a:p>
          <a:p>
            <a:r>
              <a:rPr lang="ko-KR" altLang="en-US" sz="2000" dirty="0"/>
              <a:t>재 해시 발생 → 모든 반복자 무효화</a:t>
            </a:r>
          </a:p>
          <a:p>
            <a:r>
              <a:rPr lang="ko-KR" altLang="en-US" sz="2000" dirty="0"/>
              <a:t>재 해시 발생 → 기존 원소의 포인터와 참조는 유지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72606B-7C26-5788-BCE6-41D342335A58}"/>
              </a:ext>
            </a:extLst>
          </p:cNvPr>
          <p:cNvSpPr txBox="1"/>
          <p:nvPr/>
        </p:nvSpPr>
        <p:spPr>
          <a:xfrm>
            <a:off x="539750" y="4077072"/>
            <a:ext cx="6408514" cy="224676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버킷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버킷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Alice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→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Carol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버킷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Bob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버킷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unordered_map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items.reserve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2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4897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14FF-C755-E481-C841-ADB24DDD1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E7BD13-E1D3-A231-8169-A77610B82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12.3.5 </a:t>
            </a:r>
            <a:r>
              <a:rPr lang="ko-KR" altLang="en-US" dirty="0"/>
              <a:t>사용자 정의 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382DE5-3F44-93A6-EDC9-FC19788B1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사용자 정의 키 → 해시 함수와 동등 비교 필요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F4C0ED-0568-ECAD-8B6D-475A1D9786C4}"/>
              </a:ext>
            </a:extLst>
          </p:cNvPr>
          <p:cNvSpPr txBox="1"/>
          <p:nvPr/>
        </p:nvSpPr>
        <p:spPr>
          <a:xfrm>
            <a:off x="539750" y="1340768"/>
            <a:ext cx="6624538" cy="156966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ItemKey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category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==(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ItemKey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D4101-10AE-49DE-88D8-F7BDD3F733EA}"/>
              </a:ext>
            </a:extLst>
          </p:cNvPr>
          <p:cNvSpPr txBox="1"/>
          <p:nvPr/>
        </p:nvSpPr>
        <p:spPr>
          <a:xfrm>
            <a:off x="539750" y="2932157"/>
            <a:ext cx="6624538" cy="230832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ItemKeyHash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size_t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ItemKey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noexcept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size_t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first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&gt;{}(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key.category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size_t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second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&gt;{}(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key.id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first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^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second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389A31-3B91-B362-CE55-B8E569DB7DA2}"/>
              </a:ext>
            </a:extLst>
          </p:cNvPr>
          <p:cNvSpPr txBox="1"/>
          <p:nvPr/>
        </p:nvSpPr>
        <p:spPr>
          <a:xfrm>
            <a:off x="1475656" y="5229200"/>
            <a:ext cx="7200998" cy="132343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동등한 키 → 반드시 같은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해시값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unordered_map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ItemKey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ItemKeyHash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itemNames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서로 다른 키 → 같은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해시값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가능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→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==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61001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73EDF-51C9-82A2-79FC-A527BA6FB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3FBCE-A789-C259-BA26-516CDF803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 </a:t>
            </a:r>
            <a:r>
              <a:rPr lang="ko-KR" altLang="en-US" dirty="0"/>
              <a:t>정렬 연관 컨테이너와 비 정렬 연관 컨테이너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B1CF02-858F-C6FE-8E25-455C5EA66A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정렬 연관 컨테이너 → 비교 규칙 중심</a:t>
            </a:r>
          </a:p>
          <a:p>
            <a:r>
              <a:rPr lang="ko-KR" altLang="en-US" dirty="0"/>
              <a:t>비 정렬 연관 컨테이너 → 해시와 동등 비교 중심</a:t>
            </a:r>
          </a:p>
          <a:p>
            <a:r>
              <a:rPr lang="ko-KR" altLang="en-US" dirty="0"/>
              <a:t>평균 탐색 시간만으로 선택하지 않음</a:t>
            </a:r>
          </a:p>
          <a:p>
            <a:r>
              <a:rPr lang="ko-KR" altLang="en-US" dirty="0"/>
              <a:t>순회 순서</a:t>
            </a:r>
            <a:r>
              <a:rPr lang="en-US" altLang="ko-KR" dirty="0"/>
              <a:t>·</a:t>
            </a:r>
            <a:r>
              <a:rPr lang="ko-KR" altLang="en-US" dirty="0"/>
              <a:t>범위 검색</a:t>
            </a:r>
            <a:r>
              <a:rPr lang="en-US" altLang="ko-KR" dirty="0"/>
              <a:t>·</a:t>
            </a:r>
            <a:r>
              <a:rPr lang="ko-KR" altLang="en-US" dirty="0"/>
              <a:t>최악 비용</a:t>
            </a:r>
            <a:r>
              <a:rPr lang="en-US" altLang="ko-KR" dirty="0"/>
              <a:t>·</a:t>
            </a:r>
            <a:r>
              <a:rPr lang="ko-KR" altLang="en-US" dirty="0"/>
              <a:t>메모리 구조 함께 판단</a:t>
            </a:r>
          </a:p>
        </p:txBody>
      </p:sp>
    </p:spTree>
    <p:extLst>
      <p:ext uri="{BB962C8B-B14F-4D97-AF65-F5344CB8AC3E}">
        <p14:creationId xmlns:p14="http://schemas.microsoft.com/office/powerpoint/2010/main" val="1703199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E793B-128C-886C-06D9-F0EBEB37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7BC108-F062-F7D0-3B7A-44FF73089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12.4.1 </a:t>
            </a:r>
            <a:r>
              <a:rPr lang="ko-KR" altLang="en-US" dirty="0"/>
              <a:t>정렬 여부와 순회 순서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9E9DB2-707C-5ECD-0238-B8914A008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set, map </a:t>
            </a:r>
            <a:r>
              <a:rPr lang="ko-KR" altLang="en-US" dirty="0"/>
              <a:t>계열 → 비교 기준에 따른 정렬 순회</a:t>
            </a:r>
          </a:p>
          <a:p>
            <a:r>
              <a:rPr lang="en-US" altLang="ko-KR" dirty="0"/>
              <a:t>unordered </a:t>
            </a:r>
            <a:r>
              <a:rPr lang="ko-KR" altLang="en-US" dirty="0"/>
              <a:t>계열 → 순회 순서 지정되지 않음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4AE0FC-1EC0-2C09-A1EF-A6B37AD86E26}"/>
              </a:ext>
            </a:extLst>
          </p:cNvPr>
          <p:cNvSpPr txBox="1"/>
          <p:nvPr/>
        </p:nvSpPr>
        <p:spPr>
          <a:xfrm>
            <a:off x="539750" y="1988840"/>
            <a:ext cx="5400402" cy="329320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순회 키: 10, 20, 30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ordered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"C"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"A"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"B"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순회 순서 지정 없음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unordered_map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unordered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"C"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"A"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"B"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752BE62-9CA4-930C-F2E2-13A40BC54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4849032"/>
              </p:ext>
            </p:extLst>
          </p:nvPr>
        </p:nvGraphicFramePr>
        <p:xfrm>
          <a:off x="3581177" y="4992215"/>
          <a:ext cx="5040560" cy="1437816"/>
        </p:xfrm>
        <a:graphic>
          <a:graphicData uri="http://schemas.openxmlformats.org/drawingml/2006/table">
            <a:tbl>
              <a:tblPr/>
              <a:tblGrid>
                <a:gridCol w="2560284">
                  <a:extLst>
                    <a:ext uri="{9D8B030D-6E8A-4147-A177-3AD203B41FA5}">
                      <a16:colId xmlns:a16="http://schemas.microsoft.com/office/drawing/2014/main" val="1492697356"/>
                    </a:ext>
                  </a:extLst>
                </a:gridCol>
                <a:gridCol w="2480276">
                  <a:extLst>
                    <a:ext uri="{9D8B030D-6E8A-4147-A177-3AD203B41FA5}">
                      <a16:colId xmlns:a16="http://schemas.microsoft.com/office/drawing/2014/main" val="7097284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요구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적합한 범주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3843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정렬 순회</a:t>
                      </a:r>
                      <a:endParaRPr lang="ko-KR" sz="24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set</a:t>
                      </a:r>
                      <a:r>
                        <a:rPr lang="ko-KR" sz="24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, </a:t>
                      </a:r>
                      <a:r>
                        <a:rPr lang="ko-KR" sz="24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map</a:t>
                      </a:r>
                      <a:r>
                        <a:rPr lang="ko-KR" sz="24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계열</a:t>
                      </a:r>
                      <a:endParaRPr lang="ko-KR" sz="24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579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정확한 키 검색 중심</a:t>
                      </a:r>
                      <a:endParaRPr lang="ko-KR" sz="24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</a:t>
                      </a:r>
                      <a:r>
                        <a:rPr lang="ko-KR" sz="24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계열</a:t>
                      </a:r>
                      <a:endParaRPr lang="ko-KR" sz="24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1890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05971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C369F-54F7-6E8E-AE6A-8A54ABDF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0F9D83-384A-FA14-4C39-FED41AB40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12.4.2 </a:t>
            </a:r>
            <a:r>
              <a:rPr lang="ko-KR" altLang="en-US" dirty="0"/>
              <a:t>평균 탐색 비용과 최악 탐색 비용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6536FB-5137-8D4A-8E0B-66167F604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unordered </a:t>
            </a:r>
            <a:r>
              <a:rPr lang="ko-KR" altLang="en-US" dirty="0"/>
              <a:t>계열 → 해시 분포가 양호할 때 평균 상수 시간</a:t>
            </a:r>
          </a:p>
          <a:p>
            <a:r>
              <a:rPr lang="ko-KR" altLang="en-US" dirty="0"/>
              <a:t>충돌 집중 → 선형 탐색에 가까워질 수 있음</a:t>
            </a:r>
          </a:p>
          <a:p>
            <a:r>
              <a:rPr lang="ko-KR" altLang="en-US" dirty="0"/>
              <a:t>원소 수가 적으면 → 메모리 접근</a:t>
            </a:r>
            <a:r>
              <a:rPr lang="en-US" altLang="ko-KR" dirty="0"/>
              <a:t>·</a:t>
            </a:r>
            <a:r>
              <a:rPr lang="ko-KR" altLang="en-US" dirty="0"/>
              <a:t>할당 비용 영향 증가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1009610-A5A1-4148-5A53-8292EDC0FE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537071"/>
              </p:ext>
            </p:extLst>
          </p:nvPr>
        </p:nvGraphicFramePr>
        <p:xfrm>
          <a:off x="611560" y="2782799"/>
          <a:ext cx="6912769" cy="1651176"/>
        </p:xfrm>
        <a:graphic>
          <a:graphicData uri="http://schemas.openxmlformats.org/drawingml/2006/table">
            <a:tbl>
              <a:tblPr/>
              <a:tblGrid>
                <a:gridCol w="2872839">
                  <a:extLst>
                    <a:ext uri="{9D8B030D-6E8A-4147-A177-3AD203B41FA5}">
                      <a16:colId xmlns:a16="http://schemas.microsoft.com/office/drawing/2014/main" val="1036129851"/>
                    </a:ext>
                  </a:extLst>
                </a:gridCol>
                <a:gridCol w="2019965">
                  <a:extLst>
                    <a:ext uri="{9D8B030D-6E8A-4147-A177-3AD203B41FA5}">
                      <a16:colId xmlns:a16="http://schemas.microsoft.com/office/drawing/2014/main" val="1135129119"/>
                    </a:ext>
                  </a:extLst>
                </a:gridCol>
                <a:gridCol w="2019965">
                  <a:extLst>
                    <a:ext uri="{9D8B030D-6E8A-4147-A177-3AD203B41FA5}">
                      <a16:colId xmlns:a16="http://schemas.microsoft.com/office/drawing/2014/main" val="35157332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범주</a:t>
                      </a:r>
                      <a:endParaRPr lang="ko-KR" sz="4000" b="1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평균 탐색</a:t>
                      </a:r>
                      <a:endParaRPr lang="ko-KR" sz="4000" b="1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최악 탐색</a:t>
                      </a:r>
                      <a:endParaRPr lang="ko-KR" sz="4000" b="1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350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8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set</a:t>
                      </a:r>
                      <a:r>
                        <a:rPr lang="ko-KR" sz="28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, </a:t>
                      </a:r>
                      <a:r>
                        <a:rPr lang="ko-KR" sz="28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map</a:t>
                      </a:r>
                      <a:r>
                        <a:rPr lang="ko-KR" sz="28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계열</a:t>
                      </a:r>
                      <a:endParaRPr lang="ko-KR" sz="44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8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</a:t>
                      </a:r>
                      <a:r>
                        <a:rPr lang="ko-KR" sz="28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</a:t>
                      </a:r>
                      <a:r>
                        <a:rPr lang="ko-KR" sz="28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log</a:t>
                      </a:r>
                      <a:r>
                        <a:rPr lang="ko-KR" sz="28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8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n</a:t>
                      </a:r>
                      <a:r>
                        <a:rPr lang="ko-KR" sz="28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)</a:t>
                      </a:r>
                      <a:endParaRPr lang="ko-KR" sz="44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8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</a:t>
                      </a:r>
                      <a:r>
                        <a:rPr lang="ko-KR" sz="28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</a:t>
                      </a:r>
                      <a:r>
                        <a:rPr lang="ko-KR" sz="28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log</a:t>
                      </a:r>
                      <a:r>
                        <a:rPr lang="ko-KR" sz="28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8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n</a:t>
                      </a:r>
                      <a:r>
                        <a:rPr lang="ko-KR" sz="28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)</a:t>
                      </a:r>
                      <a:endParaRPr lang="ko-KR" sz="44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30330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8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</a:t>
                      </a:r>
                      <a:r>
                        <a:rPr lang="ko-KR" sz="28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계열</a:t>
                      </a:r>
                      <a:endParaRPr lang="ko-KR" sz="44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8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</a:t>
                      </a:r>
                      <a:r>
                        <a:rPr lang="ko-KR" sz="28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(1)</a:t>
                      </a:r>
                      <a:endParaRPr lang="ko-KR" sz="44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8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</a:t>
                      </a:r>
                      <a:r>
                        <a:rPr lang="ko-KR" sz="28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</a:t>
                      </a:r>
                      <a:r>
                        <a:rPr lang="ko-KR" sz="28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n</a:t>
                      </a:r>
                      <a:r>
                        <a:rPr lang="ko-KR" sz="28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)</a:t>
                      </a:r>
                      <a:endParaRPr lang="ko-KR" sz="44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063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081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F9791-1081-C65A-BA77-53E429C27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A44EA2-29A8-5D8C-5FDE-A2CE1175E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12.4.3 </a:t>
            </a:r>
            <a:r>
              <a:rPr lang="ko-KR" altLang="en-US" dirty="0"/>
              <a:t>메모리 구조와 캐시 지역성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38C169-32BB-8D50-504A-3CA599BFF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정렬 연관 컨테이너</a:t>
            </a:r>
            <a:br>
              <a:rPr lang="en-US" altLang="ko-KR" dirty="0"/>
            </a:br>
            <a:r>
              <a:rPr lang="en-US" altLang="ko-KR" dirty="0"/>
              <a:t>  </a:t>
            </a:r>
            <a:r>
              <a:rPr lang="ko-KR" altLang="en-US" dirty="0"/>
              <a:t>→ 일반적으로 노드 기반 트리 구조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비 정렬 연관 컨테이너</a:t>
            </a:r>
            <a:br>
              <a:rPr lang="en-US" altLang="ko-KR" dirty="0"/>
            </a:br>
            <a:r>
              <a:rPr lang="en-US" altLang="ko-KR" dirty="0"/>
              <a:t>  </a:t>
            </a:r>
            <a:r>
              <a:rPr lang="ko-KR" altLang="en-US" dirty="0"/>
              <a:t>→ 버킷 배열 </a:t>
            </a:r>
            <a:r>
              <a:rPr lang="en-US" altLang="ko-KR" dirty="0"/>
              <a:t>+ </a:t>
            </a:r>
            <a:r>
              <a:rPr lang="ko-KR" altLang="en-US" dirty="0"/>
              <a:t>원소 저장 구조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두 범주 모두</a:t>
            </a:r>
            <a:br>
              <a:rPr lang="en-US" altLang="ko-KR" dirty="0"/>
            </a:br>
            <a:r>
              <a:rPr lang="en-US" altLang="ko-KR" dirty="0"/>
              <a:t>  </a:t>
            </a:r>
            <a:r>
              <a:rPr lang="ko-KR" altLang="en-US" dirty="0"/>
              <a:t>→ </a:t>
            </a:r>
            <a:r>
              <a:rPr lang="en-US" altLang="ko-KR" dirty="0"/>
              <a:t>std::vector </a:t>
            </a:r>
            <a:r>
              <a:rPr lang="ko-KR" altLang="en-US" dirty="0"/>
              <a:t>같은 전체 연속 메모리 보장 없음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실제 성능</a:t>
            </a:r>
            <a:br>
              <a:rPr lang="en-US" altLang="ko-KR" dirty="0"/>
            </a:br>
            <a:r>
              <a:rPr lang="en-US" altLang="ko-KR" dirty="0"/>
              <a:t>  </a:t>
            </a:r>
            <a:r>
              <a:rPr lang="ko-KR" altLang="en-US" dirty="0"/>
              <a:t>→ 메모리 접근 패턴의 영향도 고려</a:t>
            </a:r>
          </a:p>
        </p:txBody>
      </p:sp>
    </p:spTree>
    <p:extLst>
      <p:ext uri="{BB962C8B-B14F-4D97-AF65-F5344CB8AC3E}">
        <p14:creationId xmlns:p14="http://schemas.microsoft.com/office/powerpoint/2010/main" val="17964097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24926-E2C2-0548-14BC-2AF3F80A5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FC0044-06E5-211D-4A8E-8164385F7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12.4.4 </a:t>
            </a:r>
            <a:r>
              <a:rPr lang="ko-KR" altLang="en-US" dirty="0"/>
              <a:t>범위 검색과 선택 기준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FEA7BA-825D-7EBC-A1D8-6BC5F4EE7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정렬 연관 컨테이너 → </a:t>
            </a:r>
            <a:r>
              <a:rPr lang="en-US" altLang="ko-KR" sz="2400" dirty="0" err="1"/>
              <a:t>lower_bound</a:t>
            </a:r>
            <a:r>
              <a:rPr lang="en-US" altLang="ko-KR" sz="2400" dirty="0"/>
              <a:t>(), </a:t>
            </a:r>
            <a:r>
              <a:rPr lang="en-US" altLang="ko-KR" sz="2400" dirty="0" err="1"/>
              <a:t>upper_bound</a:t>
            </a:r>
            <a:r>
              <a:rPr lang="en-US" altLang="ko-KR" sz="2400" dirty="0"/>
              <a:t>() </a:t>
            </a:r>
            <a:r>
              <a:rPr lang="ko-KR" altLang="en-US" sz="2400" dirty="0"/>
              <a:t>지원</a:t>
            </a:r>
          </a:p>
          <a:p>
            <a:r>
              <a:rPr lang="ko-KR" altLang="en-US" sz="2400" dirty="0"/>
              <a:t>정렬 연관 컨테이너 → 최소값</a:t>
            </a:r>
            <a:r>
              <a:rPr lang="en-US" altLang="ko-KR" sz="2400" dirty="0"/>
              <a:t>·</a:t>
            </a:r>
            <a:r>
              <a:rPr lang="ko-KR" altLang="en-US" sz="2400" dirty="0"/>
              <a:t>최대값</a:t>
            </a:r>
            <a:r>
              <a:rPr lang="en-US" altLang="ko-KR" sz="2400" dirty="0"/>
              <a:t>·</a:t>
            </a:r>
            <a:r>
              <a:rPr lang="ko-KR" altLang="en-US" sz="2400" dirty="0"/>
              <a:t>구간 검색에 적합</a:t>
            </a:r>
          </a:p>
          <a:p>
            <a:r>
              <a:rPr lang="ko-KR" altLang="en-US" sz="2400" dirty="0"/>
              <a:t>비 정렬 연관 컨테이너 → 정확한 키 검색 중심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C7F92B-7C6E-09CD-72C3-3C5C6AB024BE}"/>
              </a:ext>
            </a:extLst>
          </p:cNvPr>
          <p:cNvSpPr txBox="1"/>
          <p:nvPr/>
        </p:nvSpPr>
        <p:spPr>
          <a:xfrm>
            <a:off x="547762" y="2276872"/>
            <a:ext cx="5608414" cy="101566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first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players.lower_bound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last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players.upper_bound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1999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A2CD136-B10C-8919-5FAA-1FB4582B0E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94215"/>
              </p:ext>
            </p:extLst>
          </p:nvPr>
        </p:nvGraphicFramePr>
        <p:xfrm>
          <a:off x="539750" y="3565466"/>
          <a:ext cx="7200603" cy="2662272"/>
        </p:xfrm>
        <a:graphic>
          <a:graphicData uri="http://schemas.openxmlformats.org/drawingml/2006/table">
            <a:tbl>
              <a:tblPr/>
              <a:tblGrid>
                <a:gridCol w="2199199">
                  <a:extLst>
                    <a:ext uri="{9D8B030D-6E8A-4147-A177-3AD203B41FA5}">
                      <a16:colId xmlns:a16="http://schemas.microsoft.com/office/drawing/2014/main" val="444607283"/>
                    </a:ext>
                  </a:extLst>
                </a:gridCol>
                <a:gridCol w="2199199">
                  <a:extLst>
                    <a:ext uri="{9D8B030D-6E8A-4147-A177-3AD203B41FA5}">
                      <a16:colId xmlns:a16="http://schemas.microsoft.com/office/drawing/2014/main" val="2848965427"/>
                    </a:ext>
                  </a:extLst>
                </a:gridCol>
                <a:gridCol w="2802205">
                  <a:extLst>
                    <a:ext uri="{9D8B030D-6E8A-4147-A177-3AD203B41FA5}">
                      <a16:colId xmlns:a16="http://schemas.microsoft.com/office/drawing/2014/main" val="40935364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기준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set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map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계열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unordered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계열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507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키 배치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비교 함수 순서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해시 버킷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719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순회 순서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정렬됨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지정되지 않음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358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범위 검색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지원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지원하지 않음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713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사용자 정의 키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비교 규칙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해시 + 동등 비교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81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삽입 시 반복자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기존 위치 유지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재 해시 시 전체 무효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853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41909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12BA3-7B56-1FC5-70AF-DE2F182E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7BEE27-734E-19BD-61D7-0DBF7181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12.5 std::stack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A5EB-29B4-9D9C-C1AA-B140A65CE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컨테이너 어댑터</a:t>
            </a:r>
            <a:endParaRPr lang="en-US" altLang="ko-KR" dirty="0"/>
          </a:p>
          <a:p>
            <a:pPr lvl="1"/>
            <a:r>
              <a:rPr lang="ko-KR" altLang="ko-KR" dirty="0"/>
              <a:t>이미 존재하는 기본 컨테이너(예: </a:t>
            </a:r>
            <a:r>
              <a:rPr lang="ko-KR" altLang="ko-KR" dirty="0" err="1"/>
              <a:t>vector</a:t>
            </a:r>
            <a:r>
              <a:rPr lang="ko-KR" altLang="ko-KR" dirty="0"/>
              <a:t>, </a:t>
            </a:r>
            <a:r>
              <a:rPr lang="ko-KR" altLang="ko-KR" dirty="0" err="1"/>
              <a:t>deque</a:t>
            </a:r>
            <a:r>
              <a:rPr lang="ko-KR" altLang="ko-KR" dirty="0"/>
              <a:t>, </a:t>
            </a:r>
            <a:r>
              <a:rPr lang="ko-KR" altLang="ko-KR" dirty="0" err="1"/>
              <a:t>list</a:t>
            </a:r>
            <a:r>
              <a:rPr lang="ko-KR" altLang="ko-KR" dirty="0"/>
              <a:t>)의 </a:t>
            </a:r>
            <a:r>
              <a:rPr lang="ko-KR" altLang="ko-KR" dirty="0" err="1"/>
              <a:t>인터페</a:t>
            </a:r>
            <a:r>
              <a:rPr lang="ko-KR" altLang="ko-KR" dirty="0"/>
              <a:t> 이스를 제한하거나 변경하여, 특정 목적에 맞는 새로운 형태의 자료 구조로 감싸서 제공하는 클래스 템플릿</a:t>
            </a:r>
            <a:endParaRPr lang="ko-KR" altLang="en-US" dirty="0"/>
          </a:p>
          <a:p>
            <a:pPr lvl="3"/>
            <a:endParaRPr lang="en-US" altLang="ko-KR" dirty="0"/>
          </a:p>
          <a:p>
            <a:r>
              <a:rPr lang="en-US" altLang="ko-KR" dirty="0"/>
              <a:t>std::stack </a:t>
            </a:r>
            <a:r>
              <a:rPr lang="ko-KR" altLang="en-US" dirty="0"/>
              <a:t>→ </a:t>
            </a:r>
            <a:r>
              <a:rPr lang="ko-KR" altLang="en-US" dirty="0" err="1"/>
              <a:t>후입선출</a:t>
            </a:r>
            <a:r>
              <a:rPr lang="en-US" altLang="ko-KR" dirty="0"/>
              <a:t>(LIFO)</a:t>
            </a:r>
          </a:p>
          <a:p>
            <a:endParaRPr lang="ko-KR" altLang="en-US" dirty="0"/>
          </a:p>
          <a:p>
            <a:r>
              <a:rPr lang="ko-KR" altLang="en-US" dirty="0"/>
              <a:t>기본 기반 컨테이너 → </a:t>
            </a:r>
            <a:r>
              <a:rPr lang="en-US" altLang="ko-KR" dirty="0"/>
              <a:t>std::deque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05582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1D021-46F3-5F56-7BD5-F593A8F1D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3D66A7-A9A8-250B-74CE-5822CBCE6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12.5.1 </a:t>
            </a:r>
            <a:r>
              <a:rPr lang="ko-KR" altLang="en-US" dirty="0" err="1"/>
              <a:t>후입선출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A05B24-781E-9A08-37B2-DC995C195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마지막에 넣은 원소 → 가장 먼저 처리</a:t>
            </a:r>
          </a:p>
          <a:p>
            <a:r>
              <a:rPr lang="en-US" altLang="ko-KR" sz="2400" dirty="0"/>
              <a:t>push() → </a:t>
            </a:r>
            <a:r>
              <a:rPr lang="ko-KR" altLang="en-US" sz="2400" dirty="0"/>
              <a:t>원소 추가</a:t>
            </a:r>
          </a:p>
          <a:p>
            <a:r>
              <a:rPr lang="en-US" altLang="ko-KR" sz="2400" dirty="0"/>
              <a:t>top() → </a:t>
            </a:r>
            <a:r>
              <a:rPr lang="ko-KR" altLang="en-US" sz="2400" dirty="0"/>
              <a:t>가장 위 원소 확인</a:t>
            </a:r>
          </a:p>
          <a:p>
            <a:r>
              <a:rPr lang="en-US" altLang="ko-KR" sz="2400" dirty="0"/>
              <a:t>pop() → </a:t>
            </a:r>
            <a:r>
              <a:rPr lang="ko-KR" altLang="en-US" sz="2400" dirty="0"/>
              <a:t>가장 위 원소 제거</a:t>
            </a:r>
          </a:p>
          <a:p>
            <a:r>
              <a:rPr lang="en-US" altLang="ko-KR" sz="2400" dirty="0"/>
              <a:t>pop() → </a:t>
            </a:r>
            <a:r>
              <a:rPr lang="ko-KR" altLang="en-US" sz="2400" dirty="0"/>
              <a:t>제거한 값 반환 안 함</a:t>
            </a:r>
          </a:p>
          <a:p>
            <a:r>
              <a:rPr lang="ko-KR" altLang="en-US" sz="2400" dirty="0"/>
              <a:t>빈 상태에서 </a:t>
            </a:r>
            <a:r>
              <a:rPr lang="en-US" altLang="ko-KR" sz="2400" dirty="0"/>
              <a:t>top(), pop() </a:t>
            </a:r>
            <a:r>
              <a:rPr lang="ko-KR" altLang="en-US" sz="2400" dirty="0"/>
              <a:t>호출 금지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6F603-E154-5D2C-771F-80AD338621A7}"/>
              </a:ext>
            </a:extLst>
          </p:cNvPr>
          <p:cNvSpPr txBox="1"/>
          <p:nvPr/>
        </p:nvSpPr>
        <p:spPr>
          <a:xfrm>
            <a:off x="539750" y="3556833"/>
            <a:ext cx="7416626" cy="286232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stack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stack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values.push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values.push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values.push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values.top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</a:t>
            </a: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30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values.pop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values.top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</a:t>
            </a: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20</a:t>
            </a:r>
            <a:endParaRPr lang="ko-KR" altLang="en-US" sz="1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61321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B471F-2963-9555-B5BA-5375FB01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2BE65-9603-407A-6D20-D983714F0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12.5.2 </a:t>
            </a:r>
            <a:r>
              <a:rPr lang="ko-KR" altLang="en-US" dirty="0"/>
              <a:t>기반 컨테이너와 제한된 인터페이스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10BA19-1EA4-B48C-4CA1-4C0CE7A59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std::stack</a:t>
            </a:r>
            <a:r>
              <a:rPr lang="ko-KR" altLang="en-US" sz="2400" dirty="0"/>
              <a:t>은 컨테이너 어댑터</a:t>
            </a:r>
          </a:p>
          <a:p>
            <a:r>
              <a:rPr lang="ko-KR" altLang="en-US" sz="2400" dirty="0"/>
              <a:t>기본 기반 컨테이너는 </a:t>
            </a:r>
            <a:r>
              <a:rPr lang="en-US" altLang="ko-KR" sz="2400" dirty="0"/>
              <a:t>std::deque</a:t>
            </a:r>
          </a:p>
          <a:p>
            <a:r>
              <a:rPr lang="ko-KR" altLang="en-US" sz="2400" dirty="0"/>
              <a:t>기반 컨테이너 요구 기능 → </a:t>
            </a:r>
            <a:r>
              <a:rPr lang="en-US" altLang="ko-KR" sz="2400" dirty="0"/>
              <a:t>back(), </a:t>
            </a:r>
            <a:r>
              <a:rPr lang="en-US" altLang="ko-KR" sz="2400" dirty="0" err="1"/>
              <a:t>push_back</a:t>
            </a:r>
            <a:r>
              <a:rPr lang="en-US" altLang="ko-KR" sz="2400" dirty="0"/>
              <a:t>(), </a:t>
            </a:r>
            <a:r>
              <a:rPr lang="en-US" altLang="ko-KR" sz="2400" dirty="0" err="1"/>
              <a:t>pop_back</a:t>
            </a:r>
            <a:r>
              <a:rPr lang="en-US" altLang="ko-KR" sz="2400" dirty="0"/>
              <a:t>()</a:t>
            </a:r>
          </a:p>
          <a:p>
            <a:r>
              <a:rPr lang="en-US" altLang="ko-KR" sz="2400" dirty="0"/>
              <a:t>std::deque, std::vector, std::list </a:t>
            </a:r>
            <a:r>
              <a:rPr lang="ko-KR" altLang="en-US" sz="2400" dirty="0"/>
              <a:t>사용 가능</a:t>
            </a:r>
          </a:p>
          <a:p>
            <a:r>
              <a:rPr lang="ko-KR" altLang="en-US" sz="2400" dirty="0"/>
              <a:t>반복자 제공 안 함</a:t>
            </a:r>
          </a:p>
          <a:p>
            <a:r>
              <a:rPr lang="ko-KR" altLang="en-US" sz="2400" dirty="0"/>
              <a:t>중간 원소 접근 제한 → </a:t>
            </a:r>
            <a:r>
              <a:rPr lang="en-US" altLang="ko-KR" sz="2400" dirty="0"/>
              <a:t>LIFO </a:t>
            </a:r>
            <a:r>
              <a:rPr lang="ko-KR" altLang="en-US" sz="2400" dirty="0"/>
              <a:t>규칙 유지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9162-09FA-3C51-C300-684ED4C99D32}"/>
              </a:ext>
            </a:extLst>
          </p:cNvPr>
          <p:cNvSpPr txBox="1"/>
          <p:nvPr/>
        </p:nvSpPr>
        <p:spPr>
          <a:xfrm>
            <a:off x="523379" y="3464818"/>
            <a:ext cx="5848822" cy="92333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stack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defaultStack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stack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vectorStack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stack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listSta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474BD-84DF-1AD7-A918-8B78F0A77680}"/>
              </a:ext>
            </a:extLst>
          </p:cNvPr>
          <p:cNvSpPr txBox="1"/>
          <p:nvPr/>
        </p:nvSpPr>
        <p:spPr>
          <a:xfrm>
            <a:off x="523378" y="4394944"/>
            <a:ext cx="5848822" cy="203132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Command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Command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: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)),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 }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0EC08-C06A-7C13-5947-6CDFD2D8BA9D}"/>
              </a:ext>
            </a:extLst>
          </p:cNvPr>
          <p:cNvSpPr txBox="1"/>
          <p:nvPr/>
        </p:nvSpPr>
        <p:spPr>
          <a:xfrm>
            <a:off x="4788123" y="5927472"/>
            <a:ext cx="417646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stack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Command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commands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commands.emplace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90598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F626C-A760-C479-E47E-099E61E6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A3CAC-694E-8A9F-8ABA-0D6E33236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12.5.3 </a:t>
            </a:r>
            <a:r>
              <a:rPr lang="ko-KR" altLang="en-US" dirty="0"/>
              <a:t>스택 활용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F621C9-4B10-1240-2291-7066CD3CB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대표 활용</a:t>
            </a:r>
          </a:p>
          <a:p>
            <a:pPr lvl="1"/>
            <a:r>
              <a:rPr lang="ko-KR" altLang="en-US" dirty="0"/>
              <a:t>실행 취소</a:t>
            </a:r>
          </a:p>
          <a:p>
            <a:pPr lvl="1"/>
            <a:r>
              <a:rPr lang="ko-KR" altLang="en-US" dirty="0"/>
              <a:t>괄호 검사</a:t>
            </a:r>
          </a:p>
          <a:p>
            <a:pPr lvl="1"/>
            <a:r>
              <a:rPr lang="ko-KR" altLang="en-US" dirty="0"/>
              <a:t>깊이 우선 처리</a:t>
            </a:r>
          </a:p>
          <a:p>
            <a:pPr lvl="1"/>
            <a:r>
              <a:rPr lang="ko-KR" altLang="en-US" dirty="0"/>
              <a:t>재귀 호출을 반복 구조로 변환</a:t>
            </a:r>
          </a:p>
          <a:p>
            <a:pPr lvl="1"/>
            <a:r>
              <a:rPr lang="ko-KR" altLang="en-US" dirty="0"/>
              <a:t>최근 상태부터 역순 처리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D074001-15A7-1646-E752-09A607531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779650"/>
              </p:ext>
            </p:extLst>
          </p:nvPr>
        </p:nvGraphicFramePr>
        <p:xfrm>
          <a:off x="5076056" y="836712"/>
          <a:ext cx="3240360" cy="1812000"/>
        </p:xfrm>
        <a:graphic>
          <a:graphicData uri="http://schemas.openxmlformats.org/drawingml/2006/table">
            <a:tbl>
              <a:tblPr/>
              <a:tblGrid>
                <a:gridCol w="3240360">
                  <a:extLst>
                    <a:ext uri="{9D8B030D-6E8A-4147-A177-3AD203B41FA5}">
                      <a16:colId xmlns:a16="http://schemas.microsoft.com/office/drawing/2014/main" val="4007411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입력 A → 입력 B → 입력 C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            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                   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↓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        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                   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top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             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                   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↓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              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                   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216000" marR="216000" marT="144000" marB="14400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233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9CCCABD-7C83-E92C-8711-682702D06BF6}"/>
              </a:ext>
            </a:extLst>
          </p:cNvPr>
          <p:cNvSpPr txBox="1"/>
          <p:nvPr/>
        </p:nvSpPr>
        <p:spPr>
          <a:xfrm>
            <a:off x="539750" y="3488809"/>
            <a:ext cx="3888432" cy="310854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undoHistory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undoHistory.push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Create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undoHistory.push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undoHistory.push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Delete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실행 취소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undoHistory.empty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undo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"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undoHistory.top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undoHistory.pop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762174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F4606-657B-2832-CC9C-D539627BA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C0125-2B9A-22C0-A349-6245F8396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12.6 std::queue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53FF04-FA75-4395-5B36-999626C55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컨테이너 어댑터</a:t>
            </a:r>
          </a:p>
          <a:p>
            <a:r>
              <a:rPr lang="ko-KR" altLang="en-US" dirty="0"/>
              <a:t>선입선출</a:t>
            </a:r>
            <a:r>
              <a:rPr lang="en-US" altLang="ko-KR" dirty="0"/>
              <a:t>(FIFO) </a:t>
            </a:r>
            <a:r>
              <a:rPr lang="ko-KR" altLang="en-US" dirty="0"/>
              <a:t>처리</a:t>
            </a:r>
          </a:p>
          <a:p>
            <a:r>
              <a:rPr lang="ko-KR" altLang="en-US" dirty="0"/>
              <a:t>기본 기반 컨테이너 → </a:t>
            </a:r>
            <a:r>
              <a:rPr lang="en-US" altLang="ko-KR" dirty="0"/>
              <a:t>std::deque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8137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BC9E3-4B73-8864-CA06-A44A9EC39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AEDDED-44B2-EAB0-9536-6D9B22B0B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12.6.1 </a:t>
            </a:r>
            <a:r>
              <a:rPr lang="ko-KR" altLang="en-US" dirty="0"/>
              <a:t>선입선출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E1FCFF-FA5D-3BA8-47F4-F2D90491A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먼저 넣은 원소 → 가장 먼저 처리</a:t>
            </a:r>
          </a:p>
          <a:p>
            <a:r>
              <a:rPr lang="en-US" altLang="ko-KR" sz="2400" dirty="0"/>
              <a:t>push() → </a:t>
            </a:r>
            <a:r>
              <a:rPr lang="ko-KR" altLang="en-US" sz="2400" dirty="0"/>
              <a:t>뒤에 추가</a:t>
            </a:r>
          </a:p>
          <a:p>
            <a:r>
              <a:rPr lang="en-US" altLang="ko-KR" sz="2400" dirty="0"/>
              <a:t>front() → </a:t>
            </a:r>
            <a:r>
              <a:rPr lang="ko-KR" altLang="en-US" sz="2400" dirty="0"/>
              <a:t>앞 원소 확인</a:t>
            </a:r>
          </a:p>
          <a:p>
            <a:r>
              <a:rPr lang="en-US" altLang="ko-KR" sz="2400" dirty="0"/>
              <a:t>back() → </a:t>
            </a:r>
            <a:r>
              <a:rPr lang="ko-KR" altLang="en-US" sz="2400" dirty="0"/>
              <a:t>마지막 원소 확인</a:t>
            </a:r>
          </a:p>
          <a:p>
            <a:r>
              <a:rPr lang="en-US" altLang="ko-KR" sz="2400" dirty="0"/>
              <a:t>pop() → </a:t>
            </a:r>
            <a:r>
              <a:rPr lang="ko-KR" altLang="en-US" sz="2400" dirty="0"/>
              <a:t>앞 원소 제거</a:t>
            </a:r>
          </a:p>
          <a:p>
            <a:r>
              <a:rPr lang="ko-KR" altLang="en-US" sz="2400" dirty="0"/>
              <a:t>빈 상태에서 </a:t>
            </a:r>
            <a:r>
              <a:rPr lang="en-US" altLang="ko-KR" sz="2400" dirty="0"/>
              <a:t>front(), back(), pop() </a:t>
            </a:r>
            <a:r>
              <a:rPr lang="ko-KR" altLang="en-US" sz="2400" dirty="0"/>
              <a:t>호출 금지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62D55E-DECE-DA08-A437-4A7CAAB9F83D}"/>
              </a:ext>
            </a:extLst>
          </p:cNvPr>
          <p:cNvSpPr txBox="1"/>
          <p:nvPr/>
        </p:nvSpPr>
        <p:spPr>
          <a:xfrm>
            <a:off x="539750" y="3525976"/>
            <a:ext cx="7056586" cy="286232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queue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queue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messages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messages.push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Connect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messages.push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Load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messages.push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Start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messages.front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messages.pop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messages.front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31768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517EF-E60D-7AEA-4ED2-5008AFEAC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98AE18-45EC-668A-16C9-25BCB78E9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12.6.2 </a:t>
            </a:r>
            <a:r>
              <a:rPr lang="ko-KR" altLang="en-US" dirty="0"/>
              <a:t>기반 컨테이너와 제한된 인터페이스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21D5F2-C9C5-5059-BC8B-A23A37B72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기반 컨테이너 요구 기능 → </a:t>
            </a:r>
            <a:r>
              <a:rPr lang="en-US" altLang="ko-KR" dirty="0"/>
              <a:t>front(), back(), </a:t>
            </a:r>
            <a:r>
              <a:rPr lang="en-US" altLang="ko-KR" dirty="0" err="1"/>
              <a:t>push_back</a:t>
            </a:r>
            <a:r>
              <a:rPr lang="en-US" altLang="ko-KR" dirty="0"/>
              <a:t>(), </a:t>
            </a:r>
            <a:r>
              <a:rPr lang="en-US" altLang="ko-KR" dirty="0" err="1"/>
              <a:t>pop_front</a:t>
            </a:r>
            <a:r>
              <a:rPr lang="en-US" altLang="ko-KR" dirty="0"/>
              <a:t>()</a:t>
            </a:r>
          </a:p>
          <a:p>
            <a:r>
              <a:rPr lang="en-US" altLang="ko-KR" dirty="0"/>
              <a:t>std::deque, std::list </a:t>
            </a:r>
            <a:r>
              <a:rPr lang="ko-KR" altLang="en-US" dirty="0"/>
              <a:t>사용 가능</a:t>
            </a:r>
          </a:p>
          <a:p>
            <a:r>
              <a:rPr lang="en-US" altLang="ko-KR" dirty="0"/>
              <a:t>std::vector → </a:t>
            </a:r>
            <a:r>
              <a:rPr lang="en-US" altLang="ko-KR" dirty="0" err="1"/>
              <a:t>pop_front</a:t>
            </a:r>
            <a:r>
              <a:rPr lang="en-US" altLang="ko-KR" dirty="0"/>
              <a:t>()</a:t>
            </a:r>
            <a:r>
              <a:rPr lang="ko-KR" altLang="en-US" dirty="0"/>
              <a:t>가 없어 사용 불가</a:t>
            </a:r>
          </a:p>
          <a:p>
            <a:r>
              <a:rPr lang="ko-KR" altLang="en-US" dirty="0"/>
              <a:t>반복자 제공 안 함</a:t>
            </a:r>
          </a:p>
          <a:p>
            <a:r>
              <a:rPr lang="ko-KR" altLang="en-US" dirty="0"/>
              <a:t>중간 원소 접근 제한 → </a:t>
            </a:r>
            <a:r>
              <a:rPr lang="en-US" altLang="ko-KR" dirty="0"/>
              <a:t>FIFO </a:t>
            </a:r>
            <a:r>
              <a:rPr lang="ko-KR" altLang="en-US" dirty="0"/>
              <a:t>규칙 유지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B9CB01-5E36-113E-E058-EFCADEA00439}"/>
              </a:ext>
            </a:extLst>
          </p:cNvPr>
          <p:cNvSpPr txBox="1"/>
          <p:nvPr/>
        </p:nvSpPr>
        <p:spPr>
          <a:xfrm>
            <a:off x="539750" y="4077072"/>
            <a:ext cx="7632650" cy="193899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queue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defaultQueue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queue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list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&gt;&gt;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listQueue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queue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Command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commands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commands.emplace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4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2003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228D8-8245-7FEA-5EB4-78DA5F4D6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11262C-7872-2D07-4446-F602195A3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12.6.3 </a:t>
            </a:r>
            <a:r>
              <a:rPr lang="ko-KR" altLang="en-US" dirty="0"/>
              <a:t>작업 대기열과 메시지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75EC1C-7154-F060-A377-EF3C4A2D1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작업 요청 순서대로 처리</a:t>
            </a:r>
          </a:p>
          <a:p>
            <a:r>
              <a:rPr lang="ko-KR" altLang="en-US" sz="2400" dirty="0"/>
              <a:t>네트워크 메시지 처리</a:t>
            </a:r>
          </a:p>
          <a:p>
            <a:r>
              <a:rPr lang="ko-KR" altLang="en-US" sz="2400" dirty="0"/>
              <a:t>이벤트 처리</a:t>
            </a:r>
          </a:p>
          <a:p>
            <a:r>
              <a:rPr lang="ko-KR" altLang="en-US" sz="2400" dirty="0"/>
              <a:t>너비 우선 탐색</a:t>
            </a:r>
            <a:r>
              <a:rPr lang="en-US" altLang="ko-KR" sz="2400" dirty="0"/>
              <a:t>(BFS)</a:t>
            </a:r>
          </a:p>
          <a:p>
            <a:r>
              <a:rPr lang="en-US" altLang="ko-KR" sz="2400" dirty="0"/>
              <a:t>front()</a:t>
            </a:r>
            <a:r>
              <a:rPr lang="ko-KR" altLang="en-US" sz="2400" dirty="0"/>
              <a:t>의 참조 → </a:t>
            </a:r>
            <a:r>
              <a:rPr lang="en-US" altLang="ko-KR" sz="2400" dirty="0"/>
              <a:t>pop() </a:t>
            </a:r>
            <a:r>
              <a:rPr lang="ko-KR" altLang="en-US" sz="2400" dirty="0"/>
              <a:t>이후 사용 금지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625DF9-49B0-B002-389D-CD2FDC68DB6A}"/>
              </a:ext>
            </a:extLst>
          </p:cNvPr>
          <p:cNvSpPr txBox="1"/>
          <p:nvPr/>
        </p:nvSpPr>
        <p:spPr>
          <a:xfrm>
            <a:off x="539750" y="3139027"/>
            <a:ext cx="3744218" cy="1477328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description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3E44F-2A3A-5B1B-EE89-A8A388BFA0B7}"/>
              </a:ext>
            </a:extLst>
          </p:cNvPr>
          <p:cNvSpPr txBox="1"/>
          <p:nvPr/>
        </p:nvSpPr>
        <p:spPr>
          <a:xfrm>
            <a:off x="539750" y="4616355"/>
            <a:ext cx="3744218" cy="120032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queue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jobs.push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Load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texture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jobs.push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Create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mesh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jobs.push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scene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005990-8B61-13F6-D97F-176D5CACE362}"/>
              </a:ext>
            </a:extLst>
          </p:cNvPr>
          <p:cNvSpPr txBox="1"/>
          <p:nvPr/>
        </p:nvSpPr>
        <p:spPr>
          <a:xfrm>
            <a:off x="4268713" y="3139027"/>
            <a:ext cx="4283968" cy="286232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jobs.empty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jobs.front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jobs.pop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endParaRPr lang="en-US" altLang="ko-KR" sz="1800" b="0" i="0" u="none" strike="noStrike" dirty="0">
              <a:solidFill>
                <a:srgbClr val="383A42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job.id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": "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job.description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08163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F3FBC-30C5-8BCD-C8B1-F031C0BF7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9C925-5278-E762-E32D-E9616DBA3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12.7 std::</a:t>
            </a:r>
            <a:r>
              <a:rPr lang="en-US" altLang="ko-KR" dirty="0" err="1"/>
              <a:t>priority_queue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B1C944-40F6-91A5-38DA-90E213353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컨테이너 어댑터</a:t>
            </a:r>
          </a:p>
          <a:p>
            <a:r>
              <a:rPr lang="ko-KR" altLang="en-US" dirty="0"/>
              <a:t>삽입 순서가 아닌 우선순위 기준 처리</a:t>
            </a:r>
          </a:p>
          <a:p>
            <a:r>
              <a:rPr lang="ko-KR" altLang="en-US" dirty="0"/>
              <a:t>기본 기반 컨테이너 → </a:t>
            </a:r>
            <a:r>
              <a:rPr lang="en-US" altLang="ko-KR" dirty="0"/>
              <a:t>std::vector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4659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36D33-D7B2-7627-81B8-F0923D4B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A3C470-0B08-F604-E332-7E61D045D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12.7.1 </a:t>
            </a:r>
            <a:r>
              <a:rPr lang="ko-KR" altLang="en-US" dirty="0"/>
              <a:t>우선순위 기반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6DAAE2-D0B6-5EB1-4D8A-262B68D31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</a:t>
            </a:r>
            <a:r>
              <a:rPr lang="en-US" altLang="ko-KR" dirty="0"/>
              <a:t>std::</a:t>
            </a:r>
            <a:r>
              <a:rPr lang="en-US" altLang="ko-KR" dirty="0" err="1"/>
              <a:t>priority_queue</a:t>
            </a:r>
            <a:r>
              <a:rPr lang="en-US" altLang="ko-KR" dirty="0"/>
              <a:t>&lt;int&gt; → </a:t>
            </a:r>
            <a:r>
              <a:rPr lang="ko-KR" altLang="en-US" dirty="0"/>
              <a:t>가장 큰 값이 </a:t>
            </a:r>
            <a:r>
              <a:rPr lang="en-US" altLang="ko-KR" dirty="0"/>
              <a:t>top()</a:t>
            </a:r>
          </a:p>
          <a:p>
            <a:r>
              <a:rPr lang="en-US" altLang="ko-KR" dirty="0"/>
              <a:t>push() → </a:t>
            </a:r>
            <a:r>
              <a:rPr lang="ko-KR" altLang="en-US" dirty="0"/>
              <a:t>원소 추가</a:t>
            </a:r>
          </a:p>
          <a:p>
            <a:r>
              <a:rPr lang="en-US" altLang="ko-KR" dirty="0"/>
              <a:t>top() → </a:t>
            </a:r>
            <a:r>
              <a:rPr lang="ko-KR" altLang="en-US" dirty="0"/>
              <a:t>최고 우선순위 원소 확인</a:t>
            </a:r>
          </a:p>
          <a:p>
            <a:r>
              <a:rPr lang="en-US" altLang="ko-KR" dirty="0"/>
              <a:t>pop() → </a:t>
            </a:r>
            <a:r>
              <a:rPr lang="ko-KR" altLang="en-US" dirty="0"/>
              <a:t>최고 우선순위 원소 제거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5A9D8-7C72-4C15-88D2-03243AD01D2F}"/>
              </a:ext>
            </a:extLst>
          </p:cNvPr>
          <p:cNvSpPr txBox="1"/>
          <p:nvPr/>
        </p:nvSpPr>
        <p:spPr>
          <a:xfrm>
            <a:off x="539750" y="3068960"/>
            <a:ext cx="7704658" cy="317009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queue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priority_queue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values.push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values.push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values.push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values.push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values.top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</a:t>
            </a:r>
            <a:r>
              <a:rPr lang="ko-KR" altLang="ko-KR" sz="20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50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03207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CC9DF-C8CD-FCE9-A808-5DE25F136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8E87FB-39A0-0F1E-41D7-CAC22C7F0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12.7.2 </a:t>
            </a:r>
            <a:r>
              <a:rPr lang="ko-KR" altLang="en-US" dirty="0" err="1"/>
              <a:t>힙</a:t>
            </a:r>
            <a:r>
              <a:rPr lang="ko-KR" altLang="en-US" dirty="0"/>
              <a:t> 구조와 </a:t>
            </a:r>
            <a:r>
              <a:rPr lang="en-US" altLang="ko-KR" dirty="0"/>
              <a:t>top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CC183-303B-3A91-7B28-A15533A35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기본 기반 컨테이너</a:t>
            </a:r>
            <a:r>
              <a:rPr lang="en-US" altLang="ko-KR" sz="2400" dirty="0"/>
              <a:t>: std::vector</a:t>
            </a:r>
          </a:p>
          <a:p>
            <a:r>
              <a:rPr lang="ko-KR" altLang="en-US" sz="2400" dirty="0"/>
              <a:t>기반 컨테이너 → </a:t>
            </a:r>
            <a:r>
              <a:rPr lang="ko-KR" altLang="en-US" sz="2400" dirty="0" err="1"/>
              <a:t>힙</a:t>
            </a:r>
            <a:r>
              <a:rPr lang="en-US" altLang="ko-KR" sz="2400" dirty="0"/>
              <a:t>(heap) </a:t>
            </a:r>
            <a:r>
              <a:rPr lang="ko-KR" altLang="en-US" sz="2400" dirty="0"/>
              <a:t>조건 유지</a:t>
            </a:r>
          </a:p>
          <a:p>
            <a:r>
              <a:rPr lang="ko-KR" altLang="en-US" sz="2400" dirty="0"/>
              <a:t>전체 원소가 정렬된 구조는 아님</a:t>
            </a:r>
          </a:p>
          <a:p>
            <a:r>
              <a:rPr lang="ko-KR" altLang="en-US" sz="2400" dirty="0"/>
              <a:t>최고 우선순위 원소 → </a:t>
            </a:r>
            <a:r>
              <a:rPr lang="en-US" altLang="ko-KR" sz="2400" dirty="0"/>
              <a:t>top()</a:t>
            </a:r>
            <a:r>
              <a:rPr lang="ko-KR" altLang="en-US" sz="2400" dirty="0"/>
              <a:t>에 유지</a:t>
            </a:r>
          </a:p>
          <a:p>
            <a:r>
              <a:rPr lang="ko-KR" altLang="en-US" sz="2400" dirty="0"/>
              <a:t>기반 컨테이너 → 임의 접근 반복자</a:t>
            </a:r>
            <a:r>
              <a:rPr lang="en-US" altLang="ko-KR" sz="2400" dirty="0"/>
              <a:t>, front(), </a:t>
            </a:r>
            <a:r>
              <a:rPr lang="en-US" altLang="ko-KR" sz="2400" dirty="0" err="1"/>
              <a:t>push_back</a:t>
            </a:r>
            <a:r>
              <a:rPr lang="en-US" altLang="ko-KR" sz="2400" dirty="0"/>
              <a:t>(), </a:t>
            </a:r>
            <a:r>
              <a:rPr lang="en-US" altLang="ko-KR" sz="2400" dirty="0" err="1"/>
              <a:t>pop_back</a:t>
            </a:r>
            <a:r>
              <a:rPr lang="en-US" altLang="ko-KR" sz="2400" dirty="0"/>
              <a:t>() </a:t>
            </a:r>
            <a:r>
              <a:rPr lang="ko-KR" altLang="en-US" sz="2400" dirty="0"/>
              <a:t>필요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C4712E7-B977-C7BC-92AB-5F5991DD6A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106294"/>
              </p:ext>
            </p:extLst>
          </p:nvPr>
        </p:nvGraphicFramePr>
        <p:xfrm>
          <a:off x="611560" y="3608387"/>
          <a:ext cx="2016224" cy="1651000"/>
        </p:xfrm>
        <a:graphic>
          <a:graphicData uri="http://schemas.openxmlformats.org/drawingml/2006/table">
            <a:tbl>
              <a:tblPr/>
              <a:tblGrid>
                <a:gridCol w="2016224">
                  <a:extLst>
                    <a:ext uri="{9D8B030D-6E8A-4147-A177-3AD203B41FA5}">
                      <a16:colId xmlns:a16="http://schemas.microsoft.com/office/drawing/2014/main" val="21476617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</a:t>
                      </a:r>
                      <a:r>
                        <a:rPr lang="en-US" alt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  </a:t>
                      </a:r>
                      <a:r>
                        <a:rPr lang="ko-KR" sz="2000" b="0" i="0" u="none" strike="noStrike" spc="300" dirty="0">
                          <a:solidFill>
                            <a:srgbClr val="98680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50</a:t>
                      </a:r>
                      <a:b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  /  </a:t>
                      </a:r>
                      <a:r>
                        <a:rPr lang="en-US" alt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 </a:t>
                      </a:r>
                      <a: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\</a:t>
                      </a:r>
                      <a:b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</a:t>
                      </a:r>
                      <a:r>
                        <a:rPr lang="ko-KR" sz="2000" b="0" i="0" u="none" strike="noStrike" spc="300" dirty="0">
                          <a:solidFill>
                            <a:srgbClr val="98680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30</a:t>
                      </a:r>
                      <a: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</a:t>
                      </a:r>
                      <a:r>
                        <a:rPr lang="ko-KR" sz="2000" b="0" i="0" u="none" strike="noStrike" spc="300" dirty="0">
                          <a:solidFill>
                            <a:srgbClr val="98680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20</a:t>
                      </a:r>
                      <a:b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/</a:t>
                      </a:r>
                      <a:b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spc="300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</a:t>
                      </a:r>
                      <a:r>
                        <a:rPr lang="ko-KR" sz="2000" b="0" i="0" u="none" strike="noStrike" spc="300" dirty="0">
                          <a:solidFill>
                            <a:srgbClr val="98680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10</a:t>
                      </a:r>
                      <a:endParaRPr lang="ko-KR" sz="2000" spc="3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636194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783933B-5449-B2A6-8252-5D313BFD4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642797"/>
              </p:ext>
            </p:extLst>
          </p:nvPr>
        </p:nvGraphicFramePr>
        <p:xfrm>
          <a:off x="3203848" y="3608387"/>
          <a:ext cx="4104457" cy="1696720"/>
        </p:xfrm>
        <a:graphic>
          <a:graphicData uri="http://schemas.openxmlformats.org/drawingml/2006/table">
            <a:tbl>
              <a:tblPr/>
              <a:tblGrid>
                <a:gridCol w="2370179">
                  <a:extLst>
                    <a:ext uri="{9D8B030D-6E8A-4147-A177-3AD203B41FA5}">
                      <a16:colId xmlns:a16="http://schemas.microsoft.com/office/drawing/2014/main" val="4243844550"/>
                    </a:ext>
                  </a:extLst>
                </a:gridCol>
                <a:gridCol w="1734278">
                  <a:extLst>
                    <a:ext uri="{9D8B030D-6E8A-4147-A177-3AD203B41FA5}">
                      <a16:colId xmlns:a16="http://schemas.microsoft.com/office/drawing/2014/main" val="178279797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</a:t>
                      </a:r>
                      <a:endParaRPr lang="ko-KR" sz="1800" b="1" dirty="0">
                        <a:effectLst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시간 복잡도</a:t>
                      </a:r>
                      <a:endParaRPr lang="ko-KR" sz="1800" b="1" dirty="0">
                        <a:effectLst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531549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top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endParaRPr lang="ko-KR" sz="20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(1)</a:t>
                      </a:r>
                      <a:endParaRPr lang="ko-KR" sz="20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79008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push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(), 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emplace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endParaRPr lang="ko-KR" sz="20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</a:t>
                      </a: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log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n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)</a:t>
                      </a:r>
                      <a:endParaRPr lang="ko-KR" sz="20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129506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pop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endParaRPr lang="ko-KR" sz="20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</a:t>
                      </a: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log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n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)</a:t>
                      </a:r>
                      <a:endParaRPr lang="ko-KR" sz="20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227876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6D59F1E-B42A-DC38-BCCE-D0CC9C599FD3}"/>
              </a:ext>
            </a:extLst>
          </p:cNvPr>
          <p:cNvSpPr txBox="1"/>
          <p:nvPr/>
        </p:nvSpPr>
        <p:spPr>
          <a:xfrm>
            <a:off x="611559" y="5653256"/>
            <a:ext cx="6696745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priority_queue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deque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2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97850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4495B-9244-FBFC-DB60-4890AA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A1066-6A1B-9B04-933C-8AC6BD364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12.7.3 </a:t>
            </a:r>
            <a:r>
              <a:rPr lang="ko-KR" altLang="en-US" dirty="0"/>
              <a:t>비교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00999D-736C-7779-A476-95979C1E2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사용자 정의 타입 → 비교 함수 객체로 우선순위 지정</a:t>
            </a:r>
          </a:p>
          <a:p>
            <a:r>
              <a:rPr lang="ko-KR" altLang="en-US" sz="2400" dirty="0"/>
              <a:t>비교 함수가 </a:t>
            </a:r>
            <a:r>
              <a:rPr lang="en-US" altLang="ko-KR" sz="2400" dirty="0"/>
              <a:t>true</a:t>
            </a:r>
            <a:r>
              <a:rPr lang="ko-KR" altLang="en-US" sz="2400" dirty="0"/>
              <a:t>를 반환한 왼쪽 원소 → 상대적으로 낮은 우선순위</a:t>
            </a:r>
          </a:p>
          <a:p>
            <a:r>
              <a:rPr lang="ko-KR" altLang="en-US" sz="2400" dirty="0"/>
              <a:t>동점 처리 필요 → 보조 기준 추가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91116C-68DF-E05B-51CA-AACB4478FDA9}"/>
              </a:ext>
            </a:extLst>
          </p:cNvPr>
          <p:cNvSpPr txBox="1"/>
          <p:nvPr/>
        </p:nvSpPr>
        <p:spPr>
          <a:xfrm>
            <a:off x="543916" y="2276872"/>
            <a:ext cx="8060532" cy="120032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Task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priority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C0E85B-1CD8-60E3-179B-0C5A3B6BCFBE}"/>
              </a:ext>
            </a:extLst>
          </p:cNvPr>
          <p:cNvSpPr txBox="1"/>
          <p:nvPr/>
        </p:nvSpPr>
        <p:spPr>
          <a:xfrm>
            <a:off x="539750" y="3479398"/>
            <a:ext cx="8064698" cy="258532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CompareTask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()(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Task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Task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8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true를</a:t>
            </a: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반환한 </a:t>
            </a:r>
            <a:r>
              <a:rPr lang="ko-KR" altLang="ko-KR" sz="18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left가</a:t>
            </a: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더 낮은 우선순위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큰 </a:t>
            </a:r>
            <a:r>
              <a:rPr lang="ko-KR" altLang="ko-KR" sz="18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priority가</a:t>
            </a:r>
            <a:r>
              <a:rPr lang="ko-KR" altLang="ko-KR" sz="18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먼저 처리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left.priority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right.priority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469028-3002-82E3-09DD-5C85B323DC63}"/>
              </a:ext>
            </a:extLst>
          </p:cNvPr>
          <p:cNvSpPr txBox="1"/>
          <p:nvPr/>
        </p:nvSpPr>
        <p:spPr>
          <a:xfrm>
            <a:off x="528711" y="6064721"/>
            <a:ext cx="8075737" cy="36933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priority_queue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Task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Task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&gt;,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CompareTask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tasks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257178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CE305-F62C-7459-BE2C-907D67CB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C05F68-4BB6-DD05-FC08-48AB2134F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12.7.4 </a:t>
            </a:r>
            <a:r>
              <a:rPr lang="ko-KR" altLang="en-US" dirty="0"/>
              <a:t>최대값과 최소값 우선순위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695014-F72D-C7DB-2564-7B10BE0259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</a:t>
            </a:r>
            <a:r>
              <a:rPr lang="en-US" altLang="ko-KR" dirty="0"/>
              <a:t>std::less&lt;T&gt; → </a:t>
            </a:r>
            <a:r>
              <a:rPr lang="ko-KR" altLang="en-US" dirty="0"/>
              <a:t>최대값 우선</a:t>
            </a:r>
          </a:p>
          <a:p>
            <a:r>
              <a:rPr lang="en-US" altLang="ko-KR" dirty="0"/>
              <a:t>std::greater&lt;T&gt; → </a:t>
            </a:r>
            <a:r>
              <a:rPr lang="ko-KR" altLang="en-US" dirty="0"/>
              <a:t>최소값 우선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6748C7-6B5B-1634-9C91-1B2F509518C1}"/>
              </a:ext>
            </a:extLst>
          </p:cNvPr>
          <p:cNvSpPr txBox="1"/>
          <p:nvPr/>
        </p:nvSpPr>
        <p:spPr>
          <a:xfrm>
            <a:off x="539750" y="2132856"/>
            <a:ext cx="7920682" cy="230832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priority_queue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maxQueue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priority_queue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&gt;,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greater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&gt;&gt;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minQueue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85969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5897D-4EE6-81F5-4091-11638762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281B4B-0C6A-EC82-76B9-7B0307B69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12.8 </a:t>
            </a:r>
            <a:r>
              <a:rPr lang="ko-KR" altLang="en-US" dirty="0"/>
              <a:t>사용자 정의 타입과 연관 컨테이너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EA908F-6F09-D5DE-98FC-372008F15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정렬 연관 컨테이너 → 순서 규칙 필요</a:t>
            </a:r>
          </a:p>
          <a:p>
            <a:r>
              <a:rPr lang="ko-KR" altLang="en-US" dirty="0"/>
              <a:t>비 정렬 연관 컨테이너 → 해시와 동등 비교 필요</a:t>
            </a:r>
          </a:p>
          <a:p>
            <a:r>
              <a:rPr lang="ko-KR" altLang="en-US" dirty="0"/>
              <a:t>타입 자체의 자연스러운 순서와 컨테이너별 정책 구분</a:t>
            </a:r>
          </a:p>
        </p:txBody>
      </p:sp>
    </p:spTree>
    <p:extLst>
      <p:ext uri="{BB962C8B-B14F-4D97-AF65-F5344CB8AC3E}">
        <p14:creationId xmlns:p14="http://schemas.microsoft.com/office/powerpoint/2010/main" val="22204955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1F771E-69B3-1E36-8F6D-49AA45508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12.8.1 </a:t>
            </a:r>
            <a:r>
              <a:rPr lang="ko-KR" altLang="en-US" dirty="0"/>
              <a:t>비교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C867B9-D192-7B0B-2E10-95EF055CE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타입 전체에 자연스러운 하나의 순서</a:t>
            </a:r>
            <a:br>
              <a:rPr lang="en-US" altLang="ko-KR" dirty="0"/>
            </a:br>
            <a:r>
              <a:rPr lang="ko-KR" altLang="en-US" dirty="0"/>
              <a:t>→ 비교 연산자 정의 가능</a:t>
            </a:r>
          </a:p>
          <a:p>
            <a:r>
              <a:rPr lang="en-US" altLang="ko-KR" dirty="0"/>
              <a:t>C++20 &lt;=&gt; → </a:t>
            </a:r>
            <a:r>
              <a:rPr lang="ko-KR" altLang="en-US" dirty="0"/>
              <a:t>기본 비교 생성 가능</a:t>
            </a:r>
          </a:p>
          <a:p>
            <a:r>
              <a:rPr lang="ko-KR" altLang="en-US" dirty="0"/>
              <a:t>기본 비교 → 멤버 선언 순서 기준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01CEF-EA47-65C0-68F2-4CC6EC2C439D}"/>
              </a:ext>
            </a:extLst>
          </p:cNvPr>
          <p:cNvSpPr txBox="1"/>
          <p:nvPr/>
        </p:nvSpPr>
        <p:spPr>
          <a:xfrm>
            <a:off x="539750" y="2852936"/>
            <a:ext cx="7848674" cy="369331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compare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ItemKey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category</a:t>
            </a:r>
            <a:r>
              <a:rPr lang="en-US" altLang="ko-KR" sz="1800" dirty="0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&lt;=&gt;(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ItemKey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&amp;)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ItemKey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keys.insert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1002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keys.insert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keys.insert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39484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EF686-1DDF-AB3E-C10C-7A62A13B5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B2BF34-E988-89E5-56D2-04B83C7A8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12.8.2 </a:t>
            </a:r>
            <a:r>
              <a:rPr lang="ko-KR" altLang="en-US" dirty="0"/>
              <a:t>비교 함수 객체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FEB1C8-5C05-746C-CD3F-D4B5138C9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같은 타입 → 서로 다른 정렬 기준 적용 가능</a:t>
            </a:r>
          </a:p>
          <a:p>
            <a:r>
              <a:rPr lang="ko-KR" altLang="en-US" dirty="0"/>
              <a:t>컨테이너별 비교 정책 분리</a:t>
            </a:r>
          </a:p>
          <a:p>
            <a:r>
              <a:rPr lang="ko-KR" altLang="en-US" dirty="0"/>
              <a:t>동점 조건 → 보조 기준으로 구분</a:t>
            </a:r>
          </a:p>
          <a:p>
            <a:r>
              <a:rPr lang="ko-KR" altLang="en-US" dirty="0"/>
              <a:t>저장 중 비교 기준 변경 → 정렬 규칙 훼손 가능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1E5C90-88F1-5B5C-57B2-B9011397B190}"/>
              </a:ext>
            </a:extLst>
          </p:cNvPr>
          <p:cNvSpPr txBox="1"/>
          <p:nvPr/>
        </p:nvSpPr>
        <p:spPr>
          <a:xfrm>
            <a:off x="323726" y="2996952"/>
            <a:ext cx="2232050" cy="156966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49B4-280E-F56D-3C5E-73F60808C610}"/>
              </a:ext>
            </a:extLst>
          </p:cNvPr>
          <p:cNvSpPr txBox="1"/>
          <p:nvPr/>
        </p:nvSpPr>
        <p:spPr>
          <a:xfrm>
            <a:off x="2555776" y="2996952"/>
            <a:ext cx="6336902" cy="329320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CompareByScore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left.score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!=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right.score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left.score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right.score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left.id 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right.id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CompareByScore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scoreRanking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8895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666A-6F11-4AA3-5C8B-82599BDAA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BF3ECE-003A-C1EB-39A7-892996F62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12.8.3 </a:t>
            </a:r>
            <a:r>
              <a:rPr lang="ko-KR" altLang="en-US" dirty="0"/>
              <a:t>해시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13FD47-4489-9AB1-4328-B2847A237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사용자 정의 키 → 해시 함수 객체 제공 가능</a:t>
            </a:r>
          </a:p>
          <a:p>
            <a:r>
              <a:rPr lang="ko-KR" altLang="en-US" dirty="0"/>
              <a:t>키를 구성하는 멤버 → 해시 계산에 반영</a:t>
            </a:r>
          </a:p>
          <a:p>
            <a:r>
              <a:rPr lang="ko-KR" altLang="en-US" dirty="0"/>
              <a:t>같은 키 → 일관된 </a:t>
            </a:r>
            <a:r>
              <a:rPr lang="ko-KR" altLang="en-US" dirty="0" err="1"/>
              <a:t>해시값</a:t>
            </a:r>
            <a:r>
              <a:rPr lang="ko-KR" altLang="en-US" dirty="0"/>
              <a:t> 생성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B19788-2B8C-A684-74A6-2C88A663F274}"/>
              </a:ext>
            </a:extLst>
          </p:cNvPr>
          <p:cNvSpPr txBox="1"/>
          <p:nvPr/>
        </p:nvSpPr>
        <p:spPr>
          <a:xfrm>
            <a:off x="539750" y="2348880"/>
            <a:ext cx="7848674" cy="424731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PlayerKey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serverId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==(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PlayerKey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&amp;)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PlayerKeyHash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size_t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()(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PlayerKey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noexcept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size_t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first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&gt;{}(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key.serverId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size_t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second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&gt;{}(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key.playerId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first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^ 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second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56150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FC3A1-7DC3-FA5F-34FA-AA224A85B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6227D7-B85E-ABB5-38BE-A7144F8D7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12.8.4 </a:t>
            </a:r>
            <a:r>
              <a:rPr lang="ko-KR" altLang="en-US" dirty="0"/>
              <a:t>동등 비교와 해시 계약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7EC0C5-06F6-42C6-3C66-98BDD59E1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해시 함수 → 후보 버킷 선택</a:t>
            </a:r>
          </a:p>
          <a:p>
            <a:r>
              <a:rPr lang="ko-KR" altLang="en-US" dirty="0"/>
              <a:t>동등 비교 → 최종 키 확인</a:t>
            </a:r>
          </a:p>
          <a:p>
            <a:r>
              <a:rPr lang="ko-KR" altLang="en-US" dirty="0"/>
              <a:t>동등 비교와 해시 → 같은 키 정의 공유</a:t>
            </a:r>
          </a:p>
          <a:p>
            <a:r>
              <a:rPr lang="ko-KR" altLang="en-US" dirty="0"/>
              <a:t>동등한 키 → 반드시 같은 </a:t>
            </a:r>
            <a:r>
              <a:rPr lang="ko-KR" altLang="en-US" dirty="0" err="1"/>
              <a:t>해시값</a:t>
            </a:r>
            <a:endParaRPr lang="ko-KR" altLang="en-US" dirty="0"/>
          </a:p>
          <a:p>
            <a:r>
              <a:rPr lang="ko-KR" altLang="en-US" dirty="0"/>
              <a:t>서로 다른 키의 해시 충돌 → 허용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F5BD845-B93F-A5B3-4D1B-7BB1AF3EC8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734442"/>
              </p:ext>
            </p:extLst>
          </p:nvPr>
        </p:nvGraphicFramePr>
        <p:xfrm>
          <a:off x="6300192" y="1124744"/>
          <a:ext cx="2555776" cy="1568160"/>
        </p:xfrm>
        <a:graphic>
          <a:graphicData uri="http://schemas.openxmlformats.org/drawingml/2006/table">
            <a:tbl>
              <a:tblPr/>
              <a:tblGrid>
                <a:gridCol w="2555776">
                  <a:extLst>
                    <a:ext uri="{9D8B030D-6E8A-4147-A177-3AD203B41FA5}">
                      <a16:colId xmlns:a16="http://schemas.microsoft.com/office/drawing/2014/main" val="1772526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2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동등한 키</a:t>
                      </a:r>
                      <a:br>
                        <a:rPr lang="ko-KR" sz="2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  ↓</a:t>
                      </a:r>
                      <a:br>
                        <a:rPr lang="ko-KR" sz="2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반드시 같은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216000" marR="216000" marT="144000" marB="14400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943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4614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E9957-E421-5E7B-BCF6-40F7166D9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8416D-3FE1-3EE6-9035-01CE55129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12.9 </a:t>
            </a:r>
            <a:r>
              <a:rPr lang="ko-KR" altLang="en-US" dirty="0"/>
              <a:t>컨테이너와 객체 수명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0BDF87-D191-BE97-38E2-7182D810C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값 저장 → 컨테이너가 객체 수명 관리</a:t>
            </a:r>
          </a:p>
          <a:p>
            <a:r>
              <a:rPr lang="ko-KR" altLang="en-US" dirty="0"/>
              <a:t>원시 포인터 저장 → 객체 소유권과 별개</a:t>
            </a:r>
          </a:p>
          <a:p>
            <a:r>
              <a:rPr lang="ko-KR" altLang="en-US" dirty="0"/>
              <a:t>스마트 포인터 저장 → 소유권을 타입으로 표현</a:t>
            </a:r>
          </a:p>
          <a:p>
            <a:r>
              <a:rPr lang="ko-KR" altLang="en-US" dirty="0"/>
              <a:t>다형 객체 저장 → 기반 클래스 스마트 포인터 활용</a:t>
            </a:r>
          </a:p>
        </p:txBody>
      </p:sp>
    </p:spTree>
    <p:extLst>
      <p:ext uri="{BB962C8B-B14F-4D97-AF65-F5344CB8AC3E}">
        <p14:creationId xmlns:p14="http://schemas.microsoft.com/office/powerpoint/2010/main" val="205192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F1B36-5F06-FD13-A835-A4C3C009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DDC877-FD7B-1915-98C1-EA2579C50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12.9.1 </a:t>
            </a:r>
            <a:r>
              <a:rPr lang="ko-KR" altLang="en-US" dirty="0"/>
              <a:t>값 객체 저장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8F4BF3-568A-01F7-6610-37B3B28894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컨테이너가 원소 객체의 수명 관리</a:t>
            </a:r>
          </a:p>
          <a:p>
            <a:r>
              <a:rPr lang="ko-KR" altLang="en-US" dirty="0"/>
              <a:t>원소 제거 → 해당 객체 소멸</a:t>
            </a:r>
          </a:p>
          <a:p>
            <a:r>
              <a:rPr lang="ko-KR" altLang="en-US" dirty="0"/>
              <a:t>컨테이너 소멸 → 남은 원소 함께 소멸</a:t>
            </a:r>
          </a:p>
          <a:p>
            <a:r>
              <a:rPr lang="ko-KR" altLang="en-US" dirty="0"/>
              <a:t>소유권이 명확하고 관리가 단순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8EFB9D-82D3-5B28-353E-E01D5877151E}"/>
              </a:ext>
            </a:extLst>
          </p:cNvPr>
          <p:cNvSpPr txBox="1"/>
          <p:nvPr/>
        </p:nvSpPr>
        <p:spPr>
          <a:xfrm>
            <a:off x="539750" y="3008223"/>
            <a:ext cx="7704658" cy="120032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items.insert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}});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items.erase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06330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CC86F-A9C2-85A5-DE70-80F52E1E5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47BAD0-376C-8965-4D6E-476EFA60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12.9.2 </a:t>
            </a:r>
            <a:r>
              <a:rPr lang="ko-KR" altLang="en-US" dirty="0"/>
              <a:t>원시 포인터 저장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0B41C-6C12-B569-6F2A-80A6A3BA6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컨테이너 → 포인터 값만 저장</a:t>
            </a:r>
          </a:p>
          <a:p>
            <a:r>
              <a:rPr lang="en-US" altLang="ko-KR" dirty="0"/>
              <a:t>erase() → </a:t>
            </a:r>
            <a:r>
              <a:rPr lang="ko-KR" altLang="en-US" dirty="0"/>
              <a:t>가리키는 객체 자동 소멸 안 함</a:t>
            </a:r>
          </a:p>
          <a:p>
            <a:r>
              <a:rPr lang="ko-KR" altLang="en-US" dirty="0"/>
              <a:t>객체의 실제 수명 → 별도 관리</a:t>
            </a:r>
          </a:p>
          <a:p>
            <a:r>
              <a:rPr lang="ko-KR" altLang="en-US" dirty="0"/>
              <a:t>동적 객체 소유 필요 → 스마트 포인터 고려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ADFC7-408E-6564-DA43-87FC6ADA5E55}"/>
              </a:ext>
            </a:extLst>
          </p:cNvPr>
          <p:cNvSpPr txBox="1"/>
          <p:nvPr/>
        </p:nvSpPr>
        <p:spPr>
          <a:xfrm>
            <a:off x="544338" y="3015466"/>
            <a:ext cx="7700069" cy="120032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*&gt;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items.insert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&amp;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endParaRPr lang="ko-KR" altLang="en-US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165961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DA147-EBFA-6122-7D39-DD3570658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723871-2542-210A-6B28-0489153FF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12.9.3 </a:t>
            </a:r>
            <a:r>
              <a:rPr lang="en-US" altLang="ko-KR" dirty="0" err="1"/>
              <a:t>unique_ptr</a:t>
            </a:r>
            <a:r>
              <a:rPr lang="en-US" altLang="ko-KR" dirty="0"/>
              <a:t> </a:t>
            </a:r>
            <a:r>
              <a:rPr lang="ko-KR" altLang="en-US" dirty="0"/>
              <a:t>저장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8BBBD-570B-42B7-998D-59C61F3CB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컨테이너 → 객체의 단독 소유권 보관</a:t>
            </a:r>
          </a:p>
          <a:p>
            <a:r>
              <a:rPr lang="en-US" altLang="ko-KR" dirty="0" err="1"/>
              <a:t>unique_ptr</a:t>
            </a:r>
            <a:r>
              <a:rPr lang="en-US" altLang="ko-KR" dirty="0"/>
              <a:t> → </a:t>
            </a:r>
            <a:r>
              <a:rPr lang="ko-KR" altLang="en-US" dirty="0"/>
              <a:t>복사 불가</a:t>
            </a:r>
            <a:r>
              <a:rPr lang="en-US" altLang="ko-KR" dirty="0"/>
              <a:t>, </a:t>
            </a:r>
            <a:r>
              <a:rPr lang="ko-KR" altLang="en-US" dirty="0"/>
              <a:t>이동 가능</a:t>
            </a:r>
          </a:p>
          <a:p>
            <a:r>
              <a:rPr lang="ko-KR" altLang="en-US" dirty="0"/>
              <a:t>원소 제거 → 객체 자동 삭제</a:t>
            </a:r>
          </a:p>
          <a:p>
            <a:r>
              <a:rPr lang="ko-KR" altLang="en-US" dirty="0"/>
              <a:t>컨테이너 소멸 → 남은 객체 자동 삭제</a:t>
            </a:r>
            <a:endParaRPr lang="en-US" altLang="ko-KR" dirty="0"/>
          </a:p>
          <a:p>
            <a:r>
              <a:rPr lang="ko-KR" altLang="ko-KR" dirty="0" err="1"/>
              <a:t>try_emplace</a:t>
            </a:r>
            <a:r>
              <a:rPr lang="ko-KR" altLang="ko-KR" dirty="0"/>
              <a:t>()</a:t>
            </a:r>
            <a:r>
              <a:rPr lang="ko-KR" altLang="en-US" dirty="0"/>
              <a:t> → </a:t>
            </a:r>
            <a:r>
              <a:rPr lang="ko-KR" altLang="ko-KR" dirty="0"/>
              <a:t>키</a:t>
            </a:r>
            <a:r>
              <a:rPr lang="en-US" altLang="ko-KR" dirty="0"/>
              <a:t> </a:t>
            </a:r>
            <a:r>
              <a:rPr lang="ko-KR" altLang="en-US" dirty="0"/>
              <a:t>존재 시</a:t>
            </a:r>
            <a:r>
              <a:rPr lang="en-US" altLang="ko-KR" dirty="0"/>
              <a:t>, </a:t>
            </a:r>
            <a:r>
              <a:rPr lang="ko-KR" altLang="ko-KR" dirty="0"/>
              <a:t>이동 인수 소비</a:t>
            </a:r>
            <a:r>
              <a:rPr lang="en-US" altLang="ko-KR" dirty="0"/>
              <a:t> </a:t>
            </a:r>
            <a:r>
              <a:rPr lang="ko-KR" altLang="en-US" dirty="0"/>
              <a:t>안함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32ABC-512A-78A6-324B-392B03C1BA1B}"/>
              </a:ext>
            </a:extLst>
          </p:cNvPr>
          <p:cNvSpPr txBox="1"/>
          <p:nvPr/>
        </p:nvSpPr>
        <p:spPr>
          <a:xfrm>
            <a:off x="575568" y="3501008"/>
            <a:ext cx="7452816" cy="255454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memory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items.try_emplace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Ether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items.insert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1002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r>
              <a:rPr lang="ko-KR" altLang="ko-KR" sz="2000" dirty="0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endParaRPr lang="ko-KR" altLang="en-US" sz="2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23181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82598-A6EF-C2F4-011B-C26C5613D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AE8019-AA28-CF9E-EC38-D6B057FF5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12.9.4 </a:t>
            </a:r>
            <a:r>
              <a:rPr lang="en-US" altLang="ko-KR" dirty="0" err="1"/>
              <a:t>shared_ptr</a:t>
            </a:r>
            <a:r>
              <a:rPr lang="en-US" altLang="ko-KR" dirty="0"/>
              <a:t> </a:t>
            </a:r>
            <a:r>
              <a:rPr lang="ko-KR" altLang="en-US" dirty="0"/>
              <a:t>저장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3E8906-C4AB-6EED-8A0A-81F42B8F1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여러 위치의 공동 소유가 필요할 때 사용</a:t>
            </a:r>
          </a:p>
          <a:p>
            <a:r>
              <a:rPr lang="ko-KR" altLang="en-US" sz="2400" dirty="0"/>
              <a:t>컨테이너에서 제거되어도 다른 </a:t>
            </a:r>
            <a:r>
              <a:rPr lang="en-US" altLang="ko-KR" sz="2400" dirty="0" err="1"/>
              <a:t>shared_ptr</a:t>
            </a:r>
            <a:r>
              <a:rPr lang="en-US" altLang="ko-KR" sz="2400" dirty="0"/>
              <a:t> </a:t>
            </a:r>
            <a:r>
              <a:rPr lang="ko-KR" altLang="en-US" sz="2400" dirty="0"/>
              <a:t>존재 → 객체 유지</a:t>
            </a:r>
          </a:p>
          <a:p>
            <a:r>
              <a:rPr lang="ko-KR" altLang="en-US" sz="2400" dirty="0"/>
              <a:t>참조 계수 관리 비용 존재</a:t>
            </a:r>
          </a:p>
          <a:p>
            <a:r>
              <a:rPr lang="ko-KR" altLang="en-US" sz="2400" dirty="0"/>
              <a:t>순환 소유 주의</a:t>
            </a:r>
          </a:p>
          <a:p>
            <a:r>
              <a:rPr lang="ko-KR" altLang="en-US" sz="2400" dirty="0"/>
              <a:t>단독 소유 가능 → </a:t>
            </a:r>
            <a:r>
              <a:rPr lang="en-US" altLang="ko-KR" sz="2400" dirty="0" err="1"/>
              <a:t>unique_ptr</a:t>
            </a:r>
            <a:r>
              <a:rPr lang="en-US" altLang="ko-KR" sz="2400" dirty="0"/>
              <a:t> </a:t>
            </a:r>
            <a:r>
              <a:rPr lang="ko-KR" altLang="en-US" sz="2400" dirty="0"/>
              <a:t>우선 고려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7A4C45-8917-B345-FC7E-7C7B6F12A31F}"/>
              </a:ext>
            </a:extLst>
          </p:cNvPr>
          <p:cNvSpPr txBox="1"/>
          <p:nvPr/>
        </p:nvSpPr>
        <p:spPr>
          <a:xfrm>
            <a:off x="539750" y="3140968"/>
            <a:ext cx="7632650" cy="193899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shared_ptr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&gt;&gt;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 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make_shared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items.insert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({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items.erase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20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2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075004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2AB28-C674-589C-D722-039750984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5E70F0-0416-2B6E-08BC-0E0863276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12.9.5 </a:t>
            </a:r>
            <a:r>
              <a:rPr lang="ko-KR" altLang="en-US" dirty="0"/>
              <a:t>다형 객체 저장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F75B63-BABB-B091-0678-04AFEFA54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서로 다른 파생 객체 → 기반 클래스 스마트 포인터로 저장</a:t>
            </a:r>
          </a:p>
          <a:p>
            <a:r>
              <a:rPr lang="ko-KR" altLang="en-US" sz="2400" dirty="0"/>
              <a:t>기반 클래스 → 가상 </a:t>
            </a:r>
            <a:r>
              <a:rPr lang="ko-KR" altLang="en-US" sz="2400" dirty="0" err="1"/>
              <a:t>소멸자</a:t>
            </a:r>
            <a:r>
              <a:rPr lang="ko-KR" altLang="en-US" sz="2400" dirty="0"/>
              <a:t> 필요</a:t>
            </a:r>
          </a:p>
          <a:p>
            <a:r>
              <a:rPr lang="ko-KR" altLang="en-US" sz="2400" dirty="0"/>
              <a:t>기반 타입 값 저장 → 객체 잘림 발생 가능</a:t>
            </a:r>
          </a:p>
          <a:p>
            <a:r>
              <a:rPr lang="ko-KR" altLang="en-US" sz="2400" dirty="0"/>
              <a:t>스마트 포인터 </a:t>
            </a:r>
            <a:r>
              <a:rPr lang="en-US" altLang="ko-KR" sz="2400" dirty="0"/>
              <a:t>+ </a:t>
            </a:r>
            <a:r>
              <a:rPr lang="ko-KR" altLang="en-US" sz="2400" dirty="0"/>
              <a:t>가상 함수 → </a:t>
            </a:r>
            <a:r>
              <a:rPr lang="ko-KR" altLang="en-US" sz="2400" dirty="0" err="1"/>
              <a:t>다형성</a:t>
            </a:r>
            <a:r>
              <a:rPr lang="ko-KR" altLang="en-US" sz="2400" dirty="0"/>
              <a:t> 유지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149A28-64E1-0215-D1BA-21753A3DD378}"/>
              </a:ext>
            </a:extLst>
          </p:cNvPr>
          <p:cNvSpPr txBox="1"/>
          <p:nvPr/>
        </p:nvSpPr>
        <p:spPr>
          <a:xfrm>
            <a:off x="571376" y="2564904"/>
            <a:ext cx="3208536" cy="138499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~GameObject()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AFD15E-1C0C-56BB-C0E6-ACB885FE7AA1}"/>
              </a:ext>
            </a:extLst>
          </p:cNvPr>
          <p:cNvSpPr txBox="1"/>
          <p:nvPr/>
        </p:nvSpPr>
        <p:spPr>
          <a:xfrm>
            <a:off x="3779912" y="2564904"/>
            <a:ext cx="4572000" cy="310854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E27E57-EE6F-3151-FF63-4B7BC7CB061B}"/>
              </a:ext>
            </a:extLst>
          </p:cNvPr>
          <p:cNvSpPr txBox="1"/>
          <p:nvPr/>
        </p:nvSpPr>
        <p:spPr>
          <a:xfrm>
            <a:off x="3779912" y="5673447"/>
            <a:ext cx="5112568" cy="73866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objects.try_emplace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&gt;());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objects.try_emplace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&gt;());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37975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10841-363E-2B68-4CD3-3C4D1C7BB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02A22-41C6-DC4F-8082-429B8C5A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12.9.6 </a:t>
            </a:r>
            <a:r>
              <a:rPr lang="ko-KR" altLang="en-US" dirty="0"/>
              <a:t>반복자</a:t>
            </a:r>
            <a:r>
              <a:rPr lang="en-US" altLang="ko-KR" dirty="0"/>
              <a:t>·</a:t>
            </a:r>
            <a:r>
              <a:rPr lang="ko-KR" altLang="en-US" dirty="0"/>
              <a:t>포인터</a:t>
            </a:r>
            <a:r>
              <a:rPr lang="en-US" altLang="ko-KR" dirty="0"/>
              <a:t>·</a:t>
            </a:r>
            <a:r>
              <a:rPr lang="ko-KR" altLang="en-US" dirty="0"/>
              <a:t>참조의 유효성과 무효화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71850468-B14E-ACC8-2997-35473D4614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4053746"/>
              </p:ext>
            </p:extLst>
          </p:nvPr>
        </p:nvGraphicFramePr>
        <p:xfrm>
          <a:off x="467544" y="692696"/>
          <a:ext cx="7776862" cy="3309620"/>
        </p:xfrm>
        <a:graphic>
          <a:graphicData uri="http://schemas.openxmlformats.org/drawingml/2006/table">
            <a:tbl>
              <a:tblPr/>
              <a:tblGrid>
                <a:gridCol w="3341065">
                  <a:extLst>
                    <a:ext uri="{9D8B030D-6E8A-4147-A177-3AD203B41FA5}">
                      <a16:colId xmlns:a16="http://schemas.microsoft.com/office/drawing/2014/main" val="1029925522"/>
                    </a:ext>
                  </a:extLst>
                </a:gridCol>
                <a:gridCol w="2246333">
                  <a:extLst>
                    <a:ext uri="{9D8B030D-6E8A-4147-A177-3AD203B41FA5}">
                      <a16:colId xmlns:a16="http://schemas.microsoft.com/office/drawing/2014/main" val="2748776994"/>
                    </a:ext>
                  </a:extLst>
                </a:gridCol>
                <a:gridCol w="2189464">
                  <a:extLst>
                    <a:ext uri="{9D8B030D-6E8A-4147-A177-3AD203B41FA5}">
                      <a16:colId xmlns:a16="http://schemas.microsoft.com/office/drawing/2014/main" val="356107403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컨테이너와 연산</a:t>
                      </a:r>
                      <a:endParaRPr lang="ko-KR" sz="24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반복자</a:t>
                      </a:r>
                      <a:endParaRPr lang="ko-KR" sz="24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포인터와 참조</a:t>
                      </a:r>
                      <a:endParaRPr lang="ko-KR" sz="24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12467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set</a:t>
                      </a: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, </a:t>
                      </a:r>
                      <a:r>
                        <a:rPr lang="ko-KR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map</a:t>
                      </a: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계열 삽입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유지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유지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11475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set, map 계열 제거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제거된 원소만 무효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제거된 원소만 무효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61775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 삽입, 재 해시 없음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유지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유지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909826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 삽입, 재 해시 발생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전체 무효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유지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4203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 reserve(), rehash()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재 해시 시 전체 무효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유지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12695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 제거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제거된 원소만 무효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제거된 원소만 무효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2739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clear()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전체 무효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전체 무효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71807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컨테이너 소멸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전체 무효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전체 무효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658789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58C1668-18D1-619C-4760-86DBDB47D0DA}"/>
              </a:ext>
            </a:extLst>
          </p:cNvPr>
          <p:cNvSpPr txBox="1"/>
          <p:nvPr/>
        </p:nvSpPr>
        <p:spPr>
          <a:xfrm>
            <a:off x="467544" y="4293096"/>
            <a:ext cx="5688632" cy="203132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items.begin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!=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items.end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second.empty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items.erase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else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++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1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0A79FE-81FF-D767-26B6-2FC64F2E4243}"/>
              </a:ext>
            </a:extLst>
          </p:cNvPr>
          <p:cNvSpPr txBox="1"/>
          <p:nvPr/>
        </p:nvSpPr>
        <p:spPr>
          <a:xfrm>
            <a:off x="4585569" y="5342641"/>
            <a:ext cx="3658837" cy="70788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lvl="0" rtl="0" fontAlgn="base"/>
            <a:r>
              <a:rPr lang="en-US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 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제거 중 순회에서는</a:t>
            </a:r>
            <a:br>
              <a:rPr lang="en-US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en-US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erase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()가 반환한 반복자 사용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69431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73911-5AF9-8090-4A25-707E37689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25D2A-9AF1-711E-175C-799B541B5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12.10 </a:t>
            </a:r>
            <a:r>
              <a:rPr lang="ko-KR" altLang="en-US" dirty="0"/>
              <a:t>컨테이너 선택 기준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C11F7674-31BF-8B7F-EBC2-CCF89BD09A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764858"/>
              </p:ext>
            </p:extLst>
          </p:nvPr>
        </p:nvGraphicFramePr>
        <p:xfrm>
          <a:off x="251520" y="764704"/>
          <a:ext cx="5040560" cy="4051300"/>
        </p:xfrm>
        <a:graphic>
          <a:graphicData uri="http://schemas.openxmlformats.org/drawingml/2006/table">
            <a:tbl>
              <a:tblPr/>
              <a:tblGrid>
                <a:gridCol w="2689164">
                  <a:extLst>
                    <a:ext uri="{9D8B030D-6E8A-4147-A177-3AD203B41FA5}">
                      <a16:colId xmlns:a16="http://schemas.microsoft.com/office/drawing/2014/main" val="488236381"/>
                    </a:ext>
                  </a:extLst>
                </a:gridCol>
                <a:gridCol w="2351396">
                  <a:extLst>
                    <a:ext uri="{9D8B030D-6E8A-4147-A177-3AD203B41FA5}">
                      <a16:colId xmlns:a16="http://schemas.microsoft.com/office/drawing/2014/main" val="378904199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요구 사항</a:t>
                      </a:r>
                      <a:endParaRPr lang="ko-KR" sz="2400" b="0" dirty="0">
                        <a:effectLst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적합한 타입</a:t>
                      </a:r>
                      <a:endParaRPr lang="ko-KR" sz="2400" b="0" dirty="0">
                        <a:effectLst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05834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중복 없는 정렬 키</a:t>
                      </a:r>
                      <a:endParaRPr lang="ko-KR" sz="28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set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2804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중복을 허용하는 정렬 키</a:t>
                      </a:r>
                      <a:endParaRPr lang="ko-KR" sz="28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multiset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707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정렬된 키와 값</a:t>
                      </a:r>
                      <a:endParaRPr lang="ko-KR" sz="28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map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339714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같은 정렬 키에 여러 값</a:t>
                      </a:r>
                      <a:endParaRPr lang="ko-KR" sz="280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multimap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224128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중복 없는 빠른 키 검색</a:t>
                      </a:r>
                      <a:endParaRPr lang="ko-KR" sz="28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unordered_set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1586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빠른 키와 값 검색</a:t>
                      </a:r>
                      <a:endParaRPr lang="ko-KR" sz="28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unordered_map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957535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같은 해시 키에 여러 원소</a:t>
                      </a:r>
                      <a:endParaRPr lang="ko-KR" sz="28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unordered_multi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계열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8465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최근 원소부터 처리</a:t>
                      </a:r>
                      <a:endParaRPr lang="ko-KR" sz="28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stack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617407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도착 순서대로 처리</a:t>
                      </a:r>
                      <a:endParaRPr lang="ko-KR" sz="28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queue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5958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우선순위 높은 원소부터 처리</a:t>
                      </a:r>
                      <a:endParaRPr lang="ko-KR" sz="28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1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priority_queue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97906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C20DF89-05BB-C285-EF5A-900A3861B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959067"/>
              </p:ext>
            </p:extLst>
          </p:nvPr>
        </p:nvGraphicFramePr>
        <p:xfrm>
          <a:off x="5391869" y="764704"/>
          <a:ext cx="3644627" cy="3053080"/>
        </p:xfrm>
        <a:graphic>
          <a:graphicData uri="http://schemas.openxmlformats.org/drawingml/2006/table">
            <a:tbl>
              <a:tblPr/>
              <a:tblGrid>
                <a:gridCol w="3644627">
                  <a:extLst>
                    <a:ext uri="{9D8B030D-6E8A-4147-A177-3AD203B41FA5}">
                      <a16:colId xmlns:a16="http://schemas.microsoft.com/office/drawing/2014/main" val="31953949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150000"/>
                        </a:lnSpc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 키 정렬 여부 확인</a:t>
                      </a:r>
                      <a:b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 중복 허용 여부 확인</a:t>
                      </a:r>
                      <a:b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 범위 검색 필요 여부 확인</a:t>
                      </a:r>
                      <a:b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 </a:t>
                      </a:r>
                      <a:r>
                        <a:rPr lang="ko-KR" sz="16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평균·최악</a:t>
                      </a:r>
                      <a: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탐색 비용 확인</a:t>
                      </a:r>
                      <a:b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 반복자 안정성 확인</a:t>
                      </a:r>
                      <a:b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 객체 소유권 확인</a:t>
                      </a:r>
                      <a:b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 실제 성능 중요</a:t>
                      </a:r>
                      <a:br>
                        <a:rPr lang="en-US" alt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en-US" alt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  </a:t>
                      </a:r>
                      <a:r>
                        <a:rPr lang="ko-KR" sz="16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→ 대상 데이터와 연산 패턴으로 측정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172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77524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3D608-9204-6CA0-4750-6E98795B4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A18D61-4A31-763F-5DF8-41400607C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12.11 </a:t>
            </a:r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DD8F4-2D6D-7C65-B128-4F0511762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30000"/>
              </a:lnSpc>
            </a:pPr>
            <a:r>
              <a:rPr lang="ko-KR" altLang="en-US" dirty="0"/>
              <a:t>연관 컨테이너 → 키 기준 저장</a:t>
            </a:r>
            <a:r>
              <a:rPr lang="en-US" altLang="ko-KR" dirty="0"/>
              <a:t>·</a:t>
            </a:r>
            <a:r>
              <a:rPr lang="ko-KR" altLang="en-US" dirty="0"/>
              <a:t>탐색</a:t>
            </a:r>
          </a:p>
          <a:p>
            <a:pPr>
              <a:lnSpc>
                <a:spcPct val="130000"/>
              </a:lnSpc>
            </a:pPr>
            <a:r>
              <a:rPr lang="en-US" altLang="ko-KR" dirty="0"/>
              <a:t>set → </a:t>
            </a:r>
            <a:r>
              <a:rPr lang="ko-KR" altLang="en-US" dirty="0"/>
              <a:t>키만 저장</a:t>
            </a:r>
            <a:r>
              <a:rPr lang="en-US" altLang="ko-KR" dirty="0"/>
              <a:t>, map → </a:t>
            </a:r>
            <a:r>
              <a:rPr lang="ko-KR" altLang="en-US" dirty="0"/>
              <a:t>키와 값 저장</a:t>
            </a:r>
          </a:p>
          <a:p>
            <a:pPr>
              <a:lnSpc>
                <a:spcPct val="130000"/>
              </a:lnSpc>
            </a:pPr>
            <a:r>
              <a:rPr lang="en-US" altLang="ko-KR" dirty="0"/>
              <a:t>multi </a:t>
            </a:r>
            <a:r>
              <a:rPr lang="ko-KR" altLang="en-US" dirty="0"/>
              <a:t>계열 → 동등한 키 여러 개 허용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정렬 연관 컨테이너 → 비교 함수로 키 순서 결정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비 정렬 연관 컨테이너 → </a:t>
            </a:r>
            <a:r>
              <a:rPr lang="ko-KR" altLang="en-US" dirty="0" err="1"/>
              <a:t>해시값으로</a:t>
            </a:r>
            <a:r>
              <a:rPr lang="ko-KR" altLang="en-US" dirty="0"/>
              <a:t> 버킷 선택</a:t>
            </a:r>
          </a:p>
          <a:p>
            <a:pPr>
              <a:lnSpc>
                <a:spcPct val="130000"/>
              </a:lnSpc>
            </a:pPr>
            <a:r>
              <a:rPr lang="en-US" altLang="ko-KR" dirty="0"/>
              <a:t>map::operator[] → </a:t>
            </a:r>
            <a:r>
              <a:rPr lang="ko-KR" altLang="en-US" dirty="0"/>
              <a:t>키가 없으면 기본값 삽입</a:t>
            </a:r>
          </a:p>
          <a:p>
            <a:pPr>
              <a:lnSpc>
                <a:spcPct val="130000"/>
              </a:lnSpc>
            </a:pPr>
            <a:r>
              <a:rPr lang="en-US" altLang="ko-KR" dirty="0" err="1"/>
              <a:t>try_emplace</a:t>
            </a:r>
            <a:r>
              <a:rPr lang="en-US" altLang="ko-KR" dirty="0"/>
              <a:t>() → </a:t>
            </a:r>
            <a:r>
              <a:rPr lang="ko-KR" altLang="en-US" dirty="0"/>
              <a:t>키가 없을 때만 값 생성</a:t>
            </a:r>
          </a:p>
          <a:p>
            <a:pPr>
              <a:lnSpc>
                <a:spcPct val="130000"/>
              </a:lnSpc>
            </a:pPr>
            <a:r>
              <a:rPr lang="en-US" altLang="ko-KR" dirty="0" err="1"/>
              <a:t>insert_or_assign</a:t>
            </a:r>
            <a:r>
              <a:rPr lang="en-US" altLang="ko-KR" dirty="0"/>
              <a:t>() → </a:t>
            </a:r>
            <a:r>
              <a:rPr lang="ko-KR" altLang="en-US" dirty="0"/>
              <a:t>삽입 또는 기존 값 갱신</a:t>
            </a:r>
          </a:p>
        </p:txBody>
      </p:sp>
    </p:spTree>
    <p:extLst>
      <p:ext uri="{BB962C8B-B14F-4D97-AF65-F5344CB8AC3E}">
        <p14:creationId xmlns:p14="http://schemas.microsoft.com/office/powerpoint/2010/main" val="26319895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8B88-813A-306D-B317-B8284822A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24A503-CA00-052E-C43C-B9806F2DB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12.11 </a:t>
            </a:r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DF33F3-B8EB-FA6A-DC09-98A39D116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30000"/>
              </a:lnSpc>
            </a:pPr>
            <a:r>
              <a:rPr lang="en-US" altLang="ko-KR" dirty="0"/>
              <a:t>stack → </a:t>
            </a:r>
            <a:r>
              <a:rPr lang="ko-KR" altLang="en-US" dirty="0" err="1"/>
              <a:t>후입선출</a:t>
            </a:r>
            <a:r>
              <a:rPr lang="en-US" altLang="ko-KR" dirty="0"/>
              <a:t>, queue → </a:t>
            </a:r>
            <a:r>
              <a:rPr lang="ko-KR" altLang="en-US" dirty="0"/>
              <a:t>선입선출</a:t>
            </a:r>
          </a:p>
          <a:p>
            <a:pPr>
              <a:lnSpc>
                <a:spcPct val="130000"/>
              </a:lnSpc>
            </a:pPr>
            <a:r>
              <a:rPr lang="en-US" altLang="ko-KR" dirty="0" err="1"/>
              <a:t>priority_queue</a:t>
            </a:r>
            <a:r>
              <a:rPr lang="en-US" altLang="ko-KR" dirty="0"/>
              <a:t> → </a:t>
            </a:r>
            <a:r>
              <a:rPr lang="ko-KR" altLang="en-US" dirty="0"/>
              <a:t>우선순위 기반 처리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값 객체 저장 → 컨테이너가 수명 관리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원시 포인터 저장 → 객체 소유권 자동 관리 안 함</a:t>
            </a:r>
          </a:p>
          <a:p>
            <a:pPr>
              <a:lnSpc>
                <a:spcPct val="130000"/>
              </a:lnSpc>
            </a:pPr>
            <a:r>
              <a:rPr lang="en-US" altLang="ko-KR" dirty="0" err="1"/>
              <a:t>unique_ptr</a:t>
            </a:r>
            <a:r>
              <a:rPr lang="en-US" altLang="ko-KR" dirty="0"/>
              <a:t> → </a:t>
            </a:r>
            <a:r>
              <a:rPr lang="ko-KR" altLang="en-US" dirty="0"/>
              <a:t>단독 소유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en-US" altLang="ko-KR" dirty="0"/>
              <a:t> → </a:t>
            </a:r>
            <a:r>
              <a:rPr lang="ko-KR" altLang="en-US" dirty="0"/>
              <a:t>공동 소유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정렬 연관 컨테이너 삽입 → 기존 반복자와 참조 유지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비 정렬 연관 컨테이너 재 해시 → 반복자 무효화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컨테이너 선택 → 데이터의 키 관계와 처리 규칙 기준</a:t>
            </a:r>
          </a:p>
        </p:txBody>
      </p:sp>
    </p:spTree>
    <p:extLst>
      <p:ext uri="{BB962C8B-B14F-4D97-AF65-F5344CB8AC3E}">
        <p14:creationId xmlns:p14="http://schemas.microsoft.com/office/powerpoint/2010/main" val="2131174965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solidFill>
          <a:schemeClr val="bg1"/>
        </a:solidFill>
        <a:ln w="25400">
          <a:solidFill>
            <a:schemeClr val="bg1">
              <a:lumMod val="75000"/>
            </a:schemeClr>
          </a:solidFill>
          <a:prstDash val="sysDot"/>
        </a:ln>
      </a:spPr>
      <a:bodyPr wrap="square" anchor="ctr" anchorCtr="0">
        <a:spAutoFit/>
      </a:bodyPr>
      <a:lstStyle>
        <a:defPPr algn="l">
          <a:defRPr sz="1100" b="0" i="0" u="none" strike="noStrike" dirty="0" err="1">
            <a:solidFill>
              <a:srgbClr val="C18401"/>
            </a:solidFill>
            <a:effectLst/>
            <a:latin typeface="Pretendard ExtraBold" panose="02000903000000020004" pitchFamily="50" charset="-127"/>
            <a:ea typeface="Pretendard ExtraBold" panose="02000903000000020004" pitchFamily="50" charset="-127"/>
            <a:cs typeface="Pretendard ExtraBold" panose="02000903000000020004" pitchFamily="50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11426</TotalTime>
  <Words>5481</Words>
  <Application>Microsoft Office PowerPoint</Application>
  <PresentationFormat>화면 슬라이드 쇼(4:3)</PresentationFormat>
  <Paragraphs>482</Paragraphs>
  <Slides>53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2" baseType="lpstr">
      <vt:lpstr>Arial</vt:lpstr>
      <vt:lpstr>HY견고딕</vt:lpstr>
      <vt:lpstr>가을체</vt:lpstr>
      <vt:lpstr>나눔고딕 ExtraBold</vt:lpstr>
      <vt:lpstr>Pretendard ExtraBold</vt:lpstr>
      <vt:lpstr>굴림</vt:lpstr>
      <vt:lpstr>나눔바른고딕</vt:lpstr>
      <vt:lpstr>Wingdings</vt:lpstr>
      <vt:lpstr>기본 디자인</vt:lpstr>
      <vt:lpstr>12. 연관 컨테이너와 컨테이너 어댑터</vt:lpstr>
      <vt:lpstr>12. 연관 컨테이너와 컨테이너 어댑터</vt:lpstr>
      <vt:lpstr>12.1 std::set과 std::multiset</vt:lpstr>
      <vt:lpstr>12.1.1 정렬된 키와 키 동등성</vt:lpstr>
      <vt:lpstr>12.1.2 중복 허용 여부</vt:lpstr>
      <vt:lpstr>12.1.3 삽입, 탐색, 범위 검색과 제거</vt:lpstr>
      <vt:lpstr>12.1.4 비교 함수와 정렬 기준</vt:lpstr>
      <vt:lpstr>12.1.5 원소 수정 제한과 노드 핸들</vt:lpstr>
      <vt:lpstr>12.2 std::map과 std::multimap</vt:lpstr>
      <vt:lpstr>12.2.1 키와 값</vt:lpstr>
      <vt:lpstr>12.2.2 operator[]와 at</vt:lpstr>
      <vt:lpstr>12.2.3 insert, emplace와 try_emplace</vt:lpstr>
      <vt:lpstr>12.2.4 insert_or_assign과 값 갱신</vt:lpstr>
      <vt:lpstr>12.2.5 구조적 바인딩을 이용한 순회</vt:lpstr>
      <vt:lpstr>12.3 비 정렬 연관 컨테이너</vt:lpstr>
      <vt:lpstr>12.3.1 unordered_set, unordered_multiset</vt:lpstr>
      <vt:lpstr>12.3.2 unordered_map, unordered_multimap</vt:lpstr>
      <vt:lpstr>12.3.3 해시 함수, 동등 비교와 버킷</vt:lpstr>
      <vt:lpstr>12.3.4 충돌, 적재율과 재 해시</vt:lpstr>
      <vt:lpstr>12.3.5 사용자 정의 키</vt:lpstr>
      <vt:lpstr>12.4 정렬 연관 컨테이너와 비 정렬 연관 컨테이너</vt:lpstr>
      <vt:lpstr>12.4.1 정렬 여부와 순회 순서</vt:lpstr>
      <vt:lpstr>12.4.2 평균 탐색 비용과 최악 탐색 비용</vt:lpstr>
      <vt:lpstr>12.4.3 메모리 구조와 캐시 지역성</vt:lpstr>
      <vt:lpstr>12.4.4 범위 검색과 선택 기준</vt:lpstr>
      <vt:lpstr>12.5 std::stack</vt:lpstr>
      <vt:lpstr>12.5.1 후입선출</vt:lpstr>
      <vt:lpstr>12.5.2 기반 컨테이너와 제한된 인터페이스</vt:lpstr>
      <vt:lpstr>12.5.3 스택 활용</vt:lpstr>
      <vt:lpstr>12.6 std::queue</vt:lpstr>
      <vt:lpstr>12.6.1 선입선출</vt:lpstr>
      <vt:lpstr>12.6.2 기반 컨테이너와 제한된 인터페이스</vt:lpstr>
      <vt:lpstr>12.6.3 작업 대기열과 메시지 처리</vt:lpstr>
      <vt:lpstr>12.7 std::priority_queue</vt:lpstr>
      <vt:lpstr>12.7.1 우선순위 기반 처리</vt:lpstr>
      <vt:lpstr>12.7.2 힙 구조와 top</vt:lpstr>
      <vt:lpstr>12.7.3 비교 함수</vt:lpstr>
      <vt:lpstr>12.7.4 최대값과 최소값 우선순위</vt:lpstr>
      <vt:lpstr>12.8 사용자 정의 타입과 연관 컨테이너</vt:lpstr>
      <vt:lpstr>12.8.1 비교 연산자</vt:lpstr>
      <vt:lpstr>12.8.2 비교 함수 객체</vt:lpstr>
      <vt:lpstr>12.8.3 해시 함수</vt:lpstr>
      <vt:lpstr>12.8.4 동등 비교와 해시 계약</vt:lpstr>
      <vt:lpstr>12.9 컨테이너와 객체 수명</vt:lpstr>
      <vt:lpstr>12.9.1 값 객체 저장</vt:lpstr>
      <vt:lpstr>12.9.2 원시 포인터 저장</vt:lpstr>
      <vt:lpstr>12.9.3 unique_ptr 저장</vt:lpstr>
      <vt:lpstr>12.9.4 shared_ptr 저장</vt:lpstr>
      <vt:lpstr>12.9.5 다형 객체 저장</vt:lpstr>
      <vt:lpstr>12.9.6 반복자·포인터·참조의 유효성과 무효화</vt:lpstr>
      <vt:lpstr>12.10 컨테이너 선택 기준</vt:lpstr>
      <vt:lpstr>12.11 학습 정리</vt:lpstr>
      <vt:lpstr>12.11 학습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426</cp:revision>
  <dcterms:created xsi:type="dcterms:W3CDTF">2003-11-30T16:03:20Z</dcterms:created>
  <dcterms:modified xsi:type="dcterms:W3CDTF">2026-08-30T04:26:50Z</dcterms:modified>
</cp:coreProperties>
</file>