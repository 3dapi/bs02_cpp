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</p:sldIdLst>
  <p:sldSz cx="9144000" cy="6858000" type="screen4x3"/>
  <p:notesSz cx="6858000" cy="9144000"/>
  <p:embeddedFontLst>
    <p:embeddedFont>
      <p:font typeface="D2Coding" panose="020B0609020101020101" pitchFamily="49" charset="-127"/>
      <p:regular r:id="rId50"/>
      <p:bold r:id="rId51"/>
    </p:embeddedFon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HY견고딕" panose="02030600000101010101" pitchFamily="18" charset="-127"/>
      <p:regular r:id="rId56"/>
    </p:embeddedFont>
    <p:embeddedFont>
      <p:font typeface="Pretendard ExtraBold" panose="02000903000000020004" pitchFamily="50" charset="-127"/>
      <p:bold r:id="rId57"/>
    </p:embeddedFont>
    <p:embeddedFont>
      <p:font typeface="Segoe UI Black" panose="020B0A02040204020203" pitchFamily="34" charset="0"/>
      <p:bold r:id="rId58"/>
      <p:boldItalic r:id="rId59"/>
    </p:embeddedFont>
    <p:embeddedFont>
      <p:font typeface="가을체" panose="02030600000101010101" pitchFamily="18" charset="-127"/>
      <p:regular r:id="rId60"/>
    </p:embeddedFont>
    <p:embeddedFont>
      <p:font typeface="나눔고딕 ExtraBold" panose="020D0904000000000000" pitchFamily="50" charset="-127"/>
      <p:bold r:id="rId61"/>
    </p:embeddedFont>
    <p:embeddedFont>
      <p:font typeface="나눔바른고딕" panose="020B0603020101020101" pitchFamily="50" charset="-127"/>
      <p:regular r:id="rId62"/>
      <p:bold r:id="rId6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18401"/>
    <a:srgbClr val="CC00CC"/>
    <a:srgbClr val="FFFFCC"/>
    <a:srgbClr val="3399FF"/>
    <a:srgbClr val="EFEFED"/>
    <a:srgbClr val="FF9900"/>
    <a:srgbClr val="CC00FF"/>
    <a:srgbClr val="FF00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5" autoAdjust="0"/>
    <p:restoredTop sz="94582" autoAdjust="0"/>
  </p:normalViewPr>
  <p:slideViewPr>
    <p:cSldViewPr>
      <p:cViewPr>
        <p:scale>
          <a:sx n="125" d="100"/>
          <a:sy n="125" d="100"/>
        </p:scale>
        <p:origin x="840" y="13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2FCDCC-75BC-443E-E33D-96FB3B93C7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EC5783-C421-C2A7-6C8A-427BD3E44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3F608-D938-42A6-9A0B-23DC3D655BD5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BFB7D-E523-05DD-7599-0B8AE06D2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37456-DBCD-50BC-A8E2-5D301F7B0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F7A42-FA84-4141-97EA-F328B808C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553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07. 객체 수명, </a:t>
            </a:r>
            <a:r>
              <a:rPr lang="ko-KR" altLang="ko-KR" dirty="0" err="1"/>
              <a:t>RAII와</a:t>
            </a:r>
            <a:r>
              <a:rPr lang="ko-KR" altLang="ko-KR" dirty="0"/>
              <a:t> 소유권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F52D8-E0EA-4B74-3ABA-E79CD636D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07. 객체 수명, </a:t>
            </a:r>
            <a:r>
              <a:rPr lang="ko-KR" altLang="ko-KR" dirty="0" err="1"/>
              <a:t>RAII와</a:t>
            </a:r>
            <a:r>
              <a:rPr lang="ko-KR" altLang="ko-KR" dirty="0"/>
              <a:t> 소유권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B97B9-133B-1656-3809-750CEDFD8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sz="2400" dirty="0"/>
              <a:t>저장 기간과 객체 수명의 구분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동적 메모리와 자원 관리 문제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>
                <a:solidFill>
                  <a:srgbClr val="0000FF"/>
                </a:solidFill>
              </a:rPr>
              <a:t>RAII</a:t>
            </a:r>
            <a:r>
              <a:rPr lang="en-US" altLang="ko-KR" sz="2400" dirty="0"/>
              <a:t> </a:t>
            </a:r>
            <a:r>
              <a:rPr lang="ko-KR" altLang="ko-KR" sz="2400" dirty="0"/>
              <a:t>와 결정적 소멸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예외 처리와 스택 되감기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예외 안전성의 보장 수준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 err="1">
                <a:solidFill>
                  <a:srgbClr val="0000FF"/>
                </a:solidFill>
              </a:rPr>
              <a:t>std</a:t>
            </a:r>
            <a:r>
              <a:rPr lang="ko-KR" altLang="ko-KR" sz="2400" dirty="0">
                <a:solidFill>
                  <a:srgbClr val="0000FF"/>
                </a:solidFill>
              </a:rPr>
              <a:t>::</a:t>
            </a:r>
            <a:r>
              <a:rPr lang="ko-KR" altLang="ko-KR" sz="2400" dirty="0" err="1">
                <a:solidFill>
                  <a:srgbClr val="0000FF"/>
                </a:solidFill>
              </a:rPr>
              <a:t>unique_ptr</a:t>
            </a:r>
            <a:r>
              <a:rPr lang="en-US" altLang="ko-KR" sz="2400" dirty="0">
                <a:solidFill>
                  <a:srgbClr val="0000FF"/>
                </a:solidFill>
              </a:rPr>
              <a:t> </a:t>
            </a:r>
            <a:r>
              <a:rPr lang="ko-KR" altLang="ko-KR" sz="2400" dirty="0"/>
              <a:t>와 고유 소유권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 err="1">
                <a:solidFill>
                  <a:srgbClr val="0000FF"/>
                </a:solidFill>
              </a:rPr>
              <a:t>std</a:t>
            </a:r>
            <a:r>
              <a:rPr lang="ko-KR" altLang="ko-KR" sz="2400" dirty="0">
                <a:solidFill>
                  <a:srgbClr val="0000FF"/>
                </a:solidFill>
              </a:rPr>
              <a:t>::</a:t>
            </a:r>
            <a:r>
              <a:rPr lang="ko-KR" altLang="ko-KR" sz="2400" dirty="0" err="1">
                <a:solidFill>
                  <a:srgbClr val="0000FF"/>
                </a:solidFill>
              </a:rPr>
              <a:t>shared_ptr</a:t>
            </a:r>
            <a:r>
              <a:rPr lang="en-US" altLang="ko-KR" sz="2400" dirty="0"/>
              <a:t> </a:t>
            </a:r>
            <a:r>
              <a:rPr lang="ko-KR" altLang="ko-KR" sz="2400" dirty="0"/>
              <a:t>와 공유 소유권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 err="1">
                <a:solidFill>
                  <a:srgbClr val="0000FF"/>
                </a:solidFill>
              </a:rPr>
              <a:t>std</a:t>
            </a:r>
            <a:r>
              <a:rPr lang="ko-KR" altLang="ko-KR" sz="2400" dirty="0">
                <a:solidFill>
                  <a:srgbClr val="0000FF"/>
                </a:solidFill>
              </a:rPr>
              <a:t>::</a:t>
            </a:r>
            <a:r>
              <a:rPr lang="ko-KR" altLang="ko-KR" sz="2400" dirty="0" err="1">
                <a:solidFill>
                  <a:srgbClr val="0000FF"/>
                </a:solidFill>
              </a:rPr>
              <a:t>weak_ptr</a:t>
            </a:r>
            <a:r>
              <a:rPr lang="en-US" altLang="ko-KR" sz="2400" dirty="0"/>
              <a:t> </a:t>
            </a:r>
            <a:r>
              <a:rPr lang="ko-KR" altLang="ko-KR" sz="2400" dirty="0"/>
              <a:t>와 </a:t>
            </a:r>
            <a:r>
              <a:rPr lang="ko-KR" altLang="ko-KR" sz="2400" dirty="0" err="1"/>
              <a:t>비소유</a:t>
            </a:r>
            <a:r>
              <a:rPr lang="ko-KR" altLang="ko-KR" sz="2400" dirty="0"/>
              <a:t> 관찰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값, 참조, 포인터와 스마트 포인터 선택</a:t>
            </a:r>
          </a:p>
          <a:p>
            <a:pPr>
              <a:lnSpc>
                <a:spcPct val="150000"/>
              </a:lnSpc>
            </a:pPr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3A86840-1B49-21BA-E941-1A1E893FF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523368"/>
              </p:ext>
            </p:extLst>
          </p:nvPr>
        </p:nvGraphicFramePr>
        <p:xfrm>
          <a:off x="6300192" y="1124744"/>
          <a:ext cx="2520280" cy="3816424"/>
        </p:xfrm>
        <a:graphic>
          <a:graphicData uri="http://schemas.openxmlformats.org/drawingml/2006/table">
            <a:tbl>
              <a:tblPr/>
              <a:tblGrid>
                <a:gridCol w="2520280">
                  <a:extLst>
                    <a:ext uri="{9D8B030D-6E8A-4147-A177-3AD203B41FA5}">
                      <a16:colId xmlns:a16="http://schemas.microsoft.com/office/drawing/2014/main" val="3438915340"/>
                    </a:ext>
                  </a:extLst>
                </a:gridCol>
              </a:tblGrid>
              <a:tr h="38164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생성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 획득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사용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소멸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 해제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216000" marB="1080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698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490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A8693-336F-ECE4-33A3-522C34D7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1F815-29DF-4C96-BAC9-F6C70828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/>
              <a:t>저장 기간과 객체 수명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CEFCBD-747D-EAA5-6EF6-4C20E2AA9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저장 기간: 객체가 사용할 저장 공간이 유지되는 기간</a:t>
            </a:r>
          </a:p>
          <a:p>
            <a:pPr lvl="0"/>
            <a:r>
              <a:rPr lang="ko-KR" altLang="ko-KR" sz="2400" dirty="0"/>
              <a:t>객체 수명: 초기화된 객체를 해당 타입으로 사용할 수 있는 기간</a:t>
            </a:r>
          </a:p>
          <a:p>
            <a:pPr lvl="0"/>
            <a:r>
              <a:rPr lang="ko-KR" altLang="ko-KR" sz="2400" dirty="0"/>
              <a:t>저장 공간이 있어도 객체 수명이 시작되지 않았으면 사용할 수 없음</a:t>
            </a:r>
          </a:p>
          <a:p>
            <a:pPr lvl="0"/>
            <a:r>
              <a:rPr lang="ko-KR" altLang="ko-KR" sz="2400" dirty="0"/>
              <a:t>객체가 소멸한 뒤 주소가 남아 있어도 사용할 수 없음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BBE21D-CA13-7714-E4FF-877CFD63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66202"/>
              </p:ext>
            </p:extLst>
          </p:nvPr>
        </p:nvGraphicFramePr>
        <p:xfrm>
          <a:off x="251520" y="3599131"/>
          <a:ext cx="6552728" cy="1860362"/>
        </p:xfrm>
        <a:graphic>
          <a:graphicData uri="http://schemas.openxmlformats.org/drawingml/2006/table">
            <a:tbl>
              <a:tblPr/>
              <a:tblGrid>
                <a:gridCol w="1224136">
                  <a:extLst>
                    <a:ext uri="{9D8B030D-6E8A-4147-A177-3AD203B41FA5}">
                      <a16:colId xmlns:a16="http://schemas.microsoft.com/office/drawing/2014/main" val="3289672158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418868996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885616674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기준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552088"/>
                  </a:ext>
                </a:extLst>
              </a:tr>
              <a:tr h="71415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기간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공간 유지 기간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 위치와 할당 방식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04931"/>
                  </a:ext>
                </a:extLst>
              </a:tr>
              <a:tr h="71415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수명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객체로 사용 가능한 기간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초기화 완료와 소멸 완료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1338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AC7799A-ACF2-B560-9AB1-AEAC65933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694773"/>
              </p:ext>
            </p:extLst>
          </p:nvPr>
        </p:nvGraphicFramePr>
        <p:xfrm>
          <a:off x="6948264" y="2636912"/>
          <a:ext cx="1880542" cy="3784800"/>
        </p:xfrm>
        <a:graphic>
          <a:graphicData uri="http://schemas.openxmlformats.org/drawingml/2006/table">
            <a:tbl>
              <a:tblPr/>
              <a:tblGrid>
                <a:gridCol w="1880542">
                  <a:extLst>
                    <a:ext uri="{9D8B030D-6E8A-4147-A177-3AD203B41FA5}">
                      <a16:colId xmlns:a16="http://schemas.microsoft.com/office/drawing/2014/main" val="1836468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공간 확보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초기화 완료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수명 시작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실행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수명 종료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공간 반환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216000" marB="2160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637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7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22D22-212E-32EF-F6E6-775DBC858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6DD95-928F-FF83-8F53-F82468A5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7.1.1 </a:t>
            </a:r>
            <a:r>
              <a:rPr lang="ko-KR" altLang="en-US" dirty="0"/>
              <a:t>자동 저장 기간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AE89B-BAF1-AA9A-3473-28679219F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함수나 블록 안의 일반 지역 객체</a:t>
            </a:r>
          </a:p>
          <a:p>
            <a:pPr lvl="0"/>
            <a:r>
              <a:rPr lang="ko-KR" altLang="ko-KR" sz="2400" dirty="0"/>
              <a:t>선언 지점에서 초기화</a:t>
            </a:r>
          </a:p>
          <a:p>
            <a:pPr lvl="0"/>
            <a:r>
              <a:rPr lang="ko-KR" altLang="ko-KR" sz="2400" dirty="0"/>
              <a:t>블록을 벗어날 때 소멸</a:t>
            </a:r>
          </a:p>
          <a:p>
            <a:pPr lvl="0"/>
            <a:r>
              <a:rPr lang="ko-KR" altLang="ko-KR" sz="2400" dirty="0"/>
              <a:t>같은 블록에서는 생성 역순으로 소멸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AD707-7538-43C3-BC9A-FE32B628AA79}"/>
              </a:ext>
            </a:extLst>
          </p:cNvPr>
          <p:cNvSpPr txBox="1"/>
          <p:nvPr/>
        </p:nvSpPr>
        <p:spPr>
          <a:xfrm>
            <a:off x="654893" y="2657072"/>
            <a:ext cx="4205139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TestScope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42EC277-8AB5-33CD-3CD4-E21E60707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080"/>
              </p:ext>
            </p:extLst>
          </p:nvPr>
        </p:nvGraphicFramePr>
        <p:xfrm>
          <a:off x="4973066" y="2654971"/>
          <a:ext cx="1547664" cy="1263360"/>
        </p:xfrm>
        <a:graphic>
          <a:graphicData uri="http://schemas.openxmlformats.org/drawingml/2006/table">
            <a:tbl>
              <a:tblPr/>
              <a:tblGrid>
                <a:gridCol w="1547664">
                  <a:extLst>
                    <a:ext uri="{9D8B030D-6E8A-4147-A177-3AD203B41FA5}">
                      <a16:colId xmlns:a16="http://schemas.microsoft.com/office/drawing/2014/main" val="3579610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44000" marR="144000" marT="144000" marB="144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6104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45BB03F-8D48-55DD-B02C-EA904384AC93}"/>
              </a:ext>
            </a:extLst>
          </p:cNvPr>
          <p:cNvSpPr txBox="1"/>
          <p:nvPr/>
        </p:nvSpPr>
        <p:spPr>
          <a:xfrm>
            <a:off x="1951037" y="4052679"/>
            <a:ext cx="4572000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inner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inner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계속\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6B89E-C171-9E33-8B79-5918C67CCECF}"/>
              </a:ext>
            </a:extLst>
          </p:cNvPr>
          <p:cNvSpPr txBox="1"/>
          <p:nvPr/>
        </p:nvSpPr>
        <p:spPr>
          <a:xfrm>
            <a:off x="1948730" y="6114782"/>
            <a:ext cx="4572000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좁은 블록을 사용하면 자원을 더 일찍 해제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5890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F960-0CF6-D007-0EE8-32F1D734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6B15A-9C72-D510-2A1B-2B253C18D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7.1.2 </a:t>
            </a:r>
            <a:r>
              <a:rPr lang="ko-KR" altLang="en-US" dirty="0"/>
              <a:t>정적 저장 기간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B4C3E-691A-08D9-63CB-0EB9F2CD7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이름 공간 범위 객체</a:t>
            </a:r>
          </a:p>
          <a:p>
            <a:pPr lvl="0"/>
            <a:r>
              <a:rPr lang="ko-KR" altLang="ko-KR" sz="2400" dirty="0" err="1"/>
              <a:t>static</a:t>
            </a:r>
            <a:r>
              <a:rPr lang="ko-KR" altLang="ko-KR" sz="2400" dirty="0"/>
              <a:t> 지역 객체</a:t>
            </a:r>
          </a:p>
          <a:p>
            <a:pPr lvl="0"/>
            <a:r>
              <a:rPr lang="ko-KR" altLang="ko-KR" sz="2400" dirty="0"/>
              <a:t>프로그램 실행 동안 저장 공간 유지</a:t>
            </a:r>
          </a:p>
          <a:p>
            <a:pPr lvl="0"/>
            <a:r>
              <a:rPr lang="ko-KR" altLang="ko-KR" sz="2400" dirty="0"/>
              <a:t>정적 지역 객체는 처음 실행이 선언 지점에 도달할 때 초기화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E58D94-1C20-6F40-736E-54213D123039}"/>
              </a:ext>
            </a:extLst>
          </p:cNvPr>
          <p:cNvSpPr txBox="1"/>
          <p:nvPr/>
        </p:nvSpPr>
        <p:spPr>
          <a:xfrm>
            <a:off x="467544" y="2636912"/>
            <a:ext cx="3240360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NextId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GameConfig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GetConfig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GameConfig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config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config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97B949-34A2-4781-3524-16A3B6334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910207"/>
              </p:ext>
            </p:extLst>
          </p:nvPr>
        </p:nvGraphicFramePr>
        <p:xfrm>
          <a:off x="3720827" y="3930368"/>
          <a:ext cx="5184576" cy="1133016"/>
        </p:xfrm>
        <a:graphic>
          <a:graphicData uri="http://schemas.openxmlformats.org/drawingml/2006/table">
            <a:tbl>
              <a:tblPr/>
              <a:tblGrid>
                <a:gridCol w="1438227">
                  <a:extLst>
                    <a:ext uri="{9D8B030D-6E8A-4147-A177-3AD203B41FA5}">
                      <a16:colId xmlns:a16="http://schemas.microsoft.com/office/drawing/2014/main" val="202710332"/>
                    </a:ext>
                  </a:extLst>
                </a:gridCol>
                <a:gridCol w="1960165">
                  <a:extLst>
                    <a:ext uri="{9D8B030D-6E8A-4147-A177-3AD203B41FA5}">
                      <a16:colId xmlns:a16="http://schemas.microsoft.com/office/drawing/2014/main" val="1250292478"/>
                    </a:ext>
                  </a:extLst>
                </a:gridCol>
                <a:gridCol w="1786184">
                  <a:extLst>
                    <a:ext uri="{9D8B030D-6E8A-4147-A177-3AD203B41FA5}">
                      <a16:colId xmlns:a16="http://schemas.microsoft.com/office/drawing/2014/main" val="2210430862"/>
                    </a:ext>
                  </a:extLst>
                </a:gridCol>
              </a:tblGrid>
              <a:tr h="33239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초기화 시점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 시점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20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전역 객체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일반적으로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main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전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프로그램 종료 과정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748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정적 지역 객체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최초 실행 도달 시점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프로그램 종료 과정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2435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0681A5F-C2CB-CF68-F71F-9CF0244ABB66}"/>
              </a:ext>
            </a:extLst>
          </p:cNvPr>
          <p:cNvSpPr txBox="1"/>
          <p:nvPr/>
        </p:nvSpPr>
        <p:spPr>
          <a:xfrm>
            <a:off x="2285999" y="5437679"/>
            <a:ext cx="5184577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서로 다른 소스 파일의 정적 객체 초기화 순서 의존 주의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793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F34F-64B4-14A9-ECB9-EE4439A7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E88CB-C493-BB3F-B55D-A7B6A005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7.1.4 </a:t>
            </a:r>
            <a:r>
              <a:rPr lang="ko-KR" altLang="en-US" dirty="0"/>
              <a:t>동적 저장 기간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EFD1E3-AA80-EFD9-2B32-839FD5CD6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실행 중 명시적으로 저장 공간 확보</a:t>
            </a:r>
          </a:p>
          <a:p>
            <a:pPr lvl="0"/>
            <a:r>
              <a:rPr lang="ko-KR" altLang="ko-KR" sz="2400" dirty="0" err="1">
                <a:solidFill>
                  <a:srgbClr val="0000FF"/>
                </a:solidFill>
              </a:rPr>
              <a:t>new</a:t>
            </a:r>
            <a:r>
              <a:rPr lang="en-US" altLang="ko-KR" sz="2400" dirty="0"/>
              <a:t> </a:t>
            </a:r>
            <a:r>
              <a:rPr lang="ko-KR" altLang="ko-KR" sz="2400" dirty="0"/>
              <a:t>로 객체 생성</a:t>
            </a:r>
          </a:p>
          <a:p>
            <a:pPr lvl="0"/>
            <a:r>
              <a:rPr lang="ko-KR" altLang="ko-KR" sz="2400" dirty="0" err="1">
                <a:solidFill>
                  <a:srgbClr val="0000FF"/>
                </a:solidFill>
              </a:rPr>
              <a:t>delete</a:t>
            </a:r>
            <a:r>
              <a:rPr lang="en-US" altLang="ko-KR" sz="2400" dirty="0"/>
              <a:t> </a:t>
            </a:r>
            <a:r>
              <a:rPr lang="ko-KR" altLang="ko-KR" sz="2400" dirty="0"/>
              <a:t>로 객체 수명 종료와 저장 공간 반환</a:t>
            </a:r>
          </a:p>
          <a:p>
            <a:pPr lvl="0"/>
            <a:r>
              <a:rPr lang="ko-KR" altLang="ko-KR" sz="2400" dirty="0"/>
              <a:t>생성한 블록을 벗어나도 자동 소멸하지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849B8-BF65-0480-4238-E691091A2D51}"/>
              </a:ext>
            </a:extLst>
          </p:cNvPr>
          <p:cNvSpPr txBox="1"/>
          <p:nvPr/>
        </p:nvSpPr>
        <p:spPr>
          <a:xfrm>
            <a:off x="539750" y="2708920"/>
            <a:ext cx="4572000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Segoe UI Black" panose="020B0A02040204020203" pitchFamily="34" charset="0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Segoe UI Black" panose="020B0A02040204020203" pitchFamily="34" charset="0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Segoe UI Black" panose="020B0A02040204020203" pitchFamily="34" charset="0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Segoe UI Black" panose="020B0A02040204020203" pitchFamily="34" charset="0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Segoe UI Black" panose="020B0A02040204020203" pitchFamily="34" charset="0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Segoe UI Black" panose="020B0A02040204020203" pitchFamily="34" charset="0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Segoe UI Black" panose="020B0A02040204020203" pitchFamily="34" charset="0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Segoe UI Black" panose="020B0A02040204020203" pitchFamily="34" charset="0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Segoe UI Black" panose="020B0A02040204020203" pitchFamily="34" charset="0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Segoe UI Black" panose="020B0A02040204020203" pitchFamily="34" charset="0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*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Segoe UI Black" panose="020B0A02040204020203" pitchFamily="34" charset="0"/>
              </a:rPr>
              <a:t>CreateEnemy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Segoe UI Black" panose="020B0A02040204020203" pitchFamily="34" charset="0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Segoe UI Black" panose="020B0A02040204020203" pitchFamily="34" charset="0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Segoe UI Black" panose="020B0A02040204020203" pitchFamily="34" charset="0"/>
              </a:rPr>
              <a:t>}</a:t>
            </a:r>
            <a:endParaRPr lang="ko-KR" altLang="en-US" sz="1600" dirty="0">
              <a:latin typeface="Segoe UI Black" panose="020B0A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B4ADC55-ADE2-27D9-C0B6-46051CB6A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40294"/>
              </p:ext>
            </p:extLst>
          </p:nvPr>
        </p:nvGraphicFramePr>
        <p:xfrm>
          <a:off x="4518149" y="3429000"/>
          <a:ext cx="4320480" cy="2030600"/>
        </p:xfrm>
        <a:graphic>
          <a:graphicData uri="http://schemas.openxmlformats.org/drawingml/2006/table">
            <a:tbl>
              <a:tblPr/>
              <a:tblGrid>
                <a:gridCol w="1854051">
                  <a:extLst>
                    <a:ext uri="{9D8B030D-6E8A-4147-A177-3AD203B41FA5}">
                      <a16:colId xmlns:a16="http://schemas.microsoft.com/office/drawing/2014/main" val="58557236"/>
                    </a:ext>
                  </a:extLst>
                </a:gridCol>
                <a:gridCol w="2466429">
                  <a:extLst>
                    <a:ext uri="{9D8B030D-6E8A-4147-A177-3AD203B41FA5}">
                      <a16:colId xmlns:a16="http://schemas.microsoft.com/office/drawing/2014/main" val="3256977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 상황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80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함수보다 긴 수명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장면에 등록된 객체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99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중 개수 결정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적 목록, 리소스 목록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533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 이전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팩토리 함수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00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다형 객체 관리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 포인터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78263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673BB7-555F-2F34-2CAC-1D94416D32DD}"/>
              </a:ext>
            </a:extLst>
          </p:cNvPr>
          <p:cNvSpPr txBox="1"/>
          <p:nvPr/>
        </p:nvSpPr>
        <p:spPr>
          <a:xfrm>
            <a:off x="3131840" y="5589909"/>
            <a:ext cx="4572000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 집합은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우선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단일 동적 객체는 스마트 포인터 우선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56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2F93-D1AA-4976-AB53-47610A16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0C83-0A95-14D3-EE1B-89A9D9B25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7.1.5 </a:t>
            </a:r>
            <a:r>
              <a:rPr lang="ko-KR" altLang="en-US" dirty="0"/>
              <a:t>저장 기간과 수명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6DD1EE-1555-1E09-32EB-FFA630A60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00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CDFE7-DA0A-CC79-06E7-5CF77821BCDA}"/>
              </a:ext>
            </a:extLst>
          </p:cNvPr>
          <p:cNvSpPr txBox="1"/>
          <p:nvPr/>
        </p:nvSpPr>
        <p:spPr>
          <a:xfrm>
            <a:off x="395536" y="807829"/>
            <a:ext cx="3672408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// 잘못된 접근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A7C8E-C341-1AD2-E908-E247D761CC5B}"/>
              </a:ext>
            </a:extLst>
          </p:cNvPr>
          <p:cNvSpPr txBox="1"/>
          <p:nvPr/>
        </p:nvSpPr>
        <p:spPr>
          <a:xfrm>
            <a:off x="1301738" y="2895839"/>
            <a:ext cx="5532412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포인터 값이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nullptr가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아니어도 객체가 살아 있다는 뜻은 아님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소멸한 객체를 가리키는 포인터는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댕글링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포인터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참조도 대상 객체 수명보다 오래 사용하면 같은 문제 발생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DF0DA-CC82-B832-0CE0-6E34DB8C8B79}"/>
              </a:ext>
            </a:extLst>
          </p:cNvPr>
          <p:cNvSpPr txBox="1"/>
          <p:nvPr/>
        </p:nvSpPr>
        <p:spPr>
          <a:xfrm>
            <a:off x="395536" y="4409851"/>
            <a:ext cx="4680520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수명 구분이 필요한 이유</a:t>
            </a:r>
            <a:endParaRPr lang="ko-KR" altLang="ko-KR" sz="18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지역 객체 주소 반환 금지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이후 포인터 사용 금지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컨테이너 재배치 후 기존 포인터 무효화 가능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예외 발생 시 생성 완료 객체만 소멸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F0D3B18-E6D2-23D3-E074-C966AF770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263359"/>
              </p:ext>
            </p:extLst>
          </p:nvPr>
        </p:nvGraphicFramePr>
        <p:xfrm>
          <a:off x="4139952" y="692150"/>
          <a:ext cx="3024336" cy="2047240"/>
        </p:xfrm>
        <a:graphic>
          <a:graphicData uri="http://schemas.openxmlformats.org/drawingml/2006/table">
            <a:tbl>
              <a:tblPr/>
              <a:tblGrid>
                <a:gridCol w="3024336">
                  <a:extLst>
                    <a:ext uri="{9D8B030D-6E8A-4147-A177-3AD203B41FA5}">
                      <a16:colId xmlns:a16="http://schemas.microsoft.com/office/drawing/2014/main" val="603248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localEnemy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수명 시작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enemy가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localEnemy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주소 저장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블록 종료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localEnemy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enemy에는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이전 주소가 남음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5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0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9C76-8025-A3A9-E8EF-A344A46B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33011-2769-94A9-F927-FAD12CFD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 </a:t>
            </a:r>
            <a:r>
              <a:rPr lang="ko-KR" altLang="en-US" dirty="0"/>
              <a:t>동적 메모리와 자원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650E1C-CECB-4D87-D9A9-6BD2B6CC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new와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delete는</a:t>
            </a:r>
            <a:r>
              <a:rPr lang="ko-KR" altLang="ko-KR" sz="2400" dirty="0"/>
              <a:t> 동적 객체의 </a:t>
            </a:r>
            <a:r>
              <a:rPr lang="ko-KR" altLang="ko-KR" sz="2400" dirty="0" err="1"/>
              <a:t>생성·소멸</a:t>
            </a:r>
            <a:r>
              <a:rPr lang="ko-KR" altLang="ko-KR" sz="2400" dirty="0"/>
              <a:t> 원리 이해에 필요</a:t>
            </a:r>
          </a:p>
          <a:p>
            <a:pPr lvl="0"/>
            <a:r>
              <a:rPr lang="ko-KR" altLang="ko-KR" sz="2400" dirty="0"/>
              <a:t>실제 프로그램에서 원시 포인터만으로 소유권 표현은 위험</a:t>
            </a:r>
          </a:p>
          <a:p>
            <a:pPr lvl="0"/>
            <a:r>
              <a:rPr lang="ko-KR" altLang="ko-KR" sz="2400" dirty="0"/>
              <a:t>해제 책임이 인터페이스에 드러나지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EDEC1-40D2-9C86-37AD-165451781512}"/>
              </a:ext>
            </a:extLst>
          </p:cNvPr>
          <p:cNvSpPr txBox="1"/>
          <p:nvPr/>
        </p:nvSpPr>
        <p:spPr>
          <a:xfrm>
            <a:off x="517262" y="2322294"/>
            <a:ext cx="6120482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호출자가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delete해야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하는가?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내부 객체를 빌려주는가?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원시 포인터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├─ 소유 포인터일 수 있음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├─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포인터일 수 있음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타입만 보고 구분 어려움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1992CA8-541D-3F02-CA5B-FB7B3F4D5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853779"/>
              </p:ext>
            </p:extLst>
          </p:nvPr>
        </p:nvGraphicFramePr>
        <p:xfrm>
          <a:off x="5580112" y="3392528"/>
          <a:ext cx="2827015" cy="1908680"/>
        </p:xfrm>
        <a:graphic>
          <a:graphicData uri="http://schemas.openxmlformats.org/drawingml/2006/table">
            <a:tbl>
              <a:tblPr/>
              <a:tblGrid>
                <a:gridCol w="1517201">
                  <a:extLst>
                    <a:ext uri="{9D8B030D-6E8A-4147-A177-3AD203B41FA5}">
                      <a16:colId xmlns:a16="http://schemas.microsoft.com/office/drawing/2014/main" val="1504056966"/>
                    </a:ext>
                  </a:extLst>
                </a:gridCol>
                <a:gridCol w="1309814">
                  <a:extLst>
                    <a:ext uri="{9D8B030D-6E8A-4147-A177-3AD203B41FA5}">
                      <a16:colId xmlns:a16="http://schemas.microsoft.com/office/drawing/2014/main" val="2789440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문제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결과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해제 누락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메모리 누수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5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중복 해제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이중 해제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01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 뒤 접근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댕글링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포인터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613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잘못된 해제 방식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미정의 동작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7487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A7FA975-0913-1FF9-80DA-8A57B0208CFB}"/>
              </a:ext>
            </a:extLst>
          </p:cNvPr>
          <p:cNvSpPr txBox="1"/>
          <p:nvPr/>
        </p:nvSpPr>
        <p:spPr>
          <a:xfrm>
            <a:off x="517262" y="4931876"/>
            <a:ext cx="4594488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RAII와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스마트 포인터로 같은 문제 해결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903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A398-143A-B663-2A05-1BA47CD4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58F4F-3A51-C477-E73D-18DA4514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7.2.1 new</a:t>
            </a:r>
            <a:r>
              <a:rPr lang="ko-KR" altLang="en-US" dirty="0"/>
              <a:t>와 </a:t>
            </a:r>
            <a:r>
              <a:rPr lang="en-US" altLang="ko-KR" dirty="0"/>
              <a:t>delete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3FF3D-8EAE-8B5A-016C-C85EEBC2E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new는</a:t>
            </a:r>
            <a:r>
              <a:rPr lang="ko-KR" altLang="ko-KR" sz="2400" dirty="0"/>
              <a:t> 저장 공간 확보와 객체 초기화를 함께 수행</a:t>
            </a:r>
          </a:p>
          <a:p>
            <a:pPr lvl="0"/>
            <a:r>
              <a:rPr lang="ko-KR" altLang="ko-KR" sz="2400" dirty="0" err="1"/>
              <a:t>delete는</a:t>
            </a:r>
            <a:r>
              <a:rPr lang="ko-KR" altLang="ko-KR" sz="2400" dirty="0"/>
              <a:t> </a:t>
            </a:r>
            <a:r>
              <a:rPr lang="ko-KR" altLang="ko-KR" sz="2400" dirty="0" err="1"/>
              <a:t>소멸자</a:t>
            </a:r>
            <a:r>
              <a:rPr lang="ko-KR" altLang="ko-KR" sz="2400" dirty="0"/>
              <a:t> 호출 후 저장 공간 반환</a:t>
            </a:r>
          </a:p>
          <a:p>
            <a:pPr lvl="0"/>
            <a:r>
              <a:rPr lang="ko-KR" altLang="ko-KR" sz="2400" dirty="0" err="1"/>
              <a:t>delete</a:t>
            </a:r>
            <a:r>
              <a:rPr lang="ko-KR" altLang="ko-KR" sz="2400" dirty="0"/>
              <a:t> 뒤 포인터 변수는 자동으로 </a:t>
            </a:r>
            <a:r>
              <a:rPr lang="ko-KR" altLang="ko-KR" sz="2400" dirty="0" err="1"/>
              <a:t>nullptr가</a:t>
            </a:r>
            <a:r>
              <a:rPr lang="ko-KR" altLang="ko-KR" sz="2400" dirty="0"/>
              <a:t> 되지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2DB2D-3FCE-1F12-A5CE-540A5E9BED06}"/>
              </a:ext>
            </a:extLst>
          </p:cNvPr>
          <p:cNvSpPr txBox="1"/>
          <p:nvPr/>
        </p:nvSpPr>
        <p:spPr>
          <a:xfrm>
            <a:off x="576064" y="2389093"/>
            <a:ext cx="457200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551A4CE-1B61-F0E7-C608-DE6BD7DD0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120827"/>
              </p:ext>
            </p:extLst>
          </p:nvPr>
        </p:nvGraphicFramePr>
        <p:xfrm>
          <a:off x="3491880" y="3716222"/>
          <a:ext cx="4032448" cy="1385216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345503467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386631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표현식</a:t>
                      </a:r>
                      <a:endParaRPr lang="ko-KR" sz="3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초기화</a:t>
                      </a:r>
                      <a:endParaRPr lang="ko-KR" sz="3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72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new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399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초기화, 값 불명</a:t>
                      </a:r>
                      <a:endParaRPr lang="ko-KR" sz="3200" dirty="0">
                        <a:solidFill>
                          <a:srgbClr val="3399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01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new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(100)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399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100으로 초기화</a:t>
                      </a:r>
                      <a:endParaRPr lang="ko-KR" sz="3200" dirty="0">
                        <a:solidFill>
                          <a:srgbClr val="3399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37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new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{}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399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0으로 값 초기화</a:t>
                      </a:r>
                      <a:endParaRPr lang="ko-KR" sz="3200" dirty="0">
                        <a:solidFill>
                          <a:srgbClr val="3399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1352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8418719-FB74-5B46-B586-47FFBFF7858F}"/>
              </a:ext>
            </a:extLst>
          </p:cNvPr>
          <p:cNvSpPr txBox="1"/>
          <p:nvPr/>
        </p:nvSpPr>
        <p:spPr>
          <a:xfrm>
            <a:off x="576064" y="5118206"/>
            <a:ext cx="4572000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C5B80D-A26B-A9FF-A774-F0DB837968BE}"/>
              </a:ext>
            </a:extLst>
          </p:cNvPr>
          <p:cNvSpPr txBox="1"/>
          <p:nvPr/>
        </p:nvSpPr>
        <p:spPr>
          <a:xfrm>
            <a:off x="576064" y="5973611"/>
            <a:ext cx="457200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nullptr;은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안전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객체에 두 번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delete는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미정의 동작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073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94BF-5054-AA63-A0EB-67140996D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1353A-7BE5-E1EF-705C-226C1815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7.2.2 new[]</a:t>
            </a:r>
            <a:r>
              <a:rPr lang="ko-KR" altLang="en-US" dirty="0"/>
              <a:t>와 </a:t>
            </a:r>
            <a:r>
              <a:rPr lang="en-US" altLang="ko-KR" dirty="0"/>
              <a:t>delete[]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7437E-F67D-233E-3B20-5F699595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>
                <a:solidFill>
                  <a:srgbClr val="0000FF"/>
                </a:solidFill>
              </a:rPr>
              <a:t>동적 배열</a:t>
            </a:r>
            <a:r>
              <a:rPr lang="ko-KR" altLang="ko-KR" sz="2400" dirty="0"/>
              <a:t>은 </a:t>
            </a:r>
            <a:r>
              <a:rPr lang="ko-KR" altLang="ko-KR" sz="2400" dirty="0" err="1">
                <a:solidFill>
                  <a:srgbClr val="0000FF"/>
                </a:solidFill>
              </a:rPr>
              <a:t>new</a:t>
            </a:r>
            <a:r>
              <a:rPr lang="ko-KR" altLang="ko-KR" sz="2400" dirty="0">
                <a:solidFill>
                  <a:srgbClr val="0000FF"/>
                </a:solidFill>
              </a:rPr>
              <a:t>[]</a:t>
            </a:r>
            <a:r>
              <a:rPr lang="ko-KR" altLang="ko-KR" sz="2400" dirty="0"/>
              <a:t>로 생성</a:t>
            </a:r>
            <a:r>
              <a:rPr lang="en-US" altLang="ko-KR" sz="2400" dirty="0"/>
              <a:t>, </a:t>
            </a:r>
            <a:r>
              <a:rPr lang="ko-KR" altLang="ko-KR" sz="2400" dirty="0" err="1">
                <a:solidFill>
                  <a:srgbClr val="0000FF"/>
                </a:solidFill>
              </a:rPr>
              <a:t>delete</a:t>
            </a:r>
            <a:r>
              <a:rPr lang="ko-KR" altLang="ko-KR" sz="2400" dirty="0">
                <a:solidFill>
                  <a:srgbClr val="0000FF"/>
                </a:solidFill>
              </a:rPr>
              <a:t>[]</a:t>
            </a:r>
            <a:r>
              <a:rPr lang="ko-KR" altLang="ko-KR" sz="2400" dirty="0"/>
              <a:t>로 해제</a:t>
            </a:r>
          </a:p>
          <a:p>
            <a:pPr lvl="0"/>
            <a:r>
              <a:rPr lang="ko-KR" altLang="ko-KR" sz="2400" dirty="0" err="1"/>
              <a:t>new</a:t>
            </a:r>
            <a:r>
              <a:rPr lang="ko-KR" altLang="ko-KR" sz="2400" dirty="0"/>
              <a:t>[]와 </a:t>
            </a:r>
            <a:r>
              <a:rPr lang="ko-KR" altLang="ko-KR" sz="2400" dirty="0" err="1"/>
              <a:t>delete를</a:t>
            </a:r>
            <a:r>
              <a:rPr lang="ko-KR" altLang="ko-KR" sz="2400" dirty="0"/>
              <a:t> 섞으면 미정의 동작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6CEC0-A3CF-8673-C92A-C342F8F67D0F}"/>
              </a:ext>
            </a:extLst>
          </p:cNvPr>
          <p:cNvSpPr txBox="1"/>
          <p:nvPr/>
        </p:nvSpPr>
        <p:spPr>
          <a:xfrm>
            <a:off x="683568" y="1772816"/>
            <a:ext cx="4572000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[i]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&gt;(i *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4A2C94-3AA4-6152-1E1A-DE39304F6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717931"/>
              </p:ext>
            </p:extLst>
          </p:nvPr>
        </p:nvGraphicFramePr>
        <p:xfrm>
          <a:off x="5255568" y="3429000"/>
          <a:ext cx="2768004" cy="1346376"/>
        </p:xfrm>
        <a:graphic>
          <a:graphicData uri="http://schemas.openxmlformats.org/drawingml/2006/table">
            <a:tbl>
              <a:tblPr/>
              <a:tblGrid>
                <a:gridCol w="1384002">
                  <a:extLst>
                    <a:ext uri="{9D8B030D-6E8A-4147-A177-3AD203B41FA5}">
                      <a16:colId xmlns:a16="http://schemas.microsoft.com/office/drawing/2014/main" val="3921401302"/>
                    </a:ext>
                  </a:extLst>
                </a:gridCol>
                <a:gridCol w="1384002">
                  <a:extLst>
                    <a:ext uri="{9D8B030D-6E8A-4147-A177-3AD203B41FA5}">
                      <a16:colId xmlns:a16="http://schemas.microsoft.com/office/drawing/2014/main" val="4181462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</a:t>
                      </a:r>
                      <a:endParaRPr lang="ko-KR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해제</a:t>
                      </a:r>
                      <a:endParaRPr lang="ko-KR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2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new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delete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522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new T[n]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delete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3618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F4C6BA-6BF4-6D08-E1E6-7817A3E4B12E}"/>
              </a:ext>
            </a:extLst>
          </p:cNvPr>
          <p:cNvSpPr txBox="1"/>
          <p:nvPr/>
        </p:nvSpPr>
        <p:spPr>
          <a:xfrm>
            <a:off x="683568" y="5872269"/>
            <a:ext cx="457200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원시 포인터 타입에는 배열 크기 정보가 없음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일반적인 가변 길이 배열은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권장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702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EB08-36E3-A568-E3B5-B025B218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55D36-681B-AA9E-D667-46741CBF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7.2.4 </a:t>
            </a:r>
            <a:r>
              <a:rPr lang="ko-KR" altLang="en-US" dirty="0"/>
              <a:t>메모리 누수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B4F2F-09C0-DC69-BC79-751F13F09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동적으로 확보한 메모리를 해제하지 못한 상태</a:t>
            </a:r>
          </a:p>
          <a:p>
            <a:pPr lvl="0"/>
            <a:r>
              <a:rPr lang="ko-KR" altLang="ko-KR" sz="2400" dirty="0"/>
              <a:t>포인터 변수만 사라지고 동적 객체는 남을 수 있음</a:t>
            </a:r>
          </a:p>
          <a:p>
            <a:pPr lvl="0"/>
            <a:r>
              <a:rPr lang="ko-KR" altLang="ko-KR" sz="2400" dirty="0"/>
              <a:t>주소를 잃으면 정상적인 해제 불가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77F47-0FDF-3D26-6C9D-2939353953C3}"/>
              </a:ext>
            </a:extLst>
          </p:cNvPr>
          <p:cNvSpPr txBox="1"/>
          <p:nvPr/>
        </p:nvSpPr>
        <p:spPr>
          <a:xfrm>
            <a:off x="817166" y="2332673"/>
            <a:ext cx="3592562" cy="38164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Leak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1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1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1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1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1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없음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1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1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1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첫 번째 주소를 잃음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valid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1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]{};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valid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1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1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1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누수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1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1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1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1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7161C-845D-710F-DC40-ED85CC558931}"/>
              </a:ext>
            </a:extLst>
          </p:cNvPr>
          <p:cNvSpPr txBox="1"/>
          <p:nvPr/>
        </p:nvSpPr>
        <p:spPr>
          <a:xfrm>
            <a:off x="4409728" y="3645024"/>
            <a:ext cx="2188914" cy="1485567"/>
          </a:xfrm>
          <a:prstGeom prst="rect">
            <a:avLst/>
          </a:prstGeom>
          <a:solidFill>
            <a:srgbClr val="FFFFCC"/>
          </a:solidFill>
          <a:ln w="12700">
            <a:solidFill>
              <a:srgbClr val="FFC000"/>
            </a:solidFill>
            <a:prstDash val="sysDot"/>
          </a:ln>
        </p:spPr>
        <p:txBody>
          <a:bodyPr wrap="square" lIns="144000" tIns="144000" rIns="144000" bIns="108000">
            <a:spAutoFit/>
          </a:bodyPr>
          <a:lstStyle/>
          <a:p>
            <a:pPr algn="ctr"/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정상 종료 경로만 해제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↓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조기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또는 예외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↓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해제 코드 건너뜀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7098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8D26-BF1D-56DA-2E73-D113626F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33213-2CCF-7F1F-B4BC-4694E3A4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7.2.5 </a:t>
            </a:r>
            <a:r>
              <a:rPr lang="ko-KR" altLang="en-US" dirty="0"/>
              <a:t>이중 해제와 </a:t>
            </a:r>
            <a:r>
              <a:rPr lang="ko-KR" altLang="en-US" dirty="0" err="1"/>
              <a:t>댕글링</a:t>
            </a:r>
            <a:r>
              <a:rPr lang="ko-KR" altLang="en-US" dirty="0"/>
              <a:t> 포인터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E1284-EC11-3BA0-BD82-0AE77843FBE7}"/>
              </a:ext>
            </a:extLst>
          </p:cNvPr>
          <p:cNvSpPr txBox="1"/>
          <p:nvPr/>
        </p:nvSpPr>
        <p:spPr>
          <a:xfrm>
            <a:off x="561876" y="836712"/>
            <a:ext cx="509024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BEA60D-3A47-28FE-DF81-ABBBD0A434E2}"/>
              </a:ext>
            </a:extLst>
          </p:cNvPr>
          <p:cNvSpPr txBox="1"/>
          <p:nvPr/>
        </p:nvSpPr>
        <p:spPr>
          <a:xfrm>
            <a:off x="561876" y="1788507"/>
            <a:ext cx="5090244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댕글링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포인터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역참조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        // 이중 해제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D6BA4-3AB5-4ADC-271B-E4172D0CD38D}"/>
              </a:ext>
            </a:extLst>
          </p:cNvPr>
          <p:cNvSpPr txBox="1"/>
          <p:nvPr/>
        </p:nvSpPr>
        <p:spPr>
          <a:xfrm>
            <a:off x="561876" y="3284984"/>
            <a:ext cx="6242372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포인터가 있어도 객체는 하나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 포인터로 해제하면 다른 포인터도 유효하지 않음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 포인터를 </a:t>
            </a:r>
            <a:r>
              <a:rPr lang="ko-KR" altLang="ko-KR" sz="1600" b="0" i="0" u="none" strike="noStrike" dirty="0" err="1">
                <a:solidFill>
                  <a:srgbClr val="3399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바꾸어도 다른 별칭 포인터는 바뀌지 않음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C0847C-8C44-7B36-B814-839BED7DFA11}"/>
              </a:ext>
            </a:extLst>
          </p:cNvPr>
          <p:cNvSpPr txBox="1"/>
          <p:nvPr/>
        </p:nvSpPr>
        <p:spPr>
          <a:xfrm>
            <a:off x="539750" y="4535240"/>
            <a:ext cx="457200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GetNameReference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잘못된 반환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37D58-76B4-9B26-9DDF-BF6C9E6A01F7}"/>
              </a:ext>
            </a:extLst>
          </p:cNvPr>
          <p:cNvSpPr txBox="1"/>
          <p:nvPr/>
        </p:nvSpPr>
        <p:spPr>
          <a:xfrm>
            <a:off x="4784655" y="5086405"/>
            <a:ext cx="3384376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지역 객체의 주소나 참조 반환 금지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3E4C468F-5162-F528-755B-30CFD57907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435244"/>
              </p:ext>
            </p:extLst>
          </p:nvPr>
        </p:nvGraphicFramePr>
        <p:xfrm>
          <a:off x="5253509" y="1141816"/>
          <a:ext cx="3179514" cy="949960"/>
        </p:xfrm>
        <a:graphic>
          <a:graphicData uri="http://schemas.openxmlformats.org/drawingml/2006/table">
            <a:tbl>
              <a:tblPr/>
              <a:tblGrid>
                <a:gridCol w="3179514">
                  <a:extLst>
                    <a:ext uri="{9D8B030D-6E8A-4147-A177-3AD203B41FA5}">
                      <a16:colId xmlns:a16="http://schemas.microsoft.com/office/drawing/2014/main" val="306489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</a:t>
                      </a:r>
                      <a:r>
                        <a:rPr lang="en-US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─┐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 </a:t>
                      </a:r>
                      <a:r>
                        <a:rPr lang="en-US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├──▶ </a:t>
                      </a:r>
                      <a:r>
                        <a:rPr lang="ko-KR" sz="1800" b="1" i="0" u="none" strike="noStrike" dirty="0" err="1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─┘</a:t>
                      </a:r>
                      <a:endParaRPr lang="ko-KR" sz="3200" b="1" dirty="0">
                        <a:effectLst/>
                        <a:latin typeface="Consolas" panose="020B0609020204030204" pitchFamily="49" charset="0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437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74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72D9-85A3-2D90-33D0-80213C8C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60DA5-2329-524E-3A20-E806695C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7.2.6 </a:t>
            </a:r>
            <a:r>
              <a:rPr lang="ko-KR" altLang="en-US" dirty="0"/>
              <a:t>메모리 이외의 자원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6792A3-0E85-885E-53B1-CC8D07F86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/>
              <a:t>메모리 이외 </a:t>
            </a:r>
            <a:r>
              <a:rPr lang="ko-KR" altLang="ko-KR" sz="2400" dirty="0"/>
              <a:t>프로그램이 관리해야 하는 자원</a:t>
            </a:r>
            <a:r>
              <a:rPr lang="en-US" altLang="ko-KR" sz="2400" dirty="0"/>
              <a:t> </a:t>
            </a:r>
            <a:r>
              <a:rPr lang="ko-KR" altLang="en-US" sz="2400" dirty="0"/>
              <a:t>다수</a:t>
            </a:r>
            <a:endParaRPr lang="ko-KR" altLang="ko-KR" sz="2400" dirty="0"/>
          </a:p>
          <a:p>
            <a:pPr lvl="0"/>
            <a:r>
              <a:rPr lang="ko-KR" altLang="ko-KR" sz="2400" dirty="0"/>
              <a:t>획득과 해제 함수가 쌍으로 존재</a:t>
            </a:r>
          </a:p>
          <a:p>
            <a:pPr lvl="0"/>
            <a:r>
              <a:rPr lang="ko-KR" altLang="ko-KR" sz="2400" dirty="0"/>
              <a:t>모든 종료 경로에서 정확히 한 번 해제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6E4F8-6A39-0DB7-C78E-F8B47579845F}"/>
              </a:ext>
            </a:extLst>
          </p:cNvPr>
          <p:cNvSpPr txBox="1"/>
          <p:nvPr/>
        </p:nvSpPr>
        <p:spPr>
          <a:xfrm>
            <a:off x="543892" y="2171760"/>
            <a:ext cx="4535596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::FILE*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::fopen(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::fclose(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fputs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::fclose(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65422-685D-7A94-F061-41105D7FD1F2}"/>
              </a:ext>
            </a:extLst>
          </p:cNvPr>
          <p:cNvSpPr txBox="1"/>
          <p:nvPr/>
        </p:nvSpPr>
        <p:spPr>
          <a:xfrm>
            <a:off x="539750" y="5947948"/>
            <a:ext cx="4535596" cy="338554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 경로가 늘수록 정리 코드 누락 위험 증가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6363FF1-6094-5AB9-3C13-322F329B7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058455"/>
              </p:ext>
            </p:extLst>
          </p:nvPr>
        </p:nvGraphicFramePr>
        <p:xfrm>
          <a:off x="4882852" y="3092154"/>
          <a:ext cx="4176464" cy="2684344"/>
        </p:xfrm>
        <a:graphic>
          <a:graphicData uri="http://schemas.openxmlformats.org/drawingml/2006/table">
            <a:tbl>
              <a:tblPr/>
              <a:tblGrid>
                <a:gridCol w="1305145">
                  <a:extLst>
                    <a:ext uri="{9D8B030D-6E8A-4147-A177-3AD203B41FA5}">
                      <a16:colId xmlns:a16="http://schemas.microsoft.com/office/drawing/2014/main" val="2832236529"/>
                    </a:ext>
                  </a:extLst>
                </a:gridCol>
                <a:gridCol w="1522669">
                  <a:extLst>
                    <a:ext uri="{9D8B030D-6E8A-4147-A177-3AD203B41FA5}">
                      <a16:colId xmlns:a16="http://schemas.microsoft.com/office/drawing/2014/main" val="572541264"/>
                    </a:ext>
                  </a:extLst>
                </a:gridCol>
                <a:gridCol w="1348650">
                  <a:extLst>
                    <a:ext uri="{9D8B030D-6E8A-4147-A177-3AD203B41FA5}">
                      <a16:colId xmlns:a16="http://schemas.microsoft.com/office/drawing/2014/main" val="1880628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획득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해제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382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열기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닫기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36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소켓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생성·연결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종료·닫기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31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스레드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시작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결합 또는 분리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9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뮤텍스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잠금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잠금 해제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898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그래픽 자원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버퍼·텍스처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API 해제 함수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75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운영체제 핸들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API 호출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닫기 함수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2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23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D82C-857E-BFF0-7962-BFDDB950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B964C-0F5C-CF6C-80F4-C20E1278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 RAII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D2E54-F05E-6D0D-8A62-53D1D9D09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Resource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Acquisition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Initialization</a:t>
            </a:r>
            <a:endParaRPr lang="ko-KR" altLang="ko-KR" sz="2400" dirty="0"/>
          </a:p>
          <a:p>
            <a:pPr lvl="0"/>
            <a:r>
              <a:rPr lang="ko-KR" altLang="ko-KR" sz="2400" dirty="0"/>
              <a:t>자원 획득을 객체 초기화와 연결</a:t>
            </a:r>
          </a:p>
          <a:p>
            <a:pPr lvl="0"/>
            <a:r>
              <a:rPr lang="ko-KR" altLang="ko-KR" sz="2400" dirty="0"/>
              <a:t>자원 해제를 객체 소멸과 연결</a:t>
            </a:r>
          </a:p>
          <a:p>
            <a:pPr lvl="0"/>
            <a:r>
              <a:rPr lang="ko-KR" altLang="ko-KR" sz="2400" dirty="0"/>
              <a:t>정상 종료, 조기 반환, 예외 경로에서</a:t>
            </a:r>
            <a:br>
              <a:rPr lang="en-US" altLang="ko-KR" sz="2400" dirty="0"/>
            </a:br>
            <a:r>
              <a:rPr lang="ko-KR" altLang="ko-KR" sz="2400" dirty="0"/>
              <a:t>같은 정리 규칙 적용</a:t>
            </a:r>
          </a:p>
          <a:p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68A88B-9E33-3B58-7042-4B26E7638634}"/>
              </a:ext>
            </a:extLst>
          </p:cNvPr>
          <p:cNvSpPr txBox="1"/>
          <p:nvPr/>
        </p:nvSpPr>
        <p:spPr>
          <a:xfrm>
            <a:off x="440023" y="3068960"/>
            <a:ext cx="4636033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범위를 벗어나면 자동으로 메모리 해제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734FA-2CFA-15C9-7392-AC56E3AC5EC2}"/>
              </a:ext>
            </a:extLst>
          </p:cNvPr>
          <p:cNvSpPr txBox="1"/>
          <p:nvPr/>
        </p:nvSpPr>
        <p:spPr>
          <a:xfrm>
            <a:off x="5580112" y="3280247"/>
            <a:ext cx="3024336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RAII 대상</a:t>
            </a:r>
            <a:endParaRPr lang="ko-KR" altLang="ko-KR" sz="1800" b="1" dirty="0">
              <a:solidFill>
                <a:srgbClr val="7030A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동적 메모리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파일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소켓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잠금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그래픽 리소스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운영체제 핸들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데이터베이스 연결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8C4D62F-09F5-2236-C09E-E575AB914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618027"/>
              </p:ext>
            </p:extLst>
          </p:nvPr>
        </p:nvGraphicFramePr>
        <p:xfrm>
          <a:off x="5580112" y="1274917"/>
          <a:ext cx="3024336" cy="1833880"/>
        </p:xfrm>
        <a:graphic>
          <a:graphicData uri="http://schemas.openxmlformats.org/drawingml/2006/table">
            <a:tbl>
              <a:tblPr/>
              <a:tblGrid>
                <a:gridCol w="3024336">
                  <a:extLst>
                    <a:ext uri="{9D8B030D-6E8A-4147-A177-3AD203B41FA5}">
                      <a16:colId xmlns:a16="http://schemas.microsoft.com/office/drawing/2014/main" val="1916014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객체 초기화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 자원 획득 </a:t>
                      </a:r>
                      <a:r>
                        <a:rPr lang="ko-KR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→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실패 → 예외 발생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│ 성공            │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↓                 ↓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객체 사용      객체 생성 실패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  ↓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  객체 소멸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en-US" alt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 자원 해제</a:t>
                      </a:r>
                      <a:endParaRPr lang="ko-KR" sz="2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691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23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512E-A4EF-0B81-D0CB-3A04EB78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8D00C-21E2-5AAE-3FD3-58C42A3E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7.3.1 </a:t>
            </a:r>
            <a:r>
              <a:rPr lang="ko-KR" altLang="en-US" dirty="0"/>
              <a:t>자원 획득과 객체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7C8711-2B3D-8768-A5C7-6F442E4EE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RAII 객체는 생성 완료 후 유효한 자원을 소유하도록 구성</a:t>
            </a:r>
          </a:p>
          <a:p>
            <a:pPr lvl="0"/>
            <a:r>
              <a:rPr lang="ko-KR" altLang="ko-KR" sz="2400" dirty="0"/>
              <a:t>자원 획득 실패 시 생성 실패를 알림</a:t>
            </a:r>
          </a:p>
          <a:p>
            <a:pPr lvl="0"/>
            <a:r>
              <a:rPr lang="ko-KR" altLang="ko-KR" sz="2400" dirty="0"/>
              <a:t>완성되지 않은 객체를 사용하게 만들지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4D8E8-EE24-1229-750C-9187A0B78728}"/>
              </a:ext>
            </a:extLst>
          </p:cNvPr>
          <p:cNvSpPr txBox="1"/>
          <p:nvPr/>
        </p:nvSpPr>
        <p:spPr>
          <a:xfrm>
            <a:off x="539750" y="2132856"/>
            <a:ext cx="4824338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::fopen(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"파일을 열 수 없습니다."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::fclose(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::FILE*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8861C-5307-F983-F4CE-BC440CD44D2A}"/>
              </a:ext>
            </a:extLst>
          </p:cNvPr>
          <p:cNvSpPr txBox="1"/>
          <p:nvPr/>
        </p:nvSpPr>
        <p:spPr>
          <a:xfrm>
            <a:off x="5364088" y="3432532"/>
            <a:ext cx="2952328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data.txt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47200-5368-693A-7519-AC1FB96FE7A1}"/>
              </a:ext>
            </a:extLst>
          </p:cNvPr>
          <p:cNvSpPr txBox="1"/>
          <p:nvPr/>
        </p:nvSpPr>
        <p:spPr>
          <a:xfrm>
            <a:off x="4565104" y="5460464"/>
            <a:ext cx="4320480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 완료된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유효한 파일을 소유한다는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불변식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유지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9798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C5DB3-7272-1646-5661-96A3400F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D157D-0696-AF1B-13A9-E1E462DC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7.3.4 </a:t>
            </a:r>
            <a:r>
              <a:rPr lang="ko-KR" altLang="en-US" dirty="0"/>
              <a:t>자원 래퍼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B0B705-2A48-B419-FDA7-12A669D73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원시 자원을 클래스 안에 저장</a:t>
            </a:r>
          </a:p>
          <a:p>
            <a:pPr lvl="0"/>
            <a:r>
              <a:rPr lang="ko-KR" altLang="ko-KR" dirty="0"/>
              <a:t>소멸자에서 자원 해제</a:t>
            </a:r>
          </a:p>
          <a:p>
            <a:pPr lvl="0"/>
            <a:r>
              <a:rPr lang="ko-KR" altLang="ko-KR" dirty="0"/>
              <a:t>복사 금지로 중복 소유 방지</a:t>
            </a:r>
          </a:p>
          <a:p>
            <a:pPr lvl="0"/>
            <a:r>
              <a:rPr lang="ko-KR" altLang="ko-KR" dirty="0"/>
              <a:t>이동으로 소유권 이전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BB19B-E8C7-1EA3-D507-E8EAB07025C2}"/>
              </a:ext>
            </a:extLst>
          </p:cNvPr>
          <p:cNvSpPr txBox="1"/>
          <p:nvPr/>
        </p:nvSpPr>
        <p:spPr>
          <a:xfrm>
            <a:off x="4499992" y="1337469"/>
            <a:ext cx="4248373" cy="517064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FileHandle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~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noexcept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: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other.file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other.file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1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FileHandle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noexcept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&amp;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other.file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other.file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1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::FILE*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1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32143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C0447-1091-200A-567F-237CAAC3D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F319B-8AB6-6C8E-E7DF-4F42845D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7.3.5 Rule of Zero</a:t>
            </a:r>
            <a:r>
              <a:rPr lang="ko-KR" altLang="en-US" dirty="0"/>
              <a:t>와 </a:t>
            </a:r>
            <a:r>
              <a:rPr lang="en-US" altLang="ko-KR" dirty="0"/>
              <a:t>RAII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7152A-3C2A-28DC-F970-5615D82FE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직접 자원 관리 코드는 작은 래퍼에 한정</a:t>
            </a:r>
          </a:p>
          <a:p>
            <a:pPr lvl="0"/>
            <a:r>
              <a:rPr lang="ko-KR" altLang="ko-KR" sz="2000" dirty="0"/>
              <a:t>상위 클래스는 RAII 타입을 값 멤버로 사용</a:t>
            </a:r>
          </a:p>
          <a:p>
            <a:pPr lvl="0"/>
            <a:r>
              <a:rPr lang="ko-KR" altLang="ko-KR" sz="2000" dirty="0"/>
              <a:t>특별 멤버 함수를 직접 작성하지 않아도 되는 구조 지향</a:t>
            </a:r>
            <a:endParaRPr lang="en-US" altLang="ko-KR" sz="2000" dirty="0"/>
          </a:p>
          <a:p>
            <a:pPr lvl="0"/>
            <a:r>
              <a:rPr lang="ko-KR" altLang="ko-KR" sz="2000" dirty="0"/>
              <a:t>Rule of </a:t>
            </a:r>
            <a:r>
              <a:rPr lang="ko-KR" altLang="ko-KR" sz="2000" dirty="0" err="1"/>
              <a:t>Zero는</a:t>
            </a:r>
            <a:r>
              <a:rPr lang="ko-KR" altLang="ko-KR" sz="2000" dirty="0"/>
              <a:t> 자원 관리를 검증된 타입에 맡기는 설계 원칙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343BD-C03B-3B11-BD74-08EBC6045789}"/>
              </a:ext>
            </a:extLst>
          </p:cNvPr>
          <p:cNvSpPr txBox="1"/>
          <p:nvPr/>
        </p:nvSpPr>
        <p:spPr>
          <a:xfrm>
            <a:off x="395536" y="2379652"/>
            <a:ext cx="5112568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SaveSystem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SaveSystem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){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pendingFiles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GameScene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enemies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CC760C2-443A-0CB6-09F3-99CF6D6C6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928719"/>
              </p:ext>
            </p:extLst>
          </p:nvPr>
        </p:nvGraphicFramePr>
        <p:xfrm>
          <a:off x="5220072" y="3608387"/>
          <a:ext cx="3816424" cy="1590040"/>
        </p:xfrm>
        <a:graphic>
          <a:graphicData uri="http://schemas.openxmlformats.org/drawingml/2006/table">
            <a:tbl>
              <a:tblPr/>
              <a:tblGrid>
                <a:gridCol w="3816424">
                  <a:extLst>
                    <a:ext uri="{9D8B030D-6E8A-4147-A177-3AD203B41FA5}">
                      <a16:colId xmlns:a16="http://schemas.microsoft.com/office/drawing/2014/main" val="3259187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20000"/>
                        </a:lnSpc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저수준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자원 래퍼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FileHandle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상위 업무 객체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SaveSystem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GameScene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972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047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B1AD-42ED-ADBE-9B19-1EEDA0A7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2962A-0EEF-4742-F72B-7B52F4B3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96ED21-7329-CEF8-9BEA-FC675847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함수가 정상 결과를 만들 수 없을 때 오류 정보를 전달</a:t>
            </a:r>
            <a:r>
              <a:rPr lang="en-US" altLang="ko-KR" sz="2000" dirty="0"/>
              <a:t>, </a:t>
            </a:r>
            <a:r>
              <a:rPr lang="ko-KR" altLang="ko-KR" sz="2000" dirty="0" err="1"/>
              <a:t>throw</a:t>
            </a:r>
            <a:r>
              <a:rPr lang="en-US" altLang="ko-KR" sz="2000" dirty="0"/>
              <a:t> </a:t>
            </a:r>
            <a:r>
              <a:rPr lang="ko-KR" altLang="ko-KR" sz="2000" dirty="0"/>
              <a:t>로 예외 발생</a:t>
            </a:r>
          </a:p>
          <a:p>
            <a:pPr lvl="0"/>
            <a:r>
              <a:rPr lang="ko-KR" altLang="ko-KR" sz="2000" dirty="0" err="1"/>
              <a:t>try</a:t>
            </a:r>
            <a:r>
              <a:rPr lang="ko-KR" altLang="ko-KR" sz="2000" dirty="0"/>
              <a:t> 블록에서 실행</a:t>
            </a:r>
            <a:r>
              <a:rPr lang="en-US" altLang="ko-KR" sz="2000" dirty="0"/>
              <a:t>, </a:t>
            </a:r>
            <a:r>
              <a:rPr lang="ko-KR" altLang="ko-KR" sz="2000" dirty="0" err="1"/>
              <a:t>catch</a:t>
            </a:r>
            <a:r>
              <a:rPr lang="ko-KR" altLang="ko-KR" sz="2000" dirty="0"/>
              <a:t> 블록에서 처리</a:t>
            </a:r>
          </a:p>
          <a:p>
            <a:pPr lvl="0"/>
            <a:r>
              <a:rPr lang="ko-KR" altLang="ko-KR" sz="2000" dirty="0"/>
              <a:t>처리할 수 있는 지점까지 호출 경로를 거슬러 올라감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C63E8-09CB-91C2-AB3A-D0805608BD5F}"/>
              </a:ext>
            </a:extLst>
          </p:cNvPr>
          <p:cNvSpPr txBox="1"/>
          <p:nvPr/>
        </p:nvSpPr>
        <p:spPr>
          <a:xfrm>
            <a:off x="467544" y="2122398"/>
            <a:ext cx="5040560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invalid_argument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"0으로 나눌 수 없습니다."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Divide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catch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invalid_argument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error.what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79DEE-E84D-A954-98E6-C908A7ED124A}"/>
              </a:ext>
            </a:extLst>
          </p:cNvPr>
          <p:cNvSpPr txBox="1"/>
          <p:nvPr/>
        </p:nvSpPr>
        <p:spPr>
          <a:xfrm>
            <a:off x="4420512" y="5013176"/>
            <a:ext cx="3175824" cy="646331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예외 객체는 값으로 던지고</a:t>
            </a:r>
            <a:br>
              <a:rPr lang="en-US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참조로 받는 방식이 일반적</a:t>
            </a:r>
            <a:endParaRPr lang="ko-KR" altLang="en-US" sz="4000" dirty="0">
              <a:solidFill>
                <a:schemeClr val="tx1">
                  <a:lumMod val="50000"/>
                  <a:lumOff val="5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13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0833-9DF0-E731-25BD-AFDFCEF9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41EE1-C25C-5ACE-E6AE-F28A65B8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7.4.2 </a:t>
            </a:r>
            <a:r>
              <a:rPr lang="ko-KR" altLang="en-US" dirty="0"/>
              <a:t>표준 예외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39F9ACF-A3A5-D4CE-D887-FB6B3F48C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7137440"/>
              </p:ext>
            </p:extLst>
          </p:nvPr>
        </p:nvGraphicFramePr>
        <p:xfrm>
          <a:off x="251519" y="764704"/>
          <a:ext cx="4968553" cy="3072176"/>
        </p:xfrm>
        <a:graphic>
          <a:graphicData uri="http://schemas.openxmlformats.org/drawingml/2006/table">
            <a:tbl>
              <a:tblPr/>
              <a:tblGrid>
                <a:gridCol w="2354651">
                  <a:extLst>
                    <a:ext uri="{9D8B030D-6E8A-4147-A177-3AD203B41FA5}">
                      <a16:colId xmlns:a16="http://schemas.microsoft.com/office/drawing/2014/main" val="2611065011"/>
                    </a:ext>
                  </a:extLst>
                </a:gridCol>
                <a:gridCol w="2613902">
                  <a:extLst>
                    <a:ext uri="{9D8B030D-6E8A-4147-A177-3AD203B41FA5}">
                      <a16:colId xmlns:a16="http://schemas.microsoft.com/office/drawing/2014/main" val="72053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예외 타입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대표 의미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557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exception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표준 예외 계층 공통 기반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50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logic_error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논리 오류, 사전 조건 오류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1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invalid_argument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인수가 유효하지 않음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063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out_of_range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인덱스나 값이 범위를 벗어남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913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length_error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요청 크기가 허용 범위 초과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46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runtime_error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환경 때문에 작업 실패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18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bad_alloc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동적 메모리 할당 실패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198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764984-AADF-3DED-2804-D81CC0B814A5}"/>
              </a:ext>
            </a:extLst>
          </p:cNvPr>
          <p:cNvSpPr txBox="1"/>
          <p:nvPr/>
        </p:nvSpPr>
        <p:spPr>
          <a:xfrm>
            <a:off x="251519" y="3933056"/>
            <a:ext cx="4968552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out_of_range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"인덱스 범위 초과"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"파일 열기 실패"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2ACAC-832C-D8B4-9F5A-F2A62350334D}"/>
              </a:ext>
            </a:extLst>
          </p:cNvPr>
          <p:cNvSpPr txBox="1"/>
          <p:nvPr/>
        </p:nvSpPr>
        <p:spPr>
          <a:xfrm>
            <a:off x="4464848" y="5876518"/>
            <a:ext cx="4572000" cy="707886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표준 예외로 의미를 충분히 표현할 수 있으면 </a:t>
            </a:r>
            <a:br>
              <a:rPr lang="en-US" altLang="ko-KR" sz="2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예외 타입이 필요하지 않음</a:t>
            </a:r>
            <a:endParaRPr lang="ko-KR" altLang="en-US" sz="4400" dirty="0">
              <a:solidFill>
                <a:schemeClr val="tx1">
                  <a:lumMod val="50000"/>
                  <a:lumOff val="5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2385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3E102-09B1-68B5-F66F-9EB466B6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F1872-87C5-9364-68B6-696F3665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7.4.4 </a:t>
            </a:r>
            <a:r>
              <a:rPr lang="ko-KR" altLang="en-US" dirty="0"/>
              <a:t>스택 되감기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968E57-B714-BC84-CF8E-5FDA3EC31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예외가 발생하면 일치하는 </a:t>
            </a:r>
            <a:r>
              <a:rPr lang="ko-KR" altLang="ko-KR" sz="2400" dirty="0" err="1"/>
              <a:t>catch를</a:t>
            </a:r>
            <a:r>
              <a:rPr lang="ko-KR" altLang="ko-KR" sz="2400" dirty="0"/>
              <a:t> 찾을 때까지</a:t>
            </a:r>
            <a:br>
              <a:rPr lang="en-US" altLang="ko-KR" sz="2400" dirty="0"/>
            </a:br>
            <a:r>
              <a:rPr lang="ko-KR" altLang="ko-KR" sz="2400" dirty="0"/>
              <a:t>호출 경로를 거슬러 올라감</a:t>
            </a:r>
          </a:p>
          <a:p>
            <a:pPr lvl="0"/>
            <a:r>
              <a:rPr lang="ko-KR" altLang="ko-KR" sz="2400" dirty="0"/>
              <a:t>이 과정에서 생성 완료된 자동 객체가 역순으로 소멸</a:t>
            </a:r>
          </a:p>
          <a:p>
            <a:pPr lvl="0"/>
            <a:r>
              <a:rPr lang="ko-KR" altLang="ko-KR" sz="2400" dirty="0"/>
              <a:t>RAII 객체는 스택 되감기 중 자원을 정리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8F500-4450-9E63-1C0F-27A50F798A8F}"/>
              </a:ext>
            </a:extLst>
          </p:cNvPr>
          <p:cNvSpPr txBox="1"/>
          <p:nvPr/>
        </p:nvSpPr>
        <p:spPr>
          <a:xfrm>
            <a:off x="537438" y="2618035"/>
            <a:ext cx="457200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level.dat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rb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"레벨 로드 실패"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91EABB3-8D83-BAC7-D2BC-64FBE9DB0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342034"/>
              </p:ext>
            </p:extLst>
          </p:nvPr>
        </p:nvGraphicFramePr>
        <p:xfrm>
          <a:off x="5220072" y="2618035"/>
          <a:ext cx="1296144" cy="1850880"/>
        </p:xfrm>
        <a:graphic>
          <a:graphicData uri="http://schemas.openxmlformats.org/drawingml/2006/table">
            <a:tbl>
              <a:tblPr/>
              <a:tblGrid>
                <a:gridCol w="1296144">
                  <a:extLst>
                    <a:ext uri="{9D8B030D-6E8A-4147-A177-3AD203B41FA5}">
                      <a16:colId xmlns:a16="http://schemas.microsoft.com/office/drawing/2014/main" val="407993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 열기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예외 발생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 닫기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catch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실행</a:t>
                      </a:r>
                      <a:endParaRPr lang="ko-KR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44000" marR="144000" marT="72000" marB="720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8575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FB214B-DD61-A74C-3C34-82EE47FF3E08}"/>
              </a:ext>
            </a:extLst>
          </p:cNvPr>
          <p:cNvSpPr txBox="1"/>
          <p:nvPr/>
        </p:nvSpPr>
        <p:spPr>
          <a:xfrm>
            <a:off x="537438" y="4653136"/>
            <a:ext cx="457200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"실패"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96E45-FC52-D7C1-AE64-767F7F1BB0F2}"/>
              </a:ext>
            </a:extLst>
          </p:cNvPr>
          <p:cNvSpPr txBox="1"/>
          <p:nvPr/>
        </p:nvSpPr>
        <p:spPr>
          <a:xfrm>
            <a:off x="4464496" y="5873462"/>
            <a:ext cx="4283968" cy="584775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원시 포인터가 가리키는 동적 객체는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자동 소멸하지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0785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C374-D601-AEAC-11CF-464A510C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0C9E28-B6A0-7116-9379-D562689B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7.4.5 </a:t>
            </a:r>
            <a:r>
              <a:rPr lang="ko-KR" altLang="en-US" dirty="0"/>
              <a:t>생성자와 예외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5EC2A0-23BA-B68E-FF10-EC36A3015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생성자가 유효한 객체를 만들 수 없으면 예외 발생 가능</a:t>
            </a:r>
          </a:p>
          <a:p>
            <a:pPr lvl="0"/>
            <a:r>
              <a:rPr lang="ko-KR" altLang="ko-KR" sz="2400" dirty="0"/>
              <a:t>생성자가 예외로 끝나면 완성된 객체가 만들어지지 않음</a:t>
            </a:r>
          </a:p>
          <a:p>
            <a:pPr lvl="0"/>
            <a:r>
              <a:rPr lang="ko-KR" altLang="ko-KR" sz="2400" dirty="0"/>
              <a:t>완성되지 않은 객체 자신의 소멸자는 호출되지 않음</a:t>
            </a:r>
          </a:p>
          <a:p>
            <a:pPr lvl="0"/>
            <a:r>
              <a:rPr lang="ko-KR" altLang="ko-KR" sz="2400" dirty="0"/>
              <a:t>이미 생성된 멤버 객체는 자동으로 소멸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14B9E-D46B-876F-5248-6BBCD1E4173D}"/>
              </a:ext>
            </a:extLst>
          </p:cNvPr>
          <p:cNvSpPr txBox="1"/>
          <p:nvPr/>
        </p:nvSpPr>
        <p:spPr>
          <a:xfrm>
            <a:off x="539750" y="2708920"/>
            <a:ext cx="4464298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LevelPackage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LevelPackage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config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config.txt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rb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missing.map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rb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{}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~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LevelPackage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LevelPackage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config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C00106B-0883-C8FC-ADA3-0863337D6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456800"/>
              </p:ext>
            </p:extLst>
          </p:nvPr>
        </p:nvGraphicFramePr>
        <p:xfrm>
          <a:off x="4860032" y="4005064"/>
          <a:ext cx="3456384" cy="1354800"/>
        </p:xfrm>
        <a:graphic>
          <a:graphicData uri="http://schemas.openxmlformats.org/drawingml/2006/table">
            <a:tbl>
              <a:tblPr/>
              <a:tblGrid>
                <a:gridCol w="3456384">
                  <a:extLst>
                    <a:ext uri="{9D8B030D-6E8A-4147-A177-3AD203B41FA5}">
                      <a16:colId xmlns:a16="http://schemas.microsoft.com/office/drawing/2014/main" val="567680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config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 완료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map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 실패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config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LevelPackage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 생성 실패</a:t>
                      </a:r>
                      <a:b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LevelPackage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소멸자는 호출되지 않음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44000" marR="144000" marT="144000" marB="144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764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CFB187-5111-A4B8-572D-7AF6D854E77D}"/>
              </a:ext>
            </a:extLst>
          </p:cNvPr>
          <p:cNvSpPr txBox="1"/>
          <p:nvPr/>
        </p:nvSpPr>
        <p:spPr>
          <a:xfrm>
            <a:off x="539750" y="6009025"/>
            <a:ext cx="4464298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멤버를 RAII 타입으로 구성하면 생성 중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실패한 앞쪽 자원도 정리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8224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3A4E-01AE-E13A-B839-0D4AAEED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4AA5-4BEB-9965-6EEA-49F96496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7.4.6 </a:t>
            </a:r>
            <a:r>
              <a:rPr lang="ko-KR" altLang="en-US" dirty="0"/>
              <a:t>소멸자와 예외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79A8CB-4CB2-E920-23CD-D5132079E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소멸자는 예외를 밖으로 전달하지 않도록 설계</a:t>
            </a:r>
          </a:p>
          <a:p>
            <a:pPr lvl="0"/>
            <a:r>
              <a:rPr lang="ko-KR" altLang="ko-KR" sz="2000" dirty="0"/>
              <a:t>스택 되감기 중 소멸자에서 예외가 나오면 </a:t>
            </a: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terminate</a:t>
            </a:r>
            <a:r>
              <a:rPr lang="ko-KR" altLang="ko-KR" sz="2000" dirty="0"/>
              <a:t>() 가능</a:t>
            </a:r>
          </a:p>
          <a:p>
            <a:pPr lvl="0"/>
            <a:r>
              <a:rPr lang="ko-KR" altLang="ko-KR" sz="2000" dirty="0"/>
              <a:t>실패를 호출자가 알아야 하는 작업은 명시적 함수로 분리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CDAC2-429A-F666-0BCE-945B4775571F}"/>
              </a:ext>
            </a:extLst>
          </p:cNvPr>
          <p:cNvSpPr txBox="1"/>
          <p:nvPr/>
        </p:nvSpPr>
        <p:spPr>
          <a:xfrm>
            <a:off x="4211960" y="1989688"/>
            <a:ext cx="4680520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OutputFile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Commit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FlushData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"파일 저장 실패"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committed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OutputFile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committed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TryDiscardWithoutThrowing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committed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53945-D617-DB60-3B70-850586ADB381}"/>
              </a:ext>
            </a:extLst>
          </p:cNvPr>
          <p:cNvSpPr txBox="1"/>
          <p:nvPr/>
        </p:nvSpPr>
        <p:spPr>
          <a:xfrm>
            <a:off x="539750" y="5661248"/>
            <a:ext cx="3672210" cy="830997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소멸자는 가능한 범위의 최종 정리 수행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오류 보고가 필요하면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Commit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Close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Flush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사용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41E37-A783-CBA9-5761-D8CBED3DDB60}"/>
              </a:ext>
            </a:extLst>
          </p:cNvPr>
          <p:cNvSpPr txBox="1"/>
          <p:nvPr/>
        </p:nvSpPr>
        <p:spPr>
          <a:xfrm>
            <a:off x="539750" y="1988840"/>
            <a:ext cx="3672210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Release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348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49DF-67D2-6F1C-D2F1-27517692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38A85-D0CA-C8AD-4FEB-0B516089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예외 안전성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C207A6-661D-2FF1-AB78-7C8926CE5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예외가 발생해도 자원이 </a:t>
            </a:r>
            <a:r>
              <a:rPr lang="ko-KR" altLang="ko-KR" sz="2400" dirty="0" err="1"/>
              <a:t>누수되지</a:t>
            </a:r>
            <a:r>
              <a:rPr lang="ko-KR" altLang="ko-KR" sz="2400" dirty="0"/>
              <a:t> 않고 객체 상태가 유효해야 함</a:t>
            </a:r>
          </a:p>
          <a:p>
            <a:pPr lvl="0"/>
            <a:r>
              <a:rPr lang="ko-KR" altLang="ko-KR" sz="2400" dirty="0"/>
              <a:t>예외를 발생시키지 않는다는 뜻이 아님</a:t>
            </a:r>
          </a:p>
          <a:p>
            <a:pPr lvl="0"/>
            <a:r>
              <a:rPr lang="ko-KR" altLang="ko-KR" sz="2400" dirty="0"/>
              <a:t>실패 가능한 연산의 순서와 상태 표현을 설계하는 문제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03138-FEDE-16C5-4750-DDC1A50CD440}"/>
              </a:ext>
            </a:extLst>
          </p:cNvPr>
          <p:cNvSpPr txBox="1"/>
          <p:nvPr/>
        </p:nvSpPr>
        <p:spPr>
          <a:xfrm>
            <a:off x="395536" y="2196513"/>
            <a:ext cx="3816424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items.push_back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B87B5-F94E-BE74-F9BB-F1349C659E43}"/>
              </a:ext>
            </a:extLst>
          </p:cNvPr>
          <p:cNvSpPr txBox="1"/>
          <p:nvPr/>
        </p:nvSpPr>
        <p:spPr>
          <a:xfrm>
            <a:off x="3758703" y="3273731"/>
            <a:ext cx="4701729" cy="307777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push_back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실패 시 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itemCount와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실제 원소 수 불일치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65DC4-4C46-005F-72EF-BE0764133A0D}"/>
              </a:ext>
            </a:extLst>
          </p:cNvPr>
          <p:cNvSpPr txBox="1"/>
          <p:nvPr/>
        </p:nvSpPr>
        <p:spPr>
          <a:xfrm>
            <a:off x="393782" y="5086344"/>
            <a:ext cx="3816424" cy="138499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items.push_back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5E6D0-2761-6A94-9949-267182918962}"/>
              </a:ext>
            </a:extLst>
          </p:cNvPr>
          <p:cNvSpPr txBox="1"/>
          <p:nvPr/>
        </p:nvSpPr>
        <p:spPr>
          <a:xfrm>
            <a:off x="3758704" y="4791456"/>
            <a:ext cx="4701729" cy="523220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실패 전에는 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itemCount를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바꾸지 않음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중복 상태를 제거하면 더 단순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2DF79-67EF-8110-C9DC-3E03EB75484F}"/>
              </a:ext>
            </a:extLst>
          </p:cNvPr>
          <p:cNvSpPr txBox="1"/>
          <p:nvPr/>
        </p:nvSpPr>
        <p:spPr>
          <a:xfrm>
            <a:off x="5004048" y="5314676"/>
            <a:ext cx="3456384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086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69770-4854-9345-543F-88F7EA4B2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75364-4D09-C7CA-595B-354A760B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예외 안전성 보장 수준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A6EE359-BC10-B90F-3718-F023911F0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4228266"/>
              </p:ext>
            </p:extLst>
          </p:nvPr>
        </p:nvGraphicFramePr>
        <p:xfrm>
          <a:off x="463550" y="664737"/>
          <a:ext cx="6196682" cy="1908680"/>
        </p:xfrm>
        <a:graphic>
          <a:graphicData uri="http://schemas.openxmlformats.org/drawingml/2006/table">
            <a:tbl>
              <a:tblPr/>
              <a:tblGrid>
                <a:gridCol w="1311798">
                  <a:extLst>
                    <a:ext uri="{9D8B030D-6E8A-4147-A177-3AD203B41FA5}">
                      <a16:colId xmlns:a16="http://schemas.microsoft.com/office/drawing/2014/main" val="2467284379"/>
                    </a:ext>
                  </a:extLst>
                </a:gridCol>
                <a:gridCol w="4884884">
                  <a:extLst>
                    <a:ext uri="{9D8B030D-6E8A-4147-A177-3AD203B41FA5}">
                      <a16:colId xmlns:a16="http://schemas.microsoft.com/office/drawing/2014/main" val="339445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보장 수준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예외 발생 후 상태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11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보장 없음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 누수나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불변식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손상 가능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6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보장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 누수 없음, 객체는 유효하지만 값은 변경될 수 있음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08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강한 보장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연산 전 상태 유지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885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예외 보장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함수가 예외를 발생시키지 않음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08508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118AE5D-B361-9F30-6419-2659ED6E8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62509"/>
              </p:ext>
            </p:extLst>
          </p:nvPr>
        </p:nvGraphicFramePr>
        <p:xfrm>
          <a:off x="463550" y="2799080"/>
          <a:ext cx="4252466" cy="858520"/>
        </p:xfrm>
        <a:graphic>
          <a:graphicData uri="http://schemas.openxmlformats.org/drawingml/2006/table">
            <a:tbl>
              <a:tblPr/>
              <a:tblGrid>
                <a:gridCol w="4252466">
                  <a:extLst>
                    <a:ext uri="{9D8B030D-6E8A-4147-A177-3AD203B41FA5}">
                      <a16:colId xmlns:a16="http://schemas.microsoft.com/office/drawing/2014/main" val="2923557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보장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성공한 일부 변경은 남을 수 있음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객체는 계속 사용 가능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76911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E3BF209-42B9-2B19-C09D-AB0EF1472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294626"/>
              </p:ext>
            </p:extLst>
          </p:nvPr>
        </p:nvGraphicFramePr>
        <p:xfrm>
          <a:off x="463550" y="3690104"/>
          <a:ext cx="4252466" cy="858520"/>
        </p:xfrm>
        <a:graphic>
          <a:graphicData uri="http://schemas.openxmlformats.org/drawingml/2006/table">
            <a:tbl>
              <a:tblPr/>
              <a:tblGrid>
                <a:gridCol w="4252466">
                  <a:extLst>
                    <a:ext uri="{9D8B030D-6E8A-4147-A177-3AD203B41FA5}">
                      <a16:colId xmlns:a16="http://schemas.microsoft.com/office/drawing/2014/main" val="3083988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강한 보장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성공 → 새 상태 반영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실패 → 이전 상태 유지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2743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474AB46-2322-C040-5DEF-4AF1AF5F4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065976"/>
              </p:ext>
            </p:extLst>
          </p:nvPr>
        </p:nvGraphicFramePr>
        <p:xfrm>
          <a:off x="476100" y="4581128"/>
          <a:ext cx="4252466" cy="858520"/>
        </p:xfrm>
        <a:graphic>
          <a:graphicData uri="http://schemas.openxmlformats.org/drawingml/2006/table">
            <a:tbl>
              <a:tblPr/>
              <a:tblGrid>
                <a:gridCol w="4252466">
                  <a:extLst>
                    <a:ext uri="{9D8B030D-6E8A-4147-A177-3AD203B41FA5}">
                      <a16:colId xmlns:a16="http://schemas.microsoft.com/office/drawing/2014/main" val="3763378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무 예외 보장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예외가 밖으로 전달되지 않음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해제 함수, 단순 이동에 중요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7949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2BB244-A9F8-F3AF-41CB-D30D2AA59533}"/>
              </a:ext>
            </a:extLst>
          </p:cNvPr>
          <p:cNvSpPr txBox="1"/>
          <p:nvPr/>
        </p:nvSpPr>
        <p:spPr>
          <a:xfrm>
            <a:off x="463550" y="5608488"/>
            <a:ext cx="6196682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모든 함수가 강한 보장을 제공해야 하는 것은 아님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비용, 외부 효과, 롤백 가능성을 함께 고려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0988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DD40-2331-D4C2-68DE-D7BADA343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BE416-C8A0-5E61-6E5A-A8BA6E05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7.5.5 </a:t>
            </a:r>
            <a:r>
              <a:rPr lang="ko-KR" altLang="en-US" dirty="0"/>
              <a:t>복사</a:t>
            </a:r>
            <a:r>
              <a:rPr lang="en-US" altLang="ko-KR" dirty="0"/>
              <a:t>-</a:t>
            </a:r>
            <a:r>
              <a:rPr lang="ko-KR" altLang="en-US" dirty="0"/>
              <a:t>교환과 강한 보장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EB1E18-16E6-146A-8359-2D4654290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원본의 복사본을 먼저 생성</a:t>
            </a:r>
          </a:p>
          <a:p>
            <a:pPr lvl="0"/>
            <a:r>
              <a:rPr lang="ko-KR" altLang="ko-KR" sz="2400" dirty="0"/>
              <a:t>복사본 생성 성공 후 현재 객체와 교환</a:t>
            </a:r>
          </a:p>
          <a:p>
            <a:pPr lvl="0"/>
            <a:r>
              <a:rPr lang="ko-KR" altLang="ko-KR" sz="2400" dirty="0"/>
              <a:t>임시 복사본이 이전 자원을 소멸</a:t>
            </a:r>
          </a:p>
          <a:p>
            <a:pPr lvl="0"/>
            <a:r>
              <a:rPr lang="ko-KR" altLang="ko-KR" sz="2400" dirty="0" err="1"/>
              <a:t>Swap</a:t>
            </a:r>
            <a:r>
              <a:rPr lang="ko-KR" altLang="ko-KR" sz="2400" dirty="0"/>
              <a:t>()이 무</a:t>
            </a:r>
            <a:r>
              <a:rPr lang="en-US" altLang="ko-KR" sz="2400" dirty="0"/>
              <a:t> </a:t>
            </a:r>
            <a:r>
              <a:rPr lang="ko-KR" altLang="ko-KR" sz="2400" dirty="0"/>
              <a:t>예외</a:t>
            </a:r>
            <a:r>
              <a:rPr lang="en-US" altLang="ko-KR" sz="2400" dirty="0"/>
              <a:t> </a:t>
            </a:r>
            <a:r>
              <a:rPr lang="ko-KR" altLang="ko-KR" sz="2400" dirty="0"/>
              <a:t>이면 강한 보장 구현이 쉬움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241CA-8A3D-7B49-8737-9B8F7E274398}"/>
              </a:ext>
            </a:extLst>
          </p:cNvPr>
          <p:cNvSpPr txBox="1"/>
          <p:nvPr/>
        </p:nvSpPr>
        <p:spPr>
          <a:xfrm>
            <a:off x="467544" y="2554307"/>
            <a:ext cx="4572000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Swap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Swap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dirty="0" err="1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swap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dirty="0" err="1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swap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D3321BC-0FB6-D8AD-E1CE-4E5C6502C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076951"/>
              </p:ext>
            </p:extLst>
          </p:nvPr>
        </p:nvGraphicFramePr>
        <p:xfrm>
          <a:off x="4283968" y="3218408"/>
          <a:ext cx="3528392" cy="1019520"/>
        </p:xfrm>
        <a:graphic>
          <a:graphicData uri="http://schemas.openxmlformats.org/drawingml/2006/table">
            <a:tbl>
              <a:tblPr/>
              <a:tblGrid>
                <a:gridCol w="3528392">
                  <a:extLst>
                    <a:ext uri="{9D8B030D-6E8A-4147-A177-3AD203B41FA5}">
                      <a16:colId xmlns:a16="http://schemas.microsoft.com/office/drawing/2014/main" val="3347112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복사본 생성 실패 → 현재 객체 유지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복사본 생성 성공 →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swap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임시 복사본 소멸 → 이전 자원 정리</a:t>
                      </a:r>
                      <a:endParaRPr lang="ko-KR" sz="2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838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9CDE70-EAFB-D9FD-A7F8-24168F9F1F87}"/>
              </a:ext>
            </a:extLst>
          </p:cNvPr>
          <p:cNvSpPr txBox="1"/>
          <p:nvPr/>
        </p:nvSpPr>
        <p:spPr>
          <a:xfrm>
            <a:off x="4796839" y="5601295"/>
            <a:ext cx="4176464" cy="707886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구현은 단순하지만</a:t>
            </a:r>
            <a:br>
              <a:rPr lang="en-US" alt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기존 버퍼 재사용이 어려울 수 있음</a:t>
            </a:r>
            <a:endParaRPr lang="ko-KR" altLang="ko-KR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1732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24DBC-EDFD-BABB-88C7-53FC913D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33D96-238A-3FDA-A083-A56DDF78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7.5.6 </a:t>
            </a:r>
            <a:r>
              <a:rPr lang="en-US" altLang="ko-KR" dirty="0" err="1"/>
              <a:t>noexcept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A9F99-24CA-9BC7-60A3-D2825A79A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함수가 예외를 밖으로 전달하지 않는다는 계약</a:t>
            </a:r>
          </a:p>
          <a:p>
            <a:pPr lvl="0"/>
            <a:r>
              <a:rPr lang="ko-KR" altLang="ko-KR" sz="2400" dirty="0"/>
              <a:t>실제로 지킬 수 있는 함수에만 지정</a:t>
            </a:r>
          </a:p>
          <a:p>
            <a:pPr lvl="0"/>
            <a:r>
              <a:rPr lang="ko-KR" altLang="ko-KR" sz="2400" dirty="0"/>
              <a:t>예외가 </a:t>
            </a:r>
            <a:r>
              <a:rPr lang="ko-KR" altLang="ko-KR" sz="2400" dirty="0" err="1"/>
              <a:t>noexcept</a:t>
            </a:r>
            <a:r>
              <a:rPr lang="ko-KR" altLang="ko-KR" sz="2400" dirty="0"/>
              <a:t> 함수 밖으로 나오면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terminate</a:t>
            </a:r>
            <a:r>
              <a:rPr lang="ko-KR" altLang="ko-KR" sz="2400" dirty="0"/>
              <a:t>() 호출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4D126-45C1-20D1-9843-2BF7B9274902}"/>
              </a:ext>
            </a:extLst>
          </p:cNvPr>
          <p:cNvSpPr txBox="1"/>
          <p:nvPr/>
        </p:nvSpPr>
        <p:spPr>
          <a:xfrm>
            <a:off x="539751" y="2348880"/>
            <a:ext cx="5472410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Swap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87484-BB82-F7A2-7DE7-F6CC4DA2CB2F}"/>
              </a:ext>
            </a:extLst>
          </p:cNvPr>
          <p:cNvSpPr txBox="1"/>
          <p:nvPr/>
        </p:nvSpPr>
        <p:spPr>
          <a:xfrm>
            <a:off x="535161" y="3299167"/>
            <a:ext cx="5472411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지정 후보</a:t>
            </a:r>
            <a:endParaRPr lang="ko-KR" altLang="ko-KR" sz="1600" b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소멸자와 자원 해제 함수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단순 이동 생성자와 이동 대입 연산자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포인터나 기본형 멤버만 교환하는 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Swap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실패 가능성이 없는 조회 함수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컨테이너 재배치에 활용되는 이동 연산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B15723-C0AA-D080-C99C-D1EFF1562356}"/>
              </a:ext>
            </a:extLst>
          </p:cNvPr>
          <p:cNvSpPr txBox="1"/>
          <p:nvPr/>
        </p:nvSpPr>
        <p:spPr>
          <a:xfrm>
            <a:off x="550813" y="4962654"/>
            <a:ext cx="6059537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실패 가능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27E5A0F-F6EC-10B0-7764-366252F8D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779701"/>
              </p:ext>
            </p:extLst>
          </p:nvPr>
        </p:nvGraphicFramePr>
        <p:xfrm>
          <a:off x="5507905" y="3127717"/>
          <a:ext cx="3096344" cy="858520"/>
        </p:xfrm>
        <a:graphic>
          <a:graphicData uri="http://schemas.openxmlformats.org/drawingml/2006/table">
            <a:tbl>
              <a:tblPr/>
              <a:tblGrid>
                <a:gridCol w="3096344">
                  <a:extLst>
                    <a:ext uri="{9D8B030D-6E8A-4147-A177-3AD203B41FA5}">
                      <a16:colId xmlns:a16="http://schemas.microsoft.com/office/drawing/2014/main" val="1460676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noexcept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성능 장식이 아니라 예외 안전성 계약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655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714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0816-B820-57D4-837C-39832E5B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EDF9D-0623-A755-8525-4E2AC4B6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std::</a:t>
            </a:r>
            <a:r>
              <a:rPr lang="en-US" altLang="ko-KR" dirty="0" err="1"/>
              <a:t>unique_ptr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6A0A9-F499-8F7A-F824-74BD86FCB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동적 객체 하나에 대한 고유 소유권 표현</a:t>
            </a:r>
          </a:p>
          <a:p>
            <a:pPr lvl="0"/>
            <a:r>
              <a:rPr lang="ko-KR" altLang="ko-KR" sz="2400" dirty="0"/>
              <a:t>하나의 </a:t>
            </a:r>
            <a:r>
              <a:rPr lang="ko-KR" altLang="ko-KR" sz="2400" dirty="0" err="1"/>
              <a:t>unique_ptr만</a:t>
            </a:r>
            <a:r>
              <a:rPr lang="ko-KR" altLang="ko-KR" sz="2400" dirty="0"/>
              <a:t> 객체를 소유</a:t>
            </a:r>
          </a:p>
          <a:p>
            <a:pPr lvl="0"/>
            <a:r>
              <a:rPr lang="ko-KR" altLang="ko-KR" sz="2400" dirty="0"/>
              <a:t>소유자가 소멸하면 동적 객체도 소멸</a:t>
            </a:r>
          </a:p>
          <a:p>
            <a:pPr lvl="0"/>
            <a:r>
              <a:rPr lang="ko-KR" altLang="ko-KR" sz="2400" dirty="0"/>
              <a:t>복사 불가, 이동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2B299-284E-8873-6F1B-CC4C24C70024}"/>
              </a:ext>
            </a:extLst>
          </p:cNvPr>
          <p:cNvSpPr txBox="1"/>
          <p:nvPr/>
        </p:nvSpPr>
        <p:spPr>
          <a:xfrm>
            <a:off x="395536" y="2780928"/>
            <a:ext cx="590465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memory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자동 소멸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3E3BC95-E707-8E46-79EC-C677B397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71091"/>
              </p:ext>
            </p:extLst>
          </p:nvPr>
        </p:nvGraphicFramePr>
        <p:xfrm>
          <a:off x="5580112" y="3444220"/>
          <a:ext cx="2762002" cy="614680"/>
        </p:xfrm>
        <a:graphic>
          <a:graphicData uri="http://schemas.openxmlformats.org/drawingml/2006/table">
            <a:tbl>
              <a:tblPr/>
              <a:tblGrid>
                <a:gridCol w="2762002">
                  <a:extLst>
                    <a:ext uri="{9D8B030D-6E8A-4147-A177-3AD203B41FA5}">
                      <a16:colId xmlns:a16="http://schemas.microsoft.com/office/drawing/2014/main" val="3037741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─────▶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소유자 </a:t>
                      </a:r>
                      <a:r>
                        <a:rPr lang="ko-KR" sz="16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개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2429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5C00886-A8FF-0820-23D8-3955C0BED804}"/>
              </a:ext>
            </a:extLst>
          </p:cNvPr>
          <p:cNvSpPr txBox="1"/>
          <p:nvPr/>
        </p:nvSpPr>
        <p:spPr>
          <a:xfrm>
            <a:off x="395536" y="4768260"/>
            <a:ext cx="5904656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적합한 상황</a:t>
            </a:r>
            <a:endParaRPr lang="ko-KR" altLang="ko-KR" sz="1800" b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 수명이 현재 범위보다 길어질 수 있음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소유권을 다른 객체나 함수로 이전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실행 중 실제 타입 결정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객체가 선택적으로 존재하여 빈 상태 필요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큰 객체의 주소 안정성 필요</a:t>
            </a:r>
          </a:p>
        </p:txBody>
      </p:sp>
    </p:spTree>
    <p:extLst>
      <p:ext uri="{BB962C8B-B14F-4D97-AF65-F5344CB8AC3E}">
        <p14:creationId xmlns:p14="http://schemas.microsoft.com/office/powerpoint/2010/main" val="880182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009BF-F546-B080-4652-9291326B8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42377-8474-92C9-538E-91A879FB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7.6.2 std::</a:t>
            </a:r>
            <a:r>
              <a:rPr lang="en-US" altLang="ko-KR" dirty="0" err="1"/>
              <a:t>make_unique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7AB13-930F-3BFC-CDC1-C0CAAF6D6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C++14부터 제공</a:t>
            </a:r>
          </a:p>
          <a:p>
            <a:pPr lvl="0"/>
            <a:r>
              <a:rPr lang="ko-KR" altLang="ko-KR" sz="2400" dirty="0"/>
              <a:t>객체 생성과 스마트 포인터 생성을 함께 표현</a:t>
            </a:r>
          </a:p>
          <a:p>
            <a:pPr lvl="0"/>
            <a:r>
              <a:rPr lang="ko-KR" altLang="ko-KR" sz="2400" dirty="0"/>
              <a:t>원시 포인터가 중간에 드러나는 것을 줄임</a:t>
            </a:r>
          </a:p>
          <a:p>
            <a:pPr lvl="0"/>
            <a:r>
              <a:rPr lang="ko-KR" altLang="ko-KR" sz="2400" dirty="0" err="1"/>
              <a:t>new와</a:t>
            </a:r>
            <a:r>
              <a:rPr lang="ko-KR" altLang="ko-KR" sz="2400" dirty="0"/>
              <a:t> 타입 이름 반복 감소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2154F-111B-5526-44E7-4DEF595BE4B1}"/>
              </a:ext>
            </a:extLst>
          </p:cNvPr>
          <p:cNvSpPr txBox="1"/>
          <p:nvPr/>
        </p:nvSpPr>
        <p:spPr>
          <a:xfrm>
            <a:off x="395536" y="2641059"/>
            <a:ext cx="5688434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DC57B-A4AF-4871-A7C2-1ECA8800CBEF}"/>
              </a:ext>
            </a:extLst>
          </p:cNvPr>
          <p:cNvSpPr txBox="1"/>
          <p:nvPr/>
        </p:nvSpPr>
        <p:spPr>
          <a:xfrm>
            <a:off x="5220072" y="4725144"/>
            <a:ext cx="3606880" cy="338554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일반적으로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우선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F87B8-852B-6719-4CD3-C0835D8241ED}"/>
              </a:ext>
            </a:extLst>
          </p:cNvPr>
          <p:cNvSpPr txBox="1"/>
          <p:nvPr/>
        </p:nvSpPr>
        <p:spPr>
          <a:xfrm>
            <a:off x="395536" y="5694539"/>
            <a:ext cx="5688434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값 초기화, 0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8F625-D720-6FE3-F73B-F3BA83F9ABFE}"/>
              </a:ext>
            </a:extLst>
          </p:cNvPr>
          <p:cNvSpPr txBox="1"/>
          <p:nvPr/>
        </p:nvSpPr>
        <p:spPr>
          <a:xfrm>
            <a:off x="3426550" y="6035266"/>
            <a:ext cx="5400402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사용자 정의 삭제자가 필요한 경우에는 생성자 직접 사용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7516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200E6-8A9B-7B6B-D964-EC6DB572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6D589-32A5-2FBE-65B8-050A9F31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7.6.3 </a:t>
            </a:r>
            <a:r>
              <a:rPr lang="ko-KR" altLang="en-US" dirty="0"/>
              <a:t>이동 전용 스마트 포인터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E8259-2893-B5C0-55E1-81959E026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고유 소유권은 동시에 둘 이상 존재할 수 없음</a:t>
            </a:r>
          </a:p>
          <a:p>
            <a:pPr lvl="0"/>
            <a:r>
              <a:rPr lang="ko-KR" altLang="ko-KR" sz="2400" dirty="0" err="1"/>
              <a:t>unique_ptr는</a:t>
            </a:r>
            <a:r>
              <a:rPr lang="ko-KR" altLang="ko-KR" sz="2400" dirty="0"/>
              <a:t> 복사 불가</a:t>
            </a:r>
          </a:p>
          <a:p>
            <a:pPr lvl="0"/>
            <a:r>
              <a:rPr lang="ko-KR" altLang="ko-KR" sz="2400" dirty="0"/>
              <a:t>소유권은 이동으로 이전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C0F5E8-E98E-1D92-D83A-49B447756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276297"/>
              </p:ext>
            </p:extLst>
          </p:nvPr>
        </p:nvGraphicFramePr>
        <p:xfrm>
          <a:off x="539750" y="2304871"/>
          <a:ext cx="3609975" cy="1620520"/>
        </p:xfrm>
        <a:graphic>
          <a:graphicData uri="http://schemas.openxmlformats.org/drawingml/2006/table">
            <a:tbl>
              <a:tblPr/>
              <a:tblGrid>
                <a:gridCol w="3609975">
                  <a:extLst>
                    <a:ext uri="{9D8B030D-6E8A-4147-A177-3AD203B41FA5}">
                      <a16:colId xmlns:a16="http://schemas.microsoft.com/office/drawing/2014/main" val="2669031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auto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4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make_unique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&gt;();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1" u="none" strike="noStrike" dirty="0">
                          <a:solidFill>
                            <a:srgbClr val="A0A1A7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// </a:t>
                      </a:r>
                      <a:r>
                        <a:rPr lang="ko-KR" sz="1400" b="0" i="1" u="none" strike="noStrike" dirty="0" err="1">
                          <a:solidFill>
                            <a:srgbClr val="A0A1A7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auto</a:t>
                      </a:r>
                      <a:r>
                        <a:rPr lang="ko-KR" sz="1400" b="0" i="1" u="none" strike="noStrike" dirty="0">
                          <a:solidFill>
                            <a:srgbClr val="A0A1A7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1" u="none" strike="noStrike" dirty="0" err="1">
                          <a:solidFill>
                            <a:srgbClr val="A0A1A7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400" b="0" i="1" u="none" strike="noStrike" dirty="0">
                          <a:solidFill>
                            <a:srgbClr val="A0A1A7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400" b="0" i="1" u="none" strike="noStrike" dirty="0" err="1">
                          <a:solidFill>
                            <a:srgbClr val="A0A1A7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400" b="0" i="1" u="none" strike="noStrike" dirty="0">
                          <a:solidFill>
                            <a:srgbClr val="A0A1A7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 // 오류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auto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4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─────▶ </a:t>
                      </a:r>
                      <a:r>
                        <a:rPr lang="ko-KR" sz="1400" b="0" i="0" u="none" strike="noStrike" dirty="0">
                          <a:solidFill>
                            <a:srgbClr val="0184BB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nullptr</a:t>
                      </a:r>
                      <a:b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─────▶ </a:t>
                      </a:r>
                      <a:r>
                        <a:rPr lang="ko-KR" sz="14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7D2340-DF62-4BBE-95EE-0014EF247A26}"/>
              </a:ext>
            </a:extLst>
          </p:cNvPr>
          <p:cNvSpPr txBox="1"/>
          <p:nvPr/>
        </p:nvSpPr>
        <p:spPr>
          <a:xfrm>
            <a:off x="4211960" y="2453411"/>
            <a:ext cx="396044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F18D3-FEB0-EA07-7237-107F6C8A204A}"/>
              </a:ext>
            </a:extLst>
          </p:cNvPr>
          <p:cNvSpPr txBox="1"/>
          <p:nvPr/>
        </p:nvSpPr>
        <p:spPr>
          <a:xfrm>
            <a:off x="569486" y="4410978"/>
            <a:ext cx="3580239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GameScene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0671B5-200A-7A48-C56C-F7DB3FF0BAF1}"/>
              </a:ext>
            </a:extLst>
          </p:cNvPr>
          <p:cNvSpPr txBox="1"/>
          <p:nvPr/>
        </p:nvSpPr>
        <p:spPr>
          <a:xfrm>
            <a:off x="1346706" y="5580529"/>
            <a:ext cx="688283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멤버가 있으면 클래스 기본 복사도 사용할 수 없게 됨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장면 복사가 필요하면 깊은 복사, 공유 리소스 분리, 복사 금지, 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중 선택</a:t>
            </a:r>
          </a:p>
        </p:txBody>
      </p:sp>
    </p:spTree>
    <p:extLst>
      <p:ext uri="{BB962C8B-B14F-4D97-AF65-F5344CB8AC3E}">
        <p14:creationId xmlns:p14="http://schemas.microsoft.com/office/powerpoint/2010/main" val="2506064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DB87-A8AF-C1AB-44D2-BE7E1B9D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0207-14B6-9CB8-A00E-0C4329BE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7.6.4 </a:t>
            </a:r>
            <a:r>
              <a:rPr lang="ko-KR" altLang="en-US" dirty="0"/>
              <a:t>배열 소유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797744-7998-2695-EF7F-A05782F8E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동적 배열의 고유 소유권은 </a:t>
            </a:r>
            <a:r>
              <a:rPr lang="ko-KR" altLang="ko-KR" sz="2400" dirty="0" err="1">
                <a:solidFill>
                  <a:srgbClr val="0000FF"/>
                </a:solidFill>
              </a:rPr>
              <a:t>std</a:t>
            </a:r>
            <a:r>
              <a:rPr lang="ko-KR" altLang="ko-KR" sz="2400" dirty="0">
                <a:solidFill>
                  <a:srgbClr val="0000FF"/>
                </a:solidFill>
              </a:rPr>
              <a:t>::</a:t>
            </a:r>
            <a:r>
              <a:rPr lang="ko-KR" altLang="ko-KR" sz="2400" dirty="0" err="1">
                <a:solidFill>
                  <a:srgbClr val="0000FF"/>
                </a:solidFill>
              </a:rPr>
              <a:t>unique_ptr</a:t>
            </a:r>
            <a:r>
              <a:rPr lang="ko-KR" altLang="ko-KR" sz="2400" dirty="0">
                <a:solidFill>
                  <a:srgbClr val="0000FF"/>
                </a:solidFill>
              </a:rPr>
              <a:t>&lt;</a:t>
            </a:r>
            <a:r>
              <a:rPr lang="ko-KR" altLang="ko-KR" sz="2400" dirty="0" err="1">
                <a:solidFill>
                  <a:srgbClr val="0000FF"/>
                </a:solidFill>
              </a:rPr>
              <a:t>T</a:t>
            </a:r>
            <a:r>
              <a:rPr lang="ko-KR" altLang="ko-KR" sz="2400" dirty="0">
                <a:solidFill>
                  <a:srgbClr val="0000FF"/>
                </a:solidFill>
              </a:rPr>
              <a:t>[]&gt;</a:t>
            </a:r>
          </a:p>
          <a:p>
            <a:pPr lvl="0"/>
            <a:r>
              <a:rPr lang="ko-KR" altLang="ko-KR" sz="2400" dirty="0"/>
              <a:t>소멸 시 </a:t>
            </a:r>
            <a:r>
              <a:rPr lang="ko-KR" altLang="ko-KR" sz="2400" dirty="0" err="1"/>
              <a:t>delete</a:t>
            </a:r>
            <a:r>
              <a:rPr lang="ko-KR" altLang="ko-KR" sz="2400" dirty="0"/>
              <a:t>[] 사용</a:t>
            </a:r>
          </a:p>
          <a:p>
            <a:pPr lvl="0"/>
            <a:r>
              <a:rPr lang="ko-KR" altLang="ko-KR" sz="2400" dirty="0"/>
              <a:t>단일 객체용과 배열용이 타입에서 구분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F61D3-8EA6-734E-4909-500A69155AC7}"/>
              </a:ext>
            </a:extLst>
          </p:cNvPr>
          <p:cNvSpPr txBox="1"/>
          <p:nvPr/>
        </p:nvSpPr>
        <p:spPr>
          <a:xfrm>
            <a:off x="323528" y="2350798"/>
            <a:ext cx="3816425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[]&gt;(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[i]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&gt;(i *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many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[]&gt;(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F5A15-A4A3-BB84-4CD8-E0BA23F153D9}"/>
              </a:ext>
            </a:extLst>
          </p:cNvPr>
          <p:cNvSpPr txBox="1"/>
          <p:nvPr/>
        </p:nvSpPr>
        <p:spPr>
          <a:xfrm>
            <a:off x="4355977" y="2328377"/>
            <a:ext cx="4572000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ImageBuffer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ImageBuffer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pixels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[]&gt;(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pixels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D759C-4600-5781-3666-B3536F75ED7C}"/>
              </a:ext>
            </a:extLst>
          </p:cNvPr>
          <p:cNvSpPr txBox="1"/>
          <p:nvPr/>
        </p:nvSpPr>
        <p:spPr>
          <a:xfrm>
            <a:off x="323528" y="5301208"/>
            <a:ext cx="5544616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배열 크기는 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[]&gt;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에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저장되지 않음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일반 컨테이너 기능이 필요하면 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우선</a:t>
            </a:r>
          </a:p>
        </p:txBody>
      </p:sp>
    </p:spTree>
    <p:extLst>
      <p:ext uri="{BB962C8B-B14F-4D97-AF65-F5344CB8AC3E}">
        <p14:creationId xmlns:p14="http://schemas.microsoft.com/office/powerpoint/2010/main" val="666734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9E72-9E25-93CB-EACB-732AB321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5F0D-0B22-79B7-B841-E601C0F5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7.6.5 get, reset, release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8DFE0AE-335F-8364-F735-092C8816C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991241"/>
              </p:ext>
            </p:extLst>
          </p:nvPr>
        </p:nvGraphicFramePr>
        <p:xfrm>
          <a:off x="536734" y="695075"/>
          <a:ext cx="6894289" cy="1520848"/>
        </p:xfrm>
        <a:graphic>
          <a:graphicData uri="http://schemas.openxmlformats.org/drawingml/2006/table">
            <a:tbl>
              <a:tblPr/>
              <a:tblGrid>
                <a:gridCol w="1058927">
                  <a:extLst>
                    <a:ext uri="{9D8B030D-6E8A-4147-A177-3AD203B41FA5}">
                      <a16:colId xmlns:a16="http://schemas.microsoft.com/office/drawing/2014/main" val="3364422509"/>
                    </a:ext>
                  </a:extLst>
                </a:gridCol>
                <a:gridCol w="1396882">
                  <a:extLst>
                    <a:ext uri="{9D8B030D-6E8A-4147-A177-3AD203B41FA5}">
                      <a16:colId xmlns:a16="http://schemas.microsoft.com/office/drawing/2014/main" val="3847673910"/>
                    </a:ext>
                  </a:extLst>
                </a:gridCol>
                <a:gridCol w="1948876">
                  <a:extLst>
                    <a:ext uri="{9D8B030D-6E8A-4147-A177-3AD203B41FA5}">
                      <a16:colId xmlns:a16="http://schemas.microsoft.com/office/drawing/2014/main" val="1823619480"/>
                    </a:ext>
                  </a:extLst>
                </a:gridCol>
                <a:gridCol w="2489604">
                  <a:extLst>
                    <a:ext uri="{9D8B030D-6E8A-4147-A177-3AD203B41FA5}">
                      <a16:colId xmlns:a16="http://schemas.microsoft.com/office/drawing/2014/main" val="2117773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소멸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소유권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반환값</a:t>
                      </a:r>
                      <a:endParaRPr lang="ko-KR" sz="24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364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get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하지 않음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유지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비소유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원시 포인터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503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reset()</a:t>
                      </a:r>
                      <a:endParaRPr lang="ko-KR" sz="2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객체 소멸</a:t>
                      </a:r>
                      <a:endParaRPr lang="ko-KR" sz="2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비우거나 새 객체 소유</a:t>
                      </a:r>
                      <a:endParaRPr lang="ko-KR" sz="2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없음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7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release()</a:t>
                      </a:r>
                      <a:endParaRPr lang="ko-KR" sz="2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하지 않음</a:t>
                      </a:r>
                      <a:endParaRPr lang="ko-KR" sz="2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포기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해제 책임이 있는 원시 포인터</a:t>
                      </a:r>
                      <a:endParaRPr 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2303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D1B6DC-0C13-0946-58DC-F94F7C797578}"/>
              </a:ext>
            </a:extLst>
          </p:cNvPr>
          <p:cNvSpPr txBox="1"/>
          <p:nvPr/>
        </p:nvSpPr>
        <p:spPr>
          <a:xfrm>
            <a:off x="558030" y="2371074"/>
            <a:ext cx="4950073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enemy.get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enemy.reset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enemy.release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enemy는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빈 상태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enemy.release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// 반환 포인터를 잃으면 누수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8FC08-C3A4-6F6D-72E2-8B1CB4429BBB}"/>
              </a:ext>
            </a:extLst>
          </p:cNvPr>
          <p:cNvSpPr txBox="1"/>
          <p:nvPr/>
        </p:nvSpPr>
        <p:spPr>
          <a:xfrm>
            <a:off x="4903812" y="4149080"/>
            <a:ext cx="4104456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 접근은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소유권 포기는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release</a:t>
            </a:r>
            <a:r>
              <a:rPr lang="ko-KR" altLang="ko-KR" sz="16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ko-KR" altLang="ko-KR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6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제한적으로 사용</a:t>
            </a:r>
          </a:p>
        </p:txBody>
      </p:sp>
    </p:spTree>
    <p:extLst>
      <p:ext uri="{BB962C8B-B14F-4D97-AF65-F5344CB8AC3E}">
        <p14:creationId xmlns:p14="http://schemas.microsoft.com/office/powerpoint/2010/main" val="106327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8D501-79BB-12D6-BB47-55F9D86B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EAA7B-165D-8152-33D2-DD85369D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7.6.7 </a:t>
            </a:r>
            <a:r>
              <a:rPr lang="en-US" altLang="ko-KR" dirty="0" err="1"/>
              <a:t>unique_ptr</a:t>
            </a:r>
            <a:r>
              <a:rPr lang="ko-KR" altLang="en-US" dirty="0"/>
              <a:t>와 함수 인터페이스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CA558FB-7BB5-5D25-DDB6-03869E94B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7087363"/>
              </p:ext>
            </p:extLst>
          </p:nvPr>
        </p:nvGraphicFramePr>
        <p:xfrm>
          <a:off x="323528" y="648066"/>
          <a:ext cx="7344618" cy="2684344"/>
        </p:xfrm>
        <a:graphic>
          <a:graphicData uri="http://schemas.openxmlformats.org/drawingml/2006/table">
            <a:tbl>
              <a:tblPr/>
              <a:tblGrid>
                <a:gridCol w="3600045">
                  <a:extLst>
                    <a:ext uri="{9D8B030D-6E8A-4147-A177-3AD203B41FA5}">
                      <a16:colId xmlns:a16="http://schemas.microsoft.com/office/drawing/2014/main" val="2822583311"/>
                    </a:ext>
                  </a:extLst>
                </a:gridCol>
                <a:gridCol w="3744573">
                  <a:extLst>
                    <a:ext uri="{9D8B030D-6E8A-4147-A177-3AD203B41FA5}">
                      <a16:colId xmlns:a16="http://schemas.microsoft.com/office/drawing/2014/main" val="1380624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인터페이스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290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Create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28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고유 소유권 반환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343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Take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호출자로부터 고유 소유권 받음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50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Replace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&gt;&amp;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호출자의 스마트 포인터 자체 변경 가능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396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Use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객체를 변경 가능하게 빌림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160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Read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객체를 읽기 전용으로 빌림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373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Observe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</a:t>
                      </a:r>
                      <a:r>
                        <a:rPr lang="ko-K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없을 수도 있는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비소유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접근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1823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B19AEB-3DA3-87EB-FEC3-3BD60229AF34}"/>
              </a:ext>
            </a:extLst>
          </p:cNvPr>
          <p:cNvSpPr txBox="1"/>
          <p:nvPr/>
        </p:nvSpPr>
        <p:spPr>
          <a:xfrm>
            <a:off x="323528" y="3525591"/>
            <a:ext cx="6408712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GameScene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enemies.push_back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scene.AddEnemy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71DF7-AB04-B40C-00B2-25D4464C287A}"/>
              </a:ext>
            </a:extLst>
          </p:cNvPr>
          <p:cNvSpPr txBox="1"/>
          <p:nvPr/>
        </p:nvSpPr>
        <p:spPr>
          <a:xfrm>
            <a:off x="5005064" y="5680027"/>
            <a:ext cx="4031432" cy="64633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소유하지 않고 사용만 하면 </a:t>
            </a: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&amp;, </a:t>
            </a:r>
            <a:r>
              <a:rPr lang="ko-KR" altLang="ko-KR" sz="18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&amp;, </a:t>
            </a: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사용</a:t>
            </a:r>
            <a:endParaRPr lang="ko-KR" altLang="ko-KR" sz="20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6988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FC75-A4FE-0169-0C4B-4F0F8ECA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A5A3A-17C8-A60A-F9AF-37220C8A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 std::</a:t>
            </a:r>
            <a:r>
              <a:rPr lang="en-US" altLang="ko-KR" dirty="0" err="1"/>
              <a:t>shared_ptr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2844B-545D-EC93-E6C9-6F44C05B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여러 스마트 포인터가 하나의 동적 객체를 공동 소유</a:t>
            </a:r>
          </a:p>
          <a:p>
            <a:pPr lvl="0"/>
            <a:r>
              <a:rPr lang="ko-KR" altLang="ko-KR" sz="2400" dirty="0"/>
              <a:t>마지막 소유자가 사라질 때 객체 소멸</a:t>
            </a:r>
          </a:p>
          <a:p>
            <a:pPr lvl="0"/>
            <a:r>
              <a:rPr lang="ko-KR" altLang="ko-KR" sz="2400" dirty="0"/>
              <a:t>복사하면 객체 복사가 아니라 소유권 공유</a:t>
            </a:r>
            <a:endParaRPr lang="en-US" altLang="ko-KR" sz="2400" dirty="0"/>
          </a:p>
          <a:p>
            <a:pPr lvl="0"/>
            <a:r>
              <a:rPr lang="ko-KR" altLang="ko-KR" sz="2400" dirty="0"/>
              <a:t>마지막 사용자를 미리 특정하기 어려운 공유 수명에 적합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0DABA-D7A8-D4FC-AA6B-3489729D53F4}"/>
              </a:ext>
            </a:extLst>
          </p:cNvPr>
          <p:cNvSpPr txBox="1"/>
          <p:nvPr/>
        </p:nvSpPr>
        <p:spPr>
          <a:xfrm>
            <a:off x="539750" y="2590701"/>
            <a:ext cx="611392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Sprite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 {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make_shared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E3FE3-B37A-186A-4F8F-223DD7833413}"/>
              </a:ext>
            </a:extLst>
          </p:cNvPr>
          <p:cNvSpPr txBox="1"/>
          <p:nvPr/>
        </p:nvSpPr>
        <p:spPr>
          <a:xfrm>
            <a:off x="539750" y="5419437"/>
            <a:ext cx="2661321" cy="83099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878E7D0-3C87-CB73-F285-4632A98D3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393575"/>
              </p:ext>
            </p:extLst>
          </p:nvPr>
        </p:nvGraphicFramePr>
        <p:xfrm>
          <a:off x="3418112" y="5211345"/>
          <a:ext cx="3235558" cy="1313280"/>
        </p:xfrm>
        <a:graphic>
          <a:graphicData uri="http://schemas.openxmlformats.org/drawingml/2006/table">
            <a:tbl>
              <a:tblPr/>
              <a:tblGrid>
                <a:gridCol w="3235558">
                  <a:extLst>
                    <a:ext uri="{9D8B030D-6E8A-4147-A177-3AD203B41FA5}">
                      <a16:colId xmlns:a16="http://schemas.microsoft.com/office/drawing/2014/main" val="45426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─┐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idle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─┤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run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en-US" alt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─┼──▶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attack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─┘</a:t>
                      </a:r>
                      <a:endParaRPr lang="ko-KR" sz="3200" b="1" dirty="0">
                        <a:effectLst/>
                        <a:latin typeface="Consolas" panose="020B0609020204030204" pitchFamily="49" charset="0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80000" marR="180000" marT="108000" marB="10800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96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076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4CA3-FD59-FA61-86E8-125B3DBE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701B8-592B-2EFA-CFE0-7C1A616A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7.7.2 </a:t>
            </a:r>
            <a:r>
              <a:rPr lang="ko-KR" altLang="en-US" dirty="0"/>
              <a:t>참조 횟수와 제어 블록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3D75D-8A86-CCB8-3F69-2969B156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shared_ptr는</a:t>
            </a:r>
            <a:r>
              <a:rPr lang="ko-KR" altLang="ko-KR" sz="2400" dirty="0"/>
              <a:t> 객체 포인터와 제어 블록을 사용</a:t>
            </a:r>
          </a:p>
          <a:p>
            <a:pPr lvl="0"/>
            <a:r>
              <a:rPr lang="ko-KR" altLang="ko-KR" sz="2400" dirty="0"/>
              <a:t>제어 블록은 강한 참조 횟수, 약한 참조 횟수, </a:t>
            </a:r>
            <a:r>
              <a:rPr lang="ko-KR" altLang="ko-KR" sz="2400" dirty="0" err="1"/>
              <a:t>삭제자</a:t>
            </a:r>
            <a:r>
              <a:rPr lang="ko-KR" altLang="ko-KR" sz="2400" dirty="0"/>
              <a:t> 정보 관리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06FC97-7D1D-120A-AB44-31DF9DC29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001164"/>
              </p:ext>
            </p:extLst>
          </p:nvPr>
        </p:nvGraphicFramePr>
        <p:xfrm>
          <a:off x="557302" y="1844824"/>
          <a:ext cx="3582650" cy="2238720"/>
        </p:xfrm>
        <a:graphic>
          <a:graphicData uri="http://schemas.openxmlformats.org/drawingml/2006/table">
            <a:tbl>
              <a:tblPr/>
              <a:tblGrid>
                <a:gridCol w="3582650">
                  <a:extLst>
                    <a:ext uri="{9D8B030D-6E8A-4147-A177-3AD203B41FA5}">
                      <a16:colId xmlns:a16="http://schemas.microsoft.com/office/drawing/2014/main" val="3518731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shared_ptr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A ─┐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├──▶ 객체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shared_ptr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B ─┘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│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└────────▶ 제어 블록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강한 참조 횟수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약한 참조 횟수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삭제자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정보</a:t>
                      </a:r>
                      <a:endParaRPr lang="ko-KR" sz="28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4506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107108-E533-E747-928A-AAED697555E6}"/>
              </a:ext>
            </a:extLst>
          </p:cNvPr>
          <p:cNvSpPr txBox="1"/>
          <p:nvPr/>
        </p:nvSpPr>
        <p:spPr>
          <a:xfrm>
            <a:off x="539750" y="4149080"/>
            <a:ext cx="6192490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make_shared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hero.png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first.use_count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D310A-C3A3-267A-94C9-91E39B1005BC}"/>
              </a:ext>
            </a:extLst>
          </p:cNvPr>
          <p:cNvSpPr txBox="1"/>
          <p:nvPr/>
        </p:nvSpPr>
        <p:spPr>
          <a:xfrm>
            <a:off x="539750" y="5157192"/>
            <a:ext cx="619249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복사 → 강한 참조 횟수 증가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소유자 해제 → 강한 참조 횟수 감소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강한 참조 횟수 0 → 관리 대상 객체 소멸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weak_ptr가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남아 있으면 제어 블록은 더 오래 남을 수 있음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use_count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핵심 로직 조건으로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3240033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97981-2BDC-A85A-C443-FBC22FB1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645B7-6E92-2966-F553-98AEBDDA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7.7.3 </a:t>
            </a:r>
            <a:r>
              <a:rPr lang="en-US" altLang="ko-KR" dirty="0" err="1"/>
              <a:t>make_shared</a:t>
            </a:r>
            <a:r>
              <a:rPr lang="ko-KR" altLang="en-US" dirty="0"/>
              <a:t>와 공유 비용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EDCD3F-E286-0FB0-0780-23FA86FB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make_shared</a:t>
            </a:r>
            <a:r>
              <a:rPr lang="ko-KR" altLang="ko-KR" sz="2400" dirty="0"/>
              <a:t>()는 객체와 제어 블록을 함께 생성 가능</a:t>
            </a:r>
          </a:p>
          <a:p>
            <a:pPr lvl="0"/>
            <a:r>
              <a:rPr lang="ko-KR" altLang="ko-KR" sz="2400" dirty="0"/>
              <a:t>생성 비용과 예외 안전성 측면에서 유리</a:t>
            </a:r>
          </a:p>
          <a:p>
            <a:pPr lvl="0"/>
            <a:r>
              <a:rPr lang="ko-KR" altLang="ko-KR" sz="2400" dirty="0"/>
              <a:t>원시 포인터가 중간에 노출되지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E1EB4-D165-D747-B8DE-6F8E7F4EE85B}"/>
              </a:ext>
            </a:extLst>
          </p:cNvPr>
          <p:cNvSpPr txBox="1"/>
          <p:nvPr/>
        </p:nvSpPr>
        <p:spPr>
          <a:xfrm>
            <a:off x="395536" y="2227435"/>
            <a:ext cx="6264696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make_shared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hero.png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hero.png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CA8A7-26BC-3445-40C8-789D049B1402}"/>
              </a:ext>
            </a:extLst>
          </p:cNvPr>
          <p:cNvSpPr txBox="1"/>
          <p:nvPr/>
        </p:nvSpPr>
        <p:spPr>
          <a:xfrm>
            <a:off x="395536" y="2969750"/>
            <a:ext cx="626469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공유 소유권의 비용</a:t>
            </a:r>
            <a:endParaRPr lang="ko-KR" altLang="ko-KR" sz="1600" b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제어 블록 메모리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복사와 소멸 시 참조 횟수 변경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동시 실행을 고려한 참조 횟수 조작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소유자 불분명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순환 참조 가능성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 수명이 예상보다 길어질 가능성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0C722-020F-2C9E-435A-78FD433EB566}"/>
              </a:ext>
            </a:extLst>
          </p:cNvPr>
          <p:cNvSpPr txBox="1"/>
          <p:nvPr/>
        </p:nvSpPr>
        <p:spPr>
          <a:xfrm>
            <a:off x="391756" y="5008798"/>
            <a:ext cx="6264696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여러 객체가 사용한다 ≠ 여러 객체가 수명을 함께 책임진다</a:t>
            </a:r>
            <a:endParaRPr lang="ko-KR" altLang="ko-KR" sz="1600" b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단순 사용 관계라면 고유 소유자 하나와 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 여러 개 검토</a:t>
            </a:r>
          </a:p>
        </p:txBody>
      </p:sp>
    </p:spTree>
    <p:extLst>
      <p:ext uri="{BB962C8B-B14F-4D97-AF65-F5344CB8AC3E}">
        <p14:creationId xmlns:p14="http://schemas.microsoft.com/office/powerpoint/2010/main" val="917895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E235-226F-FA42-BDAB-FDAFF6DE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7234F-3912-6FAD-95B7-9AF1960C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7.7.5 </a:t>
            </a:r>
            <a:r>
              <a:rPr lang="ko-KR" altLang="en-US" dirty="0"/>
              <a:t>잘못된 </a:t>
            </a:r>
            <a:r>
              <a:rPr lang="en-US" altLang="ko-KR" dirty="0" err="1"/>
              <a:t>shared_ptr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EFBD71-C0BD-158D-3FE5-B191CF7D3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같은 원시 포인터로 독립된 </a:t>
            </a:r>
            <a:r>
              <a:rPr lang="ko-KR" altLang="ko-KR" sz="2400" dirty="0" err="1"/>
              <a:t>shared_ptr를</a:t>
            </a:r>
            <a:r>
              <a:rPr lang="ko-KR" altLang="ko-KR" sz="2400" dirty="0"/>
              <a:t> 만들면 안 됨</a:t>
            </a:r>
          </a:p>
          <a:p>
            <a:pPr lvl="0"/>
            <a:r>
              <a:rPr lang="ko-KR" altLang="ko-KR" sz="2400" dirty="0"/>
              <a:t>서로 다른 제어 블록이 같은 객체를 소유한다고 판단</a:t>
            </a:r>
          </a:p>
          <a:p>
            <a:pPr lvl="0"/>
            <a:r>
              <a:rPr lang="ko-KR" altLang="ko-KR" sz="2400" dirty="0"/>
              <a:t>마지막 소유자 판정이 두 번 발생</a:t>
            </a:r>
          </a:p>
          <a:p>
            <a:pPr lvl="0"/>
            <a:r>
              <a:rPr lang="ko-KR" altLang="ko-KR" sz="2400" dirty="0"/>
              <a:t>이중 해제 가능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1981C-55BD-9F92-C273-27502C02E149}"/>
              </a:ext>
            </a:extLst>
          </p:cNvPr>
          <p:cNvSpPr txBox="1"/>
          <p:nvPr/>
        </p:nvSpPr>
        <p:spPr>
          <a:xfrm>
            <a:off x="554583" y="2608693"/>
            <a:ext cx="5817617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hero.png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잘못된 생성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074F4AC-07CA-7E51-5D32-5D6E0F030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227159"/>
              </p:ext>
            </p:extLst>
          </p:nvPr>
        </p:nvGraphicFramePr>
        <p:xfrm>
          <a:off x="539750" y="3836368"/>
          <a:ext cx="5832449" cy="614680"/>
        </p:xfrm>
        <a:graphic>
          <a:graphicData uri="http://schemas.openxmlformats.org/drawingml/2006/table">
            <a:tbl>
              <a:tblPr/>
              <a:tblGrid>
                <a:gridCol w="5832449">
                  <a:extLst>
                    <a:ext uri="{9D8B030D-6E8A-4147-A177-3AD203B41FA5}">
                      <a16:colId xmlns:a16="http://schemas.microsoft.com/office/drawing/2014/main" val="3131444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──▶ 제어 블록 A ──▶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──▶ 제어 블록 B ──▶ 같은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4516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BD79920-D8AC-D2DF-E6DC-2248DABA21CF}"/>
              </a:ext>
            </a:extLst>
          </p:cNvPr>
          <p:cNvSpPr txBox="1"/>
          <p:nvPr/>
        </p:nvSpPr>
        <p:spPr>
          <a:xfrm>
            <a:off x="554583" y="4565446"/>
            <a:ext cx="5817616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make_shared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hero.png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올바른 공유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// 잘못된 설계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28168-D03D-DA3C-2537-C9EA87910C6E}"/>
              </a:ext>
            </a:extLst>
          </p:cNvPr>
          <p:cNvSpPr txBox="1"/>
          <p:nvPr/>
        </p:nvSpPr>
        <p:spPr>
          <a:xfrm>
            <a:off x="554583" y="5965332"/>
            <a:ext cx="5817616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결과는 </a:t>
            </a:r>
            <a:r>
              <a:rPr lang="ko-KR" altLang="ko-KR" sz="16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포인터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스마트 포인터의 소유권 시작점으로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21006695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4F532-F16D-D4E8-01A9-DF4D19BF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37629-44C8-D004-200E-8CD28AB66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7.8 std::</a:t>
            </a:r>
            <a:r>
              <a:rPr lang="en-US" altLang="ko-KR" dirty="0" err="1"/>
              <a:t>weak_ptr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505628-0FB9-01DA-72E0-6FEEDF639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shared_ptr가</a:t>
            </a:r>
            <a:r>
              <a:rPr lang="ko-KR" altLang="ko-KR" sz="2000" dirty="0"/>
              <a:t> 관리하는 객체를 소유하지 않고 관찰</a:t>
            </a:r>
          </a:p>
          <a:p>
            <a:pPr lvl="0"/>
            <a:r>
              <a:rPr lang="ko-KR" altLang="ko-KR" sz="2000" dirty="0"/>
              <a:t>약한 포인터는 객체 수명을 연장하지 않음</a:t>
            </a:r>
          </a:p>
          <a:p>
            <a:pPr lvl="0"/>
            <a:r>
              <a:rPr lang="ko-KR" altLang="ko-KR" sz="2000" dirty="0"/>
              <a:t>객체가 소멸했는지 확인 가능</a:t>
            </a:r>
          </a:p>
          <a:p>
            <a:pPr lvl="0"/>
            <a:r>
              <a:rPr lang="ko-KR" altLang="ko-KR" sz="2000" dirty="0"/>
              <a:t>실제 사용 전 </a:t>
            </a:r>
            <a:r>
              <a:rPr lang="ko-KR" altLang="ko-KR" sz="2000" dirty="0" err="1"/>
              <a:t>lock</a:t>
            </a:r>
            <a:r>
              <a:rPr lang="ko-KR" altLang="ko-KR" sz="2000" dirty="0"/>
              <a:t>()</a:t>
            </a:r>
            <a:r>
              <a:rPr lang="ko-KR" altLang="ko-KR" sz="2000" dirty="0" err="1"/>
              <a:t>으로</a:t>
            </a:r>
            <a:r>
              <a:rPr lang="ko-KR" altLang="ko-KR" sz="2000" dirty="0"/>
              <a:t> 임시 공유 소유권 획득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AB003-1458-F088-4331-109929536390}"/>
              </a:ext>
            </a:extLst>
          </p:cNvPr>
          <p:cNvSpPr txBox="1"/>
          <p:nvPr/>
        </p:nvSpPr>
        <p:spPr>
          <a:xfrm>
            <a:off x="539750" y="2492896"/>
            <a:ext cx="784867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make_shared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hero.png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weak_ptr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observer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213F5-FA84-DDD4-239F-02BB8AB2411B}"/>
              </a:ext>
            </a:extLst>
          </p:cNvPr>
          <p:cNvSpPr txBox="1"/>
          <p:nvPr/>
        </p:nvSpPr>
        <p:spPr>
          <a:xfrm>
            <a:off x="539750" y="5085184"/>
            <a:ext cx="4608314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활용</a:t>
            </a:r>
            <a:endParaRPr lang="ko-KR" altLang="ko-KR" sz="16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캐시가 객체 수명을 불필요하게 연장하지 않음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관찰자가 대상 소멸 여부 확인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공유 객체 사이의 순환 소유 차단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비동기 작업이 실행 시점의 생존 여부 확인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89A0D-C791-B171-53DB-6EEBAC651630}"/>
              </a:ext>
            </a:extLst>
          </p:cNvPr>
          <p:cNvSpPr txBox="1"/>
          <p:nvPr/>
        </p:nvSpPr>
        <p:spPr>
          <a:xfrm>
            <a:off x="539750" y="3166165"/>
            <a:ext cx="460831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─────▶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강한 소유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weak_ptr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------▶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관찰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FFC66-92FD-0B21-E974-ABE06695F560}"/>
              </a:ext>
            </a:extLst>
          </p:cNvPr>
          <p:cNvSpPr txBox="1"/>
          <p:nvPr/>
        </p:nvSpPr>
        <p:spPr>
          <a:xfrm>
            <a:off x="539750" y="3933056"/>
            <a:ext cx="4608314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texture.reset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observer.expired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75617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3606-1B08-E102-1293-C570B4DCC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5FD24-9E78-A323-523B-C46DC07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7.8.3 lock</a:t>
            </a:r>
            <a:r>
              <a:rPr lang="ko-KR" altLang="en-US" dirty="0"/>
              <a:t>을 이용한 접근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0770E8-17CE-7A41-F38F-A234C010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lock</a:t>
            </a:r>
            <a:r>
              <a:rPr lang="ko-KR" altLang="ko-KR" sz="2400" dirty="0"/>
              <a:t>()은 살아 있는 객체에 대한 </a:t>
            </a:r>
            <a:r>
              <a:rPr lang="ko-KR" altLang="ko-KR" sz="2400" dirty="0" err="1"/>
              <a:t>shared_ptr</a:t>
            </a:r>
            <a:r>
              <a:rPr lang="ko-KR" altLang="ko-KR" sz="2400" dirty="0"/>
              <a:t> 반환</a:t>
            </a:r>
          </a:p>
          <a:p>
            <a:pPr lvl="0"/>
            <a:r>
              <a:rPr lang="ko-KR" altLang="ko-KR" sz="2400" dirty="0"/>
              <a:t>이미 소멸했다면 빈 </a:t>
            </a:r>
            <a:r>
              <a:rPr lang="ko-KR" altLang="ko-KR" sz="2400" dirty="0" err="1"/>
              <a:t>shared_ptr</a:t>
            </a:r>
            <a:r>
              <a:rPr lang="ko-KR" altLang="ko-KR" sz="2400" dirty="0"/>
              <a:t> 반환</a:t>
            </a:r>
          </a:p>
          <a:p>
            <a:pPr lvl="0"/>
            <a:r>
              <a:rPr lang="ko-KR" altLang="ko-KR" sz="2400" dirty="0"/>
              <a:t>반환된 </a:t>
            </a:r>
            <a:r>
              <a:rPr lang="ko-KR" altLang="ko-KR" sz="2400" dirty="0" err="1"/>
              <a:t>shared_ptr가</a:t>
            </a:r>
            <a:r>
              <a:rPr lang="ko-KR" altLang="ko-KR" sz="2400" dirty="0"/>
              <a:t> 범위 안에 있는 동안 객체 수명 유지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CCA4C-73BF-DFA2-1A53-812AD65B0B61}"/>
              </a:ext>
            </a:extLst>
          </p:cNvPr>
          <p:cNvSpPr txBox="1"/>
          <p:nvPr/>
        </p:nvSpPr>
        <p:spPr>
          <a:xfrm>
            <a:off x="546992" y="2132856"/>
            <a:ext cx="6185247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observer.lock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Texture를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사용할 수 없습니다.\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8BEFA-7BA7-DE04-21D9-9F136D8D1F02}"/>
              </a:ext>
            </a:extLst>
          </p:cNvPr>
          <p:cNvSpPr txBox="1"/>
          <p:nvPr/>
        </p:nvSpPr>
        <p:spPr>
          <a:xfrm>
            <a:off x="539749" y="4198228"/>
            <a:ext cx="6185247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observer.lock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8434C-3AE0-D443-55AE-B9F3120FBBA8}"/>
              </a:ext>
            </a:extLst>
          </p:cNvPr>
          <p:cNvSpPr txBox="1"/>
          <p:nvPr/>
        </p:nvSpPr>
        <p:spPr>
          <a:xfrm>
            <a:off x="558030" y="5530414"/>
            <a:ext cx="6185247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expired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확인 후 다시 접근하는 방식보다 바로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권장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weak_ptr에는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-&gt;와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역참조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연산자 없음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F0622F-D014-6E65-08A0-AB7AD852F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667466"/>
              </p:ext>
            </p:extLst>
          </p:nvPr>
        </p:nvGraphicFramePr>
        <p:xfrm>
          <a:off x="5724128" y="3086405"/>
          <a:ext cx="2592288" cy="1994880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178576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lock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성공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임시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shared_ptr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사용 중 수명 유지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블록 끝에서 참조 횟수 감소</a:t>
                      </a:r>
                      <a:endParaRPr lang="ko-KR" sz="2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166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639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87BA-419F-2FE0-6C96-4FBF16DC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2ACA2-FE81-7BEA-2F44-5F9AA19F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7.8.4 </a:t>
            </a:r>
            <a:r>
              <a:rPr lang="ko-KR" altLang="en-US" dirty="0"/>
              <a:t>순환 참조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B18695-2456-2BB1-1A25-C22F4760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두 객체가 서로를 </a:t>
            </a:r>
            <a:r>
              <a:rPr lang="ko-KR" altLang="ko-KR" sz="2400" dirty="0" err="1"/>
              <a:t>shared_ptr로</a:t>
            </a:r>
            <a:r>
              <a:rPr lang="ko-KR" altLang="ko-KR" sz="2400" dirty="0"/>
              <a:t> 소유하면</a:t>
            </a:r>
            <a:br>
              <a:rPr lang="en-US" altLang="ko-KR" sz="2400" dirty="0"/>
            </a:br>
            <a:r>
              <a:rPr lang="en-US" altLang="ko-KR" sz="2400" dirty="0"/>
              <a:t> </a:t>
            </a:r>
            <a:r>
              <a:rPr lang="ko-KR" altLang="ko-KR" sz="2400" dirty="0"/>
              <a:t>참조 횟수가 0이 되지 않을 수 있음</a:t>
            </a:r>
          </a:p>
          <a:p>
            <a:pPr lvl="0"/>
            <a:r>
              <a:rPr lang="ko-KR" altLang="ko-KR" sz="2400" dirty="0"/>
              <a:t>객체의 수명 책임 방향을 분석해야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D6182-11B5-4C68-1C07-8B4564C8D528}"/>
              </a:ext>
            </a:extLst>
          </p:cNvPr>
          <p:cNvSpPr txBox="1"/>
          <p:nvPr/>
        </p:nvSpPr>
        <p:spPr>
          <a:xfrm>
            <a:off x="528329" y="2132856"/>
            <a:ext cx="5603042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SceneNode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SceneNode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SceneNode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children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476302-AA45-C225-C0C6-C2D23ACFD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859432"/>
              </p:ext>
            </p:extLst>
          </p:nvPr>
        </p:nvGraphicFramePr>
        <p:xfrm>
          <a:off x="5148065" y="1916832"/>
          <a:ext cx="3467606" cy="804863"/>
        </p:xfrm>
        <a:graphic>
          <a:graphicData uri="http://schemas.openxmlformats.org/drawingml/2006/table">
            <a:tbl>
              <a:tblPr/>
              <a:tblGrid>
                <a:gridCol w="3467606">
                  <a:extLst>
                    <a:ext uri="{9D8B030D-6E8A-4147-A177-3AD203B41FA5}">
                      <a16:colId xmlns:a16="http://schemas.microsoft.com/office/drawing/2014/main" val="1626241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parent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──</a:t>
                      </a: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shared_ptr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──▶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child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▲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       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│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└────</a:t>
                      </a: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shared_ptr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──────┘</a:t>
                      </a:r>
                      <a:endParaRPr lang="ko-KR" sz="28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173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D795634-941A-5066-BC7E-10F4894404FB}"/>
              </a:ext>
            </a:extLst>
          </p:cNvPr>
          <p:cNvSpPr txBox="1"/>
          <p:nvPr/>
        </p:nvSpPr>
        <p:spPr>
          <a:xfrm>
            <a:off x="4644008" y="3574679"/>
            <a:ext cx="4176464" cy="338554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외부 소유자가 사라져도 내부 강한 참조가 남음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5C6DF-0B94-99D1-CCDB-3C00929CAC5D}"/>
              </a:ext>
            </a:extLst>
          </p:cNvPr>
          <p:cNvSpPr txBox="1"/>
          <p:nvPr/>
        </p:nvSpPr>
        <p:spPr>
          <a:xfrm>
            <a:off x="528329" y="4268212"/>
            <a:ext cx="5603041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SceneNode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weak_ptr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SceneNode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SceneNode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children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0C5B870-9E78-F57E-F777-144FC1DC6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190065"/>
              </p:ext>
            </p:extLst>
          </p:nvPr>
        </p:nvGraphicFramePr>
        <p:xfrm>
          <a:off x="5148065" y="4240540"/>
          <a:ext cx="3312367" cy="804863"/>
        </p:xfrm>
        <a:graphic>
          <a:graphicData uri="http://schemas.openxmlformats.org/drawingml/2006/table">
            <a:tbl>
              <a:tblPr/>
              <a:tblGrid>
                <a:gridCol w="3312367">
                  <a:extLst>
                    <a:ext uri="{9D8B030D-6E8A-4147-A177-3AD203B41FA5}">
                      <a16:colId xmlns:a16="http://schemas.microsoft.com/office/drawing/2014/main" val="1595919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parent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──</a:t>
                      </a: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shared_ptr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──▶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child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▲                    │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 └─────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weak_ptr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───────┘</a:t>
                      </a:r>
                      <a:endParaRPr lang="ko-KR" sz="28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459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049E159-1513-2DED-B04E-110D62548221}"/>
              </a:ext>
            </a:extLst>
          </p:cNvPr>
          <p:cNvSpPr txBox="1"/>
          <p:nvPr/>
        </p:nvSpPr>
        <p:spPr>
          <a:xfrm>
            <a:off x="4644008" y="5836349"/>
            <a:ext cx="417646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부모는 자식을 소유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자식은 부모를 관찰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순환 소유가 아니라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참조로 표현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8983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A385-017A-6B83-B361-5F4D6702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38470-3FA7-BD88-E586-C047C2BF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 </a:t>
            </a:r>
            <a:r>
              <a:rPr lang="ko-KR" altLang="en-US" dirty="0"/>
              <a:t>소유권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0E51B-0707-0AE2-F559-54DB12820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스마트 포인터의 목적은 원시 포인터 제거가 아님</a:t>
            </a:r>
          </a:p>
          <a:p>
            <a:pPr lvl="0"/>
            <a:r>
              <a:rPr lang="ko-KR" altLang="ko-KR" sz="2000" dirty="0"/>
              <a:t>객체 수명을 누가 책임지는지 타입과 구조에 표현</a:t>
            </a:r>
          </a:p>
          <a:p>
            <a:pPr lvl="0"/>
            <a:r>
              <a:rPr lang="ko-KR" altLang="ko-KR" sz="2000" dirty="0"/>
              <a:t>동적 할당이 필요하지 않다면 값 객체 우선</a:t>
            </a:r>
          </a:p>
          <a:p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529EEFE-9BA4-C57F-A0F0-FB3D02526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09528"/>
              </p:ext>
            </p:extLst>
          </p:nvPr>
        </p:nvGraphicFramePr>
        <p:xfrm>
          <a:off x="530151" y="1916832"/>
          <a:ext cx="5544418" cy="1994880"/>
        </p:xfrm>
        <a:graphic>
          <a:graphicData uri="http://schemas.openxmlformats.org/drawingml/2006/table">
            <a:tbl>
              <a:tblPr/>
              <a:tblGrid>
                <a:gridCol w="5544418">
                  <a:extLst>
                    <a:ext uri="{9D8B030D-6E8A-4147-A177-3AD203B41FA5}">
                      <a16:colId xmlns:a16="http://schemas.microsoft.com/office/drawing/2014/main" val="316086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소유권이 있는가?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한 객체만 책임짐 → </a:t>
                      </a: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unique_ptr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여러 객체가 함께 책임짐 → </a:t>
                      </a: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shared_ptr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책임지지 않고 접근함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대상이 반드시 존재함 → 참조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대상이 없을 수 있음 → 원시 포인터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└─ </a:t>
                      </a: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shared_ptr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객체의 소멸 확인 필요 → </a:t>
                      </a:r>
                      <a:r>
                        <a:rPr lang="ko-KR" sz="16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Consolas" panose="020B0609020204030204" pitchFamily="49" charset="0"/>
                        </a:rPr>
                        <a:t>weak_ptr</a:t>
                      </a:r>
                      <a:endParaRPr lang="ko-KR" sz="2800" b="1" dirty="0">
                        <a:solidFill>
                          <a:srgbClr val="C18401"/>
                        </a:solidFill>
                        <a:effectLst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03855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8E99623-2837-A2ED-1627-AA9193EE6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96624"/>
              </p:ext>
            </p:extLst>
          </p:nvPr>
        </p:nvGraphicFramePr>
        <p:xfrm>
          <a:off x="530151" y="4023161"/>
          <a:ext cx="8064698" cy="2684344"/>
        </p:xfrm>
        <a:graphic>
          <a:graphicData uri="http://schemas.openxmlformats.org/drawingml/2006/table">
            <a:tbl>
              <a:tblPr/>
              <a:tblGrid>
                <a:gridCol w="1814923">
                  <a:extLst>
                    <a:ext uri="{9D8B030D-6E8A-4147-A177-3AD203B41FA5}">
                      <a16:colId xmlns:a16="http://schemas.microsoft.com/office/drawing/2014/main" val="3834626298"/>
                    </a:ext>
                  </a:extLst>
                </a:gridCol>
                <a:gridCol w="1756377">
                  <a:extLst>
                    <a:ext uri="{9D8B030D-6E8A-4147-A177-3AD203B41FA5}">
                      <a16:colId xmlns:a16="http://schemas.microsoft.com/office/drawing/2014/main" val="3493878028"/>
                    </a:ext>
                  </a:extLst>
                </a:gridCol>
                <a:gridCol w="1961287">
                  <a:extLst>
                    <a:ext uri="{9D8B030D-6E8A-4147-A177-3AD203B41FA5}">
                      <a16:colId xmlns:a16="http://schemas.microsoft.com/office/drawing/2014/main" val="2516791016"/>
                    </a:ext>
                  </a:extLst>
                </a:gridCol>
                <a:gridCol w="2532111">
                  <a:extLst>
                    <a:ext uri="{9D8B030D-6E8A-4147-A177-3AD203B41FA5}">
                      <a16:colId xmlns:a16="http://schemas.microsoft.com/office/drawing/2014/main" val="3595124785"/>
                    </a:ext>
                  </a:extLst>
                </a:gridCol>
              </a:tblGrid>
              <a:tr h="189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소유권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빈 상태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수명 관리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71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값 자체 소유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일반적으로 없음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범위와 포함 객체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601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비소유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호출자가 보장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54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비소유로 사용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nullptr 가능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호출자가 보장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48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unique_ptr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&gt;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고유 소유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소유자가 해제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353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shared_ptr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&gt;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공유 소유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가능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마지막 소유자가 해제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876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weak_ptr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&gt;</a:t>
                      </a:r>
                      <a:endParaRPr lang="ko-KR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비소유</a:t>
                      </a: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 관찰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만료 가능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shared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소유자에 따름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79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172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19A14-A3FF-D45C-99A4-A72C9AEB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F2BD4-6CCB-5C66-E1E7-5C18EDBE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7.9.1 </a:t>
            </a:r>
            <a:r>
              <a:rPr lang="ko-KR" altLang="en-US" dirty="0"/>
              <a:t>고유 소유권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22F11-5D74-A0BC-645D-5C2F9F520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하나의 객체가 자원 수명을 책임지는 관계</a:t>
            </a:r>
          </a:p>
          <a:p>
            <a:pPr lvl="0"/>
            <a:r>
              <a:rPr lang="ko-KR" altLang="ko-KR" sz="2000" dirty="0"/>
              <a:t>수명 종료 시점이 분명</a:t>
            </a:r>
          </a:p>
          <a:p>
            <a:pPr lvl="0"/>
            <a:r>
              <a:rPr lang="ko-KR" altLang="ko-KR" sz="2000" dirty="0"/>
              <a:t>참조 횟수 비용 없음</a:t>
            </a:r>
          </a:p>
          <a:p>
            <a:pPr lvl="0"/>
            <a:r>
              <a:rPr lang="ko-KR" altLang="ko-KR" sz="2000" dirty="0"/>
              <a:t>복사 금지, 이동으로 소유권 이전</a:t>
            </a:r>
          </a:p>
          <a:p>
            <a:pPr lvl="0"/>
            <a:r>
              <a:rPr lang="ko-KR" altLang="ko-KR" sz="2000" dirty="0"/>
              <a:t>합성 관계와 자연스럽게 연결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170F9-E3E6-F5EC-3177-25FEAB792EA9}"/>
              </a:ext>
            </a:extLst>
          </p:cNvPr>
          <p:cNvSpPr txBox="1"/>
          <p:nvPr/>
        </p:nvSpPr>
        <p:spPr>
          <a:xfrm>
            <a:off x="323528" y="2780928"/>
            <a:ext cx="3672408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GameScene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 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                                                  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enemies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GameScene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──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──▶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CFA5B-409C-8075-D409-E12D199504CC}"/>
              </a:ext>
            </a:extLst>
          </p:cNvPr>
          <p:cNvSpPr txBox="1"/>
          <p:nvPr/>
        </p:nvSpPr>
        <p:spPr>
          <a:xfrm>
            <a:off x="4149608" y="2780928"/>
            <a:ext cx="4572000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scene.AddEnemy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C8A58-AB47-F96A-BDDC-BDB2832DCD0F}"/>
              </a:ext>
            </a:extLst>
          </p:cNvPr>
          <p:cNvSpPr txBox="1"/>
          <p:nvPr/>
        </p:nvSpPr>
        <p:spPr>
          <a:xfrm>
            <a:off x="4953156" y="4006445"/>
            <a:ext cx="410445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EnemySystem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EnemySystem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GameScene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GameScene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scene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E5B06-D0D2-8767-DFFB-575257812EF8}"/>
              </a:ext>
            </a:extLst>
          </p:cNvPr>
          <p:cNvSpPr txBox="1"/>
          <p:nvPr/>
        </p:nvSpPr>
        <p:spPr>
          <a:xfrm>
            <a:off x="323528" y="4768260"/>
            <a:ext cx="4680520" cy="64633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동적 객체 설계의 기본 선택은 고유 소유권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공유 수명이 필요할 때만 공유 소유권 검토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7346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11F4-7B87-2D40-0568-C7FEDA0D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71955-838F-CEB4-1D6D-6E7ED7AF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7.9.3 </a:t>
            </a:r>
            <a:r>
              <a:rPr lang="ko-KR" altLang="en-US" dirty="0" err="1"/>
              <a:t>비소유</a:t>
            </a:r>
            <a:r>
              <a:rPr lang="ko-KR" altLang="en-US" dirty="0"/>
              <a:t> 포인터와 참조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42FC4A-6C30-690E-E490-D780212DC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소유하지 않는 접근에는 참조와 원시 포인터 사용 가능</a:t>
            </a:r>
          </a:p>
          <a:p>
            <a:pPr lvl="0"/>
            <a:r>
              <a:rPr lang="ko-KR" altLang="ko-KR" sz="2400" dirty="0"/>
              <a:t>참조: 대상이 반드시 존재해야 하는 관계</a:t>
            </a:r>
          </a:p>
          <a:p>
            <a:pPr lvl="0"/>
            <a:r>
              <a:rPr lang="ko-KR" altLang="ko-KR" sz="2400" dirty="0"/>
              <a:t>원시 포인터: 대상이 없을 수 있거나 변경 가능한 </a:t>
            </a:r>
            <a:r>
              <a:rPr lang="ko-KR" altLang="ko-KR" sz="2400" dirty="0" err="1"/>
              <a:t>비소유</a:t>
            </a:r>
            <a:r>
              <a:rPr lang="ko-KR" altLang="ko-KR" sz="2400" dirty="0"/>
              <a:t> 관계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DA051-CC21-40F7-0E64-4B1E4533E48A}"/>
              </a:ext>
            </a:extLst>
          </p:cNvPr>
          <p:cNvSpPr txBox="1"/>
          <p:nvPr/>
        </p:nvSpPr>
        <p:spPr>
          <a:xfrm>
            <a:off x="395536" y="2171760"/>
            <a:ext cx="5112568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GraphicsDevice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GraphicsDevice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Enemy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0B81A-0CB5-2EF1-5345-AECBA5E33533}"/>
              </a:ext>
            </a:extLst>
          </p:cNvPr>
          <p:cNvSpPr txBox="1"/>
          <p:nvPr/>
        </p:nvSpPr>
        <p:spPr>
          <a:xfrm>
            <a:off x="4355976" y="3957182"/>
            <a:ext cx="4572000" cy="1077218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52096-8AF8-029E-199D-E3C72161BA66}"/>
              </a:ext>
            </a:extLst>
          </p:cNvPr>
          <p:cNvSpPr txBox="1"/>
          <p:nvPr/>
        </p:nvSpPr>
        <p:spPr>
          <a:xfrm>
            <a:off x="4355976" y="5148481"/>
            <a:ext cx="4572000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포인터와 참조의 핵심 조건은 대상 수명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구조적으로 보장할 수 없으면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weak_ptr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검토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1092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2A8A-2EE1-1CFD-2090-CBE7E7D7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87F4C-F6FA-5116-93A6-9028F1A1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7.9.5 </a:t>
            </a:r>
            <a:r>
              <a:rPr lang="ko-KR" altLang="en-US" dirty="0"/>
              <a:t>소유권을 전달하는 함수 인터페이스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E494EDC-E9A9-1D8F-4CBF-3700A7C4AD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087713"/>
              </p:ext>
            </p:extLst>
          </p:nvPr>
        </p:nvGraphicFramePr>
        <p:xfrm>
          <a:off x="384894" y="691940"/>
          <a:ext cx="6707385" cy="2858816"/>
        </p:xfrm>
        <a:graphic>
          <a:graphicData uri="http://schemas.openxmlformats.org/drawingml/2006/table">
            <a:tbl>
              <a:tblPr/>
              <a:tblGrid>
                <a:gridCol w="1954858">
                  <a:extLst>
                    <a:ext uri="{9D8B030D-6E8A-4147-A177-3AD203B41FA5}">
                      <a16:colId xmlns:a16="http://schemas.microsoft.com/office/drawing/2014/main" val="3859141641"/>
                    </a:ext>
                  </a:extLst>
                </a:gridCol>
                <a:gridCol w="4752527">
                  <a:extLst>
                    <a:ext uri="{9D8B030D-6E8A-4147-A177-3AD203B41FA5}">
                      <a16:colId xmlns:a16="http://schemas.microsoft.com/office/drawing/2014/main" val="13801486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목적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인터페이스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1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고유 소유권 반환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CreateEnemy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();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17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고유 소유권 받기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AddEnemy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4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공유 소유권 추가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SetTexture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shared_ptr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872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읽기 전용 접근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Draw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222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 가능한 접근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Update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69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선택적 비소유 접근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SetTarget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target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98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스마트 포인터 자체 변경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ResetEnemy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&gt;&amp; </a:t>
                      </a: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enemy</a:t>
                      </a: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5238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981B82-E69F-468C-88FA-26CAB84710A0}"/>
              </a:ext>
            </a:extLst>
          </p:cNvPr>
          <p:cNvSpPr txBox="1"/>
          <p:nvPr/>
        </p:nvSpPr>
        <p:spPr>
          <a:xfrm>
            <a:off x="384894" y="3716061"/>
            <a:ext cx="5328592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Sprite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SetTexture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texture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503AE-95E6-52F7-DED8-829EA1D7F087}"/>
              </a:ext>
            </a:extLst>
          </p:cNvPr>
          <p:cNvSpPr txBox="1"/>
          <p:nvPr/>
        </p:nvSpPr>
        <p:spPr>
          <a:xfrm>
            <a:off x="396726" y="4980810"/>
            <a:ext cx="5328592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 함수가 객체를 소유하거나 저장하는가?</a:t>
            </a:r>
            <a:endParaRPr lang="ko-KR" altLang="ko-KR" sz="18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 소유한다면 고유한가, 공유하는가?</a:t>
            </a:r>
            <a:endParaRPr lang="ko-KR" altLang="ko-KR" sz="18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 소유하지 않는다면 대상이 반드시 존재하는가?</a:t>
            </a:r>
            <a:endParaRPr lang="ko-KR" altLang="ko-KR" sz="18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4. 대상이 호출 이후에도 보관되는가?</a:t>
            </a:r>
            <a:endParaRPr lang="ko-KR" altLang="ko-KR" sz="18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5. 대상 소멸 가능성을 확인해야 하는가?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37266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505B-B4CA-3C81-3FCD-1DE5436E7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8CE9-D8D5-71FC-26B6-7ED013D2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7.9.7 </a:t>
            </a:r>
            <a:r>
              <a:rPr lang="ko-KR" altLang="en-US" dirty="0"/>
              <a:t>스마트 포인터 선택 기준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72CABD6-C0C7-5A0F-0431-9AB7BBE08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31899"/>
              </p:ext>
            </p:extLst>
          </p:nvPr>
        </p:nvGraphicFramePr>
        <p:xfrm>
          <a:off x="611560" y="692696"/>
          <a:ext cx="5760640" cy="3460008"/>
        </p:xfrm>
        <a:graphic>
          <a:graphicData uri="http://schemas.openxmlformats.org/drawingml/2006/table">
            <a:tbl>
              <a:tblPr/>
              <a:tblGrid>
                <a:gridCol w="2760307">
                  <a:extLst>
                    <a:ext uri="{9D8B030D-6E8A-4147-A177-3AD203B41FA5}">
                      <a16:colId xmlns:a16="http://schemas.microsoft.com/office/drawing/2014/main" val="2388904992"/>
                    </a:ext>
                  </a:extLst>
                </a:gridCol>
                <a:gridCol w="3000333">
                  <a:extLst>
                    <a:ext uri="{9D8B030D-6E8A-4147-A177-3AD203B41FA5}">
                      <a16:colId xmlns:a16="http://schemas.microsoft.com/office/drawing/2014/main" val="4221358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상황</a:t>
                      </a:r>
                      <a:endParaRPr lang="ko-K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일반적인 선택</a:t>
                      </a:r>
                      <a:endParaRPr lang="ko-K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92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지역에서만 사용하는 객체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객체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24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클래스가 동적 객체를 단독 소유</a:t>
                      </a:r>
                      <a:endParaRPr lang="ko-KR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300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팩토리가 고유 소유권 반환</a:t>
                      </a:r>
                      <a:endParaRPr lang="ko-KR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반환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374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객체가 실제로 수명 공유</a:t>
                      </a:r>
                      <a:endParaRPr lang="ko-KR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shared_ptr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59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공유 객체를 비소유로 관찰</a:t>
                      </a:r>
                      <a:endParaRPr lang="ko-KR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weak_ptr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26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반드시 존재하는 비소유 접근</a:t>
                      </a:r>
                      <a:endParaRPr lang="ko-KR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&amp;,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582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선택적인 비소유 접근</a:t>
                      </a:r>
                      <a:endParaRPr lang="ko-KR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*,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가변 길이 원소 집합 소유</a:t>
                      </a:r>
                      <a:endParaRPr lang="ko-KR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4290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4FF51C7-E2AD-F832-390A-845480CD01C3}"/>
              </a:ext>
            </a:extLst>
          </p:cNvPr>
          <p:cNvSpPr txBox="1"/>
          <p:nvPr/>
        </p:nvSpPr>
        <p:spPr>
          <a:xfrm>
            <a:off x="617652" y="4355180"/>
            <a:ext cx="5754548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피해야 할 습관</a:t>
            </a:r>
            <a:endParaRPr lang="ko-KR" altLang="ko-KR" sz="16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모든 동적 객체를 습관적으로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shared_ptr로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관리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소유권 없는 원시 포인터를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unique_ptr.get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결과로 새 스마트 포인터 생성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원시 포인터로 여러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release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반환값을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잃어버림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weak_ptr를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lock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없이 사용할 수 있다고 판단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먼저 수명 책임을 정하고 의미에 맞는 타입 선택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9423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06BC-877E-9A36-A437-E3501562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7BC73-F096-8685-8548-958BE111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</a:t>
            </a:r>
            <a:r>
              <a:rPr lang="ko-KR" altLang="en-US" dirty="0"/>
              <a:t>종합 예제</a:t>
            </a:r>
            <a:r>
              <a:rPr lang="en-US" altLang="ko-KR" dirty="0"/>
              <a:t>: </a:t>
            </a:r>
            <a:r>
              <a:rPr lang="ko-KR" altLang="en-US" dirty="0"/>
              <a:t>게임 장면과 텍스처 소유권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BFCA46-4A0E-63B4-C524-704082A0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GameScene</a:t>
            </a:r>
            <a:r>
              <a:rPr lang="en-US" altLang="ko-KR" sz="2000" dirty="0"/>
              <a:t> </a:t>
            </a:r>
            <a:r>
              <a:rPr lang="ko-KR" altLang="ko-KR" sz="2000" dirty="0"/>
              <a:t>은 여러 </a:t>
            </a:r>
            <a:r>
              <a:rPr lang="ko-KR" altLang="ko-KR" sz="2000" dirty="0" err="1"/>
              <a:t>Sprite</a:t>
            </a:r>
            <a:r>
              <a:rPr lang="en-US" altLang="ko-KR" sz="2000" dirty="0"/>
              <a:t> </a:t>
            </a:r>
            <a:r>
              <a:rPr lang="ko-KR" altLang="ko-KR" sz="2000" dirty="0"/>
              <a:t>를 고유 소유</a:t>
            </a:r>
          </a:p>
          <a:p>
            <a:pPr lvl="0"/>
            <a:r>
              <a:rPr lang="ko-KR" altLang="ko-KR" sz="2000" dirty="0" err="1"/>
              <a:t>Sprite는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Texture</a:t>
            </a:r>
            <a:r>
              <a:rPr lang="en-US" altLang="ko-KR" sz="2000" dirty="0"/>
              <a:t> </a:t>
            </a:r>
            <a:r>
              <a:rPr lang="ko-KR" altLang="ko-KR" sz="2000" dirty="0"/>
              <a:t>를 공유 소유</a:t>
            </a:r>
          </a:p>
          <a:p>
            <a:pPr lvl="0"/>
            <a:r>
              <a:rPr lang="ko-KR" altLang="ko-KR" sz="2000" dirty="0" err="1"/>
              <a:t>TextureCache</a:t>
            </a:r>
            <a:r>
              <a:rPr lang="en-US" altLang="ko-KR" sz="2000" dirty="0"/>
              <a:t> </a:t>
            </a:r>
            <a:r>
              <a:rPr lang="ko-KR" altLang="ko-KR" sz="2000" dirty="0"/>
              <a:t>는 </a:t>
            </a:r>
            <a:r>
              <a:rPr lang="ko-KR" altLang="ko-KR" sz="2000" dirty="0" err="1"/>
              <a:t>Texture</a:t>
            </a:r>
            <a:r>
              <a:rPr lang="en-US" altLang="ko-KR" sz="2000" dirty="0"/>
              <a:t> </a:t>
            </a:r>
            <a:r>
              <a:rPr lang="ko-KR" altLang="ko-KR" sz="2000" dirty="0"/>
              <a:t>를 비</a:t>
            </a:r>
            <a:r>
              <a:rPr lang="en-US" altLang="ko-KR" sz="2000" dirty="0"/>
              <a:t> </a:t>
            </a:r>
            <a:r>
              <a:rPr lang="ko-KR" altLang="ko-KR" sz="2000" dirty="0"/>
              <a:t>소유 관찰</a:t>
            </a:r>
          </a:p>
          <a:p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DBEB628-A3AF-6CB5-4F93-AA3A7DA2C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52984"/>
              </p:ext>
            </p:extLst>
          </p:nvPr>
        </p:nvGraphicFramePr>
        <p:xfrm>
          <a:off x="539552" y="1929512"/>
          <a:ext cx="5008711" cy="947520"/>
        </p:xfrm>
        <a:graphic>
          <a:graphicData uri="http://schemas.openxmlformats.org/drawingml/2006/table">
            <a:tbl>
              <a:tblPr/>
              <a:tblGrid>
                <a:gridCol w="5008711">
                  <a:extLst>
                    <a:ext uri="{9D8B030D-6E8A-4147-A177-3AD203B41FA5}">
                      <a16:colId xmlns:a16="http://schemas.microsoft.com/office/drawing/2014/main" val="1948591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GameScene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Sprite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      고유 소유권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Sprite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        공유 소유권</a:t>
                      </a:r>
                      <a:b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TextureCache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  </a:t>
                      </a: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비소유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관찰</a:t>
                      </a:r>
                      <a:endParaRPr lang="ko-KR" sz="2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08000" marB="108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18894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39266A7-1DBE-9087-625F-436ABBA90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420310"/>
              </p:ext>
            </p:extLst>
          </p:nvPr>
        </p:nvGraphicFramePr>
        <p:xfrm>
          <a:off x="539552" y="2959482"/>
          <a:ext cx="3143250" cy="213624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530079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GameScene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4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4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Sprite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&gt;&gt;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↓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Sprite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↓ </a:t>
                      </a:r>
                      <a:r>
                        <a:rPr lang="ko-KR" sz="14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shared_ptr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↑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weak_ptr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TextureCache</a:t>
                      </a:r>
                      <a:endParaRPr lang="ko-KR" sz="24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08000" marB="108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7532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E38A21-60FB-BED3-F8EF-2662BBDDC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456680"/>
              </p:ext>
            </p:extLst>
          </p:nvPr>
        </p:nvGraphicFramePr>
        <p:xfrm>
          <a:off x="3995936" y="2959482"/>
          <a:ext cx="4464496" cy="178676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297839812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474303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 역할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475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GameScene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스프라이트 수명 책임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324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Sprite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텍스처 수명 공유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973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TextureCache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살아 있는 텍스처 재사용, 수명 연장 안 함</a:t>
                      </a:r>
                      <a:endParaRPr lang="ko-KR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953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Texture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실제 리소스 표현</a:t>
                      </a:r>
                      <a:endParaRPr lang="ko-KR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0558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79A98F-E3CA-957B-56DB-0E773B50A6B6}"/>
              </a:ext>
            </a:extLst>
          </p:cNvPr>
          <p:cNvSpPr txBox="1"/>
          <p:nvPr/>
        </p:nvSpPr>
        <p:spPr>
          <a:xfrm>
            <a:off x="2699792" y="5178172"/>
            <a:ext cx="4572000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직접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없이 각 타입이 자기 소유권만 표현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682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A4AF-E060-2051-CE14-5A999C54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8E2CE-FDDF-A39F-DCB9-F63529DC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842B8F-CD06-6D52-9FD0-B1F0324C2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저장 기간은 저장 공간의 유지 기간</a:t>
            </a:r>
          </a:p>
          <a:p>
            <a:r>
              <a:rPr lang="ko-KR" altLang="en-US" sz="2400" dirty="0"/>
              <a:t>객체 수명은 초기화 완료부터 소멸 완료까지</a:t>
            </a:r>
          </a:p>
          <a:p>
            <a:r>
              <a:rPr lang="ko-KR" altLang="en-US" sz="2400" dirty="0"/>
              <a:t>자동 객체는 범위를 벗어날 때 소멸</a:t>
            </a:r>
          </a:p>
          <a:p>
            <a:r>
              <a:rPr lang="ko-KR" altLang="en-US" sz="2400" dirty="0"/>
              <a:t>동적 객체는 소유자가 수명을 끝내야</a:t>
            </a:r>
          </a:p>
          <a:p>
            <a:r>
              <a:rPr lang="ko-KR" altLang="en-US" sz="2400" dirty="0"/>
              <a:t>원시 </a:t>
            </a:r>
            <a:r>
              <a:rPr lang="en-US" altLang="ko-KR" sz="2400" dirty="0"/>
              <a:t>new, delete</a:t>
            </a:r>
            <a:r>
              <a:rPr lang="ko-KR" altLang="en-US" sz="2400" dirty="0"/>
              <a:t>는 누수</a:t>
            </a:r>
            <a:r>
              <a:rPr lang="en-US" altLang="ko-KR" sz="2400" dirty="0"/>
              <a:t>, </a:t>
            </a:r>
            <a:r>
              <a:rPr lang="ko-KR" altLang="en-US" sz="2400" dirty="0"/>
              <a:t>이중 해제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댕글링</a:t>
            </a:r>
            <a:r>
              <a:rPr lang="ko-KR" altLang="en-US" sz="2400" dirty="0"/>
              <a:t> 포인터 위험</a:t>
            </a:r>
          </a:p>
          <a:p>
            <a:r>
              <a:rPr lang="ko-KR" altLang="en-US" sz="2400" dirty="0"/>
              <a:t>메모리 외에도 파일</a:t>
            </a:r>
            <a:r>
              <a:rPr lang="en-US" altLang="ko-KR" sz="2400" dirty="0"/>
              <a:t>, </a:t>
            </a:r>
            <a:r>
              <a:rPr lang="ko-KR" altLang="en-US" sz="2400" dirty="0"/>
              <a:t>소켓</a:t>
            </a:r>
            <a:r>
              <a:rPr lang="en-US" altLang="ko-KR" sz="2400" dirty="0"/>
              <a:t>, </a:t>
            </a:r>
            <a:r>
              <a:rPr lang="ko-KR" altLang="en-US" sz="2400" dirty="0"/>
              <a:t>잠금</a:t>
            </a:r>
            <a:r>
              <a:rPr lang="en-US" altLang="ko-KR" sz="2400" dirty="0"/>
              <a:t>, </a:t>
            </a:r>
            <a:r>
              <a:rPr lang="ko-KR" altLang="en-US" sz="2400" dirty="0"/>
              <a:t>그래픽 핸들은 자원 관리 필요</a:t>
            </a:r>
          </a:p>
          <a:p>
            <a:r>
              <a:rPr lang="en-US" altLang="ko-KR" sz="2400" dirty="0"/>
              <a:t>RAII</a:t>
            </a:r>
            <a:r>
              <a:rPr lang="ko-KR" altLang="en-US" sz="2400" dirty="0"/>
              <a:t>는 자원 획득을 생성자에</a:t>
            </a:r>
            <a:r>
              <a:rPr lang="en-US" altLang="ko-KR" sz="2400" dirty="0"/>
              <a:t>, </a:t>
            </a:r>
            <a:r>
              <a:rPr lang="ko-KR" altLang="en-US" sz="2400" dirty="0"/>
              <a:t>자원 해제를 소멸자에 연결</a:t>
            </a:r>
          </a:p>
          <a:p>
            <a:r>
              <a:rPr lang="ko-KR" altLang="en-US" sz="2400" dirty="0"/>
              <a:t>결정적 소멸은 범위 종료 시점에 자원 정리를 보장</a:t>
            </a:r>
          </a:p>
          <a:p>
            <a:r>
              <a:rPr lang="ko-KR" altLang="en-US" sz="2400" dirty="0"/>
              <a:t>스택 되감기 중 생성 완료된 자동 객체는 역순으로 소멸</a:t>
            </a:r>
          </a:p>
          <a:p>
            <a:r>
              <a:rPr lang="ko-KR" altLang="en-US" sz="2400" dirty="0"/>
              <a:t>생성자에서 예외가 발생하면 객체의 소멸자는 호출되지 않음</a:t>
            </a:r>
          </a:p>
          <a:p>
            <a:r>
              <a:rPr lang="ko-KR" altLang="en-US" sz="2400" dirty="0"/>
              <a:t>이미 생성된 멤버 객체는 자동 소멸</a:t>
            </a:r>
          </a:p>
          <a:p>
            <a:r>
              <a:rPr lang="ko-KR" altLang="en-US" sz="2400" dirty="0"/>
              <a:t>소멸자는 예외를 밖으로 전달하지 않도록 설계</a:t>
            </a:r>
          </a:p>
        </p:txBody>
      </p:sp>
    </p:spTree>
    <p:extLst>
      <p:ext uri="{BB962C8B-B14F-4D97-AF65-F5344CB8AC3E}">
        <p14:creationId xmlns:p14="http://schemas.microsoft.com/office/powerpoint/2010/main" val="125242574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11725</TotalTime>
  <Words>6264</Words>
  <Application>Microsoft Office PowerPoint</Application>
  <PresentationFormat>화면 슬라이드 쇼(4:3)</PresentationFormat>
  <Paragraphs>586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8" baseType="lpstr">
      <vt:lpstr>Pretendard ExtraBold</vt:lpstr>
      <vt:lpstr>HY견고딕</vt:lpstr>
      <vt:lpstr>나눔고딕 ExtraBold</vt:lpstr>
      <vt:lpstr>가을체</vt:lpstr>
      <vt:lpstr>Consolas</vt:lpstr>
      <vt:lpstr>D2Coding</vt:lpstr>
      <vt:lpstr>굴림</vt:lpstr>
      <vt:lpstr>Wingdings</vt:lpstr>
      <vt:lpstr>Segoe UI Black</vt:lpstr>
      <vt:lpstr>나눔바른고딕</vt:lpstr>
      <vt:lpstr>Arial</vt:lpstr>
      <vt:lpstr>기본 디자인</vt:lpstr>
      <vt:lpstr>07. 객체 수명, RAII와 소유권</vt:lpstr>
      <vt:lpstr>07. 객체 수명, RAII와 소유권</vt:lpstr>
      <vt:lpstr>7.1 저장 기간과 객체 수명</vt:lpstr>
      <vt:lpstr>7.1.1 자동 저장 기간</vt:lpstr>
      <vt:lpstr>7.1.2 정적 저장 기간</vt:lpstr>
      <vt:lpstr>7.1.4 동적 저장 기간</vt:lpstr>
      <vt:lpstr>7.1.5 저장 기간과 수명 오류</vt:lpstr>
      <vt:lpstr>7.2 동적 메모리와 자원</vt:lpstr>
      <vt:lpstr>7.2.1 new와 delete</vt:lpstr>
      <vt:lpstr>7.2.2 new[]와 delete[]</vt:lpstr>
      <vt:lpstr>7.2.4 메모리 누수</vt:lpstr>
      <vt:lpstr>7.2.5 이중 해제와 댕글링 포인터</vt:lpstr>
      <vt:lpstr>7.2.6 메모리 이외의 자원</vt:lpstr>
      <vt:lpstr>7.3 RAII</vt:lpstr>
      <vt:lpstr>7.3.1 자원 획득과 객체 초기화</vt:lpstr>
      <vt:lpstr>7.3.4 자원 래퍼 클래스</vt:lpstr>
      <vt:lpstr>7.3.5 Rule of Zero와 RAII</vt:lpstr>
      <vt:lpstr>7.4 예외 처리</vt:lpstr>
      <vt:lpstr>7.4.2 표준 예외</vt:lpstr>
      <vt:lpstr>7.4.4 스택 되감기</vt:lpstr>
      <vt:lpstr>7.4.5 생성자와 예외</vt:lpstr>
      <vt:lpstr>7.4.6 소멸자와 예외</vt:lpstr>
      <vt:lpstr>7.5 예외 안전성</vt:lpstr>
      <vt:lpstr>7.5 예외 안전성 보장 수준</vt:lpstr>
      <vt:lpstr>7.5.5 복사-교환과 강한 보장</vt:lpstr>
      <vt:lpstr>7.5.6 noexcept</vt:lpstr>
      <vt:lpstr>7.6 std::unique_ptr</vt:lpstr>
      <vt:lpstr>7.6.2 std::make_unique</vt:lpstr>
      <vt:lpstr>7.6.3 이동 전용 스마트 포인터</vt:lpstr>
      <vt:lpstr>7.6.4 배열 소유</vt:lpstr>
      <vt:lpstr>7.6.5 get, reset, release</vt:lpstr>
      <vt:lpstr>7.6.7 unique_ptr와 함수 인터페이스</vt:lpstr>
      <vt:lpstr>7.7 std::shared_ptr</vt:lpstr>
      <vt:lpstr>7.7.2 참조 횟수와 제어 블록</vt:lpstr>
      <vt:lpstr>7.7.3 make_shared와 공유 비용</vt:lpstr>
      <vt:lpstr>7.7.5 잘못된 shared_ptr 생성</vt:lpstr>
      <vt:lpstr>7.8 std::weak_ptr</vt:lpstr>
      <vt:lpstr>7.8.3 lock을 이용한 접근</vt:lpstr>
      <vt:lpstr>7.8.4 순환 참조</vt:lpstr>
      <vt:lpstr>7.9 소유권 설계</vt:lpstr>
      <vt:lpstr>7.9.1 고유 소유권</vt:lpstr>
      <vt:lpstr>7.9.3 비소유 포인터와 참조</vt:lpstr>
      <vt:lpstr>7.9.5 소유권을 전달하는 함수 인터페이스</vt:lpstr>
      <vt:lpstr>7.9.7 스마트 포인터 선택 기준</vt:lpstr>
      <vt:lpstr>7.10 종합 예제: 게임 장면과 텍스처 소유권</vt:lpstr>
      <vt:lpstr>7.11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413</cp:revision>
  <dcterms:created xsi:type="dcterms:W3CDTF">2003-11-30T16:03:20Z</dcterms:created>
  <dcterms:modified xsi:type="dcterms:W3CDTF">2026-08-14T14:30:15Z</dcterms:modified>
</cp:coreProperties>
</file>