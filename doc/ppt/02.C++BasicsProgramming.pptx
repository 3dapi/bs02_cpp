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328" r:id="rId2"/>
    <p:sldId id="348" r:id="rId3"/>
    <p:sldId id="365" r:id="rId4"/>
    <p:sldId id="352" r:id="rId5"/>
    <p:sldId id="355" r:id="rId6"/>
    <p:sldId id="367" r:id="rId7"/>
    <p:sldId id="366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402" r:id="rId30"/>
    <p:sldId id="389" r:id="rId31"/>
    <p:sldId id="390" r:id="rId32"/>
    <p:sldId id="403" r:id="rId33"/>
    <p:sldId id="391" r:id="rId34"/>
    <p:sldId id="392" r:id="rId35"/>
    <p:sldId id="393" r:id="rId36"/>
    <p:sldId id="404" r:id="rId37"/>
    <p:sldId id="394" r:id="rId38"/>
    <p:sldId id="395" r:id="rId39"/>
    <p:sldId id="396" r:id="rId40"/>
    <p:sldId id="397" r:id="rId41"/>
    <p:sldId id="398" r:id="rId42"/>
    <p:sldId id="399" r:id="rId43"/>
    <p:sldId id="400" r:id="rId44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HY견고딕" panose="02030600000101010101" pitchFamily="18" charset="-127"/>
      <p:regular r:id="rId50"/>
    </p:embeddedFont>
    <p:embeddedFont>
      <p:font typeface="Noto Sans KR" panose="020B0200000000000000" pitchFamily="50" charset="-127"/>
      <p:regular r:id="rId51"/>
      <p:bold r:id="rId52"/>
    </p:embeddedFont>
    <p:embeddedFont>
      <p:font typeface="Noto Sans KR Black" panose="020B0200000000000000" pitchFamily="50" charset="-127"/>
      <p:bold r:id="rId53"/>
    </p:embeddedFont>
    <p:embeddedFont>
      <p:font typeface="가을체" panose="02030600000101010101" pitchFamily="18" charset="-127"/>
      <p:regular r:id="rId54"/>
    </p:embeddedFont>
    <p:embeddedFont>
      <p:font typeface="나눔고딕 ExtraBold" panose="020D0904000000000000" pitchFamily="50" charset="-127"/>
      <p:bold r:id="rId55"/>
    </p:embeddedFont>
    <p:embeddedFont>
      <p:font typeface="나눔바른고딕" panose="020B0603020101020101" pitchFamily="50" charset="-127"/>
      <p:regular r:id="rId56"/>
      <p:bold r:id="rId5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CC"/>
    <a:srgbClr val="C18401"/>
    <a:srgbClr val="FF9900"/>
    <a:srgbClr val="EFEFED"/>
    <a:srgbClr val="FF00FF"/>
    <a:srgbClr val="CC00FF"/>
    <a:srgbClr val="CCFFFF"/>
    <a:srgbClr val="FF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02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953A1-4BB9-8330-59C6-0654F3C98C7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02. C++ 프로그래밍의 기본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386B7-89BF-0435-CF94-DADA5CCE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</a:t>
            </a:r>
            <a:r>
              <a:rPr lang="en-US" altLang="ko-KR" dirty="0"/>
              <a:t>0</a:t>
            </a:r>
            <a:r>
              <a:rPr lang="ko-KR" altLang="ko-KR" dirty="0"/>
              <a:t> </a:t>
            </a:r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B3DB5-7F2D-CFB2-2A06-9C4CED4C8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dirty="0"/>
              <a:t>이름 공간과 이름 충돌 방지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출력 스트림과 서식 지정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입력 스트림과 상태 복구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타입의 크기, 정렬과 표현 범위 확인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문자 인코딩과 부동소수점 오차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초기화, </a:t>
            </a:r>
            <a:r>
              <a:rPr lang="ko-KR" altLang="ko-KR" dirty="0" err="1"/>
              <a:t>const</a:t>
            </a:r>
            <a:r>
              <a:rPr lang="ko-KR" altLang="ko-KR" dirty="0"/>
              <a:t>, 컴파일 타임 기능</a:t>
            </a:r>
          </a:p>
          <a:p>
            <a:pPr lvl="0">
              <a:lnSpc>
                <a:spcPct val="150000"/>
              </a:lnSpc>
            </a:pPr>
            <a:r>
              <a:rPr lang="ko-KR" altLang="ko-KR" dirty="0"/>
              <a:t>타입 표현, 함수 확장, 참조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61168B-308D-4D4B-3BE6-E0B775AA7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346469"/>
              </p:ext>
            </p:extLst>
          </p:nvPr>
        </p:nvGraphicFramePr>
        <p:xfrm>
          <a:off x="6156176" y="1628800"/>
          <a:ext cx="2699767" cy="3384376"/>
        </p:xfrm>
        <a:graphic>
          <a:graphicData uri="http://schemas.openxmlformats.org/drawingml/2006/table">
            <a:tbl>
              <a:tblPr/>
              <a:tblGrid>
                <a:gridCol w="2699767">
                  <a:extLst>
                    <a:ext uri="{9D8B030D-6E8A-4147-A177-3AD203B41FA5}">
                      <a16:colId xmlns:a16="http://schemas.microsoft.com/office/drawing/2014/main" val="728218939"/>
                    </a:ext>
                  </a:extLst>
                </a:gridCol>
              </a:tblGrid>
              <a:tr h="33843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C의 절차적 문법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  <a:p>
                      <a:pPr algn="ctr" rtl="0" fontAlgn="t">
                        <a:buNone/>
                      </a:pP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 </a:t>
                      </a:r>
                      <a:r>
                        <a:rPr lang="ko-KR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⬇️</a:t>
                      </a:r>
                      <a:endParaRPr lang="en-US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buNone/>
                      </a:pP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C++의 안전한 표현과</a:t>
                      </a:r>
                      <a:b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표준 라이브러리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ko-KR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⬇️</a:t>
                      </a:r>
                      <a:endParaRPr lang="en-US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buNone/>
                      </a:pP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클래스와 객체지향</a:t>
                      </a:r>
                      <a:b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프로그래밍으로 확장</a:t>
                      </a:r>
                      <a:endParaRPr lang="ko-KR" sz="3200" dirty="0">
                        <a:effectLst/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8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1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0EB7-9547-F386-8F33-EC1177E3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14C2F-A24E-15C2-21F4-132BAD979F2E}"/>
              </a:ext>
            </a:extLst>
          </p:cNvPr>
          <p:cNvSpPr txBox="1">
            <a:spLocks/>
          </p:cNvSpPr>
          <p:nvPr/>
        </p:nvSpPr>
        <p:spPr bwMode="auto">
          <a:xfrm>
            <a:off x="107504" y="692150"/>
            <a:ext cx="8928992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ko-KR" sz="2400" dirty="0"/>
              <a:t>이름 공간은 함수, 타입과 변수의 이름을 별도의 범위로 묶음</a:t>
            </a:r>
          </a:p>
          <a:p>
            <a:pPr lvl="0"/>
            <a:r>
              <a:rPr lang="ko-KR" altLang="ko-KR" sz="2400" dirty="0"/>
              <a:t>서로 다른 라이브러리나 모듈의 이름 충돌 방지</a:t>
            </a:r>
          </a:p>
          <a:p>
            <a:pPr lvl="0"/>
            <a:r>
              <a:rPr lang="ko-KR" altLang="ko-KR" sz="2400" dirty="0"/>
              <a:t>범위 지정 연산자 ::로 이름 공간 안의 이름 사용</a:t>
            </a:r>
          </a:p>
          <a:p>
            <a:pPr>
              <a:lnSpc>
                <a:spcPct val="150000"/>
              </a:lnSpc>
            </a:pPr>
            <a:endParaRPr lang="ko-KR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BA45B4-D3A5-B4AE-009E-C491AB78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 이름 공간</a:t>
            </a:r>
            <a:r>
              <a:rPr lang="en-US" altLang="ko-KR" dirty="0"/>
              <a:t> (Scope)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15121F-AE46-B168-F1FB-E6836418A7C7}"/>
              </a:ext>
            </a:extLst>
          </p:cNvPr>
          <p:cNvSpPr txBox="1"/>
          <p:nvPr/>
        </p:nvSpPr>
        <p:spPr>
          <a:xfrm>
            <a:off x="517181" y="2276872"/>
            <a:ext cx="3878998" cy="4031873"/>
          </a:xfrm>
          <a:prstGeom prst="rect">
            <a:avLst/>
          </a:prstGeom>
          <a:solidFill>
            <a:srgbClr val="FFFFCC"/>
          </a:solidFill>
          <a:ln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Audio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Initialize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Graphics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Initialize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Audio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Initialize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Initialize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36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9A1B0B5-A9FB-0BF2-C0B4-5186936D1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12680"/>
              </p:ext>
            </p:extLst>
          </p:nvPr>
        </p:nvGraphicFramePr>
        <p:xfrm>
          <a:off x="4531253" y="4879912"/>
          <a:ext cx="4392737" cy="1429408"/>
        </p:xfrm>
        <a:graphic>
          <a:graphicData uri="http://schemas.openxmlformats.org/drawingml/2006/table">
            <a:tbl>
              <a:tblPr/>
              <a:tblGrid>
                <a:gridCol w="2121066">
                  <a:extLst>
                    <a:ext uri="{9D8B030D-6E8A-4147-A177-3AD203B41FA5}">
                      <a16:colId xmlns:a16="http://schemas.microsoft.com/office/drawing/2014/main" val="2636040166"/>
                    </a:ext>
                  </a:extLst>
                </a:gridCol>
                <a:gridCol w="2271671">
                  <a:extLst>
                    <a:ext uri="{9D8B030D-6E8A-4147-A177-3AD203B41FA5}">
                      <a16:colId xmlns:a16="http://schemas.microsoft.com/office/drawing/2014/main" val="251525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표현</a:t>
                      </a:r>
                      <a:endParaRPr lang="ko-KR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의미</a:t>
                      </a:r>
                      <a:endParaRPr lang="ko-KR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02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Audio::Initialize()</a:t>
                      </a:r>
                      <a:endParaRPr lang="ko-KR" sz="2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Audio 이름 공간의 함수</a:t>
                      </a:r>
                      <a:endParaRPr lang="ko-KR" sz="2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5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Game::Player</a:t>
                      </a:r>
                      <a:endParaRPr lang="ko-KR" sz="2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Game 이름 공간의 타입</a:t>
                      </a:r>
                      <a:endParaRPr lang="ko-KR" sz="2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::value</a:t>
                      </a:r>
                      <a:endParaRPr lang="ko-KR" sz="2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전역 범위의 이름</a:t>
                      </a:r>
                      <a:endParaRPr lang="ko-KR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8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95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26B8-C9D3-AD2F-C422-00DBD85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EF276-F482-E2C5-5A4E-EB991202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2.1.3 </a:t>
            </a:r>
            <a:r>
              <a:rPr lang="ko-KR" altLang="ko-KR" dirty="0" err="1"/>
              <a:t>std</a:t>
            </a:r>
            <a:r>
              <a:rPr lang="ko-KR" altLang="ko-KR" dirty="0"/>
              <a:t> 이름 공간과 </a:t>
            </a:r>
            <a:r>
              <a:rPr lang="ko-KR" altLang="ko-KR" dirty="0" err="1"/>
              <a:t>using</a:t>
            </a:r>
            <a:r>
              <a:rPr lang="ko-KR" altLang="ko-KR" dirty="0"/>
              <a:t> 선언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EEAE8-AAA9-0C5D-053A-947947A9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 C++ 표준 라이브러리 이름 공간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::는 </a:t>
            </a:r>
            <a:r>
              <a:rPr lang="ko-KR" altLang="en-US" sz="2400" dirty="0"/>
              <a:t>범위를</a:t>
            </a:r>
            <a:r>
              <a:rPr lang="ko-KR" altLang="ko-KR" sz="2400" dirty="0"/>
              <a:t> 분명하게 표현</a:t>
            </a:r>
          </a:p>
          <a:p>
            <a:pPr lvl="0"/>
            <a:r>
              <a:rPr lang="ko-KR" altLang="ko-KR" sz="2400" dirty="0" err="1"/>
              <a:t>using</a:t>
            </a:r>
            <a:r>
              <a:rPr lang="ko-KR" altLang="ko-KR" sz="2400" dirty="0"/>
              <a:t> 선언으로 개별</a:t>
            </a:r>
            <a:r>
              <a:rPr lang="ko-KR" altLang="en-US" sz="2400" dirty="0"/>
              <a:t>적 사용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using</a:t>
            </a:r>
            <a:r>
              <a:rPr lang="ko-KR" altLang="ko-KR" sz="2400" dirty="0"/>
              <a:t> </a:t>
            </a:r>
            <a:r>
              <a:rPr lang="ko-KR" altLang="ko-KR" sz="2400" dirty="0" err="1"/>
              <a:t>namespace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;</a:t>
            </a:r>
            <a:endParaRPr lang="en-US" altLang="ko-KR" sz="2400" dirty="0"/>
          </a:p>
          <a:p>
            <a:pPr lvl="1"/>
            <a:r>
              <a:rPr lang="ko-KR" altLang="ko-KR" sz="2000" dirty="0"/>
              <a:t>헤더 파일에 작성 적용할 때, 영향 고려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09B00-77B3-D200-6884-C87335A54F03}"/>
              </a:ext>
            </a:extLst>
          </p:cNvPr>
          <p:cNvSpPr txBox="1"/>
          <p:nvPr/>
        </p:nvSpPr>
        <p:spPr>
          <a:xfrm>
            <a:off x="506596" y="3284984"/>
            <a:ext cx="3993396" cy="3139321"/>
          </a:xfrm>
          <a:prstGeom prst="rect">
            <a:avLst/>
          </a:prstGeom>
          <a:solidFill>
            <a:srgbClr val="EFEFED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B82A849-AEA4-1398-4639-758C571AC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081695"/>
              </p:ext>
            </p:extLst>
          </p:nvPr>
        </p:nvGraphicFramePr>
        <p:xfrm>
          <a:off x="4644008" y="4994897"/>
          <a:ext cx="4248472" cy="1429408"/>
        </p:xfrm>
        <a:graphic>
          <a:graphicData uri="http://schemas.openxmlformats.org/drawingml/2006/table">
            <a:tbl>
              <a:tblPr/>
              <a:tblGrid>
                <a:gridCol w="2059865">
                  <a:extLst>
                    <a:ext uri="{9D8B030D-6E8A-4147-A177-3AD203B41FA5}">
                      <a16:colId xmlns:a16="http://schemas.microsoft.com/office/drawing/2014/main" val="2888734614"/>
                    </a:ext>
                  </a:extLst>
                </a:gridCol>
                <a:gridCol w="2188607">
                  <a:extLst>
                    <a:ext uri="{9D8B030D-6E8A-4147-A177-3AD203B41FA5}">
                      <a16:colId xmlns:a16="http://schemas.microsoft.com/office/drawing/2014/main" val="4278239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2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cout</a:t>
                      </a:r>
                      <a:endParaRPr lang="ko-KR" sz="24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출처가 분명함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257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using std::cout;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특정 이름만 가져옴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465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using namespace std;</a:t>
                      </a:r>
                      <a:endParaRPr lang="ko-KR" sz="24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이름 검색 범위가 넓어짐</a:t>
                      </a:r>
                      <a:endParaRPr lang="ko-KR" sz="24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41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86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5AAA-C326-E73A-46FC-15F70853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2A413-1528-4318-8800-FF948AC7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2.2 출력 스트림과 서식 지정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3D52E-0810-D45F-7D79-A35D63BD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cout은</a:t>
            </a:r>
            <a:r>
              <a:rPr lang="ko-KR" altLang="ko-KR" sz="2400" dirty="0"/>
              <a:t> 표준 출력 스트림</a:t>
            </a:r>
          </a:p>
          <a:p>
            <a:pPr lvl="0"/>
            <a:r>
              <a:rPr lang="ko-KR" altLang="ko-KR" sz="2400" dirty="0"/>
              <a:t>출력 연산자 &lt;&lt;로 여러 타입의 값 출력</a:t>
            </a:r>
          </a:p>
          <a:p>
            <a:pPr lvl="0"/>
            <a:r>
              <a:rPr lang="ko-KR" altLang="ko-KR" sz="2400" dirty="0"/>
              <a:t>값의 타입에 맞는 출력 동작 선택</a:t>
            </a:r>
          </a:p>
          <a:p>
            <a:pPr lvl="0"/>
            <a:r>
              <a:rPr lang="ko-KR" altLang="ko-KR" sz="2400" dirty="0"/>
              <a:t>printf()</a:t>
            </a:r>
            <a:r>
              <a:rPr lang="ko-KR" altLang="ko-KR" sz="2400" dirty="0" err="1"/>
              <a:t>처럼</a:t>
            </a:r>
            <a:r>
              <a:rPr lang="ko-KR" altLang="ko-KR" sz="2400" dirty="0"/>
              <a:t> 형식 지정자를 직접 맞추지 않음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CE7FE-B17A-48C5-3D52-C2B576F9A1E8}"/>
              </a:ext>
            </a:extLst>
          </p:cNvPr>
          <p:cNvSpPr txBox="1"/>
          <p:nvPr/>
        </p:nvSpPr>
        <p:spPr>
          <a:xfrm>
            <a:off x="431639" y="2996952"/>
            <a:ext cx="5004457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     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", 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59AAF1B-B6B1-A238-147F-E44B30F85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00542"/>
              </p:ext>
            </p:extLst>
          </p:nvPr>
        </p:nvGraphicFramePr>
        <p:xfrm>
          <a:off x="5535132" y="4401172"/>
          <a:ext cx="3402328" cy="1642768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1817774321"/>
                    </a:ext>
                  </a:extLst>
                </a:gridCol>
                <a:gridCol w="2178192">
                  <a:extLst>
                    <a:ext uri="{9D8B030D-6E8A-4147-A177-3AD203B41FA5}">
                      <a16:colId xmlns:a16="http://schemas.microsoft.com/office/drawing/2014/main" val="3949927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1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동작</a:t>
                      </a:r>
                      <a:endParaRPr lang="ko-KR" sz="1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651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'\</a:t>
                      </a:r>
                      <a:r>
                        <a:rPr lang="ko-KR" sz="18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r>
                        <a:rPr lang="ko-KR" sz="1800" b="1" i="0" u="none" strike="noStrike" dirty="0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'</a:t>
                      </a:r>
                      <a:endParaRPr lang="ko-KR" sz="1800" b="1" dirty="0">
                        <a:solidFill>
                          <a:srgbClr val="C1840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줄 바꿈</a:t>
                      </a:r>
                      <a:endParaRPr lang="ko-KR" sz="1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44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endl</a:t>
                      </a:r>
                      <a:endParaRPr lang="ko-KR" sz="1800" b="1" dirty="0">
                        <a:solidFill>
                          <a:srgbClr val="C1840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줄 바꿈 + 버퍼 비움</a:t>
                      </a:r>
                      <a:endParaRPr lang="ko-KR" sz="1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Arial" panose="020B0604020202020204" pitchFamily="34" charset="0"/>
                        </a:rPr>
                        <a:t>flush</a:t>
                      </a:r>
                      <a:endParaRPr lang="ko-KR" sz="1800" b="1" dirty="0">
                        <a:solidFill>
                          <a:srgbClr val="C18401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 버퍼 비움</a:t>
                      </a:r>
                      <a:endParaRPr lang="ko-KR" sz="1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57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42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9CF5-F44F-37E9-EC0E-54CB03D1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DD45C-A160-2BE1-A2DE-D028E18C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2.2.5 논리값, 부호, 필드 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D801E-3F3D-56BF-3F5C-A333809B8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</a:t>
            </a:r>
            <a:r>
              <a:rPr lang="en-US" altLang="ko-KR" dirty="0"/>
              <a:t> </a:t>
            </a:r>
            <a:r>
              <a:rPr lang="ko-KR" altLang="en-US" dirty="0"/>
              <a:t>조정자</a:t>
            </a:r>
            <a:r>
              <a:rPr lang="en-US" altLang="ko-KR" dirty="0"/>
              <a:t>(Manipulator)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957DAF-DEA3-F46F-FB15-A12C1EBA0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49535"/>
              </p:ext>
            </p:extLst>
          </p:nvPr>
        </p:nvGraphicFramePr>
        <p:xfrm>
          <a:off x="611684" y="1352680"/>
          <a:ext cx="7200800" cy="4266152"/>
        </p:xfrm>
        <a:graphic>
          <a:graphicData uri="http://schemas.openxmlformats.org/drawingml/2006/table">
            <a:tbl>
              <a:tblPr/>
              <a:tblGrid>
                <a:gridCol w="2952328">
                  <a:extLst>
                    <a:ext uri="{9D8B030D-6E8A-4147-A177-3AD203B41FA5}">
                      <a16:colId xmlns:a16="http://schemas.microsoft.com/office/drawing/2014/main" val="3694077238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156587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조정자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16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29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endl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줄 바꿈 + 버퍼 비움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1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dec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hex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10진수, 16진수 8진수</a:t>
                      </a:r>
                      <a:endParaRPr lang="ko-KR" sz="1600" b="1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66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noboolalpha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boolalpha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false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출력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911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noshowbase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showbase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진법 접두사 출력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579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noshowpos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showpos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양수 앞에 + 출력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698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nouppercase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uppercase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16진수 문자와 지수 표기 대문자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38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left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internal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정렬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691694"/>
                  </a:ext>
                </a:extLst>
              </a:tr>
              <a:tr h="2091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fixed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scientific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고정 소수점, 지수 형식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83796"/>
                  </a:ext>
                </a:extLst>
              </a:tr>
              <a:tr h="2091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effectLst/>
                        </a:rPr>
                        <a:t>defaultfloat</a:t>
                      </a:r>
                      <a:r>
                        <a:rPr lang="en-US" altLang="ko-KR" sz="1600" b="1" dirty="0">
                          <a:effectLst/>
                        </a:rPr>
                        <a:t> , </a:t>
                      </a:r>
                      <a:r>
                        <a:rPr lang="en-US" altLang="ko-KR" sz="1600" b="1" dirty="0" err="1">
                          <a:effectLst/>
                        </a:rPr>
                        <a:t>hexfloat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dirty="0">
                          <a:effectLst/>
                        </a:rPr>
                        <a:t>출력 형식 기본</a:t>
                      </a:r>
                      <a:r>
                        <a:rPr lang="en-US" altLang="ko-KR" sz="1600" b="1" dirty="0">
                          <a:effectLst/>
                        </a:rPr>
                        <a:t>, 16</a:t>
                      </a:r>
                      <a:r>
                        <a:rPr lang="ko-KR" altLang="en-US" sz="1600" b="1" dirty="0">
                          <a:effectLst/>
                        </a:rPr>
                        <a:t>진수 지수 표기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510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noshowpoint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showpoint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소수점과 뒤쪽 0 표시</a:t>
                      </a:r>
                      <a:endParaRPr lang="ko-KR" sz="16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925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52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3BCAA-3461-0B10-3E35-A03387E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2.2.3 정수의 진법과 접두사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92D03F-7B87-3F6F-B541-CD666E886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</a:t>
            </a:r>
            <a:r>
              <a:rPr lang="en-US" altLang="ko-KR" dirty="0"/>
              <a:t> </a:t>
            </a:r>
            <a:r>
              <a:rPr lang="ko-KR" altLang="en-US" dirty="0"/>
              <a:t>조정자</a:t>
            </a:r>
            <a:r>
              <a:rPr lang="en-US" altLang="ko-KR" dirty="0"/>
              <a:t>(Manipulator)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B1FD5-6093-8086-7BDC-6970323D6263}"/>
              </a:ext>
            </a:extLst>
          </p:cNvPr>
          <p:cNvSpPr txBox="1"/>
          <p:nvPr/>
        </p:nvSpPr>
        <p:spPr>
          <a:xfrm>
            <a:off x="539750" y="1484784"/>
            <a:ext cx="7272808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showbase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0xff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0377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90DC73-C11E-59A9-EF14-230CD05FAB19}"/>
              </a:ext>
            </a:extLst>
          </p:cNvPr>
          <p:cNvSpPr txBox="1"/>
          <p:nvPr/>
        </p:nvSpPr>
        <p:spPr>
          <a:xfrm>
            <a:off x="539750" y="4077072"/>
            <a:ext cx="7272808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showpos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6553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F49E-5621-D0D9-B6F8-60CC26EA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F3D1-AB41-7E8B-01C7-56F19DAF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2.2.</a:t>
            </a:r>
            <a:r>
              <a:rPr lang="en-US" altLang="ko-KR" dirty="0"/>
              <a:t>3</a:t>
            </a:r>
            <a:r>
              <a:rPr lang="ko-KR" altLang="ko-KR" dirty="0"/>
              <a:t> </a:t>
            </a:r>
            <a:r>
              <a:rPr lang="ko-KR" altLang="ko-KR" dirty="0" err="1"/>
              <a:t>Manipulators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0D1B22-5C12-003A-C3EA-E86BF346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#include</a:t>
            </a:r>
            <a:r>
              <a:rPr lang="ko-KR" altLang="en-US" dirty="0"/>
              <a:t> </a:t>
            </a:r>
            <a:r>
              <a:rPr lang="en-US" altLang="ko-KR" dirty="0"/>
              <a:t>&lt;</a:t>
            </a:r>
            <a:r>
              <a:rPr lang="ko-KR" altLang="ko-KR" dirty="0" err="1"/>
              <a:t>iomanip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04B193-3E5B-EA0D-9A24-A4C0634A2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2289"/>
              </p:ext>
            </p:extLst>
          </p:nvPr>
        </p:nvGraphicFramePr>
        <p:xfrm>
          <a:off x="590550" y="1340768"/>
          <a:ext cx="7221810" cy="2479392"/>
        </p:xfrm>
        <a:graphic>
          <a:graphicData uri="http://schemas.openxmlformats.org/drawingml/2006/table">
            <a:tbl>
              <a:tblPr/>
              <a:tblGrid>
                <a:gridCol w="3075316">
                  <a:extLst>
                    <a:ext uri="{9D8B030D-6E8A-4147-A177-3AD203B41FA5}">
                      <a16:colId xmlns:a16="http://schemas.microsoft.com/office/drawing/2014/main" val="2046972486"/>
                    </a:ext>
                  </a:extLst>
                </a:gridCol>
                <a:gridCol w="4146494">
                  <a:extLst>
                    <a:ext uri="{9D8B030D-6E8A-4147-A177-3AD203B41FA5}">
                      <a16:colId xmlns:a16="http://schemas.microsoft.com/office/drawing/2014/main" val="1476930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조정자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70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std::setw()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이어지는 값 하나의 최소 필드 폭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011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std::setfill()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남는 공간의 문자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356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std::setprecision()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 자릿수 지정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15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std::setbase(8, 10, 16)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 진법 변경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75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std::setfill()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남는 공간의 문자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2712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E8D44D-E3C2-38EC-117A-6D5621E9DEF4}"/>
              </a:ext>
            </a:extLst>
          </p:cNvPr>
          <p:cNvSpPr txBox="1"/>
          <p:nvPr/>
        </p:nvSpPr>
        <p:spPr>
          <a:xfrm>
            <a:off x="683568" y="3991610"/>
            <a:ext cx="6552728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iomanip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setfill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'0'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&lt;&lt;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AAA9C-8E3D-F0C3-2E55-C46D8DE12A82}"/>
              </a:ext>
            </a:extLst>
          </p:cNvPr>
          <p:cNvSpPr txBox="1"/>
          <p:nvPr/>
        </p:nvSpPr>
        <p:spPr>
          <a:xfrm>
            <a:off x="694655" y="5413166"/>
            <a:ext cx="6541641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1234.56789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scientific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hexfloat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defaultfloat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1795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21595-37F1-CB29-CA25-AD0B08EE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2.3 입력 스트림과 상태 관리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644A6-B874-8CE0-A1CD-2991966EB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cin은</a:t>
            </a:r>
            <a:r>
              <a:rPr lang="ko-KR" altLang="ko-KR" sz="2400" dirty="0"/>
              <a:t> 표준 입력 스트림</a:t>
            </a:r>
          </a:p>
          <a:p>
            <a:pPr lvl="0"/>
            <a:r>
              <a:rPr lang="ko-KR" altLang="ko-KR" sz="2400" dirty="0"/>
              <a:t>입력 연산자 &gt;&gt;로 값을 읽음</a:t>
            </a:r>
          </a:p>
          <a:p>
            <a:pPr lvl="0"/>
            <a:r>
              <a:rPr lang="ko-KR" altLang="ko-KR" sz="2400" dirty="0"/>
              <a:t>변수의 타입에 맞는 입력 동작 선택</a:t>
            </a:r>
          </a:p>
          <a:p>
            <a:pPr lvl="0"/>
            <a:r>
              <a:rPr lang="ko-KR" altLang="ko-KR" sz="2400" dirty="0"/>
              <a:t>일반 변수의 주소를 전달하지 않음</a:t>
            </a:r>
          </a:p>
          <a:p>
            <a:pPr lvl="0"/>
            <a:r>
              <a:rPr lang="ko-KR" altLang="ko-KR" sz="2400" dirty="0"/>
              <a:t>입력 데이터가 변수 타입과 맞지 않으면 실패 상태 설정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BFFC0D-BFE4-6927-5D84-77BE794BA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699274"/>
              </p:ext>
            </p:extLst>
          </p:nvPr>
        </p:nvGraphicFramePr>
        <p:xfrm>
          <a:off x="539750" y="3124215"/>
          <a:ext cx="6624538" cy="1642768"/>
        </p:xfrm>
        <a:graphic>
          <a:graphicData uri="http://schemas.openxmlformats.org/drawingml/2006/table">
            <a:tbl>
              <a:tblPr/>
              <a:tblGrid>
                <a:gridCol w="3044174">
                  <a:extLst>
                    <a:ext uri="{9D8B030D-6E8A-4147-A177-3AD203B41FA5}">
                      <a16:colId xmlns:a16="http://schemas.microsoft.com/office/drawing/2014/main" val="2483588335"/>
                    </a:ext>
                  </a:extLst>
                </a:gridCol>
                <a:gridCol w="3580364">
                  <a:extLst>
                    <a:ext uri="{9D8B030D-6E8A-4147-A177-3AD203B41FA5}">
                      <a16:colId xmlns:a16="http://schemas.microsoft.com/office/drawing/2014/main" val="1634935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C++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89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scanf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("%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", &amp;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level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);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cin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&gt;&gt;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level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;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55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 지정자 필요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타입에 따라 입력 동작 선택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16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 전달 필요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 그대로 사용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528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8D8708-D5C5-6940-BC7A-CFE83A010C4B}"/>
              </a:ext>
            </a:extLst>
          </p:cNvPr>
          <p:cNvSpPr txBox="1"/>
          <p:nvPr/>
        </p:nvSpPr>
        <p:spPr>
          <a:xfrm>
            <a:off x="556594" y="5085184"/>
            <a:ext cx="6607694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08631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A6A7B-A885-3DAB-5673-EC067BCF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DCCAF-A83D-4AC7-0B92-1B340D6F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2.3.2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string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9A88E-583F-0E53-3813-EF5620D4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C++의 일반 문자열 표현은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string</a:t>
            </a:r>
            <a:endParaRPr lang="ko-KR" altLang="ko-KR" sz="2400" dirty="0"/>
          </a:p>
          <a:p>
            <a:pPr lvl="0"/>
            <a:r>
              <a:rPr lang="ko-KR" altLang="ko-KR" sz="2400" dirty="0"/>
              <a:t>문자열의 길이와 저장 공간을 객체가 관리</a:t>
            </a:r>
          </a:p>
          <a:p>
            <a:pPr lvl="0"/>
            <a:r>
              <a:rPr lang="ko-KR" altLang="ko-KR" sz="2400" dirty="0"/>
              <a:t>대입, 복사, 비교, 결합을 일반 변수와 비슷하게 작성</a:t>
            </a:r>
            <a:endParaRPr lang="en-US" altLang="ko-KR" sz="2400" dirty="0"/>
          </a:p>
          <a:p>
            <a:pPr lvl="0"/>
            <a:r>
              <a:rPr lang="ko-KR" altLang="ko-KR" sz="2400" dirty="0"/>
              <a:t>strcpy(), strcat()</a:t>
            </a:r>
            <a:r>
              <a:rPr lang="en-US" altLang="ko-KR" sz="2400" dirty="0"/>
              <a:t> </a:t>
            </a:r>
            <a:r>
              <a:rPr lang="ko-KR" altLang="en-US" sz="2400" dirty="0"/>
              <a:t>대신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12EC4-F0CF-6BBC-4E0A-2E425E18D6BA}"/>
              </a:ext>
            </a:extLst>
          </p:cNvPr>
          <p:cNvSpPr txBox="1"/>
          <p:nvPr/>
        </p:nvSpPr>
        <p:spPr>
          <a:xfrm>
            <a:off x="539750" y="2565479"/>
            <a:ext cx="7416626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Dark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Knight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message.append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message.append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9050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D64E-178F-B9BE-1D95-188043BA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ADFD3-CBD9-4195-D1EA-FEE6D4AF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2.3.2 </a:t>
            </a:r>
            <a:r>
              <a:rPr lang="ko-KR" altLang="ko-KR" dirty="0" err="1"/>
              <a:t>cin</a:t>
            </a:r>
            <a:r>
              <a:rPr lang="ko-KR" altLang="ko-KR" dirty="0"/>
              <a:t> &gt;&gt;와 </a:t>
            </a:r>
            <a:r>
              <a:rPr lang="ko-KR" altLang="ko-KR" dirty="0" err="1"/>
              <a:t>getline</a:t>
            </a:r>
            <a:r>
              <a:rPr lang="ko-KR" altLang="ko-KR" dirty="0"/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E64BD-0FD0-8B5F-ED78-53DBD2558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1"/>
            <a:r>
              <a:rPr lang="ko-KR" altLang="ko-KR" sz="2000" dirty="0"/>
              <a:t>공백 전까지 하나의 단어 입력</a:t>
            </a:r>
          </a:p>
          <a:p>
            <a:pPr lvl="1"/>
            <a:r>
              <a:rPr lang="ko-KR" altLang="ko-KR" sz="2000" dirty="0" err="1"/>
              <a:t>Dark</a:t>
            </a:r>
            <a:r>
              <a:rPr lang="ko-KR" altLang="ko-KR" sz="2000" dirty="0"/>
              <a:t> </a:t>
            </a:r>
            <a:r>
              <a:rPr lang="ko-KR" altLang="ko-KR" sz="2000" dirty="0" err="1"/>
              <a:t>Knight를</a:t>
            </a:r>
            <a:r>
              <a:rPr lang="ko-KR" altLang="ko-KR" sz="2000" dirty="0"/>
              <a:t> 입력하면 </a:t>
            </a:r>
            <a:r>
              <a:rPr lang="ko-KR" altLang="ko-KR" sz="2000" dirty="0" err="1"/>
              <a:t>Dark만</a:t>
            </a:r>
            <a:r>
              <a:rPr lang="ko-KR" altLang="ko-KR" sz="2000" dirty="0"/>
              <a:t> 저장</a:t>
            </a:r>
            <a:endParaRPr lang="en-US" altLang="ko-KR" sz="2000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600" dirty="0"/>
          </a:p>
          <a:p>
            <a:pPr lvl="1"/>
            <a:r>
              <a:rPr lang="ko-KR" altLang="ko-KR" sz="2000" dirty="0"/>
              <a:t>줄 바꿈을 만날 때까지 한 줄 입력</a:t>
            </a:r>
          </a:p>
          <a:p>
            <a:pPr lvl="1"/>
            <a:r>
              <a:rPr lang="ko-KR" altLang="ko-KR" sz="2000" dirty="0"/>
              <a:t>공백을 포함한 문자열 저장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1"/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ws는</a:t>
            </a:r>
            <a:r>
              <a:rPr lang="ko-KR" altLang="ko-KR" sz="2000" dirty="0"/>
              <a:t> 입력 앞쪽의 공백과 줄 바꿈을 제거</a:t>
            </a:r>
            <a:endParaRPr lang="ko-KR" altLang="ko-KR" dirty="0"/>
          </a:p>
          <a:p>
            <a:pPr lvl="1"/>
            <a:r>
              <a:rPr lang="ko-KR" altLang="ko-KR" sz="2000" dirty="0"/>
              <a:t>앞쪽 공백을 보존해야 하면 </a:t>
            </a:r>
            <a:r>
              <a:rPr lang="ko-KR" altLang="ko-KR" sz="2000" dirty="0" err="1"/>
              <a:t>ignore</a:t>
            </a:r>
            <a:r>
              <a:rPr lang="ko-KR" altLang="ko-KR" sz="2000" dirty="0"/>
              <a:t>() 사용</a:t>
            </a:r>
            <a:endParaRPr lang="ko-KR" altLang="ko-KR" dirty="0"/>
          </a:p>
          <a:p>
            <a:pPr lvl="1"/>
            <a:endParaRPr lang="ko-KR" altLang="ko-KR" sz="20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B6BD6-40E6-BE7B-D5AC-E96262F7B5F5}"/>
              </a:ext>
            </a:extLst>
          </p:cNvPr>
          <p:cNvSpPr txBox="1"/>
          <p:nvPr/>
        </p:nvSpPr>
        <p:spPr>
          <a:xfrm>
            <a:off x="352230" y="836712"/>
            <a:ext cx="6135284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EE9C5-04A4-CB18-4794-F6D093577704}"/>
              </a:ext>
            </a:extLst>
          </p:cNvPr>
          <p:cNvSpPr txBox="1"/>
          <p:nvPr/>
        </p:nvSpPr>
        <p:spPr>
          <a:xfrm>
            <a:off x="323528" y="2492896"/>
            <a:ext cx="616398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962F3-5047-2A5F-9CD5-6330FCA87B21}"/>
              </a:ext>
            </a:extLst>
          </p:cNvPr>
          <p:cNvSpPr txBox="1"/>
          <p:nvPr/>
        </p:nvSpPr>
        <p:spPr>
          <a:xfrm>
            <a:off x="323528" y="4388911"/>
            <a:ext cx="6163986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334314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EE87-223B-43C5-64F0-C5F1DD58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E4DEC-284A-03B8-16D8-74A6D0FF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2.3.5 입력 상태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D920F0-40D3-1642-F78C-252F9741B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입력 데이터가 변수 타입에 맞지 않으면 실패 상태 설정</a:t>
            </a:r>
          </a:p>
          <a:p>
            <a:pPr lvl="0"/>
            <a:r>
              <a:rPr lang="ko-KR" altLang="ko-KR" sz="2400" dirty="0"/>
              <a:t>입력 연산 자체를 조건식으로 검사 가능</a:t>
            </a:r>
          </a:p>
          <a:p>
            <a:pPr lvl="0"/>
            <a:r>
              <a:rPr lang="ko-KR" altLang="ko-KR" sz="2400" dirty="0" err="1"/>
              <a:t>while</a:t>
            </a:r>
            <a:r>
              <a:rPr lang="ko-KR" altLang="ko-KR" sz="2400" dirty="0"/>
              <a:t> (!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cin.eof</a:t>
            </a:r>
            <a:r>
              <a:rPr lang="ko-KR" altLang="ko-KR" sz="2400" dirty="0"/>
              <a:t>())보다 입력 연산을 반복 조건으로 사용</a:t>
            </a:r>
            <a:endParaRPr lang="ko-KR" alt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AD9A421-A404-0FB1-7F8F-5733E01EF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30981"/>
              </p:ext>
            </p:extLst>
          </p:nvPr>
        </p:nvGraphicFramePr>
        <p:xfrm>
          <a:off x="539750" y="2174048"/>
          <a:ext cx="5760442" cy="2183000"/>
        </p:xfrm>
        <a:graphic>
          <a:graphicData uri="http://schemas.openxmlformats.org/drawingml/2006/table">
            <a:tbl>
              <a:tblPr/>
              <a:tblGrid>
                <a:gridCol w="1223938">
                  <a:extLst>
                    <a:ext uri="{9D8B030D-6E8A-4147-A177-3AD203B41FA5}">
                      <a16:colId xmlns:a16="http://schemas.microsoft.com/office/drawing/2014/main" val="2078452445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14166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530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good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오류 상태가 없음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49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eof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입력의 끝에 도달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9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fail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 오류 또는 입력 실패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44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bad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복구하기 어려운 스트림 오류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60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BC815CE-CF38-0861-8059-A69FC1DB14D1}"/>
              </a:ext>
            </a:extLst>
          </p:cNvPr>
          <p:cNvSpPr txBox="1"/>
          <p:nvPr/>
        </p:nvSpPr>
        <p:spPr>
          <a:xfrm>
            <a:off x="539750" y="4365104"/>
            <a:ext cx="5760442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"입력한 값: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"정수를 입력하지 않았습니다.\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5172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3EB1-6FCE-E738-6577-3C1778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6A640-08D8-1ECB-5BDA-C536DEB8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2.3.6 </a:t>
            </a:r>
            <a:r>
              <a:rPr lang="ko-KR" altLang="ko-KR" dirty="0" err="1"/>
              <a:t>clear</a:t>
            </a:r>
            <a:r>
              <a:rPr lang="ko-KR" altLang="ko-KR" dirty="0"/>
              <a:t>()와 </a:t>
            </a:r>
            <a:r>
              <a:rPr lang="ko-KR" altLang="ko-KR" dirty="0" err="1"/>
              <a:t>ignore</a:t>
            </a:r>
            <a:r>
              <a:rPr lang="ko-KR" altLang="ko-KR" dirty="0"/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DDB6C-DF6D-6639-CB9A-CFC891E26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실패 상태가 설정되면 이후 입력도 정상 처리되지 않음</a:t>
            </a:r>
          </a:p>
          <a:p>
            <a:pPr lvl="0"/>
            <a:r>
              <a:rPr lang="ko-KR" altLang="ko-KR" sz="2400" dirty="0" err="1"/>
              <a:t>clear</a:t>
            </a:r>
            <a:r>
              <a:rPr lang="ko-KR" altLang="ko-KR" sz="2400" dirty="0"/>
              <a:t>()는 스트림 상태 플래그를 정상 상태로 되돌림</a:t>
            </a:r>
          </a:p>
          <a:p>
            <a:pPr lvl="0"/>
            <a:r>
              <a:rPr lang="ko-KR" altLang="ko-KR" sz="2400" dirty="0" err="1"/>
              <a:t>ignore</a:t>
            </a:r>
            <a:r>
              <a:rPr lang="ko-KR" altLang="ko-KR" sz="2400" dirty="0"/>
              <a:t>()는 입력 버퍼에 남은 문자를 버림</a:t>
            </a:r>
          </a:p>
          <a:p>
            <a:pPr lvl="0"/>
            <a:r>
              <a:rPr lang="ko-KR" altLang="ko-KR" sz="2400" dirty="0"/>
              <a:t>두 함수의 역할을 구분해야 함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65743-1140-83D5-8BCE-2BF6C41A3906}"/>
              </a:ext>
            </a:extLst>
          </p:cNvPr>
          <p:cNvSpPr txBox="1"/>
          <p:nvPr/>
        </p:nvSpPr>
        <p:spPr>
          <a:xfrm>
            <a:off x="536518" y="2627034"/>
            <a:ext cx="7851906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limits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"정수를 입력하세요: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"잘못된 입력입니다.\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.clear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.ignore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"입력한 값: 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6281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CA64-2F97-6039-C19F-BE4A91F9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B0F17-1246-A77B-A77E-DD58B1DC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2.4 타입의 크기와 범위 확인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4EC9A-3A54-0330-66F2-274056041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z="2400" dirty="0"/>
              <a:t>C/</a:t>
            </a:r>
            <a:r>
              <a:rPr lang="ko-KR" altLang="ko-KR" sz="2400" dirty="0"/>
              <a:t>C++ 표준은 기본형 타입에 대해 바이트 크기 정하지 않음</a:t>
            </a:r>
          </a:p>
          <a:p>
            <a:pPr lvl="0"/>
            <a:r>
              <a:rPr lang="ko-KR" altLang="en-US" sz="2400" dirty="0"/>
              <a:t>표준은 </a:t>
            </a:r>
            <a:r>
              <a:rPr lang="ko-KR" altLang="ko-KR" sz="2400" dirty="0"/>
              <a:t>최소 범위와 타입 사이의 크기 관계 규정</a:t>
            </a:r>
          </a:p>
          <a:p>
            <a:pPr lvl="0"/>
            <a:r>
              <a:rPr lang="ko-KR" altLang="ko-KR" sz="2400" dirty="0"/>
              <a:t>실제 크기와 정렬 방식은 CPU, </a:t>
            </a:r>
            <a:r>
              <a:rPr lang="en-US" altLang="ko-KR" sz="2400" dirty="0"/>
              <a:t>OS</a:t>
            </a:r>
            <a:r>
              <a:rPr lang="ko-KR" altLang="ko-KR" sz="2400" dirty="0"/>
              <a:t>, 컴파일러와 </a:t>
            </a:r>
            <a:r>
              <a:rPr lang="ko-KR" altLang="ko-KR" sz="2400" dirty="0" err="1"/>
              <a:t>ABI에</a:t>
            </a:r>
            <a:r>
              <a:rPr lang="ko-KR" altLang="ko-KR" sz="2400" dirty="0"/>
              <a:t> 따라 달라짐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FF82164-736F-CBDA-360B-FAA6C111C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26950"/>
              </p:ext>
            </p:extLst>
          </p:nvPr>
        </p:nvGraphicFramePr>
        <p:xfrm>
          <a:off x="539750" y="2215592"/>
          <a:ext cx="7920682" cy="1285416"/>
        </p:xfrm>
        <a:graphic>
          <a:graphicData uri="http://schemas.openxmlformats.org/drawingml/2006/table">
            <a:tbl>
              <a:tblPr/>
              <a:tblGrid>
                <a:gridCol w="1151930">
                  <a:extLst>
                    <a:ext uri="{9D8B030D-6E8A-4147-A177-3AD203B41FA5}">
                      <a16:colId xmlns:a16="http://schemas.microsoft.com/office/drawing/2014/main" val="385910020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462189114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4210777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데이터 모델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환경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6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LLP64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64비트 Windows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32비트, 포인터 64비트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17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LP64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64비트 Linux,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macOS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32비트,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포인터 64비트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5865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DE9A87-3C88-3EC0-DE5E-22C19D64B5EE}"/>
              </a:ext>
            </a:extLst>
          </p:cNvPr>
          <p:cNvSpPr txBox="1"/>
          <p:nvPr/>
        </p:nvSpPr>
        <p:spPr>
          <a:xfrm>
            <a:off x="539750" y="4049536"/>
            <a:ext cx="7920682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314422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D2AE-FC94-D630-7CCC-017F34FB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91AA2-233C-D0F2-346D-5F58DE6B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2.4.2 </a:t>
            </a:r>
            <a:r>
              <a:rPr lang="ko-KR" altLang="ko-KR" dirty="0" err="1"/>
              <a:t>sizeof와</a:t>
            </a:r>
            <a:r>
              <a:rPr lang="ko-KR" altLang="ko-KR" dirty="0"/>
              <a:t> CHAR_BIT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299ED-7ACB-858A-5CED-7F76F06E6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sizeof(</a:t>
            </a:r>
            <a:r>
              <a:rPr lang="ko-KR" altLang="ko-KR" dirty="0" err="1"/>
              <a:t>char</a:t>
            </a:r>
            <a:r>
              <a:rPr lang="ko-KR" altLang="ko-KR" dirty="0"/>
              <a:t>)는 항상 1</a:t>
            </a:r>
          </a:p>
          <a:p>
            <a:pPr lvl="0"/>
            <a:r>
              <a:rPr lang="ko-KR" altLang="ko-KR" dirty="0"/>
              <a:t>1바이트를 구성하는 비트 수는 </a:t>
            </a:r>
            <a:r>
              <a:rPr lang="ko-KR" altLang="ko-KR" dirty="0" err="1"/>
              <a:t>CHAR_BIT로</a:t>
            </a:r>
            <a:r>
              <a:rPr lang="ko-KR" altLang="ko-KR" dirty="0"/>
              <a:t> 확인</a:t>
            </a:r>
          </a:p>
          <a:p>
            <a:pPr lvl="0"/>
            <a:r>
              <a:rPr lang="ko-KR" altLang="ko-KR" dirty="0" err="1"/>
              <a:t>sizeof의</a:t>
            </a:r>
            <a:r>
              <a:rPr lang="ko-KR" altLang="ko-KR" dirty="0"/>
              <a:t> 피연산자는 일반적으로 실행되지 않음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A88E5-3B01-16DF-FE78-36BB150624E8}"/>
              </a:ext>
            </a:extLst>
          </p:cNvPr>
          <p:cNvSpPr txBox="1"/>
          <p:nvPr/>
        </p:nvSpPr>
        <p:spPr>
          <a:xfrm>
            <a:off x="611560" y="2420888"/>
            <a:ext cx="6984776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climits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10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CHAR_BIT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E9F26-F766-26FC-F966-14C087B95C5B}"/>
              </a:ext>
            </a:extLst>
          </p:cNvPr>
          <p:cNvSpPr txBox="1"/>
          <p:nvPr/>
        </p:nvSpPr>
        <p:spPr>
          <a:xfrm>
            <a:off x="605402" y="5657696"/>
            <a:ext cx="6984775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배열에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sizeof를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적용하면 배열 전체의 바이트 수</a:t>
            </a:r>
            <a:endParaRPr lang="ko-KR" altLang="ko-KR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함수 매개변수의 배열 표기는 포인터로 조정됨</a:t>
            </a:r>
            <a:endParaRPr lang="ko-KR" altLang="ko-KR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1160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2F75-996D-3CD3-E844-DE0E1B2D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46315-3E07-12E2-7E97-B9956440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2.4.4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numeric_limits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CE369-6DB2-192C-F813-EE12B676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정수형</a:t>
            </a:r>
            <a:endParaRPr lang="en-US" altLang="ko-KR" sz="24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endParaRPr lang="en-US" altLang="ko-KR" sz="2400" dirty="0"/>
          </a:p>
          <a:p>
            <a:r>
              <a:rPr lang="ko-KR" altLang="ko-KR" sz="2400" dirty="0"/>
              <a:t>부동소수점형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4D470-6957-C7D4-5B5A-8C024C136E77}"/>
              </a:ext>
            </a:extLst>
          </p:cNvPr>
          <p:cNvSpPr txBox="1"/>
          <p:nvPr/>
        </p:nvSpPr>
        <p:spPr>
          <a:xfrm>
            <a:off x="539750" y="1196752"/>
            <a:ext cx="6480522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limits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200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05EA0-3A6A-6751-EDCA-A34880171B4C}"/>
              </a:ext>
            </a:extLst>
          </p:cNvPr>
          <p:cNvSpPr txBox="1"/>
          <p:nvPr/>
        </p:nvSpPr>
        <p:spPr>
          <a:xfrm>
            <a:off x="539750" y="2698701"/>
            <a:ext cx="6480522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lowest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3200" b="1" dirty="0">
              <a:latin typeface="Consolas" panose="020B0609020204030204" pitchFamily="49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99D0E4A-A82B-181A-646F-05A977C6B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3640"/>
              </p:ext>
            </p:extLst>
          </p:nvPr>
        </p:nvGraphicFramePr>
        <p:xfrm>
          <a:off x="539750" y="3861048"/>
          <a:ext cx="6480522" cy="2479392"/>
        </p:xfrm>
        <a:graphic>
          <a:graphicData uri="http://schemas.openxmlformats.org/drawingml/2006/table">
            <a:tbl>
              <a:tblPr/>
              <a:tblGrid>
                <a:gridCol w="2123869">
                  <a:extLst>
                    <a:ext uri="{9D8B030D-6E8A-4147-A177-3AD203B41FA5}">
                      <a16:colId xmlns:a16="http://schemas.microsoft.com/office/drawing/2014/main" val="1623782005"/>
                    </a:ext>
                  </a:extLst>
                </a:gridCol>
                <a:gridCol w="4356653">
                  <a:extLst>
                    <a:ext uri="{9D8B030D-6E8A-4147-A177-3AD203B41FA5}">
                      <a16:colId xmlns:a16="http://schemas.microsoft.com/office/drawing/2014/main" val="1043224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022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0보다 큰 가장 작은 정규화 값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129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가장 작은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유한값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246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max()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가장 큰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유한값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320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digits10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십진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유효 자릿수 기준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4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max_digits10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출력 후 재입력 복원 기준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0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271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1608-79E1-3335-F6A7-9A5DBE6D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2CB21-F9B1-ACAE-3794-46867326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2.5 문자형과 문자 인코딩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DCAAE1-06DF-DCFA-9AA8-140FD703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문자형의 크기</a:t>
            </a:r>
            <a:r>
              <a:rPr lang="en-US" altLang="ko-KR" sz="2400" dirty="0"/>
              <a:t>, </a:t>
            </a:r>
            <a:r>
              <a:rPr lang="ko-KR" altLang="ko-KR" sz="2400" dirty="0"/>
              <a:t>문자 인코딩은 </a:t>
            </a:r>
            <a:r>
              <a:rPr lang="ko-KR" altLang="en-US" sz="2400" dirty="0"/>
              <a:t>다른</a:t>
            </a:r>
            <a:r>
              <a:rPr lang="en-US" altLang="ko-KR" sz="2400" dirty="0"/>
              <a:t> </a:t>
            </a:r>
            <a:r>
              <a:rPr lang="ko-KR" altLang="ko-KR" sz="2400" dirty="0"/>
              <a:t>개념</a:t>
            </a:r>
            <a:endParaRPr lang="en-US" altLang="ko-KR" sz="2400" dirty="0"/>
          </a:p>
          <a:p>
            <a:pPr lvl="0"/>
            <a:r>
              <a:rPr lang="ko-KR" altLang="ko-KR" sz="2400" dirty="0"/>
              <a:t>문자형은 인코딩을 구성하는 코드 단위 저장</a:t>
            </a:r>
          </a:p>
          <a:p>
            <a:pPr lvl="0"/>
            <a:r>
              <a:rPr lang="ko-KR" altLang="ko-KR" sz="2400" dirty="0"/>
              <a:t>문자 인코딩은 문자를 하나 이상의 코드 단위로 변환하는 규칙</a:t>
            </a:r>
          </a:p>
          <a:p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472F32-14A1-36A1-B268-F86572C0E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702974"/>
              </p:ext>
            </p:extLst>
          </p:nvPr>
        </p:nvGraphicFramePr>
        <p:xfrm>
          <a:off x="539750" y="2276872"/>
          <a:ext cx="6192490" cy="2448912"/>
        </p:xfrm>
        <a:graphic>
          <a:graphicData uri="http://schemas.openxmlformats.org/drawingml/2006/table">
            <a:tbl>
              <a:tblPr/>
              <a:tblGrid>
                <a:gridCol w="1223208">
                  <a:extLst>
                    <a:ext uri="{9D8B030D-6E8A-4147-A177-3AD203B41FA5}">
                      <a16:colId xmlns:a16="http://schemas.microsoft.com/office/drawing/2014/main" val="489011165"/>
                    </a:ext>
                  </a:extLst>
                </a:gridCol>
                <a:gridCol w="1662799">
                  <a:extLst>
                    <a:ext uri="{9D8B030D-6E8A-4147-A177-3AD203B41FA5}">
                      <a16:colId xmlns:a16="http://schemas.microsoft.com/office/drawing/2014/main" val="1590503508"/>
                    </a:ext>
                  </a:extLst>
                </a:gridCol>
                <a:gridCol w="3306483">
                  <a:extLst>
                    <a:ext uri="{9D8B030D-6E8A-4147-A177-3AD203B41FA5}">
                      <a16:colId xmlns:a16="http://schemas.microsoft.com/office/drawing/2014/main" val="2609743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표기</a:t>
                      </a:r>
                      <a:endParaRPr lang="ko-KR" sz="2400" b="0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</a:t>
                      </a:r>
                      <a:endParaRPr lang="ko-KR" sz="2400" b="0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2400" b="0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29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문자 코드 단위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6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wchar_t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와이드 문자 코드 단위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19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u8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char8_t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UTF-8 코드 단위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576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char16_t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UTF-16 코드 단위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8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'A'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char32_t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UTF-32 코드 단위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1161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CDA48A-7547-C8E8-477F-75FD9A95C6A1}"/>
              </a:ext>
            </a:extLst>
          </p:cNvPr>
          <p:cNvSpPr txBox="1"/>
          <p:nvPr/>
        </p:nvSpPr>
        <p:spPr>
          <a:xfrm>
            <a:off x="539750" y="5157192"/>
            <a:ext cx="619249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char8_t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utf8Character = </a:t>
            </a:r>
            <a:r>
              <a:rPr lang="ko-KR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u8'A'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52502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A58A-7E04-751D-64B1-5B591C4F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39050-FFE6-B295-D8CA-42B1AC65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2.6 부동소수점형과 오차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D45D3-8663-62F6-8864-8805132B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부동소수점형은 한정된 비트 안에서 넓은 범위의 실수 표현</a:t>
            </a:r>
          </a:p>
          <a:p>
            <a:pPr lvl="0"/>
            <a:r>
              <a:rPr lang="ko-KR" altLang="ko-KR" sz="2000" dirty="0"/>
              <a:t>대부분의 값을 정확한 값이 아니라 근사값으로 저장</a:t>
            </a:r>
          </a:p>
          <a:p>
            <a:pPr lvl="0"/>
            <a:r>
              <a:rPr lang="ko-KR" altLang="ko-KR" sz="2000" dirty="0"/>
              <a:t>2진수로 유한하게 표현할 수 없는 </a:t>
            </a:r>
            <a:r>
              <a:rPr lang="ko-KR" altLang="ko-KR" sz="2000" dirty="0" err="1"/>
              <a:t>십진</a:t>
            </a:r>
            <a:r>
              <a:rPr lang="ko-KR" altLang="ko-KR" sz="2000" dirty="0"/>
              <a:t> 소수는 가까운 표현 가능 값으로 저장</a:t>
            </a:r>
            <a:endParaRPr lang="en-US" altLang="ko-KR" sz="2000" dirty="0"/>
          </a:p>
          <a:p>
            <a:pPr lvl="0"/>
            <a:r>
              <a:rPr lang="ko-KR" altLang="en-US" sz="2000" dirty="0"/>
              <a:t>구현 정의만 있고</a:t>
            </a:r>
            <a:r>
              <a:rPr lang="en-US" altLang="ko-KR" sz="2000" dirty="0"/>
              <a:t>, IEEE754 </a:t>
            </a:r>
            <a:r>
              <a:rPr lang="ko-KR" altLang="en-US" sz="2000" dirty="0"/>
              <a:t>준수를 강제하지 않음</a:t>
            </a:r>
            <a:endParaRPr lang="ko-KR" altLang="ko-KR" sz="2000" dirty="0"/>
          </a:p>
          <a:p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DE28E-C706-99AA-E03D-2E31DEB64EF6}"/>
              </a:ext>
            </a:extLst>
          </p:cNvPr>
          <p:cNvSpPr txBox="1"/>
          <p:nvPr/>
        </p:nvSpPr>
        <p:spPr>
          <a:xfrm>
            <a:off x="539750" y="2691518"/>
            <a:ext cx="7848674" cy="25853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iomanip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setprecision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ko-KR" sz="1800" b="1" dirty="0">
              <a:effectLst/>
            </a:endParaRPr>
          </a:p>
          <a:p>
            <a:pPr rtl="0">
              <a:buNone/>
            </a:pP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출력: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0.30000000000000004</a:t>
            </a:r>
            <a:endParaRPr lang="ko-KR" altLang="en-US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B415D-BE67-454A-8BA4-1444714C934A}"/>
              </a:ext>
            </a:extLst>
          </p:cNvPr>
          <p:cNvSpPr txBox="1"/>
          <p:nvPr/>
        </p:nvSpPr>
        <p:spPr>
          <a:xfrm>
            <a:off x="539750" y="5517232"/>
            <a:ext cx="7776666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연산이 잘못된 것이 아니라 한정된 비트로 실수를 표현한 결과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624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D1D3-F439-54D8-0FB4-1AC1D930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29C22-8063-AE94-407C-A90AC7BE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2.6.2 == 비교의 의미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45ABDF-12F3-85B4-8E90-123F2EED935C}"/>
              </a:ext>
            </a:extLst>
          </p:cNvPr>
          <p:cNvSpPr txBox="1"/>
          <p:nvPr/>
        </p:nvSpPr>
        <p:spPr>
          <a:xfrm>
            <a:off x="380090" y="2210207"/>
            <a:ext cx="671219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같은 값을 복사했거나 2진수로 정확히 표현되는 값은</a:t>
            </a:r>
            <a:br>
              <a:rPr lang="en-US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정확한 비교가 목적에 맞을 수 있음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내용 개체 틀 18">
            <a:extLst>
              <a:ext uri="{FF2B5EF4-FFF2-40B4-BE49-F238E27FC236}">
                <a16:creationId xmlns:a16="http://schemas.microsoft.com/office/drawing/2014/main" id="{4F9964B5-608A-D01A-C753-C6154AF0E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580803"/>
              </p:ext>
            </p:extLst>
          </p:nvPr>
        </p:nvGraphicFramePr>
        <p:xfrm>
          <a:off x="386884" y="5119879"/>
          <a:ext cx="6712190" cy="1264920"/>
        </p:xfrm>
        <a:graphic>
          <a:graphicData uri="http://schemas.openxmlformats.org/drawingml/2006/table">
            <a:tbl>
              <a:tblPr/>
              <a:tblGrid>
                <a:gridCol w="1637120">
                  <a:extLst>
                    <a:ext uri="{9D8B030D-6E8A-4147-A177-3AD203B41FA5}">
                      <a16:colId xmlns:a16="http://schemas.microsoft.com/office/drawing/2014/main" val="1440934199"/>
                    </a:ext>
                  </a:extLst>
                </a:gridCol>
                <a:gridCol w="5075070">
                  <a:extLst>
                    <a:ext uri="{9D8B030D-6E8A-4147-A177-3AD203B41FA5}">
                      <a16:colId xmlns:a16="http://schemas.microsoft.com/office/drawing/2014/main" val="211088221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비교 기준</a:t>
                      </a:r>
                      <a:endParaRPr lang="ko-KR" sz="32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 상황</a:t>
                      </a:r>
                      <a:endParaRPr lang="ko-KR" sz="32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05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절대 오차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값의 범위가 일정하거나 0에 가까운 값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0087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상대 오차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값의 크기가 크게 달라지는 값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31128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B89C135-B098-33E0-82F2-C75850FCD0BD}"/>
              </a:ext>
            </a:extLst>
          </p:cNvPr>
          <p:cNvSpPr txBox="1"/>
          <p:nvPr/>
        </p:nvSpPr>
        <p:spPr>
          <a:xfrm>
            <a:off x="380090" y="675032"/>
            <a:ext cx="671219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26504-A259-B46D-CFF8-AF0CAF568F00}"/>
              </a:ext>
            </a:extLst>
          </p:cNvPr>
          <p:cNvSpPr txBox="1"/>
          <p:nvPr/>
        </p:nvSpPr>
        <p:spPr>
          <a:xfrm>
            <a:off x="380090" y="3177500"/>
            <a:ext cx="671219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D050EE-4FB3-C801-3E34-9C7C11018F88}"/>
              </a:ext>
            </a:extLst>
          </p:cNvPr>
          <p:cNvSpPr txBox="1"/>
          <p:nvPr/>
        </p:nvSpPr>
        <p:spPr>
          <a:xfrm>
            <a:off x="380090" y="4077072"/>
            <a:ext cx="671219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여러 연산을 거친 결과를 특정 십진수와 비교할 때는 오차 고려 필요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수학적으로 같은 값이어도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가능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1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4D17-E7BA-1335-BBF0-42BF9B9C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9573A-DF6C-9D81-2D04-C448D799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2.6.3 절대 오차와 상대 오차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EDBC0-3C3B-C2F6-697F-0DC91C6A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1302A-B604-8F7D-09DF-D46F52405E19}"/>
              </a:ext>
            </a:extLst>
          </p:cNvPr>
          <p:cNvSpPr txBox="1"/>
          <p:nvPr/>
        </p:nvSpPr>
        <p:spPr>
          <a:xfrm>
            <a:off x="467543" y="679346"/>
            <a:ext cx="7920881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algorithm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cmath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NearlyEqual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absoluteTolerance</a:t>
            </a: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relativeTolerance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|| !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difference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difference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absoluteTolerance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scale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difference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scale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relativeTolerance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56AD1-0ABE-1051-D06F-1D52AA9198BD}"/>
              </a:ext>
            </a:extLst>
          </p:cNvPr>
          <p:cNvSpPr txBox="1"/>
          <p:nvPr/>
        </p:nvSpPr>
        <p:spPr>
          <a:xfrm>
            <a:off x="467543" y="6065133"/>
            <a:ext cx="7920881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허용 오차는 계산 목적과 데이터 범위에 맞게 결정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2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486D-93E3-14C8-9E0A-F8E9B265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64F94-962F-718C-4D89-1D4003B9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2.7 초기화와 </a:t>
            </a:r>
            <a:r>
              <a:rPr lang="ko-KR" altLang="ko-KR" dirty="0" err="1"/>
              <a:t>const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E738F-B61A-77FB-D098-295824C7F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초기화는 객체가 만들어질 때 처음 값을 정하는 과정</a:t>
            </a:r>
          </a:p>
          <a:p>
            <a:pPr lvl="0"/>
            <a:r>
              <a:rPr lang="ko-KR" altLang="ko-KR" sz="2400" dirty="0"/>
              <a:t>대입은 이미 존재하는 객체의 값을 변경하는 연산</a:t>
            </a:r>
          </a:p>
          <a:p>
            <a:pPr lvl="0"/>
            <a:r>
              <a:rPr lang="ko-KR" altLang="ko-KR" sz="2400" dirty="0"/>
              <a:t>코드 모양이 비슷해도 초기화와 대입은 다른 과정</a:t>
            </a:r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r>
              <a:rPr lang="en-US" altLang="ko-KR" sz="2400" dirty="0"/>
              <a:t>C++ </a:t>
            </a:r>
            <a:r>
              <a:rPr lang="ko-KR" altLang="en-US" sz="2400" dirty="0"/>
              <a:t>초기화 문법</a:t>
            </a:r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20683-5712-14FA-AEE0-9EFAFAEA60FF}"/>
              </a:ext>
            </a:extLst>
          </p:cNvPr>
          <p:cNvSpPr txBox="1"/>
          <p:nvPr/>
        </p:nvSpPr>
        <p:spPr>
          <a:xfrm>
            <a:off x="539750" y="2276872"/>
            <a:ext cx="806320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초기화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대입</a:t>
            </a:r>
            <a:endParaRPr lang="ko-KR" altLang="en-US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3FC1A-6D37-8EB6-0637-A25355120BBD}"/>
              </a:ext>
            </a:extLst>
          </p:cNvPr>
          <p:cNvSpPr txBox="1"/>
          <p:nvPr/>
        </p:nvSpPr>
        <p:spPr>
          <a:xfrm>
            <a:off x="541048" y="3873243"/>
            <a:ext cx="8063202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대입 형식 초기화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직접 초기화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  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중괄호 초기화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List-initialization)</a:t>
            </a:r>
            <a:endParaRPr lang="ko-KR" altLang="en-US" sz="4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BF351-99AE-6547-5957-A59E3C51B0BB}"/>
              </a:ext>
            </a:extLst>
          </p:cNvPr>
          <p:cNvSpPr txBox="1"/>
          <p:nvPr/>
        </p:nvSpPr>
        <p:spPr>
          <a:xfrm>
            <a:off x="539750" y="5060435"/>
            <a:ext cx="806320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기본형에서는 모두 10으로 초기화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클래스 타입에서는 선택되는 생성자가 달라질 수 있음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665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EA1B-9882-F3C4-5E52-37A44465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CAE7D-B98E-9E18-65DC-0E5FBDCD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2.7.3 중괄호 초기화와 축소 변환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DB778-09CD-F15E-1C04-4046D327B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기본형, 배열, 구조체와 클래스 객체에 일관된 형태로 사용</a:t>
            </a:r>
          </a:p>
          <a:p>
            <a:pPr lvl="0"/>
            <a:r>
              <a:rPr lang="ko-KR" altLang="ko-KR" dirty="0"/>
              <a:t>값이 손실될 수 있는 일부 축소 변환을 허용 불가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8E9BB-2336-DCB2-2535-CC802C101246}"/>
              </a:ext>
            </a:extLst>
          </p:cNvPr>
          <p:cNvSpPr txBox="1"/>
          <p:nvPr/>
        </p:nvSpPr>
        <p:spPr>
          <a:xfrm>
            <a:off x="539750" y="2151727"/>
            <a:ext cx="7344618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20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{ 3.5 }; // 오류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4E4DD-CE74-4C2B-5C39-3A26F24556B9}"/>
              </a:ext>
            </a:extLst>
          </p:cNvPr>
          <p:cNvSpPr txBox="1"/>
          <p:nvPr/>
        </p:nvSpPr>
        <p:spPr>
          <a:xfrm>
            <a:off x="539750" y="4251503"/>
            <a:ext cx="7344618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대입 형식 초기화에서는 변환이 허용되며 소수점 이하 </a:t>
            </a:r>
            <a:endParaRPr lang="ko-KR" altLang="ko-KR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13299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EE9C-2DC5-AF43-FFAC-8C4D4BFD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AB290-5EF6-41F9-70F0-F017945D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2.7.4 </a:t>
            </a:r>
            <a:r>
              <a:rPr lang="ko-KR" altLang="ko-KR" dirty="0" err="1"/>
              <a:t>const와</a:t>
            </a:r>
            <a:r>
              <a:rPr lang="ko-KR" altLang="ko-KR" dirty="0"/>
              <a:t> 변경 제한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4BF0A-3F22-55DE-7F59-D449976AD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const는</a:t>
            </a:r>
            <a:r>
              <a:rPr lang="ko-KR" altLang="ko-KR" sz="2400" dirty="0"/>
              <a:t> 객체를 통해 값을 변경하지 않겠다는 뜻을 타입에 포함</a:t>
            </a:r>
          </a:p>
          <a:p>
            <a:pPr lvl="0"/>
            <a:r>
              <a:rPr lang="ko-KR" altLang="ko-KR" sz="2400" dirty="0"/>
              <a:t>선언할 때 초기화 필요</a:t>
            </a:r>
          </a:p>
          <a:p>
            <a:pPr lvl="0"/>
            <a:r>
              <a:rPr lang="ko-KR" altLang="ko-KR" sz="2400" dirty="0"/>
              <a:t>컴파일 시점 상수라는 뜻은 아님</a:t>
            </a:r>
          </a:p>
          <a:p>
            <a:pPr lvl="0"/>
            <a:r>
              <a:rPr lang="ko-KR" altLang="ko-KR" sz="2400" dirty="0"/>
              <a:t>초기값은 컴파일 시점 또는 실행 시점에 결정 가능</a:t>
            </a:r>
          </a:p>
          <a:p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3199F2-D705-1174-1EB8-5A0C99242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27584"/>
              </p:ext>
            </p:extLst>
          </p:nvPr>
        </p:nvGraphicFramePr>
        <p:xfrm>
          <a:off x="536699" y="5012856"/>
          <a:ext cx="7275661" cy="1224456"/>
        </p:xfrm>
        <a:graphic>
          <a:graphicData uri="http://schemas.openxmlformats.org/drawingml/2006/table">
            <a:tbl>
              <a:tblPr/>
              <a:tblGrid>
                <a:gridCol w="4247884">
                  <a:extLst>
                    <a:ext uri="{9D8B030D-6E8A-4147-A177-3AD203B41FA5}">
                      <a16:colId xmlns:a16="http://schemas.microsoft.com/office/drawing/2014/main" val="161763588"/>
                    </a:ext>
                  </a:extLst>
                </a:gridCol>
                <a:gridCol w="2043749">
                  <a:extLst>
                    <a:ext uri="{9D8B030D-6E8A-4147-A177-3AD203B41FA5}">
                      <a16:colId xmlns:a16="http://schemas.microsoft.com/office/drawing/2014/main" val="958975622"/>
                    </a:ext>
                  </a:extLst>
                </a:gridCol>
                <a:gridCol w="984028">
                  <a:extLst>
                    <a:ext uri="{9D8B030D-6E8A-4147-A177-3AD203B41FA5}">
                      <a16:colId xmlns:a16="http://schemas.microsoft.com/office/drawing/2014/main" val="3967341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결정 시점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096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maxCount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{100}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컴파일 시점 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90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 int runtimeCount{GetCount()}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실행 시점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4033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1AC4A2-0E98-4A98-2112-251ED1777A67}"/>
              </a:ext>
            </a:extLst>
          </p:cNvPr>
          <p:cNvSpPr txBox="1"/>
          <p:nvPr/>
        </p:nvSpPr>
        <p:spPr>
          <a:xfrm>
            <a:off x="536699" y="2693819"/>
            <a:ext cx="7275661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maxCount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200; // 오류</a:t>
            </a:r>
            <a:endParaRPr lang="en-US" altLang="ko-KR" sz="1800" b="1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endParaRPr lang="ko-KR" altLang="ko-KR" sz="1800" b="1" dirty="0">
              <a:effectLst/>
            </a:endParaRPr>
          </a:p>
          <a:p>
            <a:pPr rtl="0">
              <a:buNone/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// 가능</a:t>
            </a:r>
            <a:endParaRPr lang="ko-KR" altLang="ko-KR" sz="1800" b="1" dirty="0">
              <a:effectLst/>
            </a:endParaRPr>
          </a:p>
          <a:p>
            <a:pPr rtl="0">
              <a:buNone/>
            </a:pP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runtimeCount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GetCount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};</a:t>
            </a:r>
            <a:endParaRPr lang="ko-KR" altLang="ko-KR" sz="1800" b="1" dirty="0">
              <a:effectLst/>
            </a:endParaRPr>
          </a:p>
          <a:p>
            <a:pPr rtl="0">
              <a:buNone/>
            </a:pP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otherValues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runtimeCount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]; // 오류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54369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C6558-2588-DF42-79C2-DA4822E9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DF9E6-0080-EEBA-F299-3750191A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2.7.5 constexpr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14168E-C189-FB0F-EBAF-7B8EF5116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컴파일 시점에 사용할 상수임을 명확하게 표현</a:t>
            </a:r>
          </a:p>
          <a:p>
            <a:pPr lvl="0"/>
            <a:r>
              <a:rPr lang="ko-KR" altLang="ko-KR" sz="2400" dirty="0"/>
              <a:t>constexpr 변수는 암시적으로 </a:t>
            </a:r>
            <a:r>
              <a:rPr lang="ko-KR" altLang="ko-KR" sz="2400" dirty="0" err="1"/>
              <a:t>const</a:t>
            </a:r>
            <a:endParaRPr lang="ko-KR" altLang="ko-KR" sz="2400" dirty="0"/>
          </a:p>
          <a:p>
            <a:pPr lvl="0"/>
            <a:r>
              <a:rPr lang="ko-KR" altLang="ko-KR" sz="2400" dirty="0"/>
              <a:t>초기값을 컴파일 시점에 계산할 수 있어야 함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F43DA-C6EE-7F1D-1A78-DD54C826BDA3}"/>
              </a:ext>
            </a:extLst>
          </p:cNvPr>
          <p:cNvSpPr txBox="1"/>
          <p:nvPr/>
        </p:nvSpPr>
        <p:spPr>
          <a:xfrm>
            <a:off x="539750" y="2458631"/>
            <a:ext cx="7848674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6BD6D-7233-8CF8-5170-FC6E4BF35ECE}"/>
              </a:ext>
            </a:extLst>
          </p:cNvPr>
          <p:cNvSpPr txBox="1"/>
          <p:nvPr/>
        </p:nvSpPr>
        <p:spPr>
          <a:xfrm>
            <a:off x="539750" y="5157192"/>
            <a:ext cx="7848674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상수 표현식이 필요한 위치에서는 컴파일 시점 계산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실행 시점 값을 전달하면 일반 함수처럼 실행 시점 계산 가능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7030A0"/>
                </a:solidFill>
                <a:effectLst/>
                <a:latin typeface="+mn-ea"/>
                <a:ea typeface="+mn-ea"/>
              </a:rPr>
              <a:t>const는</a:t>
            </a:r>
            <a:r>
              <a:rPr lang="ko-KR" altLang="ko-KR" sz="2000" b="1" i="0" u="none" strike="noStrike" dirty="0">
                <a:solidFill>
                  <a:srgbClr val="7030A0"/>
                </a:solidFill>
                <a:effectLst/>
                <a:latin typeface="+mn-ea"/>
                <a:ea typeface="+mn-ea"/>
              </a:rPr>
              <a:t> 변경 제한, </a:t>
            </a:r>
            <a:r>
              <a:rPr lang="ko-KR" altLang="ko-KR" sz="2000" b="1" i="0" u="none" strike="noStrike" dirty="0" err="1">
                <a:solidFill>
                  <a:srgbClr val="7030A0"/>
                </a:solidFill>
                <a:effectLst/>
                <a:latin typeface="+mn-ea"/>
                <a:ea typeface="+mn-ea"/>
              </a:rPr>
              <a:t>constexpr는</a:t>
            </a:r>
            <a:r>
              <a:rPr lang="ko-KR" altLang="ko-KR" sz="2000" b="1" i="0" u="none" strike="noStrike" dirty="0">
                <a:solidFill>
                  <a:srgbClr val="7030A0"/>
                </a:solidFill>
                <a:effectLst/>
                <a:latin typeface="+mn-ea"/>
                <a:ea typeface="+mn-ea"/>
              </a:rPr>
              <a:t> 컴파일 시점 사용 가능성 표현</a:t>
            </a:r>
          </a:p>
        </p:txBody>
      </p:sp>
    </p:spTree>
    <p:extLst>
      <p:ext uri="{BB962C8B-B14F-4D97-AF65-F5344CB8AC3E}">
        <p14:creationId xmlns:p14="http://schemas.microsoft.com/office/powerpoint/2010/main" val="2366887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5FD8-B3B7-509A-B2A3-0F5E98AC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80EEA-33EE-5B0D-1AFC-F96DBDB9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2.7.8 포인터와 </a:t>
            </a:r>
            <a:r>
              <a:rPr lang="ko-KR" altLang="ko-KR" dirty="0" err="1"/>
              <a:t>const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5431A-130B-57A1-C9DF-5F569765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233D3-1F7A-A434-1C3C-28695CE04EBA}"/>
              </a:ext>
            </a:extLst>
          </p:cNvPr>
          <p:cNvSpPr txBox="1"/>
          <p:nvPr/>
        </p:nvSpPr>
        <p:spPr>
          <a:xfrm>
            <a:off x="395535" y="692150"/>
            <a:ext cx="8353177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pointerToConst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&amp;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constPointer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&amp;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constPointerToConst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&amp;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endParaRPr lang="ko-KR" altLang="en-US" sz="40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ECCCC2C-C573-ABD1-3191-D3758368F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012247"/>
              </p:ext>
            </p:extLst>
          </p:nvPr>
        </p:nvGraphicFramePr>
        <p:xfrm>
          <a:off x="395535" y="2839720"/>
          <a:ext cx="8353177" cy="1574800"/>
        </p:xfrm>
        <a:graphic>
          <a:graphicData uri="http://schemas.openxmlformats.org/drawingml/2006/table">
            <a:tbl>
              <a:tblPr/>
              <a:tblGrid>
                <a:gridCol w="5040561">
                  <a:extLst>
                    <a:ext uri="{9D8B030D-6E8A-4147-A177-3AD203B41FA5}">
                      <a16:colId xmlns:a16="http://schemas.microsoft.com/office/drawing/2014/main" val="263069144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59080879"/>
                    </a:ext>
                  </a:extLst>
                </a:gridCol>
                <a:gridCol w="1584424">
                  <a:extLst>
                    <a:ext uri="{9D8B030D-6E8A-4147-A177-3AD203B41FA5}">
                      <a16:colId xmlns:a16="http://schemas.microsoft.com/office/drawing/2014/main" val="344476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가리키는 값 변경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다른 주소 대입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1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pointerToConst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703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constPointer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1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constPointerToConst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7739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DBCC05-A270-0CAF-A36A-62071FDEF382}"/>
              </a:ext>
            </a:extLst>
          </p:cNvPr>
          <p:cNvSpPr txBox="1"/>
          <p:nvPr/>
        </p:nvSpPr>
        <p:spPr>
          <a:xfrm>
            <a:off x="395534" y="4941168"/>
            <a:ext cx="8353177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읽는 방법</a:t>
            </a:r>
            <a:endParaRPr lang="ko-KR" altLang="ko-KR" sz="2000" b="1" dirty="0"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* :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int를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가리키는 포인터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: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int를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가리키는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포인터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: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int를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가리키는 </a:t>
            </a:r>
            <a:r>
              <a:rPr lang="ko-KR" altLang="ko-KR" sz="20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</a:t>
            </a:r>
            <a:r>
              <a:rPr lang="ko-KR" altLang="ko-KR" sz="20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포인터</a:t>
            </a:r>
            <a:endParaRPr lang="ko-KR" altLang="ko-KR" sz="20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5845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E8F5-E195-F087-1392-C7E09E2C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39D38-D978-41FA-1C36-9B161BA4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2.8 타입 표현과 안전성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13ECA0-DD56-6200-C407-E88DDA5C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C++는 C의 </a:t>
            </a:r>
            <a:r>
              <a:rPr lang="ko-KR" altLang="ko-KR" sz="2400" dirty="0" err="1"/>
              <a:t>저수준</a:t>
            </a:r>
            <a:r>
              <a:rPr lang="ko-KR" altLang="ko-KR" sz="2400" dirty="0"/>
              <a:t> 제어 기능을 유지</a:t>
            </a:r>
          </a:p>
          <a:p>
            <a:pPr lvl="0"/>
            <a:r>
              <a:rPr lang="ko-KR" altLang="ko-KR" sz="2400" dirty="0"/>
              <a:t>변환의 의도와 타입의 의미를 코드에 명확하게 표현</a:t>
            </a:r>
          </a:p>
          <a:p>
            <a:pPr lvl="0"/>
            <a:r>
              <a:rPr lang="ko-KR" altLang="ko-KR" sz="2400" dirty="0"/>
              <a:t>C 스타일 형 변환은 서로 다른 목적의 변환을 같은 문법으로 표현</a:t>
            </a:r>
          </a:p>
          <a:p>
            <a:pPr lvl="0"/>
            <a:r>
              <a:rPr lang="ko-KR" altLang="ko-KR" sz="2400" dirty="0"/>
              <a:t>C++ 형 변환 연산자는 변환 목적을 드러냄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3A4B189-FC14-6632-4C56-9D59AAE51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251041"/>
              </p:ext>
            </p:extLst>
          </p:nvPr>
        </p:nvGraphicFramePr>
        <p:xfrm>
          <a:off x="539750" y="2649920"/>
          <a:ext cx="7704658" cy="2213480"/>
        </p:xfrm>
        <a:graphic>
          <a:graphicData uri="http://schemas.openxmlformats.org/drawingml/2006/table">
            <a:tbl>
              <a:tblPr/>
              <a:tblGrid>
                <a:gridCol w="2232050">
                  <a:extLst>
                    <a:ext uri="{9D8B030D-6E8A-4147-A177-3AD203B41FA5}">
                      <a16:colId xmlns:a16="http://schemas.microsoft.com/office/drawing/2014/main" val="4030393735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468836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목적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879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static_cast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관련 타입 사이의 일반 변환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96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const_cast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포인터나 참조의 상수성 추가·제거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91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reinterpret_cast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저수준 표현을 다른 타입으로 해석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2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dynamic_cast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다형 클래스 계층의 실행 시점 타입 확인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6741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8B316D-9C9F-05E2-0EA4-5A903A354D0C}"/>
              </a:ext>
            </a:extLst>
          </p:cNvPr>
          <p:cNvSpPr txBox="1"/>
          <p:nvPr/>
        </p:nvSpPr>
        <p:spPr>
          <a:xfrm>
            <a:off x="539750" y="5157192"/>
            <a:ext cx="763265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10.5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};</a:t>
            </a:r>
            <a:endParaRPr lang="ko-KR" altLang="en-US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9D959-7C9A-FAF0-0FFD-8243325E40F7}"/>
              </a:ext>
            </a:extLst>
          </p:cNvPr>
          <p:cNvSpPr txBox="1"/>
          <p:nvPr/>
        </p:nvSpPr>
        <p:spPr>
          <a:xfrm>
            <a:off x="539750" y="5992882"/>
            <a:ext cx="7632650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0000FF"/>
                </a:solidFill>
                <a:effectLst/>
                <a:latin typeface="+mn-ea"/>
                <a:ea typeface="+mn-ea"/>
              </a:rPr>
              <a:t>명시적 변환은 값 손실을 자동으로 막아 주지 않음</a:t>
            </a:r>
            <a:endParaRPr lang="ko-KR" altLang="ko-KR" b="1" i="0" u="none" strike="noStrike" dirty="0">
              <a:solidFill>
                <a:srgbClr val="0000F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0588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93A4-4E3B-02E7-1C6C-45CE1DBB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84733-8794-7616-531C-EDD5F628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2.8.2 enum </a:t>
            </a:r>
            <a:r>
              <a:rPr lang="ko-KR" altLang="ko-KR" dirty="0" err="1"/>
              <a:t>class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9E390-B649-D381-761C-06772681C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기존 열거형의 열거자는 선언된 범위로 들어옴</a:t>
            </a:r>
          </a:p>
          <a:p>
            <a:pPr lvl="0"/>
            <a:r>
              <a:rPr lang="ko-KR" altLang="ko-KR" sz="2400" dirty="0"/>
              <a:t>정수형으로 암시적 변환 가능</a:t>
            </a:r>
          </a:p>
          <a:p>
            <a:pPr lvl="0"/>
            <a:r>
              <a:rPr lang="ko-KR" altLang="ko-KR" sz="2400" dirty="0"/>
              <a:t>서로 다른 열거형에서 같은 열거자 이름 충돌 가능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91694-0231-3C35-AB50-4DB0034FE8A3}"/>
              </a:ext>
            </a:extLst>
          </p:cNvPr>
          <p:cNvSpPr txBox="1"/>
          <p:nvPr/>
        </p:nvSpPr>
        <p:spPr>
          <a:xfrm>
            <a:off x="553492" y="2204864"/>
            <a:ext cx="756084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State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Finished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State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State::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{ State::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}; // 오류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&gt;(State::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};</a:t>
            </a:r>
            <a:endParaRPr lang="ko-KR" altLang="en-US" sz="36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AA88C3-0CFC-1B46-5637-B98E9CBF3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12746"/>
              </p:ext>
            </p:extLst>
          </p:nvPr>
        </p:nvGraphicFramePr>
        <p:xfrm>
          <a:off x="539750" y="4293034"/>
          <a:ext cx="7560839" cy="1764688"/>
        </p:xfrm>
        <a:graphic>
          <a:graphicData uri="http://schemas.openxmlformats.org/drawingml/2006/table">
            <a:tbl>
              <a:tblPr/>
              <a:tblGrid>
                <a:gridCol w="2274751">
                  <a:extLst>
                    <a:ext uri="{9D8B030D-6E8A-4147-A177-3AD203B41FA5}">
                      <a16:colId xmlns:a16="http://schemas.microsoft.com/office/drawing/2014/main" val="3679749527"/>
                    </a:ext>
                  </a:extLst>
                </a:gridCol>
                <a:gridCol w="2274751">
                  <a:extLst>
                    <a:ext uri="{9D8B030D-6E8A-4147-A177-3AD203B41FA5}">
                      <a16:colId xmlns:a16="http://schemas.microsoft.com/office/drawing/2014/main" val="240668187"/>
                    </a:ext>
                  </a:extLst>
                </a:gridCol>
                <a:gridCol w="3011337">
                  <a:extLst>
                    <a:ext uri="{9D8B030D-6E8A-4147-A177-3AD203B41FA5}">
                      <a16:colId xmlns:a16="http://schemas.microsoft.com/office/drawing/2014/main" val="3523290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열거형</a:t>
                      </a:r>
                      <a:endParaRPr lang="ko-KR" sz="3200" b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enum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11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열거자 범위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바깥 범위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열거형 내부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132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정수 변환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암시적 가능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명시적 변환 필요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20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이름 충돌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발생 가능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축소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91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882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EAFE-AF73-4E95-F3D3-47A2F12B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93261-1065-B699-1920-332D2C9F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2.8.3 </a:t>
            </a:r>
            <a:r>
              <a:rPr lang="ko-KR" altLang="ko-KR" dirty="0" err="1"/>
              <a:t>auto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06559-CC09-49FB-53AD-54D8C4DF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auto</a:t>
            </a:r>
          </a:p>
          <a:p>
            <a:pPr lvl="1"/>
            <a:r>
              <a:rPr lang="ko-KR" altLang="ko-KR" dirty="0"/>
              <a:t>초기값으로부터 변수 타입을 추론</a:t>
            </a:r>
          </a:p>
          <a:p>
            <a:pPr lvl="1"/>
            <a:r>
              <a:rPr lang="ko-KR" altLang="ko-KR" dirty="0"/>
              <a:t>타입을 없애는 기능이 아님</a:t>
            </a:r>
          </a:p>
          <a:p>
            <a:pPr lvl="1"/>
            <a:r>
              <a:rPr lang="ko-KR" altLang="ko-KR" dirty="0"/>
              <a:t>결정된 타입은 실행 중 변경되지 않음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B958B-37FD-D2E0-3B1E-A4705BB0A426}"/>
              </a:ext>
            </a:extLst>
          </p:cNvPr>
          <p:cNvSpPr txBox="1"/>
          <p:nvPr/>
        </p:nvSpPr>
        <p:spPr>
          <a:xfrm>
            <a:off x="304453" y="2872095"/>
            <a:ext cx="8712968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               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3.5f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      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float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600" b="1" i="0" u="none" strike="noStrike" dirty="0" err="1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      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bool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          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nullptr_t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voidPtr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   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ko-KR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 타입: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  intPtr1 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성공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floatPtr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성공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 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성공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: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동일한 포인터 타입 대입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  intPtr2  =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voidPtr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;         // 오류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: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C++에서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*는 암시적 변환 불가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intPtr2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voidPtr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성공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*는 명시적 캐스팅 필수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69370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BE7D-8DD1-6002-A6CD-BA5CA760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2775C-651D-FA4D-9F33-76779BEA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2.8.3 </a:t>
            </a:r>
            <a:r>
              <a:rPr lang="ko-KR" altLang="ko-KR" dirty="0" err="1"/>
              <a:t>auto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4F5F0C-D800-4A18-F906-DA34087E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 </a:t>
            </a:r>
            <a:r>
              <a:rPr lang="ko-KR" altLang="en-US" dirty="0"/>
              <a:t>포인터</a:t>
            </a:r>
            <a:r>
              <a:rPr lang="en-US" altLang="ko-KR" dirty="0"/>
              <a:t>, </a:t>
            </a:r>
            <a:r>
              <a:rPr lang="ko-KR" altLang="ko-KR" dirty="0"/>
              <a:t>참조</a:t>
            </a:r>
            <a:r>
              <a:rPr lang="en-US" altLang="ko-KR" dirty="0"/>
              <a:t>,</a:t>
            </a:r>
            <a:r>
              <a:rPr lang="ko-KR" altLang="ko-KR" dirty="0"/>
              <a:t> </a:t>
            </a:r>
            <a:r>
              <a:rPr lang="ko-KR" altLang="ko-KR" dirty="0" err="1"/>
              <a:t>const</a:t>
            </a:r>
            <a:endParaRPr lang="en-US" altLang="ko-KR" dirty="0"/>
          </a:p>
          <a:p>
            <a:pPr lvl="1"/>
            <a:r>
              <a:rPr lang="en-US" altLang="ko-KR" dirty="0"/>
              <a:t>auto*</a:t>
            </a:r>
          </a:p>
          <a:p>
            <a:pPr lvl="1"/>
            <a:r>
              <a:rPr lang="en-US" altLang="ko-KR" dirty="0"/>
              <a:t>auto&amp;</a:t>
            </a:r>
          </a:p>
          <a:p>
            <a:pPr lvl="1"/>
            <a:r>
              <a:rPr lang="en-US" altLang="ko-KR" dirty="0"/>
              <a:t>const auto&amp;</a:t>
            </a:r>
          </a:p>
          <a:p>
            <a:pPr lvl="1"/>
            <a:endParaRPr lang="ko-KR" altLang="ko-KR" dirty="0"/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B841C-D3FC-F7B8-D547-3C0DBEF43DAB}"/>
              </a:ext>
            </a:extLst>
          </p:cNvPr>
          <p:cNvSpPr txBox="1"/>
          <p:nvPr/>
        </p:nvSpPr>
        <p:spPr>
          <a:xfrm>
            <a:off x="542006" y="2731224"/>
            <a:ext cx="7918425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[]{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decayedPtr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추론: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firstPtr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추론: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     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arrayRef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추론: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(&amp;)[4]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constRef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추론: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(&amp;)[4]</a:t>
            </a:r>
            <a:endParaRPr lang="ko-KR" altLang="en-US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99CD9-9A2F-B64F-DBCE-12523C91DC45}"/>
              </a:ext>
            </a:extLst>
          </p:cNvPr>
          <p:cNvSpPr txBox="1"/>
          <p:nvPr/>
        </p:nvSpPr>
        <p:spPr>
          <a:xfrm>
            <a:off x="539749" y="4969818"/>
            <a:ext cx="7918425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decayedPtr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/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firstPtr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: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int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*로 변환되어 배열 크기를 알 수 없음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arrayRef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: 원본 배열 참조, 배열 크기를 알 수 있음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constRef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: 원본 배열 참조, 배열 크기를 알 수 있고 원소 변경 불가</a:t>
            </a:r>
          </a:p>
        </p:txBody>
      </p:sp>
    </p:spTree>
    <p:extLst>
      <p:ext uri="{BB962C8B-B14F-4D97-AF65-F5344CB8AC3E}">
        <p14:creationId xmlns:p14="http://schemas.microsoft.com/office/powerpoint/2010/main" val="492420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0C90-1003-426B-98BD-6DFE43F4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CDDAC-6547-24C9-700E-8BACEA37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 함수 기능의 확장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03DC613-04F6-A79C-1F64-C99C785E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719394"/>
              </p:ext>
            </p:extLst>
          </p:nvPr>
        </p:nvGraphicFramePr>
        <p:xfrm>
          <a:off x="251520" y="692696"/>
          <a:ext cx="8496746" cy="4320481"/>
        </p:xfrm>
        <a:graphic>
          <a:graphicData uri="http://schemas.openxmlformats.org/drawingml/2006/table">
            <a:tbl>
              <a:tblPr/>
              <a:tblGrid>
                <a:gridCol w="2016224">
                  <a:extLst>
                    <a:ext uri="{9D8B030D-6E8A-4147-A177-3AD203B41FA5}">
                      <a16:colId xmlns:a16="http://schemas.microsoft.com/office/drawing/2014/main" val="3716347292"/>
                    </a:ext>
                  </a:extLst>
                </a:gridCol>
                <a:gridCol w="6480522">
                  <a:extLst>
                    <a:ext uri="{9D8B030D-6E8A-4147-A177-3AD203B41FA5}">
                      <a16:colId xmlns:a16="http://schemas.microsoft.com/office/drawing/2014/main" val="1636356481"/>
                    </a:ext>
                  </a:extLst>
                </a:gridCol>
              </a:tblGrid>
              <a:tr h="5653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3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목적</a:t>
                      </a:r>
                      <a:endParaRPr lang="ko-KR" sz="36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97087"/>
                  </a:ext>
                </a:extLst>
              </a:tr>
              <a:tr h="9387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함수 오버로딩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kern="900" spc="-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같은 이름으로 매개변수 </a:t>
                      </a:r>
                      <a:r>
                        <a:rPr lang="ko-KR" sz="2400" b="1" i="0" u="none" strike="noStrike" kern="900" spc="-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타입·개수가</a:t>
                      </a:r>
                      <a:r>
                        <a:rPr lang="ko-KR" sz="2400" b="1" i="0" u="none" strike="noStrike" kern="900" spc="-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다른 함수 구성</a:t>
                      </a:r>
                      <a:endParaRPr lang="ko-KR" sz="4000" b="1" kern="900" spc="-100" baseline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80679"/>
                  </a:ext>
                </a:extLst>
              </a:tr>
              <a:tr h="9387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기본 인수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 시 일부 인수 생략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764667"/>
                  </a:ext>
                </a:extLst>
              </a:tr>
              <a:tr h="9387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인라인 함수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헤더 정의와 함수형 매크로 대체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696303"/>
                  </a:ext>
                </a:extLst>
              </a:tr>
              <a:tr h="9387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반환 타입 추론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문으로 반환 타입 추론</a:t>
                      </a:r>
                      <a:endParaRPr lang="ko-KR" sz="4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60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557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0B0D-5A53-C100-2882-C3DD6D209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D4CFC-9B22-BDFD-1F2D-10D4F835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2.9.1 함수 오버로딩</a:t>
            </a:r>
            <a:r>
              <a:rPr lang="en-US" altLang="ko-KR" dirty="0"/>
              <a:t>(Overloading)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90E0A-37CA-E358-F4F4-B0A073E89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같은 이름으로 다른 기능</a:t>
            </a:r>
            <a:endParaRPr lang="en-US" altLang="ko-KR" sz="2000" dirty="0"/>
          </a:p>
          <a:p>
            <a:pPr lvl="1"/>
            <a:r>
              <a:rPr lang="ko-KR" altLang="en-US" sz="1600" dirty="0"/>
              <a:t>매개변수 개수</a:t>
            </a:r>
            <a:r>
              <a:rPr lang="en-US" altLang="ko-KR" sz="1600" dirty="0"/>
              <a:t>, </a:t>
            </a:r>
            <a:r>
              <a:rPr lang="ko-KR" altLang="en-US" sz="1600" dirty="0"/>
              <a:t>타입이 다를 때</a:t>
            </a:r>
            <a:endParaRPr lang="en-US" altLang="ko-KR" sz="1600" dirty="0"/>
          </a:p>
          <a:p>
            <a:pPr lvl="1"/>
            <a:r>
              <a:rPr lang="ko-KR" altLang="ko-KR" sz="1600" dirty="0"/>
              <a:t>같은 역할의 함수를 일관된 이름으로 구성</a:t>
            </a:r>
          </a:p>
          <a:p>
            <a:pPr lvl="1"/>
            <a:r>
              <a:rPr lang="ko-KR" altLang="ko-KR" sz="1600" dirty="0"/>
              <a:t>반환 타입만 다른 함수는 </a:t>
            </a:r>
            <a:r>
              <a:rPr lang="ko-KR" altLang="ko-KR" sz="1600" dirty="0" err="1"/>
              <a:t>오버로딩할</a:t>
            </a:r>
            <a:r>
              <a:rPr lang="ko-KR" altLang="ko-KR" sz="1600" dirty="0"/>
              <a:t> 수 없음</a:t>
            </a:r>
          </a:p>
          <a:p>
            <a:pPr lvl="1"/>
            <a:r>
              <a:rPr lang="ko-KR" altLang="ko-KR" sz="1600" dirty="0"/>
              <a:t>호출 인수의 개수와 타입에 따라 함수 선택</a:t>
            </a:r>
          </a:p>
          <a:p>
            <a:pPr lvl="1"/>
            <a:r>
              <a:rPr lang="ko-KR" altLang="ko-KR" sz="1600" dirty="0"/>
              <a:t>정확히 일치하는 타입, 정수 승격, 표준 변환 등이 고려됨</a:t>
            </a:r>
          </a:p>
          <a:p>
            <a:pPr lvl="1"/>
            <a:r>
              <a:rPr lang="ko-KR" altLang="ko-KR" sz="1600" dirty="0"/>
              <a:t>여러 함수가 같은 정도로 적합하면 호출이 모호해질 수 있음</a:t>
            </a:r>
          </a:p>
          <a:p>
            <a:pPr lvl="0"/>
            <a:endParaRPr lang="ko-KR" altLang="ko-KR" sz="2400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1F2A3-DC4F-158C-6999-998CE063212B}"/>
              </a:ext>
            </a:extLst>
          </p:cNvPr>
          <p:cNvSpPr txBox="1"/>
          <p:nvPr/>
        </p:nvSpPr>
        <p:spPr>
          <a:xfrm>
            <a:off x="467544" y="2985195"/>
            <a:ext cx="4248472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F5E5B-126B-7D08-F9F9-6972DA72D514}"/>
              </a:ext>
            </a:extLst>
          </p:cNvPr>
          <p:cNvSpPr txBox="1"/>
          <p:nvPr/>
        </p:nvSpPr>
        <p:spPr>
          <a:xfrm>
            <a:off x="4716016" y="2985365"/>
            <a:ext cx="4032697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firstResult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secondResult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thirdResult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57269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692D-2EAC-9EDF-8960-ACE7903A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4A77F-9C5F-ABF0-5F92-EA1CB084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2.9.1 함수 오버로딩</a:t>
            </a:r>
            <a:r>
              <a:rPr lang="en-US" altLang="ko-KR" dirty="0"/>
              <a:t>(Overloading)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225C2-BF68-E092-7CC4-665C22075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호출 의도를 분명하게 하려면</a:t>
            </a:r>
            <a:br>
              <a:rPr lang="en-US" altLang="ko-KR" dirty="0"/>
            </a:br>
            <a:r>
              <a:rPr lang="ko-KR" altLang="ko-KR" dirty="0"/>
              <a:t>인수 타입을 명시적으로 맞춤</a:t>
            </a:r>
            <a:endParaRPr lang="ko-KR" altLang="ko-KR" sz="2400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A5420-E4B6-8C1E-3447-BB0A802A220C}"/>
              </a:ext>
            </a:extLst>
          </p:cNvPr>
          <p:cNvSpPr txBox="1"/>
          <p:nvPr/>
        </p:nvSpPr>
        <p:spPr>
          <a:xfrm>
            <a:off x="535220" y="1916832"/>
            <a:ext cx="5548947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ko-KR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(10); // 모호함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ko-K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87730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6869-AF61-6E60-2617-F7D58412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FFC6F-ED4C-E462-2353-AF03DD27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2.9.2 기본 인수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26DA0-1F7E-D0DA-DED0-9BFCFBA6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인수를 생략하면 기본값 사용</a:t>
            </a:r>
          </a:p>
          <a:p>
            <a:pPr lvl="0"/>
            <a:r>
              <a:rPr lang="ko-KR" altLang="ko-KR" sz="2400" dirty="0"/>
              <a:t>기본 인수는 오른쪽 매개변수부터 연속해서 지정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0"/>
            <a:endParaRPr lang="en-US" altLang="ko-KR" sz="2400" dirty="0"/>
          </a:p>
          <a:p>
            <a:pPr lvl="0"/>
            <a:r>
              <a:rPr lang="ko-KR" altLang="ko-KR" sz="2400" dirty="0"/>
              <a:t>선언과 정의를 분리할 때 기본 인수는 함수 선언에만 작성</a:t>
            </a:r>
          </a:p>
          <a:p>
            <a:pPr lvl="0"/>
            <a:r>
              <a:rPr lang="ko-KR" altLang="ko-KR" sz="2400" dirty="0"/>
              <a:t>오버로딩과 함께 사용할 때 호출 모호성 주의</a:t>
            </a:r>
          </a:p>
          <a:p>
            <a:pPr lvl="0"/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6B84A-D34C-F71C-18C9-C428353791F4}"/>
              </a:ext>
            </a:extLst>
          </p:cNvPr>
          <p:cNvSpPr txBox="1"/>
          <p:nvPr/>
        </p:nvSpPr>
        <p:spPr>
          <a:xfrm>
            <a:off x="561328" y="1643896"/>
            <a:ext cx="7251032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PrintMessage(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PrintMessage(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8F4B4-464D-5C9D-BDF0-2F053BF30BF2}"/>
              </a:ext>
            </a:extLst>
          </p:cNvPr>
          <p:cNvSpPr txBox="1"/>
          <p:nvPr/>
        </p:nvSpPr>
        <p:spPr>
          <a:xfrm>
            <a:off x="561328" y="5334307"/>
            <a:ext cx="7251032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0,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); // 오류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13963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D1F3-2C20-A758-7C5D-A7669A98B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ABC05-BB11-4898-F97D-3F7E4096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2.9.3 인라인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91E1D6-38FF-33DD-B3A4-1EEC06FAD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C의 함수형 매크로는 전처리 과정에서 문자 단위 치환</a:t>
            </a:r>
          </a:p>
          <a:p>
            <a:pPr lvl="0"/>
            <a:r>
              <a:rPr lang="ko-KR" altLang="ko-KR" sz="2000" dirty="0"/>
              <a:t>인수 식이 여러 번 평가되거나 연산자 우선순위 문제가 생길 수 있음</a:t>
            </a:r>
          </a:p>
          <a:p>
            <a:pPr lvl="0"/>
            <a:r>
              <a:rPr lang="ko-KR" altLang="ko-KR" sz="2000" dirty="0"/>
              <a:t>C++에서는 같은 목적의 계산을 함수로 작성</a:t>
            </a:r>
            <a:endParaRPr lang="en-US" altLang="ko-KR" sz="2000" dirty="0"/>
          </a:p>
          <a:p>
            <a:pPr lvl="0"/>
            <a:endParaRPr lang="en-US" altLang="ko-KR" sz="2000" dirty="0"/>
          </a:p>
          <a:p>
            <a:pPr lvl="0"/>
            <a:endParaRPr lang="en-US" altLang="ko-KR" sz="2000" dirty="0"/>
          </a:p>
          <a:p>
            <a:pPr lvl="0"/>
            <a:endParaRPr lang="en-US" altLang="ko-KR" sz="2000" dirty="0"/>
          </a:p>
          <a:p>
            <a:pPr lvl="0"/>
            <a:endParaRPr lang="en-US" altLang="ko-KR" sz="2000" dirty="0"/>
          </a:p>
          <a:p>
            <a:pPr lvl="0"/>
            <a:r>
              <a:rPr lang="ko-KR" altLang="ko-KR" sz="2000" dirty="0"/>
              <a:t>일반 함수이므로 타입 검사 수행</a:t>
            </a:r>
          </a:p>
          <a:p>
            <a:pPr lvl="0"/>
            <a:r>
              <a:rPr lang="ko-KR" altLang="ko-KR" sz="2000" dirty="0"/>
              <a:t>인수는 함수 호출 규칙에 따라 한 번 평가</a:t>
            </a:r>
          </a:p>
          <a:p>
            <a:pPr lvl="0"/>
            <a:r>
              <a:rPr lang="ko-KR" altLang="ko-KR" sz="2000" dirty="0" err="1"/>
              <a:t>inline은</a:t>
            </a:r>
            <a:r>
              <a:rPr lang="ko-KR" altLang="ko-KR" sz="2000" dirty="0"/>
              <a:t> 최적화 강제가 아님</a:t>
            </a:r>
          </a:p>
          <a:p>
            <a:pPr lvl="0"/>
            <a:r>
              <a:rPr lang="ko-KR" altLang="ko-KR" sz="2000" dirty="0"/>
              <a:t>헤더 파일에 동일한 함수 정의를 둘 수 있게 하는 언어 규칙으로 이해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56B24-B218-1DE0-3A78-60BC7C53B982}"/>
              </a:ext>
            </a:extLst>
          </p:cNvPr>
          <p:cNvSpPr txBox="1"/>
          <p:nvPr/>
        </p:nvSpPr>
        <p:spPr>
          <a:xfrm>
            <a:off x="539750" y="1916832"/>
            <a:ext cx="5155015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D0B8E-5969-141C-1C4C-1D53CD2C14B3}"/>
              </a:ext>
            </a:extLst>
          </p:cNvPr>
          <p:cNvSpPr txBox="1"/>
          <p:nvPr/>
        </p:nvSpPr>
        <p:spPr>
          <a:xfrm>
            <a:off x="539750" y="4944070"/>
            <a:ext cx="5155014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97620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D5CB-55B8-B3DA-5D52-BBB591DC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3A5A7-E285-4FD7-3EED-E278F05F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2.9.4 함수의 반환 타입 추론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4EC1B-10B7-73F7-98C6-034FC20A0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C++14부터 </a:t>
            </a:r>
            <a:r>
              <a:rPr lang="ko-KR" altLang="ko-KR" sz="2400" dirty="0" err="1"/>
              <a:t>auto로</a:t>
            </a:r>
            <a:r>
              <a:rPr lang="ko-KR" altLang="ko-KR" sz="2400" dirty="0"/>
              <a:t> 반환 타입 추론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0"/>
            <a:endParaRPr lang="en-US" altLang="ko-KR" sz="2400" dirty="0"/>
          </a:p>
          <a:p>
            <a:pPr lvl="0"/>
            <a:r>
              <a:rPr lang="ko-KR" altLang="ko-KR" sz="2400" dirty="0" err="1"/>
              <a:t>여러개인</a:t>
            </a:r>
            <a:r>
              <a:rPr lang="ko-KR" altLang="ko-KR" sz="2400" dirty="0"/>
              <a:t> 반환문에서 모든 반환값 타입 일치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62D63-D60D-1207-0ED4-9539AA558FA9}"/>
              </a:ext>
            </a:extLst>
          </p:cNvPr>
          <p:cNvSpPr txBox="1"/>
          <p:nvPr/>
        </p:nvSpPr>
        <p:spPr>
          <a:xfrm>
            <a:off x="539750" y="1268760"/>
            <a:ext cx="6264498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반환타입:int</a:t>
            </a:r>
            <a:endParaRPr lang="ko-KR" altLang="en-US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244E1-28DF-713C-4BF7-22C8C1D4B423}"/>
              </a:ext>
            </a:extLst>
          </p:cNvPr>
          <p:cNvSpPr txBox="1"/>
          <p:nvPr/>
        </p:nvSpPr>
        <p:spPr>
          <a:xfrm>
            <a:off x="539750" y="3212976"/>
            <a:ext cx="6264498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오류: 다른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반환값과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타입 불 일치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20.0;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496678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7000-7839-C570-F01F-35F2CE62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EF6A8-23B8-3A25-9122-7AB43E9E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2.9.4 함수의 반환 타입 추론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3B7AE-FF53-CB78-F803-A49F7F724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후행 반환 타입은 반환 타입을 명시하거나</a:t>
            </a:r>
            <a:br>
              <a:rPr lang="en-US" altLang="ko-KR" dirty="0"/>
            </a:br>
            <a:r>
              <a:rPr lang="ko-KR" altLang="ko-KR" dirty="0"/>
              <a:t>템플릿에서 복잡한 타입 관계를 표현할 때 사용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CC2E2-982F-11FA-98C6-B88DE0447E23}"/>
              </a:ext>
            </a:extLst>
          </p:cNvPr>
          <p:cNvSpPr txBox="1"/>
          <p:nvPr/>
        </p:nvSpPr>
        <p:spPr>
          <a:xfrm>
            <a:off x="539750" y="2105561"/>
            <a:ext cx="7776666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4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95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A385B-7AEF-C60E-2FD0-8C5B275B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CA485-EE24-D4B0-8EFD-A8E8828F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 참조</a:t>
            </a:r>
            <a:r>
              <a:rPr lang="en-US" altLang="ko-KR" dirty="0"/>
              <a:t>(Reference)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C1527-B38B-7E3C-4291-4548E75B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1600" dirty="0" err="1"/>
              <a:t>Alias</a:t>
            </a:r>
            <a:r>
              <a:rPr lang="ko-KR" altLang="ko-KR" sz="1600" dirty="0"/>
              <a:t>: 참조는 기존 객체에 붙인 다른 이름</a:t>
            </a:r>
          </a:p>
          <a:p>
            <a:r>
              <a:rPr lang="ko-KR" altLang="ko-KR" sz="1600" dirty="0"/>
              <a:t>선언할 때 참조할 대상을 지정해야 함</a:t>
            </a:r>
          </a:p>
          <a:p>
            <a:r>
              <a:rPr lang="ko-KR" altLang="ko-KR" sz="1600" dirty="0"/>
              <a:t>일반적인 </a:t>
            </a:r>
            <a:r>
              <a:rPr lang="ko-KR" altLang="ko-KR" sz="1600" dirty="0" err="1"/>
              <a:t>좌측값</a:t>
            </a:r>
            <a:r>
              <a:rPr lang="ko-KR" altLang="ko-KR" sz="1600" dirty="0"/>
              <a:t> 참조는 초기화 후 다른 객체를 참조하도록 변경할 수 없음</a:t>
            </a:r>
          </a:p>
          <a:p>
            <a:r>
              <a:rPr lang="ko-KR" altLang="ko-KR" sz="1600" dirty="0"/>
              <a:t>포인터처럼 *로 </a:t>
            </a:r>
            <a:r>
              <a:rPr lang="ko-KR" altLang="ko-KR" sz="1600" dirty="0" err="1"/>
              <a:t>역참조하지</a:t>
            </a:r>
            <a:r>
              <a:rPr lang="ko-KR" altLang="ko-KR" sz="1600" dirty="0"/>
              <a:t> 않음</a:t>
            </a:r>
          </a:p>
          <a:p>
            <a:r>
              <a:rPr lang="ko-KR" altLang="ko-KR" sz="1600" dirty="0"/>
              <a:t>호출할 때 주소 연산자 &amp;</a:t>
            </a:r>
            <a:r>
              <a:rPr lang="ko-KR" altLang="ko-KR" sz="1600" dirty="0" err="1"/>
              <a:t>를</a:t>
            </a:r>
            <a:r>
              <a:rPr lang="ko-KR" altLang="ko-KR" sz="1600" dirty="0"/>
              <a:t> 작성하지 않음</a:t>
            </a:r>
          </a:p>
          <a:p>
            <a:r>
              <a:rPr lang="ko-KR" altLang="ko-KR" sz="1600" dirty="0"/>
              <a:t>상수 참조(</a:t>
            </a:r>
            <a:r>
              <a:rPr lang="ko-KR" altLang="ko-KR" sz="1600" dirty="0" err="1"/>
              <a:t>const</a:t>
            </a:r>
            <a:r>
              <a:rPr lang="ko-KR" altLang="ko-KR" sz="1600" dirty="0"/>
              <a:t> &amp;)는 참조를 통해 원본 값을 변경할 수 없음 (읽기 전용)</a:t>
            </a:r>
          </a:p>
          <a:p>
            <a:r>
              <a:rPr lang="ko-KR" altLang="ko-KR" sz="1600" dirty="0"/>
              <a:t>일반 참조와 달리, 상수 참조는 리터럴(예: 10)이나 임시 객체도 참조할 수 있음</a:t>
            </a:r>
          </a:p>
          <a:p>
            <a:br>
              <a:rPr lang="ko-KR" altLang="ko-KR" sz="1600" dirty="0"/>
            </a:br>
            <a:endParaRPr lang="ko-KR" altLang="ko-KR" sz="1600" dirty="0"/>
          </a:p>
          <a:p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E36A05-3541-E974-6DE5-A549DAE2DC8A}"/>
              </a:ext>
            </a:extLst>
          </p:cNvPr>
          <p:cNvSpPr txBox="1"/>
          <p:nvPr/>
        </p:nvSpPr>
        <p:spPr>
          <a:xfrm>
            <a:off x="539750" y="3212976"/>
            <a:ext cx="7848674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10;       // 오류: 비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참조는 임시 객체 참조 불가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가능: 임시 객체의 수명 연장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20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참조 변경이 아니라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first에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값 대입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19069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9084-78A5-FB20-9963-2AD15A5B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5FCED-8921-9440-51D6-4A3384DE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2.10.1 포인터와 참조의 기본 차이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E88AB7-8474-4330-C06A-9FCFF03AA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92696"/>
            <a:ext cx="8928992" cy="5832475"/>
          </a:xfrm>
        </p:spPr>
        <p:txBody>
          <a:bodyPr/>
          <a:lstStyle/>
          <a:p>
            <a:pPr lvl="0"/>
            <a:r>
              <a:rPr lang="ko-KR" altLang="ko-KR" sz="2000" dirty="0"/>
              <a:t>참조도 내부 구현에서는 주소를 이용할 수 있음</a:t>
            </a:r>
          </a:p>
          <a:p>
            <a:pPr lvl="0"/>
            <a:r>
              <a:rPr lang="ko-KR" altLang="ko-KR" sz="2000" dirty="0"/>
              <a:t>C++ 문법에서 참조는 객체의 별칭으로 다룸</a:t>
            </a:r>
          </a:p>
          <a:p>
            <a:pPr lvl="0"/>
            <a:r>
              <a:rPr lang="ko-KR" altLang="ko-KR" sz="2000" dirty="0"/>
              <a:t>널 상태가 필요하거나 선택적으로 대상을 전달해야 하면 포인터가 적합</a:t>
            </a:r>
          </a:p>
          <a:p>
            <a:endParaRPr lang="ko-KR" alt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E4E389-F232-4A1F-B8D5-AABA7AFA9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259990"/>
              </p:ext>
            </p:extLst>
          </p:nvPr>
        </p:nvGraphicFramePr>
        <p:xfrm>
          <a:off x="539750" y="2050227"/>
          <a:ext cx="7920682" cy="2213480"/>
        </p:xfrm>
        <a:graphic>
          <a:graphicData uri="http://schemas.openxmlformats.org/drawingml/2006/table">
            <a:tbl>
              <a:tblPr/>
              <a:tblGrid>
                <a:gridCol w="2169842">
                  <a:extLst>
                    <a:ext uri="{9D8B030D-6E8A-4147-A177-3AD203B41FA5}">
                      <a16:colId xmlns:a16="http://schemas.microsoft.com/office/drawing/2014/main" val="2404187905"/>
                    </a:ext>
                  </a:extLst>
                </a:gridCol>
                <a:gridCol w="2230537">
                  <a:extLst>
                    <a:ext uri="{9D8B030D-6E8A-4147-A177-3AD203B41FA5}">
                      <a16:colId xmlns:a16="http://schemas.microsoft.com/office/drawing/2014/main" val="2973423950"/>
                    </a:ext>
                  </a:extLst>
                </a:gridCol>
                <a:gridCol w="3520303">
                  <a:extLst>
                    <a:ext uri="{9D8B030D-6E8A-4147-A177-3AD203B41FA5}">
                      <a16:colId xmlns:a16="http://schemas.microsoft.com/office/drawing/2014/main" val="3010238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참조</a:t>
                      </a:r>
                      <a:endParaRPr lang="ko-KR" sz="32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73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 후 대상 변경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82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널 상태 표현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nullptr 사용 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일반적으로 유효한 객체에 연결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1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 접근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pointer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변수와 같은 문법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79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 시 주소 전달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value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value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948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173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5C16-653A-4D20-F54E-F8B96F7C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2EED4-64C0-1B40-1F26-444AC95E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2.10.2 값, 주소와 참조에 의한 전달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DCE64-F419-27A7-59B4-DF589FF2B348}"/>
              </a:ext>
            </a:extLst>
          </p:cNvPr>
          <p:cNvSpPr txBox="1"/>
          <p:nvPr/>
        </p:nvSpPr>
        <p:spPr>
          <a:xfrm>
            <a:off x="395833" y="690797"/>
            <a:ext cx="4176168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++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IncreasePointer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++(*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++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IncreasePointer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++(*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IncreaseReference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++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65AE1-2ED9-F7FE-E6D6-0298DD126FCD}"/>
              </a:ext>
            </a:extLst>
          </p:cNvPr>
          <p:cNvSpPr txBox="1"/>
          <p:nvPr/>
        </p:nvSpPr>
        <p:spPr>
          <a:xfrm>
            <a:off x="4984362" y="690797"/>
            <a:ext cx="3639772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IncreaseValue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IncreasePointer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IncreaseReference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third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45853-3B8F-D0CA-E3E8-73B0169C4403}"/>
              </a:ext>
            </a:extLst>
          </p:cNvPr>
          <p:cNvSpPr txBox="1"/>
          <p:nvPr/>
        </p:nvSpPr>
        <p:spPr>
          <a:xfrm>
            <a:off x="4984362" y="2852936"/>
            <a:ext cx="3639772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first는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 유지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third는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11로 변경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82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1FE3-5C66-A17E-1E6F-508BB798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95D93-AFBB-DB0E-B017-4D8C3617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2.10.2 값, 주소와 참조 전달 비교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6FD74547-C921-2A41-74F0-57A7CEE13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800225"/>
              </p:ext>
            </p:extLst>
          </p:nvPr>
        </p:nvGraphicFramePr>
        <p:xfrm>
          <a:off x="395535" y="836712"/>
          <a:ext cx="8353176" cy="4320482"/>
        </p:xfrm>
        <a:graphic>
          <a:graphicData uri="http://schemas.openxmlformats.org/drawingml/2006/table">
            <a:tbl>
              <a:tblPr/>
              <a:tblGrid>
                <a:gridCol w="1231701">
                  <a:extLst>
                    <a:ext uri="{9D8B030D-6E8A-4147-A177-3AD203B41FA5}">
                      <a16:colId xmlns:a16="http://schemas.microsoft.com/office/drawing/2014/main" val="1118355367"/>
                    </a:ext>
                  </a:extLst>
                </a:gridCol>
                <a:gridCol w="2373825">
                  <a:extLst>
                    <a:ext uri="{9D8B030D-6E8A-4147-A177-3AD203B41FA5}">
                      <a16:colId xmlns:a16="http://schemas.microsoft.com/office/drawing/2014/main" val="411527645"/>
                    </a:ext>
                  </a:extLst>
                </a:gridCol>
                <a:gridCol w="2373825">
                  <a:extLst>
                    <a:ext uri="{9D8B030D-6E8A-4147-A177-3AD203B41FA5}">
                      <a16:colId xmlns:a16="http://schemas.microsoft.com/office/drawing/2014/main" val="800280099"/>
                    </a:ext>
                  </a:extLst>
                </a:gridCol>
                <a:gridCol w="2373825">
                  <a:extLst>
                    <a:ext uri="{9D8B030D-6E8A-4147-A177-3AD203B41FA5}">
                      <a16:colId xmlns:a16="http://schemas.microsoft.com/office/drawing/2014/main" val="2142078293"/>
                    </a:ext>
                  </a:extLst>
                </a:gridCol>
              </a:tblGrid>
              <a:tr h="454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전달 (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Call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by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Value</a:t>
                      </a: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 전달 (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Call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by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Address</a:t>
                      </a: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참조 전달 (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Call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by</a:t>
                      </a:r>
                      <a:r>
                        <a:rPr 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Reference</a:t>
                      </a: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48178"/>
                  </a:ext>
                </a:extLst>
              </a:tr>
              <a:tr h="20469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 코드</a:t>
                      </a:r>
                      <a:endParaRPr lang="ko-KR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4078F2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sz="14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ko-KR" sz="14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14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ko-KR" sz="24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>
                          <a:solidFill>
                            <a:srgbClr val="4078F2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*a, 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*b)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t = *a;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*a = *b;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*b = t;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ko-KR" sz="24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1400" b="1" i="0" u="none" strike="noStrike">
                          <a:solidFill>
                            <a:srgbClr val="4078F2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&amp;a,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&amp;b)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ko-KR" sz="1400" b="1" i="0" u="none" strike="noStrike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t = a;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a = b;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b = t;</a:t>
                      </a:r>
                      <a:b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400" b="1" i="0" u="none" strike="noStrike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ko-KR" sz="24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09258"/>
                  </a:ext>
                </a:extLst>
              </a:tr>
              <a:tr h="454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 호출</a:t>
                      </a:r>
                      <a:endParaRPr lang="ko-KR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Swap</a:t>
                      </a: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);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Swap(&amp;x, &amp;y);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Swap(x, y);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029757"/>
                  </a:ext>
                </a:extLst>
              </a:tr>
              <a:tr h="454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전달되는 대상</a:t>
                      </a:r>
                      <a:endParaRPr lang="ko-KR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인수의 값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객체의 주소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원본 객체에 대한 참조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28142"/>
                  </a:ext>
                </a:extLst>
              </a:tr>
              <a:tr h="454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원본 변경</a:t>
                      </a:r>
                      <a:endParaRPr lang="ko-KR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변경되지 않음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변경됨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변경됨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788587"/>
                  </a:ext>
                </a:extLst>
              </a:tr>
              <a:tr h="454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사용</a:t>
                      </a:r>
                      <a:endParaRPr lang="ko-KR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변수와 같음</a:t>
                      </a:r>
                      <a:endParaRPr lang="ko-KR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*로 </a:t>
                      </a: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역참조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변수와 같음</a:t>
                      </a:r>
                      <a:endParaRPr lang="ko-KR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1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211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05FF-59FF-6752-DE51-9542112B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0EE89-EB3F-9BA9-9F57-9013B0E6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2.10.3 상수 참조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A4ED2-3390-140A-4FFA-AC07493B0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읽기만 필요한 객체는 상수 참조로 전달</a:t>
            </a:r>
          </a:p>
          <a:p>
            <a:pPr lvl="0"/>
            <a:r>
              <a:rPr lang="ko-KR" altLang="ko-KR" sz="2000" dirty="0"/>
              <a:t>객체를 복사하지 않음</a:t>
            </a:r>
          </a:p>
          <a:p>
            <a:pPr lvl="0"/>
            <a:r>
              <a:rPr lang="ko-KR" altLang="ko-KR" sz="2000" dirty="0"/>
              <a:t>참조를 통해 값을 변경하지 못하게 제한</a:t>
            </a:r>
          </a:p>
          <a:p>
            <a:pPr lvl="0"/>
            <a:r>
              <a:rPr lang="ko-KR" altLang="ko-KR" sz="2000" dirty="0"/>
              <a:t>문자열이나 컨테이너처럼 복사 비용이 큰 객체에 유용</a:t>
            </a:r>
          </a:p>
          <a:p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D4AA-C035-26D7-85BD-25FEBB8DBE74}"/>
              </a:ext>
            </a:extLst>
          </p:cNvPr>
          <p:cNvSpPr txBox="1"/>
          <p:nvPr/>
        </p:nvSpPr>
        <p:spPr>
          <a:xfrm>
            <a:off x="570308" y="2276872"/>
            <a:ext cx="7602091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PrintItems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11336-A610-DCE4-09AF-744D144AAA0B}"/>
              </a:ext>
            </a:extLst>
          </p:cNvPr>
          <p:cNvSpPr txBox="1"/>
          <p:nvPr/>
        </p:nvSpPr>
        <p:spPr>
          <a:xfrm>
            <a:off x="570308" y="5847298"/>
            <a:ext cx="760209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double처럼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복사 비용이 작은 기본형은 값 전달이 단순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상수 객체와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비상수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객체를 모두 전달 가능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749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4CA8-CCBE-32A0-1937-C0B3ABF2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7294-B947-8B1F-17D4-BF8DBF25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2.10.4 참조 반환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3BE42-10B9-160E-4E55-4D96F0728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함수는 참조를 반환할 수 있음</a:t>
            </a:r>
          </a:p>
          <a:p>
            <a:pPr lvl="0"/>
            <a:r>
              <a:rPr lang="ko-KR" altLang="ko-KR" dirty="0"/>
              <a:t>반환된 참조는 원본 객체를 나타내므로 읽기와 변경 가능</a:t>
            </a:r>
          </a:p>
          <a:p>
            <a:pPr lvl="0"/>
            <a:r>
              <a:rPr lang="ko-KR" altLang="ko-KR" dirty="0"/>
              <a:t>참조 대상은 함수 호출 이후에도 살아 있어야 함</a:t>
            </a:r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A61DA-9A50-3E4F-D086-6A6C81F07623}"/>
              </a:ext>
            </a:extLst>
          </p:cNvPr>
          <p:cNvSpPr txBox="1"/>
          <p:nvPr/>
        </p:nvSpPr>
        <p:spPr>
          <a:xfrm>
            <a:off x="539750" y="2420888"/>
            <a:ext cx="655253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GetElement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GetElement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이후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[1]은 100</a:t>
            </a:r>
            <a:endParaRPr lang="ko-KR" alt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C55BD-70C0-1881-5609-599D9DDC5B8B}"/>
              </a:ext>
            </a:extLst>
          </p:cNvPr>
          <p:cNvSpPr txBox="1"/>
          <p:nvPr/>
        </p:nvSpPr>
        <p:spPr>
          <a:xfrm>
            <a:off x="539750" y="4221088"/>
            <a:ext cx="6552530" cy="138499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   </a:t>
            </a:r>
            <a:r>
              <a:rPr lang="ko-KR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함수 종료 후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value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의 수명이 끝나므로 </a:t>
            </a:r>
            <a:r>
              <a:rPr lang="ko-KR" altLang="en-US" sz="1400" b="1" i="1" dirty="0" err="1">
                <a:solidFill>
                  <a:srgbClr val="A0A1A7"/>
                </a:solidFill>
                <a:latin typeface="Consolas" panose="020B0609020204030204" pitchFamily="49" charset="0"/>
              </a:rPr>
              <a:t>댕글링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참조 발생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EF128-82EA-7EC5-3722-9B685844ADB2}"/>
              </a:ext>
            </a:extLst>
          </p:cNvPr>
          <p:cNvSpPr txBox="1"/>
          <p:nvPr/>
        </p:nvSpPr>
        <p:spPr>
          <a:xfrm>
            <a:off x="539750" y="5606083"/>
            <a:ext cx="655253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지역 변수는 함수가 끝날 때 소멸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수명이 끝난 객체를 가리키는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댕글링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 참조 발생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2035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D5DE-2AA6-1E1C-867B-DD90AB6B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E9943-08EE-4359-1A6F-5CCC25B1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2.11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B02AC-A9AE-6943-8CB9-8CF313D6B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000" dirty="0"/>
              <a:t>이름 공간은 이름 충돌을 줄이는 범위 관리 기능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출력 스트림은 타입에 맞는 출력 동작을 선택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서식 조정자는 적용 범위가 서로 다름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입력 스트림은 타입이 맞지 않으면 실패 상태 설정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clear</a:t>
            </a:r>
            <a:r>
              <a:rPr lang="ko-KR" altLang="ko-KR" sz="2000" dirty="0"/>
              <a:t>()는 상태 복구, </a:t>
            </a:r>
            <a:r>
              <a:rPr lang="ko-KR" altLang="ko-KR" sz="2000" dirty="0" err="1"/>
              <a:t>ignore</a:t>
            </a:r>
            <a:r>
              <a:rPr lang="ko-KR" altLang="ko-KR" sz="2000" dirty="0"/>
              <a:t>()는 버퍼 정리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기본형 크기와 정렬은 실행 환경에 따라 달라짐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문자형은 문자 인코딩의 코드 단위를 저장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부동소수점값은</a:t>
            </a:r>
            <a:r>
              <a:rPr lang="ko-KR" altLang="ko-KR" sz="2000" dirty="0"/>
              <a:t> 근사 표현과 오차를 고려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초기화와 대입은 다른 과정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const</a:t>
            </a:r>
            <a:r>
              <a:rPr lang="ko-KR" altLang="ko-KR" sz="2000" dirty="0"/>
              <a:t>, constexpr, </a:t>
            </a:r>
            <a:r>
              <a:rPr lang="ko-KR" altLang="ko-KR" sz="2000" dirty="0" err="1"/>
              <a:t>consteval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constinit의</a:t>
            </a:r>
            <a:r>
              <a:rPr lang="ko-KR" altLang="ko-KR" sz="2000" dirty="0"/>
              <a:t> 목적 구분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C++ 형 변환 연산자는 변환의 목적을 코드에 드러냄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/>
              <a:t>참조는 기존 객체의 다른 이름이며 전달 방식 설계에 사용</a:t>
            </a:r>
          </a:p>
          <a:p>
            <a:pPr>
              <a:lnSpc>
                <a:spcPct val="120000"/>
              </a:lnSpc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4256370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9599</TotalTime>
  <Words>4713</Words>
  <Application>Microsoft Office PowerPoint</Application>
  <PresentationFormat>화면 슬라이드 쇼(4:3)</PresentationFormat>
  <Paragraphs>523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4" baseType="lpstr">
      <vt:lpstr>가을체</vt:lpstr>
      <vt:lpstr>Noto Sans KR Black</vt:lpstr>
      <vt:lpstr>Wingdings</vt:lpstr>
      <vt:lpstr>Noto Sans KR</vt:lpstr>
      <vt:lpstr>나눔고딕 ExtraBold</vt:lpstr>
      <vt:lpstr>굴림</vt:lpstr>
      <vt:lpstr>Arial</vt:lpstr>
      <vt:lpstr>나눔바른고딕</vt:lpstr>
      <vt:lpstr>Consolas</vt:lpstr>
      <vt:lpstr>HY견고딕</vt:lpstr>
      <vt:lpstr>기본 디자인</vt:lpstr>
      <vt:lpstr>02. C++ 프로그래밍의 기본</vt:lpstr>
      <vt:lpstr>2.0 목차</vt:lpstr>
      <vt:lpstr>2.1 이름 공간 (Scope)</vt:lpstr>
      <vt:lpstr>2.1.3 std 이름 공간과 using 선언</vt:lpstr>
      <vt:lpstr>2.2 출력 스트림과 서식 지정</vt:lpstr>
      <vt:lpstr>2.2.5 논리값, 부호, 필드 폭</vt:lpstr>
      <vt:lpstr>2.2.3 정수의 진법과 접두사</vt:lpstr>
      <vt:lpstr>2.2.3 Manipulators</vt:lpstr>
      <vt:lpstr>2.3 입력 스트림과 상태 관리</vt:lpstr>
      <vt:lpstr>2.3.2 std::string</vt:lpstr>
      <vt:lpstr>2.3.2 cin &gt;&gt;와 getline()</vt:lpstr>
      <vt:lpstr>2.3.5 입력 상태</vt:lpstr>
      <vt:lpstr>2.3.6 clear()와 ignore()</vt:lpstr>
      <vt:lpstr>2.4 타입의 크기와 범위 확인</vt:lpstr>
      <vt:lpstr>2.4.2 sizeof와 CHAR_BIT</vt:lpstr>
      <vt:lpstr>2.4.4 std::numeric_limits</vt:lpstr>
      <vt:lpstr>2.5 문자형과 문자 인코딩</vt:lpstr>
      <vt:lpstr>2.6 부동소수점형과 오차</vt:lpstr>
      <vt:lpstr>2.6.2 == 비교의 의미</vt:lpstr>
      <vt:lpstr>2.6.3 절대 오차와 상대 오차</vt:lpstr>
      <vt:lpstr>2.7 초기화와 const</vt:lpstr>
      <vt:lpstr>2.7.3 중괄호 초기화와 축소 변환</vt:lpstr>
      <vt:lpstr>2.7.4 const와 변경 제한</vt:lpstr>
      <vt:lpstr>2.7.5 constexpr</vt:lpstr>
      <vt:lpstr>2.7.8 포인터와 const</vt:lpstr>
      <vt:lpstr>2.8 타입 표현과 안전성</vt:lpstr>
      <vt:lpstr>2.8.2 enum class</vt:lpstr>
      <vt:lpstr>2.8.3 auto</vt:lpstr>
      <vt:lpstr>2.8.3 auto</vt:lpstr>
      <vt:lpstr>2.9 함수 기능의 확장</vt:lpstr>
      <vt:lpstr>2.9.1 함수 오버로딩(Overloading)</vt:lpstr>
      <vt:lpstr>2.9.1 함수 오버로딩(Overloading)</vt:lpstr>
      <vt:lpstr>2.9.2 기본 인수</vt:lpstr>
      <vt:lpstr>2.9.3 인라인 함수</vt:lpstr>
      <vt:lpstr>2.9.4 함수의 반환 타입 추론</vt:lpstr>
      <vt:lpstr>2.9.4 함수의 반환 타입 추론</vt:lpstr>
      <vt:lpstr>2.10 참조(Reference)</vt:lpstr>
      <vt:lpstr>2.10.1 포인터와 참조의 기본 차이</vt:lpstr>
      <vt:lpstr>2.10.2 값, 주소와 참조에 의한 전달</vt:lpstr>
      <vt:lpstr>2.10.2 값, 주소와 참조 전달 비교</vt:lpstr>
      <vt:lpstr>2.10.3 상수 참조</vt:lpstr>
      <vt:lpstr>2.10.4 참조 반환</vt:lpstr>
      <vt:lpstr>2.11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324</cp:revision>
  <dcterms:created xsi:type="dcterms:W3CDTF">2003-11-30T16:03:20Z</dcterms:created>
  <dcterms:modified xsi:type="dcterms:W3CDTF">2026-08-13T11:28:58Z</dcterms:modified>
</cp:coreProperties>
</file>