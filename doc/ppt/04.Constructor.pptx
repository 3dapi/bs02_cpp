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8"/>
  </p:notesMasterIdLst>
  <p:sldIdLst>
    <p:sldId id="328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6" r:id="rId19"/>
    <p:sldId id="347" r:id="rId20"/>
    <p:sldId id="348" r:id="rId21"/>
    <p:sldId id="349" r:id="rId22"/>
    <p:sldId id="350" r:id="rId23"/>
    <p:sldId id="351" r:id="rId24"/>
    <p:sldId id="352" r:id="rId25"/>
    <p:sldId id="353" r:id="rId26"/>
    <p:sldId id="354" r:id="rId27"/>
    <p:sldId id="355" r:id="rId28"/>
    <p:sldId id="356" r:id="rId29"/>
    <p:sldId id="357" r:id="rId30"/>
    <p:sldId id="358" r:id="rId31"/>
    <p:sldId id="337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66" r:id="rId40"/>
    <p:sldId id="367" r:id="rId41"/>
    <p:sldId id="369" r:id="rId42"/>
    <p:sldId id="370" r:id="rId43"/>
    <p:sldId id="371" r:id="rId44"/>
    <p:sldId id="378" r:id="rId45"/>
    <p:sldId id="372" r:id="rId46"/>
    <p:sldId id="379" r:id="rId47"/>
  </p:sldIdLst>
  <p:sldSz cx="9144000" cy="6858000" type="screen4x3"/>
  <p:notesSz cx="6858000" cy="9144000"/>
  <p:embeddedFontLst>
    <p:embeddedFont>
      <p:font typeface="Pretendard ExtraBold" panose="02000903000000020004" pitchFamily="50" charset="-127"/>
      <p:bold r:id="rId49"/>
    </p:embeddedFont>
    <p:embeddedFont>
      <p:font typeface="Consolas" panose="020B0609020204030204" pitchFamily="49" charset="0"/>
      <p:regular r:id="rId50"/>
      <p:bold r:id="rId51"/>
      <p:italic r:id="rId52"/>
      <p:boldItalic r:id="rId53"/>
    </p:embeddedFont>
    <p:embeddedFont>
      <p:font typeface="HY견고딕" panose="02030600000101010101" pitchFamily="18" charset="-127"/>
      <p:regular r:id="rId54"/>
    </p:embeddedFont>
    <p:embeddedFont>
      <p:font typeface="가을체" panose="02030600000101010101" pitchFamily="18" charset="-127"/>
      <p:regular r:id="rId55"/>
    </p:embeddedFont>
    <p:embeddedFont>
      <p:font typeface="나눔고딕 ExtraBold" panose="020D0904000000000000" pitchFamily="50" charset="-127"/>
      <p:bold r:id="rId56"/>
    </p:embeddedFont>
    <p:embeddedFont>
      <p:font typeface="나눔바른고딕" panose="020B0603020101020101" pitchFamily="50" charset="-127"/>
      <p:regular r:id="rId57"/>
      <p:bold r:id="rId58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CC00CC"/>
    <a:srgbClr val="CC00FF"/>
    <a:srgbClr val="C18401"/>
    <a:srgbClr val="FF9900"/>
    <a:srgbClr val="EFEFED"/>
    <a:srgbClr val="FF00FF"/>
    <a:srgbClr val="CC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122" y="102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37CE4-DC6E-0507-7ADF-E2E78392D644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ko-KR" altLang="ko-KR" dirty="0"/>
              <a:t>04. 생성자와 </a:t>
            </a:r>
            <a:r>
              <a:rPr lang="ko-KR" altLang="ko-KR" dirty="0" err="1"/>
              <a:t>소멸자</a:t>
            </a:r>
            <a:r>
              <a:rPr lang="ko-KR" altLang="ko-KR" dirty="0"/>
              <a:t>, 초기화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34447-C8D5-6125-5F6A-B705CEF92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04. 생성자와 </a:t>
            </a:r>
            <a:r>
              <a:rPr lang="ko-KR" altLang="ko-KR" dirty="0" err="1"/>
              <a:t>소멸자</a:t>
            </a:r>
            <a:r>
              <a:rPr lang="ko-KR" altLang="ko-KR" dirty="0"/>
              <a:t>, 초기화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0DEFE1-B009-3D65-35CC-A4F5F365F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ko-KR" altLang="ko-KR" sz="2400" dirty="0"/>
              <a:t>생성자로 객체의 초기 상태 구성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소멸자로 객체 수명 종료 시 자원 정리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기본 초기화, 값 초기화, 직접 초기화, 복사 초기화, 리스트 초기화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멤버 초기화 리스트와 초기화 순서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기본 멤버 초기값, 위임 생성자, </a:t>
            </a:r>
            <a:r>
              <a:rPr lang="ko-KR" altLang="ko-KR" sz="2400" dirty="0" err="1"/>
              <a:t>explicit</a:t>
            </a:r>
            <a:endParaRPr lang="ko-KR" altLang="ko-KR" sz="2400" dirty="0"/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= </a:t>
            </a:r>
            <a:r>
              <a:rPr lang="ko-KR" altLang="ko-KR" sz="2400" dirty="0" err="1"/>
              <a:t>default</a:t>
            </a:r>
            <a:r>
              <a:rPr lang="ko-KR" altLang="ko-KR" sz="2400" dirty="0"/>
              <a:t>, = </a:t>
            </a:r>
            <a:r>
              <a:rPr lang="ko-KR" altLang="ko-KR" sz="2400" dirty="0" err="1"/>
              <a:t>delete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initializer_list</a:t>
            </a:r>
            <a:endParaRPr lang="ko-KR" altLang="ko-KR" sz="2400" dirty="0"/>
          </a:p>
          <a:p>
            <a:pPr lvl="0">
              <a:lnSpc>
                <a:spcPct val="150000"/>
              </a:lnSpc>
            </a:pPr>
            <a:r>
              <a:rPr lang="ko-KR" altLang="ko-KR" sz="2400" dirty="0" err="1"/>
              <a:t>const</a:t>
            </a:r>
            <a:r>
              <a:rPr lang="ko-KR" altLang="ko-KR" sz="2400" dirty="0"/>
              <a:t> 정확성과 클래스 인터페이스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constexpr, </a:t>
            </a:r>
            <a:r>
              <a:rPr lang="ko-KR" altLang="ko-KR" sz="2400" dirty="0" err="1"/>
              <a:t>consteval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constinit</a:t>
            </a:r>
            <a:endParaRPr lang="ko-KR" altLang="ko-KR" sz="2400" dirty="0"/>
          </a:p>
          <a:p>
            <a:pPr>
              <a:lnSpc>
                <a:spcPct val="150000"/>
              </a:lnSpc>
            </a:pPr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50954EA-DBB3-C878-0B00-5E930155B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363637"/>
              </p:ext>
            </p:extLst>
          </p:nvPr>
        </p:nvGraphicFramePr>
        <p:xfrm>
          <a:off x="6415914" y="2708920"/>
          <a:ext cx="2608826" cy="3743697"/>
        </p:xfrm>
        <a:graphic>
          <a:graphicData uri="http://schemas.openxmlformats.org/drawingml/2006/table">
            <a:tbl>
              <a:tblPr/>
              <a:tblGrid>
                <a:gridCol w="2608826">
                  <a:extLst>
                    <a:ext uri="{9D8B030D-6E8A-4147-A177-3AD203B41FA5}">
                      <a16:colId xmlns:a16="http://schemas.microsoft.com/office/drawing/2014/main" val="4159944097"/>
                    </a:ext>
                  </a:extLst>
                </a:gridCol>
              </a:tblGrid>
              <a:tr h="3743697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30000"/>
                        </a:lnSpc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생성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⬇️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 초기화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⬇️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생성자 본문 실행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⬇️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사용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⬇️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소멸자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호출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593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298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7ED41-F024-0C1F-AFB9-47599D7B9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4.1 생성자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6214CD-CAB9-025E-F44F-155FAC971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객체가 생성될 때 호출되는 특별한 멤버 함수</a:t>
            </a:r>
          </a:p>
          <a:p>
            <a:pPr lvl="0"/>
            <a:r>
              <a:rPr lang="ko-KR" altLang="ko-KR" dirty="0"/>
              <a:t>생성자 이름은 클래스 이름과 같음</a:t>
            </a:r>
          </a:p>
          <a:p>
            <a:pPr lvl="0"/>
            <a:r>
              <a:rPr lang="ko-KR" altLang="ko-KR" dirty="0"/>
              <a:t>반환 타입을 작성하지 않음</a:t>
            </a:r>
          </a:p>
          <a:p>
            <a:pPr lvl="0"/>
            <a:r>
              <a:rPr lang="ko-KR" altLang="ko-KR" dirty="0"/>
              <a:t>객체의 초기 상태를 만드는 역할</a:t>
            </a:r>
          </a:p>
          <a:p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575750-D02F-8EF9-C366-D8A1A303A370}"/>
              </a:ext>
            </a:extLst>
          </p:cNvPr>
          <p:cNvSpPr txBox="1"/>
          <p:nvPr/>
        </p:nvSpPr>
        <p:spPr>
          <a:xfrm>
            <a:off x="539750" y="2924944"/>
            <a:ext cx="3168154" cy="34163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 </a:t>
            </a: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};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position.x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position.y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28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E88BA-6092-F014-D3E0-43A3EFA43037}"/>
              </a:ext>
            </a:extLst>
          </p:cNvPr>
          <p:cNvSpPr txBox="1"/>
          <p:nvPr/>
        </p:nvSpPr>
        <p:spPr>
          <a:xfrm>
            <a:off x="3923928" y="6064265"/>
            <a:ext cx="3744416" cy="27699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2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</a:t>
            </a:r>
            <a:r>
              <a:rPr lang="ko-KR" altLang="ko-KR" sz="1200" b="1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2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생성자 호출</a:t>
            </a:r>
            <a:endParaRPr lang="ko-KR" altLang="en-US" sz="28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5238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58E25-6CE6-FE24-8080-74A9FE5B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9DB2E8-A22F-8091-D03D-4328A374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4.1.1 생성자의 역할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E1A0B3-F92F-E451-037B-C52D5A1AA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멤버 변수의 초기값 설정</a:t>
            </a:r>
          </a:p>
          <a:p>
            <a:pPr lvl="0"/>
            <a:r>
              <a:rPr lang="ko-KR" altLang="ko-KR" dirty="0"/>
              <a:t>전달받은 값의 유효성 검사</a:t>
            </a:r>
          </a:p>
          <a:p>
            <a:pPr lvl="0"/>
            <a:r>
              <a:rPr lang="ko-KR" altLang="ko-KR" dirty="0"/>
              <a:t>객체 타입 멤버의 생성</a:t>
            </a:r>
          </a:p>
          <a:p>
            <a:pPr lvl="0"/>
            <a:r>
              <a:rPr lang="ko-KR" altLang="ko-KR" dirty="0"/>
              <a:t>객체가 사용할 자원의 준비</a:t>
            </a:r>
          </a:p>
          <a:p>
            <a:pPr lvl="0"/>
            <a:r>
              <a:rPr lang="ko-KR" altLang="ko-KR" dirty="0"/>
              <a:t>객체의 상태 규칙 설정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1DDBB-A9C0-A7A4-77AF-569689E04653}"/>
              </a:ext>
            </a:extLst>
          </p:cNvPr>
          <p:cNvSpPr txBox="1"/>
          <p:nvPr/>
        </p:nvSpPr>
        <p:spPr>
          <a:xfrm>
            <a:off x="5148064" y="764704"/>
            <a:ext cx="3528392" cy="550920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Circle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Circle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radius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center.x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center.y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radius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radius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radius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radius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center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radius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2652F-2BB3-882E-486B-D0709CFC3859}"/>
              </a:ext>
            </a:extLst>
          </p:cNvPr>
          <p:cNvSpPr txBox="1"/>
          <p:nvPr/>
        </p:nvSpPr>
        <p:spPr>
          <a:xfrm>
            <a:off x="179512" y="4581128"/>
            <a:ext cx="4968552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생성자는 객체의 모든 기능을 처리하는 함수가 아님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생성과 초기 상태 구성에 필요한 작업에 집중</a:t>
            </a:r>
          </a:p>
        </p:txBody>
      </p:sp>
    </p:spTree>
    <p:extLst>
      <p:ext uri="{BB962C8B-B14F-4D97-AF65-F5344CB8AC3E}">
        <p14:creationId xmlns:p14="http://schemas.microsoft.com/office/powerpoint/2010/main" val="622700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C4678-91CA-B482-01F5-19CB18D1A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20DF61-9F73-DB79-1647-0056403E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4.1.2 기본 생성자</a:t>
            </a:r>
            <a:r>
              <a:rPr lang="en-US" altLang="ko-KR" dirty="0"/>
              <a:t> (default constructor)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2B9E4-70EC-212A-0A40-D4344F1D1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인수 없이 호출할 수 있는 생성자</a:t>
            </a:r>
          </a:p>
          <a:p>
            <a:pPr lvl="0"/>
            <a:r>
              <a:rPr lang="ko-KR" altLang="ko-KR" dirty="0"/>
              <a:t>객체를 인수 없이 선언하면 기본 생성자 호출</a:t>
            </a:r>
          </a:p>
          <a:p>
            <a:pPr lvl="0"/>
            <a:r>
              <a:rPr lang="ko-KR" altLang="ko-KR" dirty="0"/>
              <a:t>기본 생성자 호출을 위해 빈 괄호를 붙이지 않음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1C84BC-981B-175C-DCD1-D1E63BC583C1}"/>
              </a:ext>
            </a:extLst>
          </p:cNvPr>
          <p:cNvSpPr txBox="1"/>
          <p:nvPr/>
        </p:nvSpPr>
        <p:spPr>
          <a:xfrm>
            <a:off x="512754" y="2276872"/>
            <a:ext cx="2450566" cy="403187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position.x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position.y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540620-6A01-ECF0-CEBB-BE0FCD7EC8C3}"/>
              </a:ext>
            </a:extLst>
          </p:cNvPr>
          <p:cNvSpPr txBox="1"/>
          <p:nvPr/>
        </p:nvSpPr>
        <p:spPr>
          <a:xfrm>
            <a:off x="2963320" y="5970766"/>
            <a:ext cx="5544616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객체 선언이 아니라 함수 선언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35D6E-9946-26B6-DA62-12687B6C9F60}"/>
              </a:ext>
            </a:extLst>
          </p:cNvPr>
          <p:cNvSpPr txBox="1"/>
          <p:nvPr/>
        </p:nvSpPr>
        <p:spPr>
          <a:xfrm>
            <a:off x="2963320" y="4680854"/>
            <a:ext cx="5544615" cy="98488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CC00CC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중괄호는 객체 생성 의도가 분명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함</a:t>
            </a:r>
            <a:endParaRPr lang="en-US" altLang="ko-KR" sz="1800" b="0" i="0" u="none" strike="noStrike" dirty="0">
              <a:solidFill>
                <a:srgbClr val="00000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ko-KR" sz="2000" dirty="0">
                <a:solidFill>
                  <a:srgbClr val="0000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빈 괄호는 매개변수가 없는 함수를 선언</a:t>
            </a:r>
            <a:r>
              <a:rPr lang="ko-KR" altLang="ko-KR" sz="20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하는 형태로 해석될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49A706-8665-28ED-7979-3F94EFC96690}"/>
              </a:ext>
            </a:extLst>
          </p:cNvPr>
          <p:cNvSpPr txBox="1"/>
          <p:nvPr/>
        </p:nvSpPr>
        <p:spPr>
          <a:xfrm>
            <a:off x="2963321" y="3517911"/>
            <a:ext cx="5544616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625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6C843-E25A-F0CF-1B06-01E0A823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C8914-EF26-64FA-15FD-6AADB82DD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/>
              <a:t>4.1.3 암시적으로 선언되는 기본 생성자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D67F71-7F4B-6526-6D43-A66BFEDE3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클래스에 생성자가 하나도 없으면</a:t>
            </a:r>
            <a:br>
              <a:rPr lang="en-US" altLang="ko-KR" dirty="0"/>
            </a:br>
            <a:r>
              <a:rPr lang="ko-KR" altLang="ko-KR" dirty="0"/>
              <a:t>컴파일러가 암시적으로 기본 생성자 선언</a:t>
            </a:r>
          </a:p>
          <a:p>
            <a:pPr lvl="0"/>
            <a:r>
              <a:rPr lang="ko-KR" altLang="ko-KR" dirty="0"/>
              <a:t>컴파일러 제공 기본 생성자</a:t>
            </a:r>
            <a:r>
              <a:rPr lang="ko-KR" altLang="en-US" dirty="0"/>
              <a:t>는 </a:t>
            </a:r>
            <a:r>
              <a:rPr lang="ko-KR" altLang="ko-KR" dirty="0"/>
              <a:t>기본형 멤버를 </a:t>
            </a:r>
            <a:r>
              <a:rPr lang="ko-KR" altLang="en-US" dirty="0"/>
              <a:t>초기화 안함</a:t>
            </a:r>
            <a:endParaRPr lang="ko-KR" altLang="ko-KR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DAF4F-1110-320B-C7FE-2F1C044C5A22}"/>
              </a:ext>
            </a:extLst>
          </p:cNvPr>
          <p:cNvSpPr txBox="1"/>
          <p:nvPr/>
        </p:nvSpPr>
        <p:spPr>
          <a:xfrm>
            <a:off x="323528" y="2800473"/>
            <a:ext cx="3600400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832727-0C4E-8E23-CCA9-D7A85E7F87BC}"/>
              </a:ext>
            </a:extLst>
          </p:cNvPr>
          <p:cNvSpPr txBox="1"/>
          <p:nvPr/>
        </p:nvSpPr>
        <p:spPr>
          <a:xfrm>
            <a:off x="323528" y="5157192"/>
            <a:ext cx="3600400" cy="95410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기본 초기화에서는 </a:t>
            </a:r>
            <a:r>
              <a:rPr lang="ko-KR" altLang="ko-KR" sz="14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height에</a:t>
            </a: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정해지지 않은 값이 남을 수 있음</a:t>
            </a:r>
            <a:endParaRPr lang="ko-KR" altLang="ko-KR" sz="14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사용자가 생성자를 하나라도 선언하면 기본 생성자가 자동으로 제공되지 않을 수 있음</a:t>
            </a:r>
            <a:endParaRPr lang="ko-KR" altLang="ko-KR" sz="14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A993A4-DFF8-AC8D-6BA8-B38B9A6259FA}"/>
              </a:ext>
            </a:extLst>
          </p:cNvPr>
          <p:cNvSpPr txBox="1"/>
          <p:nvPr/>
        </p:nvSpPr>
        <p:spPr>
          <a:xfrm>
            <a:off x="4211960" y="2816055"/>
            <a:ext cx="4572000" cy="32932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// 오류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1078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50524-351B-D722-9209-148DC6089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FFB83-7C7E-ABFA-1CBE-F2F81CB02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4.1.4 매개변수가 있는 생성자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ABACE7-E7E4-5CA7-AE8D-DD150104C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객체마다 서로 다른 초기 상태가 필요할 때 사용</a:t>
            </a:r>
          </a:p>
          <a:p>
            <a:pPr lvl="0"/>
            <a:r>
              <a:rPr lang="ko-KR" altLang="ko-KR" sz="2400" dirty="0"/>
              <a:t>생성자</a:t>
            </a:r>
            <a:r>
              <a:rPr lang="ko-KR" altLang="en-US" sz="2400" dirty="0"/>
              <a:t>의 </a:t>
            </a:r>
            <a:r>
              <a:rPr lang="ko-KR" altLang="ko-KR" sz="2400" dirty="0"/>
              <a:t>매개변수</a:t>
            </a:r>
            <a:r>
              <a:rPr lang="ko-KR" altLang="en-US" sz="2400" dirty="0"/>
              <a:t>로</a:t>
            </a:r>
            <a:r>
              <a:rPr lang="en-US" altLang="ko-KR" sz="2400" dirty="0"/>
              <a:t> </a:t>
            </a:r>
            <a:r>
              <a:rPr lang="ko-KR" altLang="ko-KR" sz="2400" dirty="0"/>
              <a:t>객체 생성에 필요한 값을</a:t>
            </a:r>
            <a:r>
              <a:rPr lang="en-US" altLang="ko-KR" sz="2400" dirty="0"/>
              <a:t> </a:t>
            </a:r>
            <a:r>
              <a:rPr lang="ko-KR" altLang="ko-KR" sz="2400" dirty="0"/>
              <a:t>인터페이스로 표현</a:t>
            </a:r>
          </a:p>
          <a:p>
            <a:pPr lvl="0"/>
            <a:r>
              <a:rPr lang="ko-KR" altLang="ko-KR" sz="2400" dirty="0"/>
              <a:t>매개 변수만 있는 생성자로 멤버 변수의 필요한 초기값 설정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6B142-7CDF-B003-9560-1DA41F83068F}"/>
              </a:ext>
            </a:extLst>
          </p:cNvPr>
          <p:cNvSpPr txBox="1"/>
          <p:nvPr/>
        </p:nvSpPr>
        <p:spPr>
          <a:xfrm>
            <a:off x="1115616" y="2060848"/>
            <a:ext cx="6046642" cy="439043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position.x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position.y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?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?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640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480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invalidRectangle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// 오류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6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7F62C-74E7-A8B4-311E-0E8B7B9AE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3C5187-2B17-B897-F0DA-83AD04A95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4.1.5 생성자 오버로딩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013C16-7F84-AC02-E858-031AB90AC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생성자도 매개변수의 개수나 타입이 다르면 오버로딩 가능</a:t>
            </a:r>
          </a:p>
          <a:p>
            <a:pPr lvl="0"/>
            <a:r>
              <a:rPr lang="ko-KR" altLang="ko-KR" sz="2400" dirty="0"/>
              <a:t>객체 생성에 사용한 인수에 맞는 생성자 선택</a:t>
            </a:r>
          </a:p>
          <a:p>
            <a:pPr lvl="0"/>
            <a:r>
              <a:rPr lang="ko-KR" altLang="ko-KR" sz="2400" dirty="0"/>
              <a:t>각 생성 방법의 목적이 분명해야 함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ED3BF7-8A04-5B8B-C188-2BA8701499D8}"/>
              </a:ext>
            </a:extLst>
          </p:cNvPr>
          <p:cNvSpPr txBox="1"/>
          <p:nvPr/>
        </p:nvSpPr>
        <p:spPr>
          <a:xfrm>
            <a:off x="449796" y="2132856"/>
            <a:ext cx="3834172" cy="452431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{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{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{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r>
              <a:rPr lang="en-US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2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ED7859-1689-1EE0-7BAF-3227F2648C55}"/>
              </a:ext>
            </a:extLst>
          </p:cNvPr>
          <p:cNvSpPr txBox="1"/>
          <p:nvPr/>
        </p:nvSpPr>
        <p:spPr>
          <a:xfrm>
            <a:off x="4499992" y="4221088"/>
            <a:ext cx="3664851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6873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BEDB8-93D2-8F5E-EADA-22132011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AB6DE4-B3C6-3AE5-2144-4E1C2DA99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4.1.5 생성자 오버로딩 주의점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966BCFBF-1690-EE0B-F52D-B37CD57195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7442218"/>
              </p:ext>
            </p:extLst>
          </p:nvPr>
        </p:nvGraphicFramePr>
        <p:xfrm>
          <a:off x="539750" y="764704"/>
          <a:ext cx="7776666" cy="2662272"/>
        </p:xfrm>
        <a:graphic>
          <a:graphicData uri="http://schemas.openxmlformats.org/drawingml/2006/table">
            <a:tbl>
              <a:tblPr/>
              <a:tblGrid>
                <a:gridCol w="2160042">
                  <a:extLst>
                    <a:ext uri="{9D8B030D-6E8A-4147-A177-3AD203B41FA5}">
                      <a16:colId xmlns:a16="http://schemas.microsoft.com/office/drawing/2014/main" val="94074626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1982942994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31824698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sz="32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성립 여부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설명</a:t>
                      </a:r>
                      <a:endParaRPr lang="ko-KR" sz="32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64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매개변수 개수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성립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개수가 다르면 서로 다른 생성자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801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매개변수 타입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성립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타입이 다르면 서로 다른 생성자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011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매개변수 타입 순서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성립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타입 배치가 다르면 구분 가능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635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반환 타입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해당 없음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생성자에는 반환 타입이 없음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10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매개변수 이름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성립하지 않음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이름은 함수 구분 기준이 아님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9366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5EAC2AF-0D7C-A50B-49B7-754C63845ADD}"/>
              </a:ext>
            </a:extLst>
          </p:cNvPr>
          <p:cNvSpPr txBox="1"/>
          <p:nvPr/>
        </p:nvSpPr>
        <p:spPr>
          <a:xfrm>
            <a:off x="539750" y="3599145"/>
            <a:ext cx="6624538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Sample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Sample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Sample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Sample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sample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; // 오류: 호출할 생성자가 모호함</a:t>
            </a:r>
            <a:endParaRPr lang="ko-KR" altLang="en-US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01C6B1-9D88-F3F2-D0E5-D3B11008213F}"/>
              </a:ext>
            </a:extLst>
          </p:cNvPr>
          <p:cNvSpPr txBox="1"/>
          <p:nvPr/>
        </p:nvSpPr>
        <p:spPr>
          <a:xfrm>
            <a:off x="539750" y="5949280"/>
            <a:ext cx="6624538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기본 인수와 오버로딩을 함께 사용할 때 호출 모호성 확인</a:t>
            </a:r>
            <a:endParaRPr lang="ko-KR" altLang="ko-KR" sz="18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중복되는 초기화 코드는 기본 멤버 초기값과 위임 생성자로 줄일 수 있음</a:t>
            </a:r>
            <a:endParaRPr lang="ko-KR" altLang="ko-KR" sz="18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6602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A268-39D5-CEF8-5AC4-33C6A3BC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2A125D-A653-DA36-DF80-23BB0E06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4.1.7 객체 생성과 초기화 순서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4FE8C-F90D-2996-3739-398CAE963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 생성은 생성자 본문만 실행하는 과정이 아님</a:t>
            </a:r>
          </a:p>
          <a:p>
            <a:pPr lvl="0"/>
            <a:r>
              <a:rPr lang="ko-KR" altLang="ko-KR" sz="2400" dirty="0"/>
              <a:t>저장 공간 마련</a:t>
            </a:r>
          </a:p>
          <a:p>
            <a:pPr lvl="0"/>
            <a:r>
              <a:rPr lang="ko-KR" altLang="ko-KR" sz="2400" dirty="0"/>
              <a:t>기반 클래스와 멤버 초기화</a:t>
            </a:r>
          </a:p>
          <a:p>
            <a:pPr lvl="0"/>
            <a:r>
              <a:rPr lang="ko-KR" altLang="ko-KR" sz="2400" dirty="0"/>
              <a:t>생성자 본문 실행</a:t>
            </a:r>
            <a:endParaRPr lang="ko-KR" altLang="ko-KR" dirty="0"/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52F4920-182D-9A4B-9611-29A718DDF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837680"/>
              </p:ext>
            </p:extLst>
          </p:nvPr>
        </p:nvGraphicFramePr>
        <p:xfrm>
          <a:off x="6588224" y="692150"/>
          <a:ext cx="2376264" cy="2160240"/>
        </p:xfrm>
        <a:graphic>
          <a:graphicData uri="http://schemas.openxmlformats.org/drawingml/2006/table">
            <a:tbl>
              <a:tblPr/>
              <a:tblGrid>
                <a:gridCol w="2376264">
                  <a:extLst>
                    <a:ext uri="{9D8B030D-6E8A-4147-A177-3AD203B41FA5}">
                      <a16:colId xmlns:a16="http://schemas.microsoft.com/office/drawing/2014/main" val="3305012949"/>
                    </a:ext>
                  </a:extLst>
                </a:gridCol>
              </a:tblGrid>
              <a:tr h="21602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저장 공간 마련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클래스 초기화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 초기화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생성자 본문 실행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108000" marT="108000" marB="108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40195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E16828C-E688-33AF-89AD-2DA7108CC720}"/>
              </a:ext>
            </a:extLst>
          </p:cNvPr>
          <p:cNvSpPr txBox="1"/>
          <p:nvPr/>
        </p:nvSpPr>
        <p:spPr>
          <a:xfrm>
            <a:off x="539750" y="2564904"/>
            <a:ext cx="6117446" cy="30469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position.x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position.y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2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52F9E1-6D59-59BF-ED87-57A722903C3B}"/>
              </a:ext>
            </a:extLst>
          </p:cNvPr>
          <p:cNvSpPr txBox="1"/>
          <p:nvPr/>
        </p:nvSpPr>
        <p:spPr>
          <a:xfrm>
            <a:off x="542786" y="5662989"/>
            <a:ext cx="6117446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생성자 본문이 실행될 때 멤버는 이미 초기화 과정을 거친 상태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본문 안의 코드는 초기화가 아니라 대입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9055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D1EA6-A88D-EAB8-8D25-2E2BDBB93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9B6DD-3E0E-AD52-5FBF-27452AED9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4.2 </a:t>
            </a:r>
            <a:r>
              <a:rPr lang="ko-KR" altLang="ko-KR" dirty="0" err="1"/>
              <a:t>소멸자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1A636C-46AC-2D16-6D61-8ADB9BB97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객체의 수명이 끝날 때 호출되는 특별한 멤버 함수</a:t>
            </a:r>
          </a:p>
          <a:p>
            <a:pPr lvl="0"/>
            <a:r>
              <a:rPr lang="ko-KR" altLang="ko-KR" sz="2400" dirty="0"/>
              <a:t>클래스 이름 앞에 ~</a:t>
            </a:r>
            <a:r>
              <a:rPr lang="ko-KR" altLang="ko-KR" sz="2400" dirty="0" err="1"/>
              <a:t>를</a:t>
            </a:r>
            <a:r>
              <a:rPr lang="ko-KR" altLang="ko-KR" sz="2400" dirty="0"/>
              <a:t> 붙여 작성</a:t>
            </a:r>
          </a:p>
          <a:p>
            <a:pPr lvl="0"/>
            <a:r>
              <a:rPr lang="ko-KR" altLang="ko-KR" sz="2400" dirty="0"/>
              <a:t>반환 타입 없음</a:t>
            </a:r>
          </a:p>
          <a:p>
            <a:pPr lvl="0"/>
            <a:r>
              <a:rPr lang="ko-KR" altLang="ko-KR" sz="2400" dirty="0"/>
              <a:t>매개변수 없음</a:t>
            </a:r>
          </a:p>
          <a:p>
            <a:pPr lvl="0"/>
            <a:r>
              <a:rPr lang="ko-KR" altLang="ko-KR" sz="2400" dirty="0"/>
              <a:t>클래스마다 하나만 선언 가능</a:t>
            </a:r>
          </a:p>
          <a:p>
            <a:pPr lvl="0"/>
            <a:r>
              <a:rPr lang="ko-KR" altLang="ko-KR" sz="2400" dirty="0"/>
              <a:t>오버로딩 불가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3CCDA-C467-7888-46C8-2168EBF78FCB}"/>
              </a:ext>
            </a:extLst>
          </p:cNvPr>
          <p:cNvSpPr txBox="1"/>
          <p:nvPr/>
        </p:nvSpPr>
        <p:spPr>
          <a:xfrm>
            <a:off x="539750" y="3463607"/>
            <a:ext cx="3384178" cy="313932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A6D480-E5F7-0288-8869-3423F01DCAC6}"/>
              </a:ext>
            </a:extLst>
          </p:cNvPr>
          <p:cNvSpPr txBox="1"/>
          <p:nvPr/>
        </p:nvSpPr>
        <p:spPr>
          <a:xfrm>
            <a:off x="4464496" y="3463607"/>
            <a:ext cx="4139754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소멸자의 역할</a:t>
            </a:r>
            <a:endParaRPr lang="ko-KR" altLang="ko-KR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동적으로 할당한 메모리 해제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열린 파일 닫기</a:t>
            </a:r>
            <a:endParaRPr lang="en-US" altLang="ko-KR" b="0" i="0" u="none" strike="noStrike" dirty="0">
              <a:solidFill>
                <a:srgbClr val="0070C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잠금 해제</a:t>
            </a:r>
            <a:endParaRPr lang="ko-KR" altLang="ko-KR" dirty="0">
              <a:solidFill>
                <a:srgbClr val="333333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콜백이나 연결 해제</a:t>
            </a:r>
            <a:endParaRPr lang="ko-KR" altLang="ko-KR" dirty="0">
              <a:solidFill>
                <a:srgbClr val="333333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운영체제 자원 반환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1663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B8002-6959-B92E-903F-478FC333F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5032B-AC7A-CB42-D4C2-025D71222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4.2.2 객체의 소멸 시점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8BC24294-0F19-D14C-687E-F8B801527E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7455024"/>
              </p:ext>
            </p:extLst>
          </p:nvPr>
        </p:nvGraphicFramePr>
        <p:xfrm>
          <a:off x="539750" y="655350"/>
          <a:ext cx="4572000" cy="2662272"/>
        </p:xfrm>
        <a:graphic>
          <a:graphicData uri="http://schemas.openxmlformats.org/drawingml/2006/table">
            <a:tbl>
              <a:tblPr/>
              <a:tblGrid>
                <a:gridCol w="1717510">
                  <a:extLst>
                    <a:ext uri="{9D8B030D-6E8A-4147-A177-3AD203B41FA5}">
                      <a16:colId xmlns:a16="http://schemas.microsoft.com/office/drawing/2014/main" val="1759689791"/>
                    </a:ext>
                  </a:extLst>
                </a:gridCol>
                <a:gridCol w="2854490">
                  <a:extLst>
                    <a:ext uri="{9D8B030D-6E8A-4147-A177-3AD203B41FA5}">
                      <a16:colId xmlns:a16="http://schemas.microsoft.com/office/drawing/2014/main" val="30321236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객체 종류</a:t>
                      </a:r>
                      <a:endParaRPr lang="ko-KR" sz="320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소멸 시점</a:t>
                      </a:r>
                      <a:endParaRPr lang="ko-KR" sz="320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450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B0F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지역 객체</a:t>
                      </a:r>
                      <a:endParaRPr lang="ko-KR" sz="3600" b="1" dirty="0">
                        <a:solidFill>
                          <a:srgbClr val="00B0F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B0F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선언된 블록을 벗어날 때</a:t>
                      </a:r>
                      <a:endParaRPr lang="ko-KR" sz="3600" b="1" dirty="0">
                        <a:solidFill>
                          <a:srgbClr val="00B0F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228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B0F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전역 객체</a:t>
                      </a:r>
                      <a:endParaRPr lang="ko-KR" sz="3600" b="1" dirty="0">
                        <a:solidFill>
                          <a:srgbClr val="00B0F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B0F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프로그램 종료 시</a:t>
                      </a:r>
                      <a:endParaRPr lang="ko-KR" sz="3600" b="1" dirty="0">
                        <a:solidFill>
                          <a:srgbClr val="00B0F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334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B0F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정적 객체</a:t>
                      </a:r>
                      <a:endParaRPr lang="ko-KR" sz="3600" b="1" dirty="0">
                        <a:solidFill>
                          <a:srgbClr val="00B0F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B0F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프로그램 종료 시</a:t>
                      </a:r>
                      <a:endParaRPr lang="ko-KR" sz="3600" b="1" dirty="0">
                        <a:solidFill>
                          <a:srgbClr val="00B0F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96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동적 객체</a:t>
                      </a:r>
                      <a:endParaRPr lang="ko-KR" sz="3600" b="1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delete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 실행 시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184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동적 객체 배열</a:t>
                      </a:r>
                      <a:endParaRPr lang="ko-KR" sz="3600" b="1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delete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[] 실행 시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3101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D74D5DA-D457-F1F6-CF27-7D035A7CAA9C}"/>
              </a:ext>
            </a:extLst>
          </p:cNvPr>
          <p:cNvSpPr txBox="1"/>
          <p:nvPr/>
        </p:nvSpPr>
        <p:spPr>
          <a:xfrm>
            <a:off x="539750" y="3398520"/>
            <a:ext cx="4572000" cy="310854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 생성\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 소멸\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E585E0-4B3C-9CF8-D755-0520A3C0FF9A}"/>
              </a:ext>
            </a:extLst>
          </p:cNvPr>
          <p:cNvSpPr txBox="1"/>
          <p:nvPr/>
        </p:nvSpPr>
        <p:spPr>
          <a:xfrm>
            <a:off x="5292080" y="3398520"/>
            <a:ext cx="3456384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local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실행 중\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생성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실행 중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0764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F0464-6AB9-5695-385F-4872B3935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1A0A9-91CD-9E38-1DC1-12769C29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4.2.4 동적 객체의 소멸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948DA4-BD0E-ECCB-A502-D1473F59C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 err="1">
                <a:solidFill>
                  <a:srgbClr val="0000FF"/>
                </a:solidFill>
              </a:rPr>
              <a:t>new</a:t>
            </a:r>
            <a:r>
              <a:rPr lang="en-US" altLang="ko-KR" dirty="0"/>
              <a:t>   </a:t>
            </a:r>
            <a:r>
              <a:rPr lang="ko-KR" altLang="ko-KR" dirty="0"/>
              <a:t>로 생성한 객체는 </a:t>
            </a:r>
            <a:r>
              <a:rPr lang="ko-KR" altLang="ko-KR" dirty="0" err="1">
                <a:solidFill>
                  <a:srgbClr val="0000FF"/>
                </a:solidFill>
              </a:rPr>
              <a:t>delete</a:t>
            </a:r>
            <a:r>
              <a:rPr lang="en-US" altLang="ko-KR" dirty="0"/>
              <a:t> </a:t>
            </a:r>
            <a:r>
              <a:rPr lang="ko-KR" altLang="ko-KR" dirty="0"/>
              <a:t>로 소멸</a:t>
            </a:r>
          </a:p>
          <a:p>
            <a:pPr lvl="0"/>
            <a:r>
              <a:rPr lang="ko-KR" altLang="ko-KR" dirty="0" err="1">
                <a:solidFill>
                  <a:srgbClr val="0000FF"/>
                </a:solidFill>
              </a:rPr>
              <a:t>new</a:t>
            </a:r>
            <a:r>
              <a:rPr lang="ko-KR" altLang="ko-KR" dirty="0">
                <a:solidFill>
                  <a:srgbClr val="0000FF"/>
                </a:solidFill>
              </a:rPr>
              <a:t>[]</a:t>
            </a:r>
            <a:r>
              <a:rPr lang="en-US" altLang="ko-KR" dirty="0">
                <a:solidFill>
                  <a:srgbClr val="0000FF"/>
                </a:solidFill>
              </a:rPr>
              <a:t> </a:t>
            </a:r>
            <a:r>
              <a:rPr lang="ko-KR" altLang="ko-KR" dirty="0"/>
              <a:t>로 생성한 객체 배열은 </a:t>
            </a:r>
            <a:r>
              <a:rPr lang="ko-KR" altLang="ko-KR" dirty="0" err="1">
                <a:solidFill>
                  <a:srgbClr val="0000FF"/>
                </a:solidFill>
              </a:rPr>
              <a:t>delete</a:t>
            </a:r>
            <a:r>
              <a:rPr lang="ko-KR" altLang="ko-KR" dirty="0">
                <a:solidFill>
                  <a:srgbClr val="0000FF"/>
                </a:solidFill>
              </a:rPr>
              <a:t>[]</a:t>
            </a:r>
            <a:r>
              <a:rPr lang="ko-KR" altLang="ko-KR" dirty="0"/>
              <a:t>로 소멸</a:t>
            </a:r>
          </a:p>
          <a:p>
            <a:pPr lvl="0"/>
            <a:r>
              <a:rPr lang="ko-KR" altLang="ko-KR" dirty="0" err="1">
                <a:solidFill>
                  <a:srgbClr val="0070C0"/>
                </a:solidFill>
              </a:rPr>
              <a:t>delete</a:t>
            </a:r>
            <a:r>
              <a:rPr lang="en-US" altLang="ko-KR" dirty="0"/>
              <a:t>   </a:t>
            </a:r>
            <a:r>
              <a:rPr lang="ko-KR" altLang="ko-KR" dirty="0"/>
              <a:t>는 소멸자를 호출한 뒤 메모리를 해제</a:t>
            </a:r>
          </a:p>
          <a:p>
            <a:pPr lvl="0"/>
            <a:r>
              <a:rPr lang="ko-KR" altLang="ko-KR" dirty="0" err="1">
                <a:solidFill>
                  <a:srgbClr val="0070C0"/>
                </a:solidFill>
              </a:rPr>
              <a:t>delete</a:t>
            </a:r>
            <a:r>
              <a:rPr lang="ko-KR" altLang="ko-KR" dirty="0">
                <a:solidFill>
                  <a:srgbClr val="0070C0"/>
                </a:solidFill>
              </a:rPr>
              <a:t>[]</a:t>
            </a:r>
            <a:r>
              <a:rPr lang="ko-KR" altLang="ko-KR" dirty="0"/>
              <a:t>는 배열 요소의 소멸자를 역순으로 호출</a:t>
            </a: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9BD3C-6707-540F-1174-04AC5F89FC0F}"/>
              </a:ext>
            </a:extLst>
          </p:cNvPr>
          <p:cNvSpPr txBox="1"/>
          <p:nvPr/>
        </p:nvSpPr>
        <p:spPr>
          <a:xfrm>
            <a:off x="539750" y="2852936"/>
            <a:ext cx="3672210" cy="375487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dynamic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trace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Sample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Sample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"생성: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Sample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"소멸: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Sample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samples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Sample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samples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98199D-47A5-4AB1-D988-4CA143DB1D77}"/>
              </a:ext>
            </a:extLst>
          </p:cNvPr>
          <p:cNvSpPr txBox="1"/>
          <p:nvPr/>
        </p:nvSpPr>
        <p:spPr>
          <a:xfrm>
            <a:off x="4247004" y="4700657"/>
            <a:ext cx="4141420" cy="95410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800" b="0" i="0" u="none" strike="noStrike" dirty="0" err="1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28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[]와 </a:t>
            </a:r>
            <a:r>
              <a:rPr lang="ko-KR" altLang="ko-KR" sz="2800" b="0" i="0" u="none" strike="noStrike" dirty="0" err="1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delete를</a:t>
            </a:r>
            <a:r>
              <a:rPr lang="ko-KR" altLang="ko-KR" sz="28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섞으면 미정의 동작</a:t>
            </a:r>
            <a:endParaRPr lang="ko-KR" altLang="ko-KR" sz="3200" b="0" i="0" u="none" strike="noStrike" dirty="0">
              <a:solidFill>
                <a:srgbClr val="0070C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6238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B9692-5660-FAD3-6016-C32B7653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48C174-9C21-A63E-E083-8D3A47EE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4.2.5 생성과 소멸 순서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E51ED7-169B-E596-3649-4AD54481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여러 객체는 생성된 순서의 반대로 소멸</a:t>
            </a:r>
          </a:p>
          <a:p>
            <a:pPr lvl="0"/>
            <a:r>
              <a:rPr lang="ko-KR" altLang="ko-KR" sz="2400" dirty="0"/>
              <a:t>배열 요소도 앞에서부터 생성되고 뒤에서부터 소멸</a:t>
            </a:r>
          </a:p>
          <a:p>
            <a:pPr lvl="0"/>
            <a:r>
              <a:rPr lang="ko-KR" altLang="ko-KR" sz="2400" dirty="0"/>
              <a:t>멤버 객체는 바깥 객체보다 먼저 생성되고 나중에 소멸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BA021-AEF5-212F-661B-0FC934058B8D}"/>
              </a:ext>
            </a:extLst>
          </p:cNvPr>
          <p:cNvSpPr txBox="1"/>
          <p:nvPr/>
        </p:nvSpPr>
        <p:spPr>
          <a:xfrm>
            <a:off x="534442" y="2166509"/>
            <a:ext cx="4613622" cy="435811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Border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Border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Border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생성\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Border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Border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Window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Window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Window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생성\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Window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Window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Border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border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FB0BA-2094-D9CE-CD66-6F1D4F37DE1B}"/>
              </a:ext>
            </a:extLst>
          </p:cNvPr>
          <p:cNvSpPr txBox="1"/>
          <p:nvPr/>
        </p:nvSpPr>
        <p:spPr>
          <a:xfrm>
            <a:off x="5148064" y="3861048"/>
            <a:ext cx="2448272" cy="132610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 tIns="108000" rIns="360000" bIns="108000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Border</a:t>
            </a:r>
            <a: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생성</a:t>
            </a:r>
            <a:b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Window</a:t>
            </a:r>
            <a: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생성</a:t>
            </a:r>
            <a:b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Window</a:t>
            </a:r>
            <a: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</a:t>
            </a:r>
            <a:b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Border</a:t>
            </a:r>
            <a:r>
              <a:rPr lang="ko-KR" altLang="ko-KR" sz="18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</a:t>
            </a:r>
            <a:endParaRPr lang="ko-KR" altLang="en-US" sz="4000" dirty="0">
              <a:solidFill>
                <a:schemeClr val="tx1">
                  <a:lumMod val="50000"/>
                  <a:lumOff val="50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963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9B5F4-333B-716E-C177-2EF8D029C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0E77C-7855-C9D4-405C-297D68E56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4.2.5 구성 요소의 생성과 소멸 순서</a:t>
            </a:r>
            <a:endParaRPr lang="ko-KR" alt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B785B9C8-C50C-AD0D-58F1-0B1A64DF47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3946102"/>
              </p:ext>
            </p:extLst>
          </p:nvPr>
        </p:nvGraphicFramePr>
        <p:xfrm>
          <a:off x="395536" y="764704"/>
          <a:ext cx="8352928" cy="1642768"/>
        </p:xfrm>
        <a:graphic>
          <a:graphicData uri="http://schemas.openxmlformats.org/drawingml/2006/table">
            <a:tbl>
              <a:tblPr/>
              <a:tblGrid>
                <a:gridCol w="3162371">
                  <a:extLst>
                    <a:ext uri="{9D8B030D-6E8A-4147-A177-3AD203B41FA5}">
                      <a16:colId xmlns:a16="http://schemas.microsoft.com/office/drawing/2014/main" val="1883618652"/>
                    </a:ext>
                  </a:extLst>
                </a:gridCol>
                <a:gridCol w="2695353">
                  <a:extLst>
                    <a:ext uri="{9D8B030D-6E8A-4147-A177-3AD203B41FA5}">
                      <a16:colId xmlns:a16="http://schemas.microsoft.com/office/drawing/2014/main" val="2595994019"/>
                    </a:ext>
                  </a:extLst>
                </a:gridCol>
                <a:gridCol w="2495204">
                  <a:extLst>
                    <a:ext uri="{9D8B030D-6E8A-4147-A177-3AD203B41FA5}">
                      <a16:colId xmlns:a16="http://schemas.microsoft.com/office/drawing/2014/main" val="3959918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구성 요소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 순서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 순서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51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클래스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가장 먼저 생성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가장 나중에 소멸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661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CC00CC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 객체</a:t>
                      </a:r>
                      <a:endParaRPr lang="ko-KR" sz="3200" dirty="0">
                        <a:solidFill>
                          <a:srgbClr val="CC00CC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CC00CC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선언된 순서대로 생성</a:t>
                      </a:r>
                      <a:endParaRPr lang="ko-KR" sz="3200" dirty="0">
                        <a:solidFill>
                          <a:srgbClr val="CC00CC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CC00CC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선언된 역순으로 소멸</a:t>
                      </a:r>
                      <a:endParaRPr lang="ko-KR" sz="3200" dirty="0">
                        <a:solidFill>
                          <a:srgbClr val="CC00CC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809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자신의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생성자·소멸자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본문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 과정의 마지막에 실행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 과정의 처음에 실행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12498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88351C6-3F03-1272-C244-9C090A172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798172"/>
              </p:ext>
            </p:extLst>
          </p:nvPr>
        </p:nvGraphicFramePr>
        <p:xfrm>
          <a:off x="827584" y="2672556"/>
          <a:ext cx="3432770" cy="2260600"/>
        </p:xfrm>
        <a:graphic>
          <a:graphicData uri="http://schemas.openxmlformats.org/drawingml/2006/table">
            <a:tbl>
              <a:tblPr/>
              <a:tblGrid>
                <a:gridCol w="3432770">
                  <a:extLst>
                    <a:ext uri="{9D8B030D-6E8A-4147-A177-3AD203B41FA5}">
                      <a16:colId xmlns:a16="http://schemas.microsoft.com/office/drawing/2014/main" val="210095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endParaRPr lang="en-US" altLang="ko-KR" sz="2000" b="0" i="0" u="none" strike="noStrike" dirty="0">
                        <a:solidFill>
                          <a:srgbClr val="383A42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클래스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 객체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자신의 생성자 본문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914385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16BB77B-42F4-4AC6-3E77-8AD3779D2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051168"/>
              </p:ext>
            </p:extLst>
          </p:nvPr>
        </p:nvGraphicFramePr>
        <p:xfrm>
          <a:off x="4883646" y="2680568"/>
          <a:ext cx="3432770" cy="2260600"/>
        </p:xfrm>
        <a:graphic>
          <a:graphicData uri="http://schemas.openxmlformats.org/drawingml/2006/table">
            <a:tbl>
              <a:tblPr/>
              <a:tblGrid>
                <a:gridCol w="3432770">
                  <a:extLst>
                    <a:ext uri="{9D8B030D-6E8A-4147-A177-3AD203B41FA5}">
                      <a16:colId xmlns:a16="http://schemas.microsoft.com/office/drawing/2014/main" val="210095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</a:t>
                      </a:r>
                      <a:endParaRPr lang="en-US" altLang="ko-KR" sz="2000" b="0" i="0" u="none" strike="noStrike" dirty="0">
                        <a:solidFill>
                          <a:srgbClr val="383A42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algn="ctr" rtl="0" fontAlgn="t">
                        <a:buNone/>
                      </a:pP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자신의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소멸자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본문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 객체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클래스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91438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B805198-6558-5792-9B51-6E507849D641}"/>
              </a:ext>
            </a:extLst>
          </p:cNvPr>
          <p:cNvSpPr txBox="1"/>
          <p:nvPr/>
        </p:nvSpPr>
        <p:spPr>
          <a:xfrm>
            <a:off x="827584" y="5229200"/>
            <a:ext cx="7488832" cy="101566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객체를 구성하는 내부 요소를 먼저 준비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→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바깥 객체의 생성자 본문 실행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정리 과정에서는 바깥 객체의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소멸자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본문이 먼저 실행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5478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09681-9E89-BB02-8FC9-6909542CC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8AB531-9182-9759-ADE1-5408B210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4.2.6 </a:t>
            </a:r>
            <a:r>
              <a:rPr lang="ko-KR" altLang="ko-KR" dirty="0" err="1"/>
              <a:t>소멸자</a:t>
            </a:r>
            <a:r>
              <a:rPr lang="ko-KR" altLang="ko-KR" dirty="0"/>
              <a:t> 작성 시 주의점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7300E2-1359-CE7D-2F25-34CE6F4C4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소멸자는 예외를 외부로 전달하지 않는 것이 원칙</a:t>
            </a:r>
          </a:p>
          <a:p>
            <a:pPr lvl="0"/>
            <a:r>
              <a:rPr lang="ko-KR" altLang="ko-KR" sz="2400" dirty="0"/>
              <a:t>실패 가능성이 낮고 확실하게 정리할 수 있는 작업에 적합</a:t>
            </a:r>
          </a:p>
          <a:p>
            <a:pPr lvl="0"/>
            <a:r>
              <a:rPr lang="ko-KR" altLang="ko-KR" sz="2400" dirty="0"/>
              <a:t>복잡한 저장 작업이나 사용자 확인이 필요한 작업</a:t>
            </a:r>
            <a:r>
              <a:rPr lang="en-US" altLang="ko-KR" sz="2400" dirty="0"/>
              <a:t> </a:t>
            </a:r>
            <a:r>
              <a:rPr lang="ko-KR" altLang="en-US" sz="2400" dirty="0"/>
              <a:t>→</a:t>
            </a:r>
            <a:br>
              <a:rPr lang="en-US" altLang="ko-KR" sz="2400" dirty="0"/>
            </a:br>
            <a:r>
              <a:rPr lang="ko-KR" altLang="ko-KR" sz="2400" dirty="0"/>
              <a:t>소멸자에 몰아넣지 않음</a:t>
            </a:r>
          </a:p>
          <a:p>
            <a:pPr lvl="0"/>
            <a:r>
              <a:rPr lang="ko-KR" altLang="ko-KR" sz="2400" dirty="0"/>
              <a:t>소멸자는 일반적으로 직접 호출하지 않음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CE083-F9AD-3C15-B955-6DB452DFF5E8}"/>
              </a:ext>
            </a:extLst>
          </p:cNvPr>
          <p:cNvSpPr txBox="1"/>
          <p:nvPr/>
        </p:nvSpPr>
        <p:spPr>
          <a:xfrm>
            <a:off x="546224" y="3008223"/>
            <a:ext cx="7920682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.~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// 직접 호출하지 않음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654168-1B49-3D13-C23A-2973DB10D24F}"/>
              </a:ext>
            </a:extLst>
          </p:cNvPr>
          <p:cNvSpPr txBox="1"/>
          <p:nvPr/>
        </p:nvSpPr>
        <p:spPr>
          <a:xfrm>
            <a:off x="539750" y="4293096"/>
            <a:ext cx="7920682" cy="163121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2000" b="0" i="0" u="none" strike="noStrike" dirty="0">
                <a:solidFill>
                  <a:srgbClr val="CC00CC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직접 호출의 문제</a:t>
            </a:r>
            <a:endParaRPr lang="ko-KR" altLang="ko-KR" sz="2000" b="0" dirty="0">
              <a:solidFill>
                <a:srgbClr val="CC00CC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실제 객체 수명은 끝나지 않았는데 </a:t>
            </a:r>
            <a:r>
              <a:rPr lang="ko-KR" altLang="ko-KR" sz="2000" b="0" i="0" u="none" strike="noStrike" dirty="0" err="1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소멸자</a:t>
            </a:r>
            <a:r>
              <a:rPr lang="ko-KR" altLang="ko-KR" sz="20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본문만 실행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될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이후 객체가 다시 소멸할 때 같은 </a:t>
            </a:r>
            <a:r>
              <a:rPr lang="ko-KR" altLang="ko-KR" sz="20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자원을 두 번 해제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할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소멸은 객체 수명 규칙에 맡기는 것이 기본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새 코드에서는 직접 </a:t>
            </a:r>
            <a:r>
              <a:rPr lang="ko-KR" altLang="ko-KR" sz="2000" b="0" i="0" u="none" strike="noStrike" dirty="0" err="1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20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0" u="none" strike="noStrike" dirty="0" err="1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관리보다 </a:t>
            </a:r>
            <a:r>
              <a:rPr lang="ko-KR" altLang="ko-KR" sz="20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컨테이너와 스마트 포인터 우선</a:t>
            </a:r>
          </a:p>
        </p:txBody>
      </p:sp>
    </p:spTree>
    <p:extLst>
      <p:ext uri="{BB962C8B-B14F-4D97-AF65-F5344CB8AC3E}">
        <p14:creationId xmlns:p14="http://schemas.microsoft.com/office/powerpoint/2010/main" val="1677039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518A2-A0BD-2CDA-13DB-6CEB48AA0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88B4E5-874F-8B6F-AB9D-0F6D5704A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4.3 초기화 방식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94F596-56E5-2721-9330-92B5DEC53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초기화는 객체가 처음 만들어질 때 값을 설정하는 과정</a:t>
            </a:r>
          </a:p>
          <a:p>
            <a:pPr lvl="0"/>
            <a:r>
              <a:rPr lang="ko-KR" altLang="ko-KR" sz="2400" dirty="0"/>
              <a:t>대입은 이미 존재하는 객체의 값을 변경하는 연산</a:t>
            </a:r>
          </a:p>
          <a:p>
            <a:pPr lvl="0"/>
            <a:r>
              <a:rPr lang="ko-KR" altLang="ko-KR" sz="2400" dirty="0"/>
              <a:t>문법 형태에 따라 초기화 방식과 생성자 선택 규칙이 달라질 수 있음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95A3B-0F36-A819-8CBB-593659D0D3FE}"/>
              </a:ext>
            </a:extLst>
          </p:cNvPr>
          <p:cNvSpPr txBox="1"/>
          <p:nvPr/>
        </p:nvSpPr>
        <p:spPr>
          <a:xfrm>
            <a:off x="539750" y="2276872"/>
            <a:ext cx="8064698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초기화</a:t>
            </a:r>
            <a:b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    </a:t>
            </a:r>
            <a:r>
              <a:rPr lang="ko-KR" altLang="ko-KR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대입</a:t>
            </a:r>
            <a:endParaRPr lang="ko-KR" altLang="en-US" sz="4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FC4F6C0-53ED-4861-7B02-EF807AA31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17480"/>
              </p:ext>
            </p:extLst>
          </p:nvPr>
        </p:nvGraphicFramePr>
        <p:xfrm>
          <a:off x="323528" y="3770913"/>
          <a:ext cx="8496943" cy="2753712"/>
        </p:xfrm>
        <a:graphic>
          <a:graphicData uri="http://schemas.openxmlformats.org/drawingml/2006/table">
            <a:tbl>
              <a:tblPr/>
              <a:tblGrid>
                <a:gridCol w="1597716">
                  <a:extLst>
                    <a:ext uri="{9D8B030D-6E8A-4147-A177-3AD203B41FA5}">
                      <a16:colId xmlns:a16="http://schemas.microsoft.com/office/drawing/2014/main" val="3933693410"/>
                    </a:ext>
                  </a:extLst>
                </a:gridCol>
                <a:gridCol w="1960832">
                  <a:extLst>
                    <a:ext uri="{9D8B030D-6E8A-4147-A177-3AD203B41FA5}">
                      <a16:colId xmlns:a16="http://schemas.microsoft.com/office/drawing/2014/main" val="2903558336"/>
                    </a:ext>
                  </a:extLst>
                </a:gridCol>
                <a:gridCol w="4938395">
                  <a:extLst>
                    <a:ext uri="{9D8B030D-6E8A-4147-A177-3AD203B41FA5}">
                      <a16:colId xmlns:a16="http://schemas.microsoft.com/office/drawing/2014/main" val="37750431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초기화 방식</a:t>
                      </a:r>
                      <a:endParaRPr lang="ko-KR" sz="2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  <a:endParaRPr lang="ko-KR" sz="2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주요 동작</a:t>
                      </a:r>
                      <a:endParaRPr lang="ko-KR" sz="2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67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기본 초기화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object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;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클래스는 기본 생성자 호출,</a:t>
                      </a:r>
                      <a:b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기본형 지역 변수는 값이 정해지지 않을 수 있음</a:t>
                      </a:r>
                      <a:endParaRPr lang="ko-KR" sz="3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597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값 초기화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object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{};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기본형과 집합체 멤버를 0에 해당하는 값으로 초기화</a:t>
                      </a:r>
                      <a:endParaRPr lang="ko-KR" sz="3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083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직접 초기화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object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value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);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인수에 맞는 생성자 직접 선택</a:t>
                      </a:r>
                      <a:endParaRPr lang="ko-KR" sz="3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0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복사 초기화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object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=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value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;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암시적 변환 허용</a:t>
                      </a:r>
                      <a:endParaRPr lang="ko-KR" sz="3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289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리스트 초기화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object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sz="1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value</a:t>
                      </a:r>
                      <a:r>
                        <a:rPr lang="ko-KR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};</a:t>
                      </a:r>
                      <a:endParaRPr lang="ko-KR" sz="32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축소 변환 제한, 집합 초기화 가능</a:t>
                      </a:r>
                      <a:endParaRPr lang="ko-KR" sz="3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569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4226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33C68-671D-523E-D791-2C0826126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7CB62-03CF-C0CE-E20B-F751341F2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4.3.1 기본 초기화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BED9A6-0DBD-8FDC-2CD6-44ECD90DE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초기값 없이 객체를 선언하면 기본 초기화 적용</a:t>
            </a:r>
          </a:p>
          <a:p>
            <a:pPr lvl="0"/>
            <a:r>
              <a:rPr lang="ko-KR" altLang="ko-KR" dirty="0"/>
              <a:t>클래스 타입에는 기본 생성자 호출</a:t>
            </a:r>
          </a:p>
          <a:p>
            <a:pPr lvl="0"/>
            <a:r>
              <a:rPr lang="ko-KR" altLang="ko-KR" dirty="0"/>
              <a:t>기본형 지역 변수에는 정해지지 않은 값이 남을 수 있음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5FAAC3-0EA7-6487-FAE0-7C47E26B4016}"/>
              </a:ext>
            </a:extLst>
          </p:cNvPr>
          <p:cNvSpPr txBox="1"/>
          <p:nvPr/>
        </p:nvSpPr>
        <p:spPr>
          <a:xfrm>
            <a:off x="539750" y="2638890"/>
            <a:ext cx="2520082" cy="313932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ratio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8D3652-FA75-D2ED-6772-0734CC537109}"/>
              </a:ext>
            </a:extLst>
          </p:cNvPr>
          <p:cNvSpPr txBox="1"/>
          <p:nvPr/>
        </p:nvSpPr>
        <p:spPr>
          <a:xfrm>
            <a:off x="3275856" y="3008222"/>
            <a:ext cx="5181550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ratio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point.x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point.y를</a:t>
            </a:r>
            <a:b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초기화 없이 읽으면 올바른 결과를 기대할 수 없음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기본 생성자가 있어도 기본형 멤버를</a:t>
            </a:r>
            <a:b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0으로 만든다는 뜻은 아님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4DB8C-82D1-ADDD-F560-C5A1AFA381B4}"/>
              </a:ext>
            </a:extLst>
          </p:cNvPr>
          <p:cNvSpPr txBox="1"/>
          <p:nvPr/>
        </p:nvSpPr>
        <p:spPr>
          <a:xfrm>
            <a:off x="3278882" y="4577882"/>
            <a:ext cx="5181550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↓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클래스 타입: 기본 생성자 호출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기본형 지역 변수: 값이 정해지지 않을 수 있음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7345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9C22-0338-BE51-83F7-B7D4BAEAF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390A8-7515-978C-B4AC-5C12FCB6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4.3.2 값 초기화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9D143A-043E-239E-6CAC-9FE88E8EE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빈 괄호나 빈 중괄호를 사용하면 값 초기화 적용 가능</a:t>
            </a:r>
          </a:p>
          <a:p>
            <a:pPr lvl="0"/>
            <a:r>
              <a:rPr lang="ko-KR" altLang="ko-KR" sz="2400" dirty="0"/>
              <a:t>기본형은 0에 해당하는 값으로 초기화</a:t>
            </a:r>
          </a:p>
          <a:p>
            <a:pPr lvl="0"/>
            <a:r>
              <a:rPr lang="ko-KR" altLang="ko-KR" sz="2400" dirty="0"/>
              <a:t>집합체의 기본형 멤버도 0에 해당하는 값으로 초기화</a:t>
            </a:r>
          </a:p>
          <a:p>
            <a:pPr lvl="0"/>
            <a:r>
              <a:rPr lang="ko-KR" altLang="ko-KR" sz="2400" dirty="0"/>
              <a:t>클래스 타입에 기본 생성자가 있으면 기본 생성자 호출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FDC84-C5C8-AC44-6E94-9BB9C9E97DA9}"/>
              </a:ext>
            </a:extLst>
          </p:cNvPr>
          <p:cNvSpPr txBox="1"/>
          <p:nvPr/>
        </p:nvSpPr>
        <p:spPr>
          <a:xfrm>
            <a:off x="539750" y="2800473"/>
            <a:ext cx="3168154" cy="286232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ratio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ratio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point.x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point.y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 </a:t>
            </a:r>
            <a:r>
              <a:rPr lang="ko-KR" altLang="ko-KR" sz="20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endParaRPr lang="ko-KR" altLang="en-US" sz="4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454D25-E491-EDE7-B8A3-34B6B40B0058}"/>
              </a:ext>
            </a:extLst>
          </p:cNvPr>
          <p:cNvSpPr txBox="1"/>
          <p:nvPr/>
        </p:nvSpPr>
        <p:spPr>
          <a:xfrm>
            <a:off x="3707904" y="2800473"/>
            <a:ext cx="4896346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동적 객체의 값 초기화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    </a:t>
            </a:r>
            <a:r>
              <a:rPr lang="ko-KR" altLang="ko-KR" sz="20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초기값 없음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</a:t>
            </a:r>
            <a:r>
              <a:rPr lang="ko-KR" altLang="ko-KR" sz="20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0으로 초기화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4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A993A5-F608-6F32-77C0-87072418E30E}"/>
              </a:ext>
            </a:extLst>
          </p:cNvPr>
          <p:cNvSpPr txBox="1"/>
          <p:nvPr/>
        </p:nvSpPr>
        <p:spPr>
          <a:xfrm>
            <a:off x="539750" y="5794995"/>
            <a:ext cx="8064500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동적 객체도 초기화 방식에 따라 결과가 달라짐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3088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8E77F-17C9-57AE-6B3D-521A12A88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1AFF9-D210-62AC-09FF-88087241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4.3.3 직접 초기화와 복사 초기화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53585E-DFE7-8840-20A5-AB283D354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/>
              <a:t>직접 초기화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  <a:p>
            <a:r>
              <a:rPr lang="ko-KR" altLang="ko-KR" sz="2400" dirty="0"/>
              <a:t>복사 초기화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53460-A1D7-A307-7B29-220D1C29D25E}"/>
              </a:ext>
            </a:extLst>
          </p:cNvPr>
          <p:cNvSpPr txBox="1"/>
          <p:nvPr/>
        </p:nvSpPr>
        <p:spPr>
          <a:xfrm>
            <a:off x="573310" y="1144198"/>
            <a:ext cx="5366842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546D3-503E-4583-DE21-5E9D71EE2F61}"/>
              </a:ext>
            </a:extLst>
          </p:cNvPr>
          <p:cNvSpPr txBox="1"/>
          <p:nvPr/>
        </p:nvSpPr>
        <p:spPr>
          <a:xfrm>
            <a:off x="573310" y="1837582"/>
            <a:ext cx="5366842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인수에 맞는 생성자를 직접 선택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생성자 호출 가능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2EB55-9E0C-74B5-5814-4BA1F3D2DE0B}"/>
              </a:ext>
            </a:extLst>
          </p:cNvPr>
          <p:cNvSpPr txBox="1"/>
          <p:nvPr/>
        </p:nvSpPr>
        <p:spPr>
          <a:xfrm>
            <a:off x="559989" y="3140968"/>
            <a:ext cx="5377457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B376D8-68A6-C466-DF32-CB638ACDC8A4}"/>
              </a:ext>
            </a:extLst>
          </p:cNvPr>
          <p:cNvSpPr txBox="1"/>
          <p:nvPr/>
        </p:nvSpPr>
        <p:spPr>
          <a:xfrm>
            <a:off x="539749" y="3861048"/>
            <a:ext cx="5393585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등호가 있지만 이미 존재하는 객체에 값을 대입하는 것이 아님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새로운 객체를 생성하는 초기화 문법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A85AB1-7B32-61B4-CE79-C9F96B036153}"/>
              </a:ext>
            </a:extLst>
          </p:cNvPr>
          <p:cNvSpPr txBox="1"/>
          <p:nvPr/>
        </p:nvSpPr>
        <p:spPr>
          <a:xfrm>
            <a:off x="6156176" y="1136065"/>
            <a:ext cx="2520280" cy="32932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E8528C-5517-0CCA-EBD3-B2D372B13305}"/>
              </a:ext>
            </a:extLst>
          </p:cNvPr>
          <p:cNvSpPr txBox="1"/>
          <p:nvPr/>
        </p:nvSpPr>
        <p:spPr>
          <a:xfrm>
            <a:off x="539748" y="4854282"/>
            <a:ext cx="8136707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explicit이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없으면 변환 생성자가 복사 초기화에 사용될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1512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8D783-9CC8-FA22-00DF-C12778A44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7260D7-F4CE-C17E-A7CC-5A5851E42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4.3.5 중괄호 초기화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FA5E4-0387-84CC-D56A-30ABCCAB0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기본형, 구조체, 배열과 클래스 객체에 공통된 형태로 사용</a:t>
            </a:r>
          </a:p>
          <a:p>
            <a:pPr lvl="0"/>
            <a:r>
              <a:rPr lang="ko-KR" altLang="ko-KR" dirty="0"/>
              <a:t>축소 변환을 허용하지 않음</a:t>
            </a:r>
          </a:p>
          <a:p>
            <a:pPr lvl="0"/>
            <a:r>
              <a:rPr lang="ko-KR" altLang="ko-KR" dirty="0"/>
              <a:t>빈 중괄호는 기본값을 사용한 초기화에 적합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33391-F86D-E223-FE78-B52E13FBB3C5}"/>
              </a:ext>
            </a:extLst>
          </p:cNvPr>
          <p:cNvSpPr txBox="1"/>
          <p:nvPr/>
        </p:nvSpPr>
        <p:spPr>
          <a:xfrm>
            <a:off x="560735" y="2420888"/>
            <a:ext cx="3939257" cy="403187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3.14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3.14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third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{3.14}; // 오류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3.14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 // 오류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899D1-E7BD-DACC-CF63-ECB8980E1BF5}"/>
              </a:ext>
            </a:extLst>
          </p:cNvPr>
          <p:cNvSpPr txBox="1"/>
          <p:nvPr/>
        </p:nvSpPr>
        <p:spPr>
          <a:xfrm>
            <a:off x="4139952" y="4653136"/>
            <a:ext cx="4896544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잘못된 형 변환을 컴파일 시점에 찾는 데 도움</a:t>
            </a:r>
          </a:p>
        </p:txBody>
      </p:sp>
    </p:spTree>
    <p:extLst>
      <p:ext uri="{BB962C8B-B14F-4D97-AF65-F5344CB8AC3E}">
        <p14:creationId xmlns:p14="http://schemas.microsoft.com/office/powerpoint/2010/main" val="210552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5EB29-C49A-2830-3D3B-7C907429A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0D6D7-FD41-D3CC-8B20-179EBFDB5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4.3.6 집합 초기화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FEC0E1-D1F8-E78F-5F75-5DCC36D0A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집합체는 멤버를 선언된 순서대로 직접 초기화할 수 있는 타입</a:t>
            </a:r>
          </a:p>
          <a:p>
            <a:pPr lvl="0"/>
            <a:r>
              <a:rPr lang="ko-KR" altLang="ko-KR" sz="2400" dirty="0"/>
              <a:t>생성자를 직접 선언하지 않고</a:t>
            </a:r>
            <a:br>
              <a:rPr lang="en-US" altLang="ko-KR" sz="2400" dirty="0"/>
            </a:br>
            <a:r>
              <a:rPr lang="ko-KR" altLang="ko-KR" sz="2400" dirty="0"/>
              <a:t>공개 멤버만 가지는 단순한 구조체에 적합</a:t>
            </a:r>
          </a:p>
          <a:p>
            <a:pPr lvl="0"/>
            <a:r>
              <a:rPr lang="ko-KR" altLang="ko-KR" sz="2400" dirty="0"/>
              <a:t>배열도 집합 초기화 가능</a:t>
            </a:r>
          </a:p>
          <a:p>
            <a:pPr lvl="0"/>
            <a:r>
              <a:rPr lang="ko-KR" altLang="ko-KR" sz="2400" dirty="0"/>
              <a:t>일부 값만 작성하면 나머지 요소는 0으로 초기화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7031D4-9916-FAEE-7F49-BEAF6F45B997}"/>
              </a:ext>
            </a:extLst>
          </p:cNvPr>
          <p:cNvSpPr txBox="1"/>
          <p:nvPr/>
        </p:nvSpPr>
        <p:spPr>
          <a:xfrm>
            <a:off x="772194" y="3118316"/>
            <a:ext cx="3439766" cy="30469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7BFD2-ADFE-286D-CE1B-0318226D85E8}"/>
              </a:ext>
            </a:extLst>
          </p:cNvPr>
          <p:cNvSpPr txBox="1"/>
          <p:nvPr/>
        </p:nvSpPr>
        <p:spPr>
          <a:xfrm>
            <a:off x="4572000" y="3118316"/>
            <a:ext cx="3799806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{{10, 20}, {100, 50}};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8416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C7B51-5140-1A2F-717E-0C8D9A377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7EFD6B-83B3-CBA8-7977-CAD4801E9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4.4 멤버 초기화 리스트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09F3D3-F463-2E4E-0417-5D2AC9876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생성자 본문이 실행되기 전에 멤버를 직접 초기화</a:t>
            </a:r>
          </a:p>
          <a:p>
            <a:pPr lvl="0"/>
            <a:r>
              <a:rPr lang="ko-KR" altLang="ko-KR" dirty="0"/>
              <a:t>생성자의 매개변수 목록 뒤에 콜론 작성</a:t>
            </a:r>
          </a:p>
          <a:p>
            <a:pPr lvl="0"/>
            <a:r>
              <a:rPr lang="ko-KR" altLang="ko-KR" dirty="0"/>
              <a:t>초기화할 멤버 나열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AB5CB-95F8-7F64-9884-7453F46E69AD}"/>
              </a:ext>
            </a:extLst>
          </p:cNvPr>
          <p:cNvSpPr txBox="1"/>
          <p:nvPr/>
        </p:nvSpPr>
        <p:spPr>
          <a:xfrm>
            <a:off x="395536" y="2420888"/>
            <a:ext cx="4572000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({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833C2B1-1744-8961-6C80-3D08B4E9D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957395"/>
              </p:ext>
            </p:extLst>
          </p:nvPr>
        </p:nvGraphicFramePr>
        <p:xfrm>
          <a:off x="5084254" y="3212976"/>
          <a:ext cx="3952242" cy="1803600"/>
        </p:xfrm>
        <a:graphic>
          <a:graphicData uri="http://schemas.openxmlformats.org/drawingml/2006/table">
            <a:tbl>
              <a:tblPr/>
              <a:tblGrid>
                <a:gridCol w="3952242">
                  <a:extLst>
                    <a:ext uri="{9D8B030D-6E8A-4147-A177-3AD203B41FA5}">
                      <a16:colId xmlns:a16="http://schemas.microsoft.com/office/drawing/2014/main" val="4149688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 초기화 리스트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position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width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height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직접 초기화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생성자 본문 실행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108000" marT="216000" marB="21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14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12F977F-790D-6D32-1533-6FD99690BE5A}"/>
              </a:ext>
            </a:extLst>
          </p:cNvPr>
          <p:cNvSpPr txBox="1"/>
          <p:nvPr/>
        </p:nvSpPr>
        <p:spPr>
          <a:xfrm>
            <a:off x="395536" y="6073551"/>
            <a:ext cx="8136904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생성자 본문이 실행될 때는 모든 멤버 초기화가 끝난 상태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5185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E4467-DFC4-CB38-6CDF-330562397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11207-161F-2480-C39F-70E029D25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0" dirty="0"/>
              <a:t>4.4.1 대입과 초기화의 차이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EBDD9B-BE17-98B3-114E-F4066EBDD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/>
              <a:t>생성자 본문의 대입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ko-KR" sz="2400" dirty="0"/>
              <a:t>멤버 초기화 리스트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143058-BF8B-E72D-B4EF-484453AC1F7D}"/>
              </a:ext>
            </a:extLst>
          </p:cNvPr>
          <p:cNvSpPr txBox="1"/>
          <p:nvPr/>
        </p:nvSpPr>
        <p:spPr>
          <a:xfrm>
            <a:off x="611560" y="1196752"/>
            <a:ext cx="3168352" cy="246221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Label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Label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BEA5A-F90C-4169-0E70-0B64EE99D8A9}"/>
              </a:ext>
            </a:extLst>
          </p:cNvPr>
          <p:cNvSpPr txBox="1"/>
          <p:nvPr/>
        </p:nvSpPr>
        <p:spPr>
          <a:xfrm>
            <a:off x="539750" y="4293096"/>
            <a:ext cx="3240162" cy="246221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Label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Label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3A3EDA-7B10-6F87-7D77-FB83CF392F79}"/>
              </a:ext>
            </a:extLst>
          </p:cNvPr>
          <p:cNvSpPr txBox="1"/>
          <p:nvPr/>
        </p:nvSpPr>
        <p:spPr>
          <a:xfrm>
            <a:off x="3779912" y="1969403"/>
            <a:ext cx="4824536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멤버가 먼저 기본 생성됨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생성자 본문에서 전달받은 문자열이 대입됨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2E611D-5741-5334-CF16-3B8FB2190C6F}"/>
              </a:ext>
            </a:extLst>
          </p:cNvPr>
          <p:cNvSpPr txBox="1"/>
          <p:nvPr/>
        </p:nvSpPr>
        <p:spPr>
          <a:xfrm>
            <a:off x="3779912" y="5154870"/>
            <a:ext cx="4824536" cy="101566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전달받은 값으로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text를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직접 초기화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특별한 이유가 없다면 생성자에서는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멤버 초기화 리스트 우선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6091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2B52D-51B4-9BD4-6869-9EFD9899F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7166C-CE90-7ED5-6F0E-01C669F5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4.4.2 멤버 초기화 순서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5A3A37-1011-61CE-6DAB-7DDC4A766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멤버는 초기화 리스트에 작성한 순서가 아니라</a:t>
            </a:r>
            <a:br>
              <a:rPr lang="en-US" altLang="ko-KR" sz="2400" dirty="0"/>
            </a:br>
            <a:r>
              <a:rPr lang="ko-KR" altLang="ko-KR" sz="2400" dirty="0"/>
              <a:t>클래스에 선언된 순서대로 초기화</a:t>
            </a:r>
          </a:p>
          <a:p>
            <a:pPr lvl="0"/>
            <a:r>
              <a:rPr lang="ko-KR" altLang="ko-KR" sz="2400" dirty="0"/>
              <a:t>초기화 리스트도 멤버 선언 순서와 같게 작성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AA0B95-C767-7E7E-77EC-73A3A59D0810}"/>
              </a:ext>
            </a:extLst>
          </p:cNvPr>
          <p:cNvSpPr txBox="1"/>
          <p:nvPr/>
        </p:nvSpPr>
        <p:spPr>
          <a:xfrm>
            <a:off x="539750" y="2060848"/>
            <a:ext cx="3814216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endParaRPr lang="en-US" altLang="ko-KR" sz="1400" b="0" i="0" u="none" strike="noStrike" dirty="0">
              <a:solidFill>
                <a:srgbClr val="C18401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){}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E4E21-B646-1851-637C-3749D4E5A656}"/>
              </a:ext>
            </a:extLst>
          </p:cNvPr>
          <p:cNvSpPr txBox="1"/>
          <p:nvPr/>
        </p:nvSpPr>
        <p:spPr>
          <a:xfrm>
            <a:off x="537121" y="4492858"/>
            <a:ext cx="3814216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endParaRPr lang="en-US" altLang="ko-KR" sz="1400" b="0" i="0" u="none" strike="noStrike" dirty="0">
              <a:solidFill>
                <a:srgbClr val="C18401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){}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278370-7748-DD21-5659-EF3AF9E297B1}"/>
              </a:ext>
            </a:extLst>
          </p:cNvPr>
          <p:cNvSpPr txBox="1"/>
          <p:nvPr/>
        </p:nvSpPr>
        <p:spPr>
          <a:xfrm>
            <a:off x="4351337" y="2740489"/>
            <a:ext cx="4572000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실제 초기화 순서: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→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endParaRPr lang="ko-KR" altLang="ko-KR" sz="1800" b="0" i="0" u="none" strike="noStrike" dirty="0">
              <a:solidFill>
                <a:srgbClr val="00000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초기화 리스트 작성 순서: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→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endParaRPr lang="ko-KR" altLang="ko-KR" sz="1800" b="0" i="0" u="none" strike="noStrike" dirty="0">
              <a:solidFill>
                <a:srgbClr val="00000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A95434-4385-282C-2FC1-1D14169559AA}"/>
              </a:ext>
            </a:extLst>
          </p:cNvPr>
          <p:cNvSpPr txBox="1"/>
          <p:nvPr/>
        </p:nvSpPr>
        <p:spPr>
          <a:xfrm>
            <a:off x="4355107" y="5108694"/>
            <a:ext cx="4572000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한 멤버의 초기값이 다른 멤버에 의존하면</a:t>
            </a:r>
            <a:b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선언 순서가 특히 중요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363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67074-AED0-FD4E-9216-861E15A2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04132-C2B9-3F51-9088-07DC7ACA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4.4.3 객체 타입 멤버 초기화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9DB3BF-6C09-0C82-E89C-F4856BAF5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클래스가 객체 타입 멤버를 가지면 그 멤버의 생성자가 먼저 호출</a:t>
            </a:r>
          </a:p>
          <a:p>
            <a:pPr lvl="0"/>
            <a:r>
              <a:rPr lang="ko-KR" altLang="ko-KR" sz="2400" dirty="0"/>
              <a:t>객체 타입 멤버에 기본 생성자가 없으면</a:t>
            </a:r>
            <a:br>
              <a:rPr lang="en-US" altLang="ko-KR" sz="2400" dirty="0"/>
            </a:br>
            <a:r>
              <a:rPr lang="ko-KR" altLang="ko-KR" sz="2400" dirty="0"/>
              <a:t>멤버 초기화 리스트에서 반드시 초기화해야 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0D424-F898-9602-4E3E-C6FF99909072}"/>
              </a:ext>
            </a:extLst>
          </p:cNvPr>
          <p:cNvSpPr txBox="1"/>
          <p:nvPr/>
        </p:nvSpPr>
        <p:spPr>
          <a:xfrm>
            <a:off x="395536" y="2000310"/>
            <a:ext cx="5400600" cy="452431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{}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73002A-DA50-BD73-F5E4-D520BCD1D199}"/>
              </a:ext>
            </a:extLst>
          </p:cNvPr>
          <p:cNvSpPr txBox="1"/>
          <p:nvPr/>
        </p:nvSpPr>
        <p:spPr>
          <a:xfrm>
            <a:off x="4054971" y="5301208"/>
            <a:ext cx="4968552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position은</a:t>
            </a: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생성자로 초기화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생성자 본문에서 대입하는 방식은 사용할 수 없음</a:t>
            </a:r>
          </a:p>
        </p:txBody>
      </p:sp>
    </p:spTree>
    <p:extLst>
      <p:ext uri="{BB962C8B-B14F-4D97-AF65-F5344CB8AC3E}">
        <p14:creationId xmlns:p14="http://schemas.microsoft.com/office/powerpoint/2010/main" val="488569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C2870-6B1D-43F6-981C-691880B14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5DBB3B-BA3E-3593-133F-CBCDBF241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4.4.4 </a:t>
            </a:r>
            <a:r>
              <a:rPr lang="ko-KR" altLang="ko-KR" dirty="0" err="1"/>
              <a:t>const</a:t>
            </a:r>
            <a:r>
              <a:rPr lang="ko-KR" altLang="ko-KR" dirty="0"/>
              <a:t> 멤버와 참조 멤버 초기화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044779-131F-DEDE-3071-8294AA42E7D8}"/>
              </a:ext>
            </a:extLst>
          </p:cNvPr>
          <p:cNvSpPr txBox="1"/>
          <p:nvPr/>
        </p:nvSpPr>
        <p:spPr>
          <a:xfrm>
            <a:off x="467544" y="740638"/>
            <a:ext cx="3528392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멤버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ShapeId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ShapeId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){}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329080-EBD0-DEEE-0DDA-85FFD893E2E8}"/>
              </a:ext>
            </a:extLst>
          </p:cNvPr>
          <p:cNvSpPr txBox="1"/>
          <p:nvPr/>
        </p:nvSpPr>
        <p:spPr>
          <a:xfrm>
            <a:off x="467544" y="3429000"/>
            <a:ext cx="3528392" cy="30469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참조 멤버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PointView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PointView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CDEEEF-AD34-BAA5-7725-DFB47C0EA4E4}"/>
              </a:ext>
            </a:extLst>
          </p:cNvPr>
          <p:cNvSpPr txBox="1"/>
          <p:nvPr/>
        </p:nvSpPr>
        <p:spPr>
          <a:xfrm>
            <a:off x="3563888" y="1663676"/>
            <a:ext cx="540060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멤버는 객체가 생성될 때 반드시 초기화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생성자 본문에서 대입 불가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E9A7F5-6BD5-FF56-F669-6C5D5ED3C4F3}"/>
              </a:ext>
            </a:extLst>
          </p:cNvPr>
          <p:cNvSpPr txBox="1"/>
          <p:nvPr/>
        </p:nvSpPr>
        <p:spPr>
          <a:xfrm>
            <a:off x="3563888" y="4881354"/>
            <a:ext cx="540060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참조 멤버는 생성 시점에 참조 대상을 결정해야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참조하는 객체의 수명을 함께 고려해야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6191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3284B-7EE7-98D3-4230-62B34E53E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94851-9546-6FE0-37EC-BFA6001C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4.5 생성자 기능의 확장</a:t>
            </a:r>
            <a:endParaRPr lang="ko-KR" alt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0715C194-9666-89B8-8EDF-4C99569D09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648956"/>
              </p:ext>
            </p:extLst>
          </p:nvPr>
        </p:nvGraphicFramePr>
        <p:xfrm>
          <a:off x="323528" y="764704"/>
          <a:ext cx="8424936" cy="3476824"/>
        </p:xfrm>
        <a:graphic>
          <a:graphicData uri="http://schemas.openxmlformats.org/drawingml/2006/table">
            <a:tbl>
              <a:tblPr/>
              <a:tblGrid>
                <a:gridCol w="2880320">
                  <a:extLst>
                    <a:ext uri="{9D8B030D-6E8A-4147-A177-3AD203B41FA5}">
                      <a16:colId xmlns:a16="http://schemas.microsoft.com/office/drawing/2014/main" val="4037135447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33381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</a:t>
                      </a:r>
                      <a:endParaRPr lang="ko-KR" sz="3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목적</a:t>
                      </a:r>
                      <a:endParaRPr lang="ko-KR" sz="3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4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기본 멤버 초기값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여러 생성자에서 공통으로 사용할 초기값</a:t>
                      </a:r>
                      <a:endParaRPr lang="ko-KR" sz="4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814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위임 생성자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다른 생성자에 초기화 작업 위임</a:t>
                      </a:r>
                      <a:endParaRPr lang="ko-KR" sz="4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84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explicit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생성자를 통한 암시적 변환 제한</a:t>
                      </a:r>
                      <a:endParaRPr lang="ko-KR" sz="4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48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= </a:t>
                      </a:r>
                      <a:r>
                        <a:rPr lang="ko-KR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default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컴파일러의 기본 동작을 명시적으로 요청</a:t>
                      </a:r>
                      <a:endParaRPr lang="ko-KR" sz="4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556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= </a:t>
                      </a:r>
                      <a:r>
                        <a:rPr lang="ko-KR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delete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특정 생성, 변환, 복사, 대입 금지</a:t>
                      </a:r>
                      <a:endParaRPr lang="ko-KR" sz="4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14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std</a:t>
                      </a:r>
                      <a:r>
                        <a:rPr lang="ko-KR" sz="24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ko-KR" sz="2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initializer_list</a:t>
                      </a:r>
                      <a:endParaRPr lang="ko-KR" sz="40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중괄호 안의 여러 값 전달</a:t>
                      </a:r>
                      <a:endParaRPr lang="ko-KR" sz="4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1774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8BD3B2-E247-9A17-AA31-4BD127209399}"/>
              </a:ext>
            </a:extLst>
          </p:cNvPr>
          <p:cNvSpPr txBox="1"/>
          <p:nvPr/>
        </p:nvSpPr>
        <p:spPr>
          <a:xfrm>
            <a:off x="331912" y="4653136"/>
            <a:ext cx="8424936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C++11 이후 객체 생성 방법을 더 분명하게 표현할 수 있음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생성자 중복을 줄이고 의도하지 않은 생성 방법을 막을 수 있음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77700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FD6E4-9BC1-AB99-5921-E68C65475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95A05-67BE-6786-2E84-A623C6057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4.5.1 기본 멤버 초기값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35909F-B626-213B-CEF7-F89018E09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멤버를 선언하면서 기본값 지정</a:t>
            </a:r>
          </a:p>
          <a:p>
            <a:pPr lvl="0"/>
            <a:r>
              <a:rPr lang="ko-KR" altLang="ko-KR" sz="2000" dirty="0"/>
              <a:t>생성자가 해당 멤버를 별도로 초기화하지 않으면 기본 멤버 초기값 사용</a:t>
            </a:r>
          </a:p>
          <a:p>
            <a:pPr lvl="0"/>
            <a:r>
              <a:rPr lang="ko-KR" altLang="ko-KR" sz="2000" dirty="0"/>
              <a:t>여러 생성자에서 공통 초기값을 한곳에 표현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735E10-5224-7B35-3825-6B577AFA36E8}"/>
              </a:ext>
            </a:extLst>
          </p:cNvPr>
          <p:cNvSpPr txBox="1"/>
          <p:nvPr/>
        </p:nvSpPr>
        <p:spPr>
          <a:xfrm>
            <a:off x="467544" y="1988840"/>
            <a:ext cx="4320480" cy="461664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2E2514-D7EF-2237-4D2B-3483C3DDDBE1}"/>
              </a:ext>
            </a:extLst>
          </p:cNvPr>
          <p:cNvSpPr txBox="1"/>
          <p:nvPr/>
        </p:nvSpPr>
        <p:spPr>
          <a:xfrm>
            <a:off x="4788024" y="3698448"/>
            <a:ext cx="3888432" cy="73866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third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({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675537-5E9E-AACA-9052-EDD4724DF2C7}"/>
              </a:ext>
            </a:extLst>
          </p:cNvPr>
          <p:cNvSpPr txBox="1"/>
          <p:nvPr/>
        </p:nvSpPr>
        <p:spPr>
          <a:xfrm>
            <a:off x="4355976" y="5669155"/>
            <a:ext cx="4320479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멤버 초기화 리스트에서 지정한 값이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기본 멤버 초기값보다 우선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13338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2386D-65F4-CADF-AC9C-0543A0AB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61828F-9B05-D3D0-35B1-B6C0CD94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4.5.2 위임 생성자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AD6646-516E-D953-7110-349EA28F1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한 생성자가 같은 클래스의 다른 생성자를 호출</a:t>
            </a:r>
          </a:p>
          <a:p>
            <a:pPr lvl="0"/>
            <a:r>
              <a:rPr lang="ko-KR" altLang="ko-KR" sz="2400" dirty="0"/>
              <a:t>공통 초기화와 유효성 검사를 하나의 생성자에 모을 수 있음</a:t>
            </a:r>
          </a:p>
          <a:p>
            <a:pPr lvl="0"/>
            <a:r>
              <a:rPr lang="ko-KR" altLang="ko-KR" sz="2400" dirty="0"/>
              <a:t>위임 생성자는 같은 클래스의 생성자 하나만 호출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A6FBD0-8AE2-56CE-9485-2E6BB9E1FEF6}"/>
              </a:ext>
            </a:extLst>
          </p:cNvPr>
          <p:cNvSpPr txBox="1"/>
          <p:nvPr/>
        </p:nvSpPr>
        <p:spPr>
          <a:xfrm>
            <a:off x="498797" y="2369313"/>
            <a:ext cx="3425132" cy="267765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({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({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7D730-47D6-452D-F624-BD5A5663004C}"/>
              </a:ext>
            </a:extLst>
          </p:cNvPr>
          <p:cNvSpPr txBox="1"/>
          <p:nvPr/>
        </p:nvSpPr>
        <p:spPr>
          <a:xfrm>
            <a:off x="3923929" y="3340517"/>
            <a:ext cx="4782105" cy="116955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en-US" altLang="ko-KR" sz="14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A97333-DD5D-6C99-CC58-F0CBE168FC2F}"/>
              </a:ext>
            </a:extLst>
          </p:cNvPr>
          <p:cNvSpPr txBox="1"/>
          <p:nvPr/>
        </p:nvSpPr>
        <p:spPr>
          <a:xfrm>
            <a:off x="498796" y="5661248"/>
            <a:ext cx="8207238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위임 생성자에서는 다른 생성자 호출과 멤버 초기화를 함께 작성할 수 없음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49486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303C5-21EC-1CD7-E86E-868C4D6D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4.5.3 </a:t>
            </a:r>
            <a:r>
              <a:rPr lang="ko-KR" altLang="ko-KR" dirty="0" err="1"/>
              <a:t>explicit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42A9AC-2BBC-2FB9-17AF-156B4BC8F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 err="1"/>
              <a:t>explicit은</a:t>
            </a:r>
            <a:r>
              <a:rPr lang="ko-KR" altLang="ko-KR" dirty="0"/>
              <a:t> 생성자를 통한 암시적 변환을 제한</a:t>
            </a:r>
          </a:p>
          <a:p>
            <a:pPr lvl="0"/>
            <a:r>
              <a:rPr lang="ko-KR" altLang="ko-KR" dirty="0"/>
              <a:t>직접 초기화는 허용</a:t>
            </a:r>
          </a:p>
          <a:p>
            <a:pPr lvl="0"/>
            <a:r>
              <a:rPr lang="ko-KR" altLang="ko-KR" dirty="0"/>
              <a:t>복사 초기화와 암시적 함수 인수 변환은 제한</a:t>
            </a: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16417-58A4-4BD4-1A52-B5CF35716920}"/>
              </a:ext>
            </a:extLst>
          </p:cNvPr>
          <p:cNvSpPr txBox="1"/>
          <p:nvPr/>
        </p:nvSpPr>
        <p:spPr>
          <a:xfrm>
            <a:off x="539750" y="2589362"/>
            <a:ext cx="2880122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CEEEC1-227C-3E30-2954-CE467DECA2D7}"/>
              </a:ext>
            </a:extLst>
          </p:cNvPr>
          <p:cNvSpPr txBox="1"/>
          <p:nvPr/>
        </p:nvSpPr>
        <p:spPr>
          <a:xfrm>
            <a:off x="539750" y="5682734"/>
            <a:ext cx="8280722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클래스 타입으로의 암시적 변환이 명확한 의미를 가지지 않으면 단일 인수 생성자에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지정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740577-B7B9-6A22-79A6-921737A46F6C}"/>
              </a:ext>
            </a:extLst>
          </p:cNvPr>
          <p:cNvSpPr txBox="1"/>
          <p:nvPr/>
        </p:nvSpPr>
        <p:spPr>
          <a:xfrm>
            <a:off x="3532642" y="2589144"/>
            <a:ext cx="5143814" cy="10772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length.Value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710A96-4EFE-6D41-75E8-8D5330C6A468}"/>
              </a:ext>
            </a:extLst>
          </p:cNvPr>
          <p:cNvSpPr txBox="1"/>
          <p:nvPr/>
        </p:nvSpPr>
        <p:spPr>
          <a:xfrm>
            <a:off x="3532642" y="3819520"/>
            <a:ext cx="5143814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third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300;   // 오류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PrintLength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(400);     // 오류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74340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98114-CF83-588C-EDAF-61CE5FF8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BD6C0-AC6F-F408-6D4E-A9055948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4.5.4 = </a:t>
            </a:r>
            <a:r>
              <a:rPr lang="ko-KR" altLang="ko-KR" dirty="0" err="1"/>
              <a:t>default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FA1560-B9EC-F66F-F309-98BF447F8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컴파일러가 제공하는 </a:t>
            </a:r>
            <a:r>
              <a:rPr lang="ko-KR" altLang="ko-KR" sz="2400" dirty="0">
                <a:solidFill>
                  <a:srgbClr val="0000FF"/>
                </a:solidFill>
              </a:rPr>
              <a:t>기본 동작을 명시적</a:t>
            </a:r>
            <a:r>
              <a:rPr lang="ko-KR" altLang="ko-KR" sz="2400" dirty="0"/>
              <a:t>으로 사용</a:t>
            </a:r>
          </a:p>
          <a:p>
            <a:pPr lvl="0"/>
            <a:r>
              <a:rPr lang="ko-KR" altLang="ko-KR" sz="2400" dirty="0"/>
              <a:t>기본 생성자, </a:t>
            </a:r>
            <a:r>
              <a:rPr lang="ko-KR" altLang="ko-KR" sz="2400" dirty="0" err="1"/>
              <a:t>소멸자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복사·이동</a:t>
            </a:r>
            <a:r>
              <a:rPr lang="ko-KR" altLang="ko-KR" sz="2400" dirty="0"/>
              <a:t> 관련 특별 멤버 함수에 사용</a:t>
            </a:r>
          </a:p>
          <a:p>
            <a:pPr lvl="0"/>
            <a:r>
              <a:rPr lang="ko-KR" altLang="ko-KR" sz="2400" dirty="0"/>
              <a:t>아무 작업도 하지 않는다는 뜻이 아님</a:t>
            </a:r>
          </a:p>
          <a:p>
            <a:pPr lvl="0"/>
            <a:r>
              <a:rPr lang="ko-KR" altLang="ko-KR" sz="2400" dirty="0"/>
              <a:t>각 멤버의 생성과 소멸 규칙에 맞는 기본 동작을 컴파일러가 생성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359E4-AC01-ED87-0F6D-9294FAC515DE}"/>
              </a:ext>
            </a:extLst>
          </p:cNvPr>
          <p:cNvSpPr txBox="1"/>
          <p:nvPr/>
        </p:nvSpPr>
        <p:spPr>
          <a:xfrm>
            <a:off x="467543" y="2820536"/>
            <a:ext cx="3931705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F6AF31-7792-5E21-07D2-2B0550401B0E}"/>
              </a:ext>
            </a:extLst>
          </p:cNvPr>
          <p:cNvSpPr txBox="1"/>
          <p:nvPr/>
        </p:nvSpPr>
        <p:spPr>
          <a:xfrm>
            <a:off x="4744752" y="2820535"/>
            <a:ext cx="3931704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95F0BC-0B73-CE49-8B5C-B9A0632C87CC}"/>
              </a:ext>
            </a:extLst>
          </p:cNvPr>
          <p:cNvSpPr txBox="1"/>
          <p:nvPr/>
        </p:nvSpPr>
        <p:spPr>
          <a:xfrm>
            <a:off x="467544" y="5811381"/>
            <a:ext cx="8208912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다른 생성자를 선언한 뒤에도 기본 생성자를 명시적으로 제공 가능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634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381AC-06F3-C773-20DA-F820744E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9A798-6280-B8DD-573A-9F2627E33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4.5.5 = </a:t>
            </a:r>
            <a:r>
              <a:rPr lang="ko-KR" altLang="ko-KR" dirty="0" err="1"/>
              <a:t>delete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3E3F4A-2C53-D8D3-B757-1EA614AF9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특정 함수를 사용할 수 없도록 명시</a:t>
            </a:r>
          </a:p>
          <a:p>
            <a:pPr lvl="0"/>
            <a:r>
              <a:rPr lang="ko-KR" altLang="ko-KR" sz="2400" dirty="0"/>
              <a:t>허용하지 않을 생성, 변환, 복사, 대입을 컴파일 시점에 차단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E34D6-DDD4-4B53-A883-0C9F82804008}"/>
              </a:ext>
            </a:extLst>
          </p:cNvPr>
          <p:cNvSpPr txBox="1"/>
          <p:nvPr/>
        </p:nvSpPr>
        <p:spPr>
          <a:xfrm>
            <a:off x="395536" y="1833786"/>
            <a:ext cx="4860032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// 오류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({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9E3763-202B-4CA2-7695-4FE954CDBF59}"/>
              </a:ext>
            </a:extLst>
          </p:cNvPr>
          <p:cNvSpPr txBox="1"/>
          <p:nvPr/>
        </p:nvSpPr>
        <p:spPr>
          <a:xfrm>
            <a:off x="5255568" y="1833786"/>
            <a:ext cx="3492896" cy="332398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Length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invalid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(3.14); // 오류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60130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D7D04-83D8-A632-F917-9E833F268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4D7E2B-18E5-5252-DAB2-E6F9DE0B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4.5.6 </a:t>
            </a:r>
            <a:r>
              <a:rPr lang="ko-KR" altLang="ko-KR" dirty="0" err="1"/>
              <a:t>std</a:t>
            </a:r>
            <a:r>
              <a:rPr lang="ko-KR" altLang="ko-KR" dirty="0"/>
              <a:t>::</a:t>
            </a:r>
            <a:r>
              <a:rPr lang="ko-KR" altLang="ko-KR" dirty="0" err="1"/>
              <a:t>initializer_list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B5CECF-CFED-BF49-C548-92F43EFA8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/>
              <a:t>중괄호 안의 여러 값을 생성자에 전달</a:t>
            </a:r>
          </a:p>
          <a:p>
            <a:pPr lvl="0"/>
            <a:r>
              <a:rPr lang="ko-KR" altLang="ko-KR" sz="2400"/>
              <a:t>std::initializer_list&lt;T&gt;를 매개변수로 받는 생성자 사용</a:t>
            </a:r>
          </a:p>
          <a:p>
            <a:pPr lvl="0"/>
            <a:r>
              <a:rPr lang="ko-KR" altLang="ko-KR" sz="2400"/>
              <a:t>부족한 값이나 초과한 값의 처리 규칙을 클래스가 결정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DF95F-10D2-A4F8-B076-EDE5E95E7BE7}"/>
              </a:ext>
            </a:extLst>
          </p:cNvPr>
          <p:cNvSpPr txBox="1"/>
          <p:nvPr/>
        </p:nvSpPr>
        <p:spPr>
          <a:xfrm>
            <a:off x="611560" y="2204864"/>
            <a:ext cx="7416626" cy="424731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initializer_list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Matrix2x2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Matrix2x2(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initializer_list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// ...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elements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Matrix2x2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Matrix2x2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3647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64B77-364C-F1FA-B873-00E085275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8114F-E520-7D70-11D6-639D65213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4.6 </a:t>
            </a:r>
            <a:r>
              <a:rPr lang="ko-KR" altLang="ko-KR" dirty="0" err="1"/>
              <a:t>const</a:t>
            </a:r>
            <a:r>
              <a:rPr lang="ko-KR" altLang="ko-KR" dirty="0"/>
              <a:t> 정확성과 클래스 인터페이스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76031C-7B1B-9E59-3D88-F27854669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객체를 변경하는 기능과 변경하지 않는 기능을</a:t>
            </a:r>
            <a:br>
              <a:rPr lang="en-US" altLang="ko-KR" sz="2400" dirty="0"/>
            </a:br>
            <a:r>
              <a:rPr lang="ko-KR" altLang="ko-KR" sz="2400" dirty="0"/>
              <a:t>타입과 인터페이스에 반영</a:t>
            </a:r>
          </a:p>
          <a:p>
            <a:pPr lvl="0"/>
            <a:r>
              <a:rPr lang="ko-KR" altLang="ko-KR" sz="2400" dirty="0">
                <a:solidFill>
                  <a:srgbClr val="0070C0"/>
                </a:solidFill>
              </a:rPr>
              <a:t>조회 함수</a:t>
            </a:r>
            <a:r>
              <a:rPr lang="ko-KR" altLang="ko-KR" sz="2400" dirty="0"/>
              <a:t>는 </a:t>
            </a:r>
            <a:r>
              <a:rPr lang="ko-KR" altLang="ko-KR" sz="2400" dirty="0">
                <a:solidFill>
                  <a:srgbClr val="0070C0"/>
                </a:solidFill>
              </a:rPr>
              <a:t>상수 멤버 함수</a:t>
            </a:r>
            <a:r>
              <a:rPr lang="ko-KR" altLang="ko-KR" sz="2400" dirty="0"/>
              <a:t>로 선언</a:t>
            </a:r>
          </a:p>
          <a:p>
            <a:pPr lvl="0"/>
            <a:r>
              <a:rPr lang="ko-KR" altLang="ko-KR" sz="2400" dirty="0"/>
              <a:t>읽기만 하는 객체는 상수 참조로 전달</a:t>
            </a:r>
          </a:p>
          <a:p>
            <a:pPr lvl="0"/>
            <a:r>
              <a:rPr lang="ko-KR" altLang="ko-KR" sz="2400" dirty="0">
                <a:solidFill>
                  <a:srgbClr val="0070C0"/>
                </a:solidFill>
              </a:rPr>
              <a:t>내부 상태 반환</a:t>
            </a:r>
            <a:r>
              <a:rPr lang="ko-KR" altLang="ko-KR" sz="2400" dirty="0"/>
              <a:t>할 때 </a:t>
            </a:r>
            <a:r>
              <a:rPr lang="ko-KR" altLang="ko-KR" sz="2400" dirty="0">
                <a:solidFill>
                  <a:srgbClr val="0070C0"/>
                </a:solidFill>
              </a:rPr>
              <a:t>호출 객체</a:t>
            </a:r>
            <a:r>
              <a:rPr lang="en-US" altLang="ko-KR" sz="2400" dirty="0">
                <a:solidFill>
                  <a:srgbClr val="0070C0"/>
                </a:solidFill>
              </a:rPr>
              <a:t> </a:t>
            </a:r>
            <a:r>
              <a:rPr lang="ko-KR" altLang="ko-KR" sz="2400" dirty="0" err="1">
                <a:solidFill>
                  <a:srgbClr val="0070C0"/>
                </a:solidFill>
              </a:rPr>
              <a:t>상수성</a:t>
            </a:r>
            <a:r>
              <a:rPr lang="ko-KR" altLang="ko-KR" sz="2400" dirty="0"/>
              <a:t> 유지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C9CF7-96DD-BD65-7F0C-C4ED008D51E7}"/>
              </a:ext>
            </a:extLst>
          </p:cNvPr>
          <p:cNvSpPr txBox="1"/>
          <p:nvPr/>
        </p:nvSpPr>
        <p:spPr>
          <a:xfrm>
            <a:off x="529109" y="2996952"/>
            <a:ext cx="4827786" cy="332398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F8D774E-EC4C-B78D-D43F-F46BA6142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206436"/>
              </p:ext>
            </p:extLst>
          </p:nvPr>
        </p:nvGraphicFramePr>
        <p:xfrm>
          <a:off x="4067944" y="5187923"/>
          <a:ext cx="4773885" cy="1133016"/>
        </p:xfrm>
        <a:graphic>
          <a:graphicData uri="http://schemas.openxmlformats.org/drawingml/2006/table">
            <a:tbl>
              <a:tblPr/>
              <a:tblGrid>
                <a:gridCol w="3240360">
                  <a:extLst>
                    <a:ext uri="{9D8B030D-6E8A-4147-A177-3AD203B41FA5}">
                      <a16:colId xmlns:a16="http://schemas.microsoft.com/office/drawing/2014/main" val="1139808150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446279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함수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4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503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MoveTo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(),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Resize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 상태 변경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506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Area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const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Position</a:t>
                      </a: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const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 상태 조회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44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4252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7DFBD-F2F9-853B-4D49-8F1430982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B2D4F2-C507-708A-E550-6035B97C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4.6.1 상수 멤버 함수와 </a:t>
            </a:r>
            <a:r>
              <a:rPr lang="ko-KR" altLang="ko-KR" dirty="0" err="1"/>
              <a:t>this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9BBBF0-8991-F1EF-2AE4-853ADC247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객체의 상태를 변경하지 않는 멤버 함수는</a:t>
            </a:r>
            <a:br>
              <a:rPr lang="en-US" altLang="ko-KR" sz="2400" dirty="0"/>
            </a:br>
            <a:r>
              <a:rPr lang="ko-KR" altLang="ko-KR" sz="2400" dirty="0"/>
              <a:t>매개변수 목록 뒤에 </a:t>
            </a:r>
            <a:r>
              <a:rPr lang="ko-KR" altLang="ko-KR" sz="2400" dirty="0" err="1"/>
              <a:t>const</a:t>
            </a:r>
            <a:r>
              <a:rPr lang="ko-KR" altLang="ko-KR" sz="2400" dirty="0"/>
              <a:t> 지정</a:t>
            </a:r>
          </a:p>
          <a:p>
            <a:pPr lvl="0"/>
            <a:r>
              <a:rPr lang="ko-KR" altLang="ko-KR" sz="2400" dirty="0"/>
              <a:t>상수 멤버 함수 안에서는 일반 데이터 멤버 변경 불가</a:t>
            </a:r>
          </a:p>
          <a:p>
            <a:pPr lvl="0"/>
            <a:r>
              <a:rPr lang="ko-KR" altLang="ko-KR" sz="2400" dirty="0"/>
              <a:t>상태를 변경하는 일반 멤버 함수 호출 불가</a:t>
            </a:r>
          </a:p>
          <a:p>
            <a:pPr lvl="0"/>
            <a:r>
              <a:rPr lang="ko-KR" altLang="ko-KR" sz="2400" dirty="0" err="1"/>
              <a:t>const는</a:t>
            </a:r>
            <a:r>
              <a:rPr lang="ko-KR" altLang="ko-KR" sz="2400" dirty="0"/>
              <a:t> </a:t>
            </a:r>
            <a:r>
              <a:rPr lang="ko-KR" altLang="ko-KR" sz="2400" dirty="0" err="1"/>
              <a:t>반환값이</a:t>
            </a:r>
            <a:r>
              <a:rPr lang="ko-KR" altLang="ko-KR" sz="2400" dirty="0"/>
              <a:t> 아니라 호출 객체에 적용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18FA4-4B92-FD34-20DA-5E1651F88C0C}"/>
              </a:ext>
            </a:extLst>
          </p:cNvPr>
          <p:cNvSpPr txBox="1"/>
          <p:nvPr/>
        </p:nvSpPr>
        <p:spPr>
          <a:xfrm>
            <a:off x="539750" y="2985195"/>
            <a:ext cx="3024138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100; // 오류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2BFB4DF-B47C-D3A7-441E-46A10C0FE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439708"/>
              </p:ext>
            </p:extLst>
          </p:nvPr>
        </p:nvGraphicFramePr>
        <p:xfrm>
          <a:off x="3563888" y="3933056"/>
          <a:ext cx="5184577" cy="1112520"/>
        </p:xfrm>
        <a:graphic>
          <a:graphicData uri="http://schemas.openxmlformats.org/drawingml/2006/table">
            <a:tbl>
              <a:tblPr/>
              <a:tblGrid>
                <a:gridCol w="1541697">
                  <a:extLst>
                    <a:ext uri="{9D8B030D-6E8A-4147-A177-3AD203B41FA5}">
                      <a16:colId xmlns:a16="http://schemas.microsoft.com/office/drawing/2014/main" val="363549905"/>
                    </a:ext>
                  </a:extLst>
                </a:gridCol>
                <a:gridCol w="2101183">
                  <a:extLst>
                    <a:ext uri="{9D8B030D-6E8A-4147-A177-3AD203B41FA5}">
                      <a16:colId xmlns:a16="http://schemas.microsoft.com/office/drawing/2014/main" val="266244304"/>
                    </a:ext>
                  </a:extLst>
                </a:gridCol>
                <a:gridCol w="1541697">
                  <a:extLst>
                    <a:ext uri="{9D8B030D-6E8A-4147-A177-3AD203B41FA5}">
                      <a16:colId xmlns:a16="http://schemas.microsoft.com/office/drawing/2014/main" val="346118914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 함수</a:t>
                      </a:r>
                      <a:endParaRPr lang="ko-KR" sz="2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this가</a:t>
                      </a:r>
                      <a:r>
                        <a:rPr lang="ko-KR" sz="16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가리키는 객체</a:t>
                      </a:r>
                      <a:endParaRPr lang="ko-KR" sz="2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 멤버 변경</a:t>
                      </a:r>
                      <a:endParaRPr lang="ko-KR" sz="2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83682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 멤버 함수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변경 가능한 객체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8973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상수 멤버 함수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변경할 수 없는 객체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불가능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61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85533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3B60A8B-CA18-4B58-87B4-45A6605CB754}"/>
              </a:ext>
            </a:extLst>
          </p:cNvPr>
          <p:cNvSpPr txBox="1"/>
          <p:nvPr/>
        </p:nvSpPr>
        <p:spPr>
          <a:xfrm>
            <a:off x="3563888" y="5385410"/>
            <a:ext cx="5184576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상수 멤버 함수는 호출 객체의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논리적 상태를 변경하지 않는다는 의도 표현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84960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B4973-43C3-BCA5-7942-8F1500BF3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A6141-C813-C2F9-F0EC-22F4BBF74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4.6.2 상수 객체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67DAE6-35C5-72EA-AE80-4C2777EEA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const로</a:t>
            </a:r>
            <a:r>
              <a:rPr lang="ko-KR" altLang="ko-KR" sz="2400" dirty="0"/>
              <a:t> 선언</a:t>
            </a:r>
            <a:r>
              <a:rPr lang="ko-KR" altLang="en-US" sz="2400" dirty="0"/>
              <a:t>한</a:t>
            </a:r>
            <a:r>
              <a:rPr lang="en-US" altLang="ko-KR" sz="2400" dirty="0"/>
              <a:t> </a:t>
            </a:r>
            <a:r>
              <a:rPr lang="ko-KR" altLang="ko-KR" sz="2400" dirty="0"/>
              <a:t>객체</a:t>
            </a:r>
            <a:r>
              <a:rPr lang="ko-KR" altLang="en-US" sz="2400" dirty="0"/>
              <a:t>는</a:t>
            </a:r>
            <a:r>
              <a:rPr lang="ko-KR" altLang="ko-KR" sz="2400" dirty="0"/>
              <a:t> 상태를 변경할 수 없음</a:t>
            </a:r>
          </a:p>
          <a:p>
            <a:pPr lvl="0"/>
            <a:r>
              <a:rPr lang="ko-KR" altLang="ko-KR" sz="2400" dirty="0"/>
              <a:t>상수 객체에서는 상수 멤버 함수만 호출 가능</a:t>
            </a:r>
          </a:p>
          <a:p>
            <a:pPr lvl="0"/>
            <a:r>
              <a:rPr lang="ko-KR" altLang="ko-KR" sz="2400" dirty="0"/>
              <a:t>일반 객체는 일반 멤버 함수와 상수 멤버 함수를 모두 호출 가능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9B76C-D864-8FC2-F81A-0DC84186DCAD}"/>
              </a:ext>
            </a:extLst>
          </p:cNvPr>
          <p:cNvSpPr txBox="1"/>
          <p:nvPr/>
        </p:nvSpPr>
        <p:spPr>
          <a:xfrm>
            <a:off x="467544" y="2348880"/>
            <a:ext cx="4752330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rectangle.Area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rectangle.MoveTo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({30, 40}); // 오류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rectangle.Resize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(200, 100); // 오류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rectangle.MoveTo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rectangle.Area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E161498-D1FA-9AA2-A3E4-AFAD3200D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451564"/>
              </p:ext>
            </p:extLst>
          </p:nvPr>
        </p:nvGraphicFramePr>
        <p:xfrm>
          <a:off x="4932040" y="3573016"/>
          <a:ext cx="3960441" cy="1163496"/>
        </p:xfrm>
        <a:graphic>
          <a:graphicData uri="http://schemas.openxmlformats.org/drawingml/2006/table">
            <a:tbl>
              <a:tblPr/>
              <a:tblGrid>
                <a:gridCol w="1054555">
                  <a:extLst>
                    <a:ext uri="{9D8B030D-6E8A-4147-A177-3AD203B41FA5}">
                      <a16:colId xmlns:a16="http://schemas.microsoft.com/office/drawing/2014/main" val="3142799605"/>
                    </a:ext>
                  </a:extLst>
                </a:gridCol>
                <a:gridCol w="1452943">
                  <a:extLst>
                    <a:ext uri="{9D8B030D-6E8A-4147-A177-3AD203B41FA5}">
                      <a16:colId xmlns:a16="http://schemas.microsoft.com/office/drawing/2014/main" val="2837034784"/>
                    </a:ext>
                  </a:extLst>
                </a:gridCol>
                <a:gridCol w="1452943">
                  <a:extLst>
                    <a:ext uri="{9D8B030D-6E8A-4147-A177-3AD203B41FA5}">
                      <a16:colId xmlns:a16="http://schemas.microsoft.com/office/drawing/2014/main" val="17878460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 객체</a:t>
                      </a:r>
                      <a:endParaRPr lang="ko-KR" sz="2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 멤버 함수</a:t>
                      </a:r>
                      <a:endParaRPr lang="ko-KR" sz="2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상수 멤버 함수</a:t>
                      </a:r>
                      <a:endParaRPr lang="ko-KR" sz="2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069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 객체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 가능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 가능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176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상수 객체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 불가능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 가능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59001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AEAD8FF-61F7-B528-D35D-74FC36ED762C}"/>
              </a:ext>
            </a:extLst>
          </p:cNvPr>
          <p:cNvSpPr txBox="1"/>
          <p:nvPr/>
        </p:nvSpPr>
        <p:spPr>
          <a:xfrm>
            <a:off x="467543" y="5390899"/>
            <a:ext cx="8424937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const는</a:t>
            </a:r>
            <a:r>
              <a:rPr lang="ko-KR" altLang="ko-KR" sz="2000" b="1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초기화가 끝난 객체를 해당 이름이나 참조를 통해 변경하지 못하도록 제한</a:t>
            </a:r>
            <a:endParaRPr lang="ko-KR" altLang="en-US" sz="4400" b="1" dirty="0">
              <a:solidFill>
                <a:srgbClr val="0070C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50254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62C8-062B-9159-6802-07478856A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37FDBA-4DD7-E31B-0EE7-292014042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4.6.3 </a:t>
            </a:r>
            <a:r>
              <a:rPr lang="ko-KR" altLang="ko-KR" dirty="0" err="1"/>
              <a:t>const</a:t>
            </a:r>
            <a:r>
              <a:rPr lang="ko-KR" altLang="ko-KR" dirty="0"/>
              <a:t> 오버로딩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BC566A-3E04-E9B4-BD40-B79DD00E5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멤버 함수는 매개변수 목록 뒤의 </a:t>
            </a:r>
            <a:r>
              <a:rPr lang="ko-KR" altLang="ko-KR" sz="2400" dirty="0" err="1"/>
              <a:t>const</a:t>
            </a:r>
            <a:r>
              <a:rPr lang="ko-KR" altLang="ko-KR" sz="2400" dirty="0"/>
              <a:t> 여부로 오버로딩 가능</a:t>
            </a:r>
          </a:p>
          <a:p>
            <a:pPr lvl="0"/>
            <a:r>
              <a:rPr lang="ko-KR" altLang="ko-KR" sz="2400" dirty="0"/>
              <a:t>일반 객체와 상수 객체에서 다른 접근 권한 제공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295D4-CF16-831E-727D-35A1704229E9}"/>
              </a:ext>
            </a:extLst>
          </p:cNvPr>
          <p:cNvSpPr txBox="1"/>
          <p:nvPr/>
        </p:nvSpPr>
        <p:spPr>
          <a:xfrm>
            <a:off x="566415" y="1628800"/>
            <a:ext cx="4437633" cy="489364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2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2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({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rectangle.Position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().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constRectangle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({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}, 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constRectangle.Position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().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2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constRectangle.Position</a:t>
            </a:r>
            <a:r>
              <a:rPr lang="ko-KR" altLang="ko-KR" sz="12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().</a:t>
            </a:r>
            <a:r>
              <a:rPr lang="ko-KR" altLang="ko-KR" sz="12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2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30; // 오류</a:t>
            </a:r>
            <a:endParaRPr lang="ko-KR" altLang="en-US" sz="2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6EFEC8A-DD7F-012E-A6EC-62B6F367B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270374"/>
              </p:ext>
            </p:extLst>
          </p:nvPr>
        </p:nvGraphicFramePr>
        <p:xfrm>
          <a:off x="4067944" y="3933056"/>
          <a:ext cx="4752529" cy="1163496"/>
        </p:xfrm>
        <a:graphic>
          <a:graphicData uri="http://schemas.openxmlformats.org/drawingml/2006/table">
            <a:tbl>
              <a:tblPr/>
              <a:tblGrid>
                <a:gridCol w="1738425">
                  <a:extLst>
                    <a:ext uri="{9D8B030D-6E8A-4147-A177-3AD203B41FA5}">
                      <a16:colId xmlns:a16="http://schemas.microsoft.com/office/drawing/2014/main" val="2338568600"/>
                    </a:ext>
                  </a:extLst>
                </a:gridCol>
                <a:gridCol w="1550825">
                  <a:extLst>
                    <a:ext uri="{9D8B030D-6E8A-4147-A177-3AD203B41FA5}">
                      <a16:colId xmlns:a16="http://schemas.microsoft.com/office/drawing/2014/main" val="1249730899"/>
                    </a:ext>
                  </a:extLst>
                </a:gridCol>
                <a:gridCol w="1463279">
                  <a:extLst>
                    <a:ext uri="{9D8B030D-6E8A-4147-A177-3AD203B41FA5}">
                      <a16:colId xmlns:a16="http://schemas.microsoft.com/office/drawing/2014/main" val="19370940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 객체</a:t>
                      </a:r>
                      <a:endParaRPr lang="ko-KR" sz="2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선택 함수</a:t>
                      </a:r>
                      <a:endParaRPr lang="ko-KR" sz="2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반환 타입</a:t>
                      </a:r>
                      <a:endParaRPr lang="ko-KR" sz="2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563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Rectangle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 멤버 함수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Point</a:t>
                      </a: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989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 Rectangle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상수 멤버 함수</a:t>
                      </a:r>
                      <a:endParaRPr lang="ko-KR" sz="28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Point</a:t>
                      </a: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854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685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EDA0B-D2C6-1DCA-137B-B06739B5A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43A88-A3A1-FDDA-5B0F-AD15D698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4.6.4 상수 참조 매개변수와 반환값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BDFB3E-79E7-D614-262F-B92D06589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객체를 복사하지 않고 읽기 전용으로 전달하려면 </a:t>
            </a:r>
            <a:r>
              <a:rPr lang="ko-KR" altLang="ko-KR" sz="2400" dirty="0" err="1">
                <a:solidFill>
                  <a:srgbClr val="0000FF"/>
                </a:solidFill>
              </a:rPr>
              <a:t>const</a:t>
            </a:r>
            <a:r>
              <a:rPr lang="ko-KR" altLang="ko-KR" sz="2400" dirty="0">
                <a:solidFill>
                  <a:srgbClr val="0000FF"/>
                </a:solidFill>
              </a:rPr>
              <a:t> </a:t>
            </a:r>
            <a:r>
              <a:rPr lang="ko-KR" altLang="ko-KR" sz="2400" dirty="0" err="1">
                <a:solidFill>
                  <a:srgbClr val="0000FF"/>
                </a:solidFill>
              </a:rPr>
              <a:t>T</a:t>
            </a:r>
            <a:r>
              <a:rPr lang="ko-KR" altLang="ko-KR" sz="2400" dirty="0">
                <a:solidFill>
                  <a:srgbClr val="0000FF"/>
                </a:solidFill>
              </a:rPr>
              <a:t>&amp;</a:t>
            </a:r>
            <a:r>
              <a:rPr lang="ko-KR" altLang="ko-KR" sz="2400" dirty="0"/>
              <a:t> 사용</a:t>
            </a:r>
          </a:p>
          <a:p>
            <a:pPr lvl="0"/>
            <a:r>
              <a:rPr lang="ko-KR" altLang="ko-KR" sz="2400" dirty="0"/>
              <a:t>상수 참조를 통해서는 상수 멤버 함수만 호출 가능</a:t>
            </a:r>
          </a:p>
          <a:p>
            <a:pPr lvl="0"/>
            <a:r>
              <a:rPr lang="ko-KR" altLang="ko-KR" sz="2400" dirty="0"/>
              <a:t>내부 상태를 참조로 반환할 때도 </a:t>
            </a:r>
            <a:r>
              <a:rPr lang="ko-KR" altLang="ko-KR" sz="2400" dirty="0" err="1"/>
              <a:t>상수성</a:t>
            </a:r>
            <a:r>
              <a:rPr lang="ko-KR" altLang="ko-KR" sz="2400" dirty="0"/>
              <a:t> 유지 필요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E77B5C-52BF-F64D-F70F-1E87246D6264}"/>
              </a:ext>
            </a:extLst>
          </p:cNvPr>
          <p:cNvSpPr txBox="1"/>
          <p:nvPr/>
        </p:nvSpPr>
        <p:spPr>
          <a:xfrm>
            <a:off x="537096" y="2348880"/>
            <a:ext cx="4572000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rectangle.Area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rectangle.MoveTo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({0, 0}); // 오류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04FC91B-CAA6-8B0A-CD6B-104860D54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193370"/>
              </p:ext>
            </p:extLst>
          </p:nvPr>
        </p:nvGraphicFramePr>
        <p:xfrm>
          <a:off x="3275857" y="4293486"/>
          <a:ext cx="5505549" cy="1429408"/>
        </p:xfrm>
        <a:graphic>
          <a:graphicData uri="http://schemas.openxmlformats.org/drawingml/2006/table">
            <a:tbl>
              <a:tblPr/>
              <a:tblGrid>
                <a:gridCol w="1296143">
                  <a:extLst>
                    <a:ext uri="{9D8B030D-6E8A-4147-A177-3AD203B41FA5}">
                      <a16:colId xmlns:a16="http://schemas.microsoft.com/office/drawing/2014/main" val="427652528"/>
                    </a:ext>
                  </a:extLst>
                </a:gridCol>
                <a:gridCol w="1913696">
                  <a:extLst>
                    <a:ext uri="{9D8B030D-6E8A-4147-A177-3AD203B41FA5}">
                      <a16:colId xmlns:a16="http://schemas.microsoft.com/office/drawing/2014/main" val="2300864229"/>
                    </a:ext>
                  </a:extLst>
                </a:gridCol>
                <a:gridCol w="2295710">
                  <a:extLst>
                    <a:ext uri="{9D8B030D-6E8A-4147-A177-3AD203B41FA5}">
                      <a16:colId xmlns:a16="http://schemas.microsoft.com/office/drawing/2014/main" val="23328581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반환 방식</a:t>
                      </a:r>
                      <a:endParaRPr lang="ko-KR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특징</a:t>
                      </a:r>
                      <a:endParaRPr lang="ko-KR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주의점</a:t>
                      </a:r>
                      <a:endParaRPr lang="ko-KR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35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Point</a:t>
                      </a:r>
                      <a:endParaRPr lang="ko-KR" sz="14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독립된 값 반환</a:t>
                      </a:r>
                      <a:endParaRPr lang="ko-KR" sz="14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또는 이동 가능</a:t>
                      </a:r>
                      <a:endParaRPr lang="ko-KR" sz="14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547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Point</a:t>
                      </a:r>
                      <a:r>
                        <a:rPr 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</a:t>
                      </a:r>
                      <a:endParaRPr lang="ko-KR" sz="14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내부 객체 수정 가능</a:t>
                      </a:r>
                      <a:endParaRPr lang="ko-KR" sz="14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외부에서 상태 직접 변경 가능</a:t>
                      </a:r>
                      <a:endParaRPr lang="ko-KR" sz="14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400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4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Point</a:t>
                      </a:r>
                      <a:r>
                        <a:rPr lang="ko-KR" sz="1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</a:t>
                      </a:r>
                      <a:endParaRPr lang="ko-KR" sz="14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내부 객체 읽기 전용 참조</a:t>
                      </a:r>
                      <a:endParaRPr lang="ko-KR" sz="14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원본 객체 수명에 의존</a:t>
                      </a:r>
                      <a:endParaRPr lang="ko-KR" sz="14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40263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CF77B5D-7C6B-A0E4-3167-4B23E41BD88D}"/>
              </a:ext>
            </a:extLst>
          </p:cNvPr>
          <p:cNvSpPr txBox="1"/>
          <p:nvPr/>
        </p:nvSpPr>
        <p:spPr>
          <a:xfrm>
            <a:off x="537095" y="5891639"/>
            <a:ext cx="8244309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작고 복사 비용이 낮은 타입은 값으로 반환하는 것이 단순할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94784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B4BA3-99EC-5DBE-4CA7-18723B181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1F0B8-31EE-8C2F-3D90-0E588144D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4.6.5 논리적 상수성과 </a:t>
            </a:r>
            <a:r>
              <a:rPr lang="ko-KR" altLang="ko-KR" dirty="0" err="1"/>
              <a:t>mutable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54FE5C-D4EB-9D9E-D6DC-B695D6B22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상수 멤버 함수는 객체의 논리적 상태를 변경하지 않아야 함</a:t>
            </a:r>
          </a:p>
          <a:p>
            <a:pPr lvl="0"/>
            <a:r>
              <a:rPr lang="ko-KR" altLang="ko-KR" sz="2400" dirty="0"/>
              <a:t>논리적 상태는 객체가 외부에 나타내는 의미와 관찰 가능한 상태</a:t>
            </a:r>
          </a:p>
          <a:p>
            <a:pPr lvl="0"/>
            <a:r>
              <a:rPr lang="ko-KR" altLang="ko-KR" sz="2400" dirty="0"/>
              <a:t>조회 횟수나 캐시 같은 내부 구현 정보는 논리적 상태와 구분 가능</a:t>
            </a:r>
          </a:p>
          <a:p>
            <a:pPr lvl="0"/>
            <a:r>
              <a:rPr lang="ko-KR" altLang="ko-KR" sz="2400" dirty="0" err="1">
                <a:solidFill>
                  <a:srgbClr val="0000FF"/>
                </a:solidFill>
              </a:rPr>
              <a:t>mutable</a:t>
            </a:r>
            <a:r>
              <a:rPr lang="ko-KR" altLang="ko-KR" sz="2400" dirty="0"/>
              <a:t> 멤버는 </a:t>
            </a:r>
            <a:r>
              <a:rPr lang="ko-KR" altLang="ko-KR" sz="2400" dirty="0">
                <a:solidFill>
                  <a:srgbClr val="0000FF"/>
                </a:solidFill>
              </a:rPr>
              <a:t>상수 멤버 함수에서도 변경</a:t>
            </a:r>
            <a:r>
              <a:rPr lang="ko-KR" altLang="ko-KR" sz="2400" dirty="0"/>
              <a:t> 가능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ADF32-925A-29D3-EB6F-F06AC667F2A4}"/>
              </a:ext>
            </a:extLst>
          </p:cNvPr>
          <p:cNvSpPr txBox="1"/>
          <p:nvPr/>
        </p:nvSpPr>
        <p:spPr>
          <a:xfrm>
            <a:off x="511547" y="2636912"/>
            <a:ext cx="4060453" cy="38164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Rectangle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++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areaQueryCount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AreaQueryCount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en-US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areaQueryCount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</a:t>
            </a:r>
            <a:r>
              <a:rPr lang="ko-KR" altLang="ko-KR" sz="18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mutable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areaQueryCount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9671037-D801-665D-1EE1-1F2C88191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902709"/>
              </p:ext>
            </p:extLst>
          </p:nvPr>
        </p:nvGraphicFramePr>
        <p:xfrm>
          <a:off x="4355976" y="4365104"/>
          <a:ext cx="4536504" cy="1072056"/>
        </p:xfrm>
        <a:graphic>
          <a:graphicData uri="http://schemas.openxmlformats.org/drawingml/2006/table">
            <a:tbl>
              <a:tblPr/>
              <a:tblGrid>
                <a:gridCol w="1212428">
                  <a:extLst>
                    <a:ext uri="{9D8B030D-6E8A-4147-A177-3AD203B41FA5}">
                      <a16:colId xmlns:a16="http://schemas.microsoft.com/office/drawing/2014/main" val="665381785"/>
                    </a:ext>
                  </a:extLst>
                </a:gridCol>
                <a:gridCol w="3324076">
                  <a:extLst>
                    <a:ext uri="{9D8B030D-6E8A-4147-A177-3AD203B41FA5}">
                      <a16:colId xmlns:a16="http://schemas.microsoft.com/office/drawing/2014/main" val="2507608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구분</a:t>
                      </a:r>
                      <a:endParaRPr lang="ko-KR" sz="2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2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64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물리적 </a:t>
                      </a:r>
                      <a:r>
                        <a:rPr lang="ko-KR" sz="14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상수성</a:t>
                      </a:r>
                      <a:endParaRPr lang="ko-KR" sz="24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객체의 저장된 데이터 멤버를 변경하지 않음</a:t>
                      </a:r>
                      <a:endParaRPr lang="ko-KR" sz="24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264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논리적 상수성</a:t>
                      </a:r>
                      <a:endParaRPr lang="ko-KR" sz="240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외부에 나타나는 의미와 상태를 변경하지 않음</a:t>
                      </a:r>
                      <a:endParaRPr lang="ko-KR" sz="24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173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1343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A6A59-201B-AA73-19BF-8C1B2EABB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23043A-2D22-9B33-22C5-8C8FA420C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4.7 </a:t>
            </a:r>
            <a:r>
              <a:rPr lang="ko-KR" altLang="ko-KR" dirty="0" err="1"/>
              <a:t>constexpr와</a:t>
            </a:r>
            <a:r>
              <a:rPr lang="ko-KR" altLang="ko-KR" dirty="0"/>
              <a:t> 컴파일 타임 초기화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2A64CF-3892-167E-B6CD-31A6B04B6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프로그램의 일부 값은 컴파일 시점에 결정 가능</a:t>
            </a:r>
          </a:p>
          <a:p>
            <a:pPr lvl="0"/>
            <a:r>
              <a:rPr lang="ko-KR" altLang="ko-KR" sz="2400" dirty="0"/>
              <a:t>컴파일 시점에 계산한 값은 배열 크기, 템플릿 인수,</a:t>
            </a:r>
            <a:br>
              <a:rPr lang="en-US" altLang="ko-KR" sz="2400" dirty="0"/>
            </a:br>
            <a:r>
              <a:rPr lang="ko-KR" altLang="ko-KR" sz="2400" dirty="0"/>
              <a:t>정적 검사에 사용 가능</a:t>
            </a:r>
          </a:p>
          <a:p>
            <a:pPr lvl="0"/>
            <a:r>
              <a:rPr lang="ko-KR" altLang="ko-KR" sz="2400" dirty="0">
                <a:solidFill>
                  <a:srgbClr val="0000FF"/>
                </a:solidFill>
              </a:rPr>
              <a:t>constexpr</a:t>
            </a:r>
            <a:r>
              <a:rPr lang="en-US" altLang="ko-KR" sz="2400" dirty="0"/>
              <a:t>:</a:t>
            </a:r>
            <a:r>
              <a:rPr lang="ko-KR" altLang="ko-KR" sz="2400" dirty="0"/>
              <a:t> 변수나 함수가 상수 표현식에 참여할 수 있음을 </a:t>
            </a:r>
            <a:r>
              <a:rPr lang="ko-KR" altLang="en-US" sz="2400" dirty="0"/>
              <a:t>표현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FA329-8F16-587A-BB21-DDBBE518FFEC}"/>
              </a:ext>
            </a:extLst>
          </p:cNvPr>
          <p:cNvSpPr txBox="1"/>
          <p:nvPr/>
        </p:nvSpPr>
        <p:spPr>
          <a:xfrm>
            <a:off x="467544" y="2564904"/>
            <a:ext cx="4644206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constexpr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50; // 오류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379AF2F-B9B5-4F27-A9FD-BC39867A9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855090"/>
              </p:ext>
            </p:extLst>
          </p:nvPr>
        </p:nvGraphicFramePr>
        <p:xfrm>
          <a:off x="4572198" y="3057119"/>
          <a:ext cx="4104258" cy="1102536"/>
        </p:xfrm>
        <a:graphic>
          <a:graphicData uri="http://schemas.openxmlformats.org/drawingml/2006/table">
            <a:tbl>
              <a:tblPr/>
              <a:tblGrid>
                <a:gridCol w="1292081">
                  <a:extLst>
                    <a:ext uri="{9D8B030D-6E8A-4147-A177-3AD203B41FA5}">
                      <a16:colId xmlns:a16="http://schemas.microsoft.com/office/drawing/2014/main" val="2636068610"/>
                    </a:ext>
                  </a:extLst>
                </a:gridCol>
                <a:gridCol w="2812177">
                  <a:extLst>
                    <a:ext uri="{9D8B030D-6E8A-4147-A177-3AD203B41FA5}">
                      <a16:colId xmlns:a16="http://schemas.microsoft.com/office/drawing/2014/main" val="22209885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구분</a:t>
                      </a:r>
                      <a:endParaRPr lang="ko-KR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2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464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객체를 통한 변경 제한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094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constexpr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상수 표현식에서 사용할 수 있음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60403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25E8A82-A6DB-7767-B4D5-219FF4EB2C58}"/>
              </a:ext>
            </a:extLst>
          </p:cNvPr>
          <p:cNvSpPr txBox="1"/>
          <p:nvPr/>
        </p:nvSpPr>
        <p:spPr>
          <a:xfrm>
            <a:off x="467545" y="5061805"/>
            <a:ext cx="8208912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20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객체</a:t>
            </a:r>
            <a:r>
              <a:rPr lang="en-US" altLang="ko-KR" sz="20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라고 항상 컴파일 타임 상수인 것은 아님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 </a:t>
            </a:r>
            <a:r>
              <a:rPr lang="ko-KR" altLang="ko-KR" sz="20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변수는 상수 표현식으로 초기화되어야 함</a:t>
            </a:r>
          </a:p>
        </p:txBody>
      </p:sp>
    </p:spTree>
    <p:extLst>
      <p:ext uri="{BB962C8B-B14F-4D97-AF65-F5344CB8AC3E}">
        <p14:creationId xmlns:p14="http://schemas.microsoft.com/office/powerpoint/2010/main" val="19464709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7715C-47B8-B2E4-B39C-AFFC98004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3A9EF-0A25-B48C-1064-AF8B8BFB5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4.7.3 constexpr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689AFB-1CA8-3C3F-1793-6D70A92E8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상수 표현식 안에서 호출될 수 있는 함수</a:t>
            </a:r>
          </a:p>
          <a:p>
            <a:pPr lvl="0"/>
            <a:r>
              <a:rPr lang="ko-KR" altLang="ko-KR" sz="2400" dirty="0"/>
              <a:t>상수 인수를 전달하면 컴파일 시점에 계산 가능</a:t>
            </a:r>
          </a:p>
          <a:p>
            <a:pPr lvl="0"/>
            <a:r>
              <a:rPr lang="ko-KR" altLang="ko-KR" sz="2400" dirty="0"/>
              <a:t>실행 시점 값을 전달하면 일반 함수처럼 실행 가능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169B6-3E3F-55DB-51FC-F9609922CC40}"/>
              </a:ext>
            </a:extLst>
          </p:cNvPr>
          <p:cNvSpPr txBox="1"/>
          <p:nvPr/>
        </p:nvSpPr>
        <p:spPr>
          <a:xfrm>
            <a:off x="539749" y="2197893"/>
            <a:ext cx="7830393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CalculateArea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width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81245-0524-A105-C1E5-8839BC3CEFA8}"/>
              </a:ext>
            </a:extLst>
          </p:cNvPr>
          <p:cNvSpPr txBox="1"/>
          <p:nvPr/>
        </p:nvSpPr>
        <p:spPr>
          <a:xfrm>
            <a:off x="558030" y="5877272"/>
            <a:ext cx="7830393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함수가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constexpr라고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해서 모든 호출이 컴파일 시점에 평가되는 것은 아님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호출 위치와 인수가 상수 표현식 조건을 만족해야 컴파일 시점 평가 가능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68352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B95FD-517F-CAC4-79D4-AE5F77A41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0CE30-667B-0C9D-D6C8-45029DC23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4.7.7 </a:t>
            </a:r>
            <a:r>
              <a:rPr lang="ko-KR" altLang="ko-KR" dirty="0" err="1"/>
              <a:t>consteval과</a:t>
            </a:r>
            <a:r>
              <a:rPr lang="ko-KR" altLang="ko-KR" dirty="0"/>
              <a:t> </a:t>
            </a:r>
            <a:r>
              <a:rPr lang="ko-KR" altLang="ko-KR" dirty="0" err="1"/>
              <a:t>constinit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D0933F-0A54-3CBC-3F97-8CCB5DC24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 err="1"/>
              <a:t>consteval</a:t>
            </a:r>
            <a:r>
              <a:rPr lang="en-US" altLang="ko-KR" sz="2400" dirty="0"/>
              <a:t> (const evaluation: </a:t>
            </a:r>
            <a:r>
              <a:rPr lang="ko-KR" altLang="ko-KR" sz="2400" dirty="0"/>
              <a:t>C++20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상수 평가</a:t>
            </a:r>
            <a:endParaRPr lang="ko-KR" altLang="ko-KR" sz="2000" dirty="0"/>
          </a:p>
          <a:p>
            <a:pPr lvl="1"/>
            <a:r>
              <a:rPr lang="ko-KR" altLang="ko-KR" sz="2000" dirty="0"/>
              <a:t>모든 호출이 반드시 컴파일 시점에 평가</a:t>
            </a:r>
          </a:p>
          <a:p>
            <a:pPr lvl="1"/>
            <a:r>
              <a:rPr lang="ko-KR" altLang="ko-KR" sz="2000" dirty="0"/>
              <a:t>실행 시점에 결정되는 값은 전달 불가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c</a:t>
            </a:r>
            <a:r>
              <a:rPr lang="ko-KR" altLang="ko-KR" sz="2400" dirty="0" err="1"/>
              <a:t>onstinit</a:t>
            </a:r>
            <a:r>
              <a:rPr lang="en-US" altLang="ko-KR" sz="2400" dirty="0"/>
              <a:t> (constant initialization: </a:t>
            </a:r>
            <a:r>
              <a:rPr lang="ko-KR" altLang="ko-KR" sz="2400" dirty="0"/>
              <a:t>C++20</a:t>
            </a:r>
            <a:r>
              <a:rPr lang="en-US" altLang="ko-KR" sz="2400" dirty="0"/>
              <a:t>) </a:t>
            </a:r>
          </a:p>
          <a:p>
            <a:pPr lvl="1"/>
            <a:r>
              <a:rPr lang="ko-KR" altLang="en-US" sz="2000" dirty="0"/>
              <a:t>상수 초기화</a:t>
            </a:r>
            <a:endParaRPr lang="ko-KR" altLang="ko-KR" sz="2000" dirty="0"/>
          </a:p>
          <a:p>
            <a:pPr lvl="1"/>
            <a:r>
              <a:rPr lang="ko-KR" altLang="ko-KR" sz="2000" dirty="0"/>
              <a:t>정적 저장 기간 또는 스레드 저장 기간 변수의 정적 초기화 요구</a:t>
            </a:r>
          </a:p>
          <a:p>
            <a:pPr lvl="1"/>
            <a:r>
              <a:rPr lang="ko-KR" altLang="ko-KR" sz="2000" dirty="0"/>
              <a:t>변수를 읽기 전용으로 만들지는 않음</a:t>
            </a:r>
          </a:p>
          <a:p>
            <a:endParaRPr lang="ko-KR" altLang="ko-KR" sz="2400" dirty="0"/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37529-8C94-296D-4414-15FD0275D4C8}"/>
              </a:ext>
            </a:extLst>
          </p:cNvPr>
          <p:cNvSpPr txBox="1"/>
          <p:nvPr/>
        </p:nvSpPr>
        <p:spPr>
          <a:xfrm>
            <a:off x="5599931" y="692150"/>
            <a:ext cx="3298229" cy="224676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consteval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Square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Square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0;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cin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&gt;&gt;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Square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// 오류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969EA-0CC5-1B1D-69A4-EDB370908EFE}"/>
              </a:ext>
            </a:extLst>
          </p:cNvPr>
          <p:cNvSpPr txBox="1"/>
          <p:nvPr/>
        </p:nvSpPr>
        <p:spPr>
          <a:xfrm>
            <a:off x="6012160" y="5118273"/>
            <a:ext cx="2880320" cy="138499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constinit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IncreaseCount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++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59164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47156-89BB-0618-3E1D-22CB65857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3168BF-B5DB-1956-10E1-26EAB6B2E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4.7.7 </a:t>
            </a:r>
            <a:r>
              <a:rPr lang="ko-KR" altLang="ko-KR" dirty="0" err="1"/>
              <a:t>const</a:t>
            </a:r>
            <a:r>
              <a:rPr lang="ko-KR" altLang="ko-KR" dirty="0"/>
              <a:t>, constexpr, </a:t>
            </a:r>
            <a:r>
              <a:rPr lang="ko-KR" altLang="ko-KR" dirty="0" err="1"/>
              <a:t>consteval</a:t>
            </a:r>
            <a:r>
              <a:rPr lang="ko-KR" altLang="ko-KR" dirty="0"/>
              <a:t>, </a:t>
            </a:r>
            <a:r>
              <a:rPr lang="ko-KR" altLang="ko-KR" dirty="0" err="1"/>
              <a:t>constinit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85133C4E-9A58-2C05-1D8E-F6E3761615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1914629"/>
              </p:ext>
            </p:extLst>
          </p:nvPr>
        </p:nvGraphicFramePr>
        <p:xfrm>
          <a:off x="323528" y="1268760"/>
          <a:ext cx="8280921" cy="3432680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314015835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331845877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817538142"/>
                    </a:ext>
                  </a:extLst>
                </a:gridCol>
                <a:gridCol w="2808313">
                  <a:extLst>
                    <a:ext uri="{9D8B030D-6E8A-4147-A177-3AD203B41FA5}">
                      <a16:colId xmlns:a16="http://schemas.microsoft.com/office/drawing/2014/main" val="31436644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키워드</a:t>
                      </a:r>
                      <a:endParaRPr lang="ko-KR" sz="3200" b="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주요 적용 대상</a:t>
                      </a:r>
                      <a:endParaRPr lang="ko-KR" sz="3200" b="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3200" b="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변경 가능 여부</a:t>
                      </a:r>
                      <a:endParaRPr lang="ko-KR" sz="3200" b="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432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const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변수, 객체,</a:t>
                      </a:r>
                      <a:b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멤버 함수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객체를 통한 변경을</a:t>
                      </a:r>
                      <a:b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제한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선언에 따라 변경 불가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667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constexpr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변수, 함수,</a:t>
                      </a:r>
                      <a:b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생성자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상수 표현식에서</a:t>
                      </a:r>
                      <a:b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사용할 수 있도록 선언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constexpr 변수는</a:t>
                      </a:r>
                      <a:b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변경 불가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079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consteval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함수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모든 호출을 컴파일</a:t>
                      </a:r>
                      <a:b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시점에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평가 요구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해당 없음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51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constinit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정적·스레드</a:t>
                      </a:r>
                      <a:b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저장 기간 변수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정적 초기화 보장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변경 가능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755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85334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BD7E9-D400-DFDF-7699-33B007105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DD526-E633-8ED5-B25F-B6185AF5B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4.8 학습 정리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4BA54B-D2E7-10AF-146C-182079BC4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ko-KR" altLang="ko-KR" sz="2400" dirty="0"/>
              <a:t>생성자는 객체가 생성될 때 호출</a:t>
            </a:r>
            <a:r>
              <a:rPr lang="en-US" altLang="ko-KR" sz="2400" dirty="0"/>
              <a:t>, </a:t>
            </a:r>
            <a:r>
              <a:rPr lang="ko-KR" altLang="ko-KR" sz="2400" dirty="0"/>
              <a:t>멤버를 초기화</a:t>
            </a:r>
            <a:r>
              <a:rPr lang="en-US" altLang="ko-KR" sz="2400" dirty="0"/>
              <a:t>, </a:t>
            </a:r>
            <a:r>
              <a:rPr lang="ko-KR" altLang="ko-KR" sz="2400" dirty="0"/>
              <a:t>초기 상태 구성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기본 생성자는 인수 없이 호출할 수 있는 생성자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생성자</a:t>
            </a:r>
            <a:r>
              <a:rPr lang="ko-KR" altLang="en-US" sz="2400" dirty="0"/>
              <a:t>가</a:t>
            </a:r>
            <a:r>
              <a:rPr lang="ko-KR" altLang="ko-KR" sz="2400" dirty="0"/>
              <a:t> 하나라도 </a:t>
            </a:r>
            <a:r>
              <a:rPr lang="ko-KR" altLang="en-US" sz="2400" dirty="0"/>
              <a:t>있으면</a:t>
            </a:r>
            <a:r>
              <a:rPr lang="ko-KR" altLang="ko-KR" sz="2400" dirty="0"/>
              <a:t> 기본 생성자</a:t>
            </a:r>
            <a:r>
              <a:rPr lang="ko-KR" altLang="en-US" sz="2400" dirty="0"/>
              <a:t>는 </a:t>
            </a:r>
            <a:r>
              <a:rPr lang="ko-KR" altLang="ko-KR" sz="2400" dirty="0"/>
              <a:t>자동</a:t>
            </a:r>
            <a:r>
              <a:rPr lang="ko-KR" altLang="en-US" sz="2400" dirty="0"/>
              <a:t>으로 생성 안됨</a:t>
            </a:r>
            <a:endParaRPr lang="ko-KR" altLang="ko-KR" sz="2400" dirty="0"/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소멸자는 객체의 수명이 끝날 때 호출되어 자원 정리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지역 객체는 블록을 벗어날 때,</a:t>
            </a:r>
            <a:br>
              <a:rPr lang="en-US" altLang="ko-KR" sz="2400" dirty="0"/>
            </a:br>
            <a:r>
              <a:rPr lang="ko-KR" altLang="ko-KR" sz="2400" dirty="0"/>
              <a:t>동적 객체는 </a:t>
            </a:r>
            <a:r>
              <a:rPr lang="ko-KR" altLang="ko-KR" sz="2400" dirty="0" err="1"/>
              <a:t>delete</a:t>
            </a:r>
            <a:r>
              <a:rPr lang="ko-KR" altLang="ko-KR" sz="2400" dirty="0"/>
              <a:t> 실행 시 소멸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같은 범위의 객체는 생성 순서의 반대로 소멸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409922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C93A3-0687-6D9A-80B7-60D672806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0E14A4-075D-6303-D037-65ED46A7E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4.8 학습 정리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92922D-C979-01A3-415D-EDAB5D13F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ko-KR" altLang="ko-KR" sz="2400" dirty="0"/>
              <a:t>초기화 문법에 따라 생성자 선택과 형 변환 규칙이 달라질 수 있음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중괄호 초기화는 축소 변환을 제한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멤버 초기화 리스트는 생성자 본문 실행 전에 멤버를 직접 초기화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/>
              <a:t>실제 멤버 초기화 순서는 멤버 선언 순서</a:t>
            </a:r>
          </a:p>
          <a:p>
            <a:pPr lvl="0">
              <a:lnSpc>
                <a:spcPct val="150000"/>
              </a:lnSpc>
            </a:pPr>
            <a:r>
              <a:rPr lang="ko-KR" altLang="ko-KR" sz="2400" dirty="0" err="1"/>
              <a:t>const</a:t>
            </a:r>
            <a:r>
              <a:rPr lang="ko-KR" altLang="ko-KR" sz="2400" dirty="0"/>
              <a:t> 멤버, 참조 멤버, 기본 생성자가 없는 객체 멤버는 멤버 초기화 리스트 필요</a:t>
            </a:r>
          </a:p>
          <a:p>
            <a:pPr>
              <a:lnSpc>
                <a:spcPct val="150000"/>
              </a:lnSpc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4773136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800" b="1" i="0" u="none" strike="noStrike" dirty="0">
            <a:solidFill>
              <a:srgbClr val="4078F2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10297</TotalTime>
  <Words>5566</Words>
  <Application>Microsoft Office PowerPoint</Application>
  <PresentationFormat>화면 슬라이드 쇼(4:3)</PresentationFormat>
  <Paragraphs>485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6" baseType="lpstr">
      <vt:lpstr>Pretendard ExtraBold</vt:lpstr>
      <vt:lpstr>가을체</vt:lpstr>
      <vt:lpstr>Wingdings</vt:lpstr>
      <vt:lpstr>Arial</vt:lpstr>
      <vt:lpstr>나눔고딕 ExtraBold</vt:lpstr>
      <vt:lpstr>굴림</vt:lpstr>
      <vt:lpstr>나눔바른고딕</vt:lpstr>
      <vt:lpstr>Consolas</vt:lpstr>
      <vt:lpstr>HY견고딕</vt:lpstr>
      <vt:lpstr>기본 디자인</vt:lpstr>
      <vt:lpstr>04. 생성자와 소멸자, 초기화</vt:lpstr>
      <vt:lpstr>04. 생성자와 소멸자, 초기화</vt:lpstr>
      <vt:lpstr>4.1 생성자</vt:lpstr>
      <vt:lpstr>4.1.1 생성자의 역할</vt:lpstr>
      <vt:lpstr>4.1.2 기본 생성자 (default constructor)</vt:lpstr>
      <vt:lpstr>4.1.3 암시적으로 선언되는 기본 생성자</vt:lpstr>
      <vt:lpstr>4.1.4 매개변수가 있는 생성자</vt:lpstr>
      <vt:lpstr>4.1.5 생성자 오버로딩</vt:lpstr>
      <vt:lpstr>4.1.5 생성자 오버로딩 주의점</vt:lpstr>
      <vt:lpstr>4.1.7 객체 생성과 초기화 순서</vt:lpstr>
      <vt:lpstr>4.2 소멸자</vt:lpstr>
      <vt:lpstr>4.2.2 객체의 소멸 시점</vt:lpstr>
      <vt:lpstr>4.2.4 동적 객체의 소멸</vt:lpstr>
      <vt:lpstr>4.2.5 생성과 소멸 순서</vt:lpstr>
      <vt:lpstr>4.2.5 구성 요소의 생성과 소멸 순서</vt:lpstr>
      <vt:lpstr>4.2.6 소멸자 작성 시 주의점</vt:lpstr>
      <vt:lpstr>4.3 초기화 방식</vt:lpstr>
      <vt:lpstr>4.3.1 기본 초기화</vt:lpstr>
      <vt:lpstr>4.3.2 값 초기화</vt:lpstr>
      <vt:lpstr>4.3.3 직접 초기화와 복사 초기화</vt:lpstr>
      <vt:lpstr>4.3.5 중괄호 초기화</vt:lpstr>
      <vt:lpstr>4.3.6 집합 초기화</vt:lpstr>
      <vt:lpstr>4.4 멤버 초기화 리스트</vt:lpstr>
      <vt:lpstr>4.4.1 대입과 초기화의 차이</vt:lpstr>
      <vt:lpstr>4.4.2 멤버 초기화 순서</vt:lpstr>
      <vt:lpstr>4.4.3 객체 타입 멤버 초기화</vt:lpstr>
      <vt:lpstr>4.4.4 const 멤버와 참조 멤버 초기화</vt:lpstr>
      <vt:lpstr>4.5 생성자 기능의 확장</vt:lpstr>
      <vt:lpstr>4.5.1 기본 멤버 초기값</vt:lpstr>
      <vt:lpstr>4.5.2 위임 생성자</vt:lpstr>
      <vt:lpstr>4.5.3 explicit</vt:lpstr>
      <vt:lpstr>4.5.4 = default</vt:lpstr>
      <vt:lpstr>4.5.5 = delete</vt:lpstr>
      <vt:lpstr>4.5.6 std::initializer_list</vt:lpstr>
      <vt:lpstr>4.6 const 정확성과 클래스 인터페이스</vt:lpstr>
      <vt:lpstr>4.6.1 상수 멤버 함수와 this</vt:lpstr>
      <vt:lpstr>4.6.2 상수 객체</vt:lpstr>
      <vt:lpstr>4.6.3 const 오버로딩</vt:lpstr>
      <vt:lpstr>4.6.4 상수 참조 매개변수와 반환값</vt:lpstr>
      <vt:lpstr>4.6.5 논리적 상수성과 mutable</vt:lpstr>
      <vt:lpstr>4.7 constexpr와 컴파일 타임 초기화</vt:lpstr>
      <vt:lpstr>4.7.3 constexpr 함수</vt:lpstr>
      <vt:lpstr>4.7.7 consteval과 constinit</vt:lpstr>
      <vt:lpstr>4.7.7 const, constexpr, consteval, constinit</vt:lpstr>
      <vt:lpstr>4.8 학습 정리</vt:lpstr>
      <vt:lpstr>4.8 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351</cp:revision>
  <dcterms:created xsi:type="dcterms:W3CDTF">2003-11-30T16:03:20Z</dcterms:created>
  <dcterms:modified xsi:type="dcterms:W3CDTF">2026-08-13T11:29:52Z</dcterms:modified>
</cp:coreProperties>
</file>