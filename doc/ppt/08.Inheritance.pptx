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66"/>
  </p:notesMasterIdLst>
  <p:handoutMasterIdLst>
    <p:handoutMasterId r:id="rId67"/>
  </p:handoutMasterIdLst>
  <p:sldIdLst>
    <p:sldId id="328" r:id="rId2"/>
    <p:sldId id="329" r:id="rId3"/>
    <p:sldId id="392" r:id="rId4"/>
    <p:sldId id="330" r:id="rId5"/>
    <p:sldId id="331" r:id="rId6"/>
    <p:sldId id="332" r:id="rId7"/>
    <p:sldId id="333" r:id="rId8"/>
    <p:sldId id="334" r:id="rId9"/>
    <p:sldId id="335" r:id="rId10"/>
    <p:sldId id="336" r:id="rId11"/>
    <p:sldId id="337" r:id="rId12"/>
    <p:sldId id="338" r:id="rId13"/>
    <p:sldId id="339" r:id="rId14"/>
    <p:sldId id="340" r:id="rId15"/>
    <p:sldId id="341" r:id="rId16"/>
    <p:sldId id="342" r:id="rId17"/>
    <p:sldId id="343" r:id="rId18"/>
    <p:sldId id="344" r:id="rId19"/>
    <p:sldId id="345" r:id="rId20"/>
    <p:sldId id="346" r:id="rId21"/>
    <p:sldId id="347" r:id="rId22"/>
    <p:sldId id="348" r:id="rId23"/>
    <p:sldId id="349" r:id="rId24"/>
    <p:sldId id="350" r:id="rId25"/>
    <p:sldId id="351" r:id="rId26"/>
    <p:sldId id="352" r:id="rId27"/>
    <p:sldId id="353" r:id="rId28"/>
    <p:sldId id="354" r:id="rId29"/>
    <p:sldId id="355" r:id="rId30"/>
    <p:sldId id="356" r:id="rId31"/>
    <p:sldId id="357" r:id="rId32"/>
    <p:sldId id="358" r:id="rId33"/>
    <p:sldId id="359" r:id="rId34"/>
    <p:sldId id="360" r:id="rId35"/>
    <p:sldId id="362" r:id="rId36"/>
    <p:sldId id="363" r:id="rId37"/>
    <p:sldId id="364" r:id="rId38"/>
    <p:sldId id="365" r:id="rId39"/>
    <p:sldId id="366" r:id="rId40"/>
    <p:sldId id="367" r:id="rId41"/>
    <p:sldId id="368" r:id="rId42"/>
    <p:sldId id="369" r:id="rId43"/>
    <p:sldId id="370" r:id="rId44"/>
    <p:sldId id="371" r:id="rId45"/>
    <p:sldId id="372" r:id="rId46"/>
    <p:sldId id="393" r:id="rId47"/>
    <p:sldId id="373" r:id="rId48"/>
    <p:sldId id="374" r:id="rId49"/>
    <p:sldId id="376" r:id="rId50"/>
    <p:sldId id="375" r:id="rId51"/>
    <p:sldId id="377" r:id="rId52"/>
    <p:sldId id="378" r:id="rId53"/>
    <p:sldId id="379" r:id="rId54"/>
    <p:sldId id="380" r:id="rId55"/>
    <p:sldId id="381" r:id="rId56"/>
    <p:sldId id="382" r:id="rId57"/>
    <p:sldId id="383" r:id="rId58"/>
    <p:sldId id="384" r:id="rId59"/>
    <p:sldId id="385" r:id="rId60"/>
    <p:sldId id="386" r:id="rId61"/>
    <p:sldId id="387" r:id="rId62"/>
    <p:sldId id="389" r:id="rId63"/>
    <p:sldId id="390" r:id="rId64"/>
    <p:sldId id="391" r:id="rId65"/>
  </p:sldIdLst>
  <p:sldSz cx="9144000" cy="6858000" type="screen4x3"/>
  <p:notesSz cx="6858000" cy="9144000"/>
  <p:embeddedFontLst>
    <p:embeddedFont>
      <p:font typeface="Consolas" panose="020B0609020204030204" pitchFamily="49" charset="0"/>
      <p:regular r:id="rId68"/>
      <p:bold r:id="rId69"/>
      <p:italic r:id="rId70"/>
      <p:boldItalic r:id="rId71"/>
    </p:embeddedFont>
    <p:embeddedFont>
      <p:font typeface="D2Coding" panose="020B0609020101020101" pitchFamily="49" charset="-127"/>
      <p:regular r:id="rId72"/>
      <p:bold r:id="rId73"/>
    </p:embeddedFont>
    <p:embeddedFont>
      <p:font typeface="HY견고딕" panose="02030600000101010101" pitchFamily="18" charset="-127"/>
      <p:regular r:id="rId74"/>
    </p:embeddedFont>
    <p:embeddedFont>
      <p:font typeface="Pretendard ExtraBold" panose="02000903000000020004" pitchFamily="50" charset="-127"/>
      <p:bold r:id="rId75"/>
    </p:embeddedFont>
    <p:embeddedFont>
      <p:font typeface="가을체" panose="02030600000101010101" pitchFamily="18" charset="-127"/>
      <p:regular r:id="rId76"/>
    </p:embeddedFont>
    <p:embeddedFont>
      <p:font typeface="나눔고딕 ExtraBold" panose="020D0904000000000000" pitchFamily="50" charset="-127"/>
      <p:bold r:id="rId77"/>
    </p:embeddedFont>
    <p:embeddedFont>
      <p:font typeface="나눔바른고딕" panose="020B0603020101020101" pitchFamily="50" charset="-127"/>
      <p:regular r:id="rId78"/>
      <p:bold r:id="rId79"/>
    </p:embeddedFont>
  </p:embeddedFontLst>
  <p:defaultTextStyle>
    <a:defPPr>
      <a:defRPr lang="ko-KR"/>
    </a:defPPr>
    <a:lvl1pPr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6pPr>
    <a:lvl7pPr marL="27432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7pPr>
    <a:lvl8pPr marL="32004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8pPr>
    <a:lvl9pPr marL="36576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63">
          <p15:clr>
            <a:srgbClr val="A4A3A4"/>
          </p15:clr>
        </p15:guide>
        <p15:guide id="2" orient="horz" pos="890">
          <p15:clr>
            <a:srgbClr val="A4A3A4"/>
          </p15:clr>
        </p15:guide>
        <p15:guide id="3" orient="horz" pos="1026">
          <p15:clr>
            <a:srgbClr val="A4A3A4"/>
          </p15:clr>
        </p15:guide>
        <p15:guide id="4" pos="930">
          <p15:clr>
            <a:srgbClr val="A4A3A4"/>
          </p15:clr>
        </p15:guide>
        <p15:guide id="5" pos="476">
          <p15:clr>
            <a:srgbClr val="A4A3A4"/>
          </p15:clr>
        </p15:guide>
        <p15:guide id="6" pos="2880">
          <p15:clr>
            <a:srgbClr val="A4A3A4"/>
          </p15:clr>
        </p15:guide>
        <p15:guide id="7" pos="4105">
          <p15:clr>
            <a:srgbClr val="A4A3A4"/>
          </p15:clr>
        </p15:guide>
        <p15:guide id="8" pos="1519">
          <p15:clr>
            <a:srgbClr val="A4A3A4"/>
          </p15:clr>
        </p15:guide>
        <p15:guide id="9" pos="703">
          <p15:clr>
            <a:srgbClr val="A4A3A4"/>
          </p15:clr>
        </p15:guide>
        <p15:guide id="10" pos="1927">
          <p15:clr>
            <a:srgbClr val="A4A3A4"/>
          </p15:clr>
        </p15:guide>
        <p15:guide id="11" pos="52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AFAFA"/>
    <a:srgbClr val="0000FF"/>
    <a:srgbClr val="3399FF"/>
    <a:srgbClr val="FFFFCC"/>
    <a:srgbClr val="EFEFED"/>
    <a:srgbClr val="C18401"/>
    <a:srgbClr val="CC00CC"/>
    <a:srgbClr val="FF9900"/>
    <a:srgbClr val="CC00FF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7853C-536D-4A76-A0AE-DD22124D55A5}" styleName="테마 스타일 1 - 강조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165" autoAdjust="0"/>
    <p:restoredTop sz="94582" autoAdjust="0"/>
  </p:normalViewPr>
  <p:slideViewPr>
    <p:cSldViewPr>
      <p:cViewPr>
        <p:scale>
          <a:sx n="100" d="100"/>
          <a:sy n="100" d="100"/>
        </p:scale>
        <p:origin x="1560" y="678"/>
      </p:cViewPr>
      <p:guideLst>
        <p:guide orient="horz" pos="663"/>
        <p:guide orient="horz" pos="890"/>
        <p:guide orient="horz" pos="1026"/>
        <p:guide pos="930"/>
        <p:guide pos="476"/>
        <p:guide pos="2880"/>
        <p:guide pos="4105"/>
        <p:guide pos="1519"/>
        <p:guide pos="703"/>
        <p:guide pos="1927"/>
        <p:guide pos="52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96" d="100"/>
          <a:sy n="96" d="100"/>
        </p:scale>
        <p:origin x="3642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font" Target="fonts/font1.fntdata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font" Target="fonts/font7.fntdata"/><Relationship Id="rId79" Type="http://schemas.openxmlformats.org/officeDocument/2006/relationships/font" Target="fonts/font12.fntdata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font" Target="fonts/font2.fntdata"/><Relationship Id="rId77" Type="http://schemas.openxmlformats.org/officeDocument/2006/relationships/font" Target="fonts/font10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font" Target="fonts/font5.fntdata"/><Relationship Id="rId80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handoutMaster" Target="handoutMasters/handout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font" Target="fonts/font3.fntdata"/><Relationship Id="rId75" Type="http://schemas.openxmlformats.org/officeDocument/2006/relationships/font" Target="fonts/font8.fntdata"/><Relationship Id="rId83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font" Target="fonts/font6.fntdata"/><Relationship Id="rId78" Type="http://schemas.openxmlformats.org/officeDocument/2006/relationships/font" Target="fonts/font11.fntdata"/><Relationship Id="rId8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font" Target="fonts/font9.fntdata"/><Relationship Id="rId7" Type="http://schemas.openxmlformats.org/officeDocument/2006/relationships/slide" Target="slides/slide6.xml"/><Relationship Id="rId71" Type="http://schemas.openxmlformats.org/officeDocument/2006/relationships/font" Target="fonts/font4.fntdata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FA2FCDCC-75BC-443E-E33D-96FB3B93C7C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DEC5783-C421-C2A7-6C8A-427BD3E44B3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03F608-D938-42A6-9A0B-23DC3D655BD5}" type="datetimeFigureOut">
              <a:rPr lang="ko-KR" altLang="en-US" smtClean="0"/>
              <a:t>2026-08-17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07BFB7D-E523-05DD-7599-0B8AE06D2A6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1A37456-DBCD-50BC-A8E2-5D301F7B0FD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4F7A42-FA84-4141-97EA-F328B808CC4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155328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id="{DFEAAA5C-C825-F211-4555-838EAD1EF7D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id="{B9AE1081-B5AC-071C-6CEC-9BAFC2815F81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E5A689FD-F862-5A62-D896-25380442080E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25605" name="Rectangle 5">
            <a:extLst>
              <a:ext uri="{FF2B5EF4-FFF2-40B4-BE49-F238E27FC236}">
                <a16:creationId xmlns:a16="http://schemas.microsoft.com/office/drawing/2014/main" id="{AB15EF12-78DA-289E-9010-DC12C506F352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25606" name="Rectangle 6">
            <a:extLst>
              <a:ext uri="{FF2B5EF4-FFF2-40B4-BE49-F238E27FC236}">
                <a16:creationId xmlns:a16="http://schemas.microsoft.com/office/drawing/2014/main" id="{31BE94B4-C843-3460-16B0-CB247AC3FF8A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7" name="Rectangle 7">
            <a:extLst>
              <a:ext uri="{FF2B5EF4-FFF2-40B4-BE49-F238E27FC236}">
                <a16:creationId xmlns:a16="http://schemas.microsoft.com/office/drawing/2014/main" id="{7AA30F0E-F947-FF5A-C02F-9F167861744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fld id="{0436CD0A-C45C-48B2-840A-644A5311C024}" type="slidenum">
              <a:rPr lang="en-US" altLang="ko-KR"/>
              <a:pPr>
                <a:defRPr/>
              </a:pPr>
              <a:t>‹#›</a:t>
            </a:fld>
            <a:endParaRPr lang="en-US" altLang="ko-KR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400" b="1" baseline="0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 b="1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4181369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496746" cy="476250"/>
          </a:xfrm>
        </p:spPr>
        <p:txBody>
          <a:bodyPr/>
          <a:lstStyle>
            <a:lvl1pPr>
              <a:defRPr b="1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07504" y="692150"/>
            <a:ext cx="8928992" cy="5832475"/>
          </a:xfrm>
        </p:spPr>
        <p:txBody>
          <a:bodyPr/>
          <a:lstStyle>
            <a:lvl1pPr>
              <a:buSzPct val="80000"/>
              <a:defRPr b="1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buSzPct val="60000"/>
              <a:defRPr b="1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 b="1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 b="1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 b="1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1057710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1526889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10685084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7139689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479165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8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768ACAB8-646C-F841-1FB4-1640A0D2F48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39750" y="44450"/>
            <a:ext cx="82804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CBBB7895-F21F-0782-4861-C09980CF2C9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692150"/>
            <a:ext cx="8280400" cy="5832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1029" name="Rectangle 8">
            <a:extLst>
              <a:ext uri="{FF2B5EF4-FFF2-40B4-BE49-F238E27FC236}">
                <a16:creationId xmlns:a16="http://schemas.microsoft.com/office/drawing/2014/main" id="{E8D14161-CBEC-EDDC-D3DB-3F18CA262A5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11950" y="44450"/>
            <a:ext cx="2397125" cy="404813"/>
          </a:xfrm>
          <a:prstGeom prst="rect">
            <a:avLst/>
          </a:prstGeom>
          <a:noFill/>
          <a:ln>
            <a:noFill/>
          </a:ln>
          <a:effectLst/>
        </p:spPr>
        <p:txBody>
          <a:bodyPr/>
          <a:lstStyle>
            <a:lvl1pPr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r" eaLnBrk="1" hangingPunct="1">
              <a:defRPr/>
            </a:pPr>
            <a:r>
              <a:rPr lang="en-US" altLang="ko-KR" sz="900" b="1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Heesung Oh</a:t>
            </a:r>
            <a:endParaRPr lang="en-US" altLang="ko-KR" sz="900" dirty="0">
              <a:solidFill>
                <a:schemeClr val="bg2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r" eaLnBrk="1" hangingPunct="1">
              <a:defRPr/>
            </a:pPr>
            <a:r>
              <a:rPr lang="en-US" altLang="ko-KR" sz="800" dirty="0">
                <a:solidFill>
                  <a:schemeClr val="bg2"/>
                </a:solidFill>
              </a:rPr>
              <a:t>Copyright All rights reserved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D37CE4-DC6E-0507-7ADF-E2E78392D644}"/>
              </a:ext>
            </a:extLst>
          </p:cNvPr>
          <p:cNvSpPr txBox="1"/>
          <p:nvPr userDrawn="1"/>
        </p:nvSpPr>
        <p:spPr>
          <a:xfrm>
            <a:off x="7253184" y="6610716"/>
            <a:ext cx="1542657" cy="234286"/>
          </a:xfrm>
          <a:prstGeom prst="rect">
            <a:avLst/>
          </a:prstGeom>
          <a:noFill/>
          <a:ln w="25400">
            <a:noFill/>
            <a:prstDash val="sysDot"/>
          </a:ln>
        </p:spPr>
        <p:txBody>
          <a:bodyPr wrap="none" lIns="36000" tIns="36000" rIns="36000" bIns="36000" rtlCol="0">
            <a:spAutoFit/>
          </a:bodyPr>
          <a:lstStyle/>
          <a:p>
            <a:pPr>
              <a:defRPr/>
            </a:pPr>
            <a:r>
              <a:rPr lang="ko-KR" altLang="en-US" sz="1050" b="0" dirty="0">
                <a:solidFill>
                  <a:schemeClr val="bg2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게임 프로그래밍 교육과정</a:t>
            </a:r>
            <a:endParaRPr lang="ko-KR" altLang="en-US" b="0" dirty="0">
              <a:solidFill>
                <a:schemeClr val="bg2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4" r:id="rId5"/>
    <p:sldLayoutId id="2147483655" r:id="rId6"/>
  </p:sldLayoutIdLst>
  <p:hf sldNum="0" hd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kumimoji="1" sz="2800" b="1" kern="1200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5pPr>
      <a:lvl6pPr marL="4572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6pPr>
      <a:lvl7pPr marL="9144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7pPr>
      <a:lvl8pPr marL="13716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8pPr>
      <a:lvl9pPr marL="18288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Font typeface="Wingdings" panose="05000000000000000000" pitchFamily="2" charset="2"/>
        <a:buChar char="l"/>
        <a:defRPr kumimoji="1" sz="28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Clr>
          <a:srgbClr val="CC00CC"/>
        </a:buClr>
        <a:buSzPct val="80000"/>
        <a:buFont typeface="Wingdings" panose="05000000000000000000" pitchFamily="2" charset="2"/>
        <a:buChar char="u"/>
        <a:defRPr kumimoji="1" sz="24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9900"/>
        </a:buClr>
        <a:buSzPct val="80000"/>
        <a:buFont typeface="Wingdings" panose="05000000000000000000" pitchFamily="2" charset="2"/>
        <a:buChar char="l"/>
        <a:defRPr kumimoji="1" sz="2000" b="1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SzPct val="140000"/>
        <a:buFont typeface="Wingdings" panose="05000000000000000000" pitchFamily="2" charset="2"/>
        <a:buChar char="§"/>
        <a:defRPr kumimoji="1" b="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CC0000"/>
        </a:buClr>
        <a:buSzPct val="90000"/>
        <a:buFont typeface="Wingdings" panose="05000000000000000000" pitchFamily="2" charset="2"/>
        <a:buChar char="v"/>
        <a:defRPr kumimoji="1" sz="1600" b="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3dapi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D38BED-C94A-AD80-6433-3377FEE757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B0E0D7-1C34-C1FB-CCCC-F954324174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5576" y="1122363"/>
            <a:ext cx="7560840" cy="2387600"/>
          </a:xfrm>
        </p:spPr>
        <p:txBody>
          <a:bodyPr/>
          <a:lstStyle/>
          <a:p>
            <a:r>
              <a:rPr lang="ko-KR" altLang="ko-KR" dirty="0"/>
              <a:t>08. 상속과 </a:t>
            </a:r>
            <a:r>
              <a:rPr lang="ko-KR" altLang="ko-KR" dirty="0" err="1"/>
              <a:t>다형성</a:t>
            </a:r>
            <a:endParaRPr lang="ko-KR" altLang="en-US" sz="28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B1FEA1F-7311-E697-BFC8-C48378530F4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Heesung Oh</a:t>
            </a:r>
          </a:p>
          <a:p>
            <a:r>
              <a:rPr lang="en-US" altLang="ko-KR" dirty="0">
                <a:hlinkClick r:id="rId2"/>
              </a:rPr>
              <a:t>https://github.com/3dapi</a:t>
            </a:r>
            <a:r>
              <a:rPr lang="en-US" altLang="ko-KR" dirty="0"/>
              <a:t>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09575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4416D4-EC55-01A4-4A5C-AA99D12F0C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/>
              <a:t>08. 상속과 </a:t>
            </a:r>
            <a:r>
              <a:rPr lang="ko-KR" altLang="ko-KR" dirty="0" err="1"/>
              <a:t>다형성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E261982-8DF8-643B-CE5B-F58F4EC3BA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lnSpc>
                <a:spcPct val="120000"/>
              </a:lnSpc>
            </a:pPr>
            <a:r>
              <a:rPr lang="ko-KR" altLang="ko-KR" sz="2400" dirty="0"/>
              <a:t>일반화와 상속</a:t>
            </a:r>
          </a:p>
          <a:p>
            <a:pPr lvl="0">
              <a:lnSpc>
                <a:spcPct val="120000"/>
              </a:lnSpc>
            </a:pPr>
            <a:r>
              <a:rPr lang="ko-KR" altLang="ko-KR" sz="2400" dirty="0"/>
              <a:t>기반 클래스와 파생 클래스</a:t>
            </a:r>
          </a:p>
          <a:p>
            <a:pPr lvl="0">
              <a:lnSpc>
                <a:spcPct val="120000"/>
              </a:lnSpc>
            </a:pPr>
            <a:r>
              <a:rPr lang="ko-KR" altLang="ko-KR" sz="2400" dirty="0" err="1"/>
              <a:t>public</a:t>
            </a:r>
            <a:r>
              <a:rPr lang="ko-KR" altLang="ko-KR" sz="2400" dirty="0"/>
              <a:t> / </a:t>
            </a:r>
            <a:r>
              <a:rPr lang="ko-KR" altLang="ko-KR" sz="2400" dirty="0" err="1"/>
              <a:t>protected</a:t>
            </a:r>
            <a:r>
              <a:rPr lang="ko-KR" altLang="ko-KR" sz="2400" dirty="0"/>
              <a:t> / </a:t>
            </a:r>
            <a:r>
              <a:rPr lang="ko-KR" altLang="ko-KR" sz="2400" dirty="0" err="1"/>
              <a:t>private</a:t>
            </a:r>
            <a:r>
              <a:rPr lang="ko-KR" altLang="ko-KR" sz="2400" dirty="0"/>
              <a:t> 상속</a:t>
            </a:r>
          </a:p>
          <a:p>
            <a:pPr lvl="0">
              <a:lnSpc>
                <a:spcPct val="120000"/>
              </a:lnSpc>
            </a:pPr>
            <a:r>
              <a:rPr lang="ko-KR" altLang="ko-KR" sz="2400" dirty="0"/>
              <a:t>기반 클래스와 파생 클래스의 초기화</a:t>
            </a:r>
          </a:p>
          <a:p>
            <a:pPr lvl="0">
              <a:lnSpc>
                <a:spcPct val="120000"/>
              </a:lnSpc>
            </a:pPr>
            <a:r>
              <a:rPr lang="ko-KR" altLang="ko-KR" sz="2400" dirty="0"/>
              <a:t>함수 재정의, 이름 숨김, </a:t>
            </a:r>
            <a:r>
              <a:rPr lang="ko-KR" altLang="ko-KR" sz="2400" dirty="0" err="1"/>
              <a:t>override</a:t>
            </a:r>
            <a:endParaRPr lang="ko-KR" altLang="ko-KR" sz="2400" dirty="0"/>
          </a:p>
          <a:p>
            <a:pPr lvl="0">
              <a:lnSpc>
                <a:spcPct val="120000"/>
              </a:lnSpc>
            </a:pPr>
            <a:r>
              <a:rPr lang="ko-KR" altLang="ko-KR" sz="2400" dirty="0"/>
              <a:t>가상 함수와 동적 바인딩</a:t>
            </a:r>
          </a:p>
          <a:p>
            <a:pPr lvl="0">
              <a:lnSpc>
                <a:spcPct val="120000"/>
              </a:lnSpc>
            </a:pPr>
            <a:r>
              <a:rPr lang="ko-KR" altLang="ko-KR" sz="2400" dirty="0"/>
              <a:t>추상 클래스와 인터페이스 역할의 클래스</a:t>
            </a:r>
          </a:p>
          <a:p>
            <a:pPr lvl="0">
              <a:lnSpc>
                <a:spcPct val="120000"/>
              </a:lnSpc>
            </a:pPr>
            <a:r>
              <a:rPr lang="ko-KR" altLang="ko-KR" sz="2400" dirty="0"/>
              <a:t>다형 객체의 수명과 가상 </a:t>
            </a:r>
            <a:r>
              <a:rPr lang="ko-KR" altLang="ko-KR" sz="2400" dirty="0" err="1"/>
              <a:t>소멸자</a:t>
            </a:r>
            <a:endParaRPr lang="ko-KR" altLang="ko-KR" sz="2400" dirty="0"/>
          </a:p>
          <a:p>
            <a:pPr lvl="0">
              <a:lnSpc>
                <a:spcPct val="120000"/>
              </a:lnSpc>
            </a:pPr>
            <a:r>
              <a:rPr lang="ko-KR" altLang="ko-KR" sz="2400" dirty="0"/>
              <a:t>업캐스팅, 다운캐스팅, RTTI</a:t>
            </a:r>
          </a:p>
          <a:p>
            <a:pPr lvl="0">
              <a:lnSpc>
                <a:spcPct val="120000"/>
              </a:lnSpc>
            </a:pPr>
            <a:r>
              <a:rPr lang="ko-KR" altLang="ko-KR" sz="2400" dirty="0"/>
              <a:t>다중 상속과 가상 상속</a:t>
            </a:r>
          </a:p>
          <a:p>
            <a:pPr lvl="0">
              <a:lnSpc>
                <a:spcPct val="120000"/>
              </a:lnSpc>
            </a:pPr>
            <a:r>
              <a:rPr lang="ko-KR" altLang="ko-KR" sz="2400" dirty="0"/>
              <a:t>상속과 구성의 선택</a:t>
            </a:r>
          </a:p>
          <a:p>
            <a:pPr>
              <a:lnSpc>
                <a:spcPct val="120000"/>
              </a:lnSpc>
            </a:pP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23166019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9352EE-2469-DE5E-8F36-023D57A355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EB7B73-27B6-C695-826E-AC4D660B0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8.1 </a:t>
            </a:r>
            <a:r>
              <a:rPr lang="ko-KR" altLang="en-US" dirty="0"/>
              <a:t>일반화와 상속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46E10AB-BA5E-2EF8-DF16-C3AD633529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lnSpc>
                <a:spcPct val="120000"/>
              </a:lnSpc>
            </a:pPr>
            <a:r>
              <a:rPr lang="ko-KR" altLang="ko-KR" sz="2400" dirty="0"/>
              <a:t>일반화</a:t>
            </a:r>
            <a:r>
              <a:rPr lang="en-US" altLang="ko-KR" sz="2400" dirty="0"/>
              <a:t>: </a:t>
            </a:r>
            <a:r>
              <a:rPr lang="ko-KR" altLang="ko-KR" sz="2400" dirty="0"/>
              <a:t>여러 클래스의 공통 특성을 상위 개념으로 묶는 과정</a:t>
            </a:r>
          </a:p>
          <a:p>
            <a:pPr lvl="0">
              <a:lnSpc>
                <a:spcPct val="120000"/>
              </a:lnSpc>
            </a:pPr>
            <a:r>
              <a:rPr lang="ko-KR" altLang="ko-KR" sz="2400" dirty="0"/>
              <a:t>상속</a:t>
            </a:r>
            <a:r>
              <a:rPr lang="en-US" altLang="ko-KR" sz="2400" dirty="0"/>
              <a:t>: </a:t>
            </a:r>
            <a:r>
              <a:rPr lang="ko-KR" altLang="ko-KR" sz="2400" dirty="0"/>
              <a:t>하위 클래스가 상위 클래스의 특성을 이어받아 더 구체적인 클래스를 정의</a:t>
            </a:r>
          </a:p>
          <a:p>
            <a:pPr lvl="0">
              <a:lnSpc>
                <a:spcPct val="120000"/>
              </a:lnSpc>
            </a:pPr>
            <a:r>
              <a:rPr lang="ko-KR" altLang="ko-KR" sz="2400" dirty="0"/>
              <a:t>공통 상태와 기능은 기반 클래스로 분리</a:t>
            </a:r>
          </a:p>
          <a:p>
            <a:pPr lvl="0">
              <a:lnSpc>
                <a:spcPct val="120000"/>
              </a:lnSpc>
            </a:pPr>
            <a:r>
              <a:rPr lang="ko-KR" altLang="ko-KR" sz="2400" dirty="0"/>
              <a:t>구체적인 차이는 파생 클래스에서 표현</a:t>
            </a:r>
          </a:p>
          <a:p>
            <a:endParaRPr lang="ko-KR" altLang="en-US" sz="2400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C30FE007-E214-E7C1-448E-A2AC7B9B8C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0259907"/>
              </p:ext>
            </p:extLst>
          </p:nvPr>
        </p:nvGraphicFramePr>
        <p:xfrm>
          <a:off x="5924251" y="3861048"/>
          <a:ext cx="2632746" cy="2352240"/>
        </p:xfrm>
        <a:graphic>
          <a:graphicData uri="http://schemas.openxmlformats.org/drawingml/2006/table">
            <a:tbl>
              <a:tblPr/>
              <a:tblGrid>
                <a:gridCol w="2632746">
                  <a:extLst>
                    <a:ext uri="{9D8B030D-6E8A-4147-A177-3AD203B41FA5}">
                      <a16:colId xmlns:a16="http://schemas.microsoft.com/office/drawing/2014/main" val="127131731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게임 객체</a:t>
                      </a:r>
                      <a:b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└─ 캐릭터</a:t>
                      </a:r>
                      <a:b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  ├─ 플레이어 계열</a:t>
                      </a:r>
                      <a:b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  │  └─ 플레이어</a:t>
                      </a:r>
                      <a:b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  └─ 몹 계열</a:t>
                      </a:r>
                      <a:b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      ├─ 일반 몬스터</a:t>
                      </a:r>
                      <a:b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      └─ 보스 몬스터</a:t>
                      </a:r>
                      <a:endParaRPr lang="ko-KR" sz="3200" b="1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144000" marR="144000" marT="216000" marB="216000">
                    <a:lnL w="1270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4784137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5CD7F44A-21D9-5848-CE11-2FA4F337ED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975810"/>
              </p:ext>
            </p:extLst>
          </p:nvPr>
        </p:nvGraphicFramePr>
        <p:xfrm>
          <a:off x="539750" y="3429000"/>
          <a:ext cx="4968354" cy="3058512"/>
        </p:xfrm>
        <a:graphic>
          <a:graphicData uri="http://schemas.openxmlformats.org/drawingml/2006/table">
            <a:tbl>
              <a:tblPr/>
              <a:tblGrid>
                <a:gridCol w="2186467">
                  <a:extLst>
                    <a:ext uri="{9D8B030D-6E8A-4147-A177-3AD203B41FA5}">
                      <a16:colId xmlns:a16="http://schemas.microsoft.com/office/drawing/2014/main" val="2225773069"/>
                    </a:ext>
                  </a:extLst>
                </a:gridCol>
                <a:gridCol w="2781887">
                  <a:extLst>
                    <a:ext uri="{9D8B030D-6E8A-4147-A177-3AD203B41FA5}">
                      <a16:colId xmlns:a16="http://schemas.microsoft.com/office/drawing/2014/main" val="142769918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계층</a:t>
                      </a:r>
                      <a:endParaRPr lang="ko-KR" sz="32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역할</a:t>
                      </a:r>
                      <a:endParaRPr lang="ko-KR" sz="32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20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GameObject</a:t>
                      </a:r>
                      <a:endParaRPr lang="ko-KR" sz="32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게임 세계에 존재하는 객체의 공통 기반</a:t>
                      </a:r>
                      <a:endParaRPr lang="ko-KR" sz="32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74242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Character</a:t>
                      </a:r>
                      <a:endParaRPr lang="ko-KR" sz="32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체력과 전투 상태를 가진 객체</a:t>
                      </a:r>
                      <a:endParaRPr lang="ko-KR" sz="32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28596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PlayerBase</a:t>
                      </a:r>
                      <a:endParaRPr lang="ko-KR" sz="32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플레이어 계열의 공통 기반</a:t>
                      </a:r>
                      <a:endParaRPr lang="ko-KR" sz="32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70815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MobBase</a:t>
                      </a:r>
                      <a:endParaRPr lang="ko-KR" sz="32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몹 계열의 공통 기반</a:t>
                      </a:r>
                      <a:endParaRPr lang="ko-KR" sz="32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7476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Player, Monster, BossMonster</a:t>
                      </a:r>
                      <a:endParaRPr lang="ko-KR" sz="32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실제 생성 가능한 구체 클래스</a:t>
                      </a:r>
                      <a:endParaRPr lang="ko-KR" sz="32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7804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85164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4B35DE-20AB-9CFE-6A22-8DCCA1349B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A36F2B-0DA6-8BDD-8419-012F613B9A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8.1.1 </a:t>
            </a:r>
            <a:r>
              <a:rPr lang="ko-KR" altLang="en-US" dirty="0"/>
              <a:t>기반 클래스와 파생 클래스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12D0E95-E427-8A3C-3A2E-2F107117FE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sz="2400" dirty="0"/>
              <a:t>기반 클래스: 공통 개념을 정의한 클래스</a:t>
            </a:r>
          </a:p>
          <a:p>
            <a:pPr lvl="0"/>
            <a:r>
              <a:rPr lang="ko-KR" altLang="ko-KR" sz="2400" dirty="0"/>
              <a:t>파생 클래스: 기반 클래스를 확장하거나 구체화한 클래스</a:t>
            </a:r>
          </a:p>
          <a:p>
            <a:pPr lvl="0"/>
            <a:r>
              <a:rPr lang="ko-KR" altLang="ko-KR" sz="2400" dirty="0"/>
              <a:t>파생 클래스 객체 안에는 기반 클래스 부분이 포함됨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A2A6CE-789A-D170-4FC2-2A3EDA1770FA}"/>
              </a:ext>
            </a:extLst>
          </p:cNvPr>
          <p:cNvSpPr txBox="1"/>
          <p:nvPr/>
        </p:nvSpPr>
        <p:spPr>
          <a:xfrm>
            <a:off x="539750" y="2204864"/>
            <a:ext cx="3672210" cy="2554545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GameObject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SetPosition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float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x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float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y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float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GetX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float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GetY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protected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float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x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0.0f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y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0.0f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bool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active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600" b="0" i="0" u="none" strike="noStrike" dirty="0" err="1">
                <a:solidFill>
                  <a:srgbClr val="0184BB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true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A058247-93FC-0A2E-74BD-C7F9B6188064}"/>
              </a:ext>
            </a:extLst>
          </p:cNvPr>
          <p:cNvSpPr txBox="1"/>
          <p:nvPr/>
        </p:nvSpPr>
        <p:spPr>
          <a:xfrm>
            <a:off x="4427984" y="2327974"/>
            <a:ext cx="3672210" cy="2308324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GameObject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TakeDamage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damage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GetHp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protected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hp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100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93260BAF-5BDC-EDE4-37FB-6BDD764FB6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4087869"/>
              </p:ext>
            </p:extLst>
          </p:nvPr>
        </p:nvGraphicFramePr>
        <p:xfrm>
          <a:off x="3239852" y="4885726"/>
          <a:ext cx="2916324" cy="1807555"/>
        </p:xfrm>
        <a:graphic>
          <a:graphicData uri="http://schemas.openxmlformats.org/drawingml/2006/table">
            <a:tbl>
              <a:tblPr/>
              <a:tblGrid>
                <a:gridCol w="2916324">
                  <a:extLst>
                    <a:ext uri="{9D8B030D-6E8A-4147-A177-3AD203B41FA5}">
                      <a16:colId xmlns:a16="http://schemas.microsoft.com/office/drawing/2014/main" val="280167994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lnSpc>
                          <a:spcPct val="92000"/>
                        </a:lnSpc>
                        <a:buNone/>
                      </a:pPr>
                      <a:r>
                        <a:rPr lang="ko-KR" sz="18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Character</a:t>
                      </a:r>
                      <a: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 객체</a:t>
                      </a:r>
                      <a:b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├─ GameObject 부분</a:t>
                      </a:r>
                      <a:b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│  ├─ </a:t>
                      </a:r>
                      <a:r>
                        <a:rPr lang="ko-KR" sz="18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x</a:t>
                      </a:r>
                      <a: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ko-KR" sz="18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y</a:t>
                      </a:r>
                      <a:b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│  └─ </a:t>
                      </a:r>
                      <a:r>
                        <a:rPr lang="ko-KR" sz="18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active</a:t>
                      </a:r>
                      <a:b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└─ </a:t>
                      </a:r>
                      <a:r>
                        <a:rPr lang="ko-KR" sz="18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Character</a:t>
                      </a:r>
                      <a: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 부분</a:t>
                      </a:r>
                      <a:b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  └─ </a:t>
                      </a:r>
                      <a:r>
                        <a:rPr lang="ko-KR" sz="18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hp</a:t>
                      </a:r>
                      <a:endParaRPr lang="ko-KR" sz="3200" b="1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216000" marR="216000" marT="144000" marB="144000">
                    <a:lnL w="1270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17906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51348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FA22D-3F1A-1957-4D27-C3F9D4078A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C0A10D-E43C-CE46-7E27-D89F46E4D9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8.1.1 </a:t>
            </a:r>
            <a:r>
              <a:rPr lang="ko-KR" altLang="en-US" dirty="0"/>
              <a:t>다단계 상속 구조</a:t>
            </a:r>
          </a:p>
        </p:txBody>
      </p:sp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18C430FD-B6A7-4B25-EB22-038155CD822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03941852"/>
              </p:ext>
            </p:extLst>
          </p:nvPr>
        </p:nvGraphicFramePr>
        <p:xfrm>
          <a:off x="5730948" y="2825130"/>
          <a:ext cx="2681089" cy="1659600"/>
        </p:xfrm>
        <a:graphic>
          <a:graphicData uri="http://schemas.openxmlformats.org/drawingml/2006/table">
            <a:tbl>
              <a:tblPr/>
              <a:tblGrid>
                <a:gridCol w="2681089">
                  <a:extLst>
                    <a:ext uri="{9D8B030D-6E8A-4147-A177-3AD203B41FA5}">
                      <a16:colId xmlns:a16="http://schemas.microsoft.com/office/drawing/2014/main" val="323747899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8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Player</a:t>
                      </a:r>
                      <a: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 객체</a:t>
                      </a:r>
                      <a:b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├─ GameObject 부분</a:t>
                      </a:r>
                      <a:b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├─ </a:t>
                      </a:r>
                      <a:r>
                        <a:rPr lang="ko-KR" sz="18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Character</a:t>
                      </a:r>
                      <a: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 부분</a:t>
                      </a:r>
                      <a:b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├─ </a:t>
                      </a:r>
                      <a:r>
                        <a:rPr lang="ko-KR" sz="18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PlayerBase</a:t>
                      </a:r>
                      <a: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 부분</a:t>
                      </a:r>
                      <a:b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└─ </a:t>
                      </a:r>
                      <a:r>
                        <a:rPr lang="ko-KR" sz="18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Player</a:t>
                      </a:r>
                      <a: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 부분</a:t>
                      </a:r>
                      <a:endParaRPr lang="ko-KR" sz="3200" b="1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216000" marR="216000" marT="144000" marB="144000">
                    <a:lnL w="1270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148689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F3DFFD98-92D6-4AA7-A7DA-3079117C4C1A}"/>
              </a:ext>
            </a:extLst>
          </p:cNvPr>
          <p:cNvSpPr txBox="1"/>
          <p:nvPr/>
        </p:nvSpPr>
        <p:spPr>
          <a:xfrm>
            <a:off x="278954" y="720308"/>
            <a:ext cx="4233466" cy="2062103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PlayerBase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AddScore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value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GetScore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protected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score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0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542B36-0821-17CA-F73C-065B3A80A1BF}"/>
              </a:ext>
            </a:extLst>
          </p:cNvPr>
          <p:cNvSpPr txBox="1"/>
          <p:nvPr/>
        </p:nvSpPr>
        <p:spPr>
          <a:xfrm>
            <a:off x="266526" y="2852936"/>
            <a:ext cx="4245894" cy="2062103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600" b="0" i="0" u="none" strike="noStrike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MobBase</a:t>
            </a:r>
            <a:r>
              <a:rPr lang="ko-KR" altLang="ko-KR" sz="1600" b="0" i="0" u="none" strike="noStrike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1600" b="0" i="0" u="none" strike="noStrike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600" b="0" i="0" u="none" strike="noStrike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Character</a:t>
            </a:r>
            <a:br>
              <a:rPr lang="ko-KR" altLang="ko-KR" sz="1600" b="0" i="0" u="none" strike="noStrike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600" b="0" i="0" u="none" strike="noStrike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600" b="0" i="0" u="none" strike="noStrike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600" b="0" i="0" u="none" strike="noStrike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SetAttackPower</a:t>
            </a:r>
            <a:r>
              <a:rPr lang="ko-KR" altLang="ko-KR" sz="1600" b="0" i="0" u="none" strike="noStrike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0" i="0" u="none" strike="noStrike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600" b="0" i="0" u="none" strike="noStrike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attackPower);</a:t>
            </a:r>
            <a:br>
              <a:rPr lang="ko-KR" altLang="ko-KR" sz="1600" b="0" i="0" u="none" strike="noStrike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600" b="0" i="0" u="none" strike="noStrike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GetAttackPower</a:t>
            </a:r>
            <a:r>
              <a:rPr lang="ko-KR" altLang="ko-KR" sz="1600" b="0" i="0" u="none" strike="noStrike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</a:t>
            </a:r>
            <a:r>
              <a:rPr lang="ko-KR" altLang="ko-KR" sz="1600" b="0" i="0" u="none" strike="noStrike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r>
              <a:rPr lang="ko-KR" altLang="ko-KR" sz="1600" b="0" i="0" u="none" strike="noStrike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protected</a:t>
            </a:r>
            <a:r>
              <a:rPr lang="ko-KR" altLang="ko-KR" sz="1600" b="0" i="0" u="none" strike="noStrike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600" b="0" i="0" u="none" strike="noStrike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600" b="0" i="0" u="none" strike="noStrike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attackPower = </a:t>
            </a:r>
            <a:r>
              <a:rPr lang="ko-KR" altLang="ko-KR" sz="1600" b="0" i="0" u="none" strike="noStrike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10</a:t>
            </a:r>
            <a:r>
              <a:rPr lang="ko-KR" altLang="ko-KR" sz="1600" b="0" i="0" u="none" strike="noStrike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664BE0-A96D-C60A-B062-D0A911444877}"/>
              </a:ext>
            </a:extLst>
          </p:cNvPr>
          <p:cNvSpPr txBox="1"/>
          <p:nvPr/>
        </p:nvSpPr>
        <p:spPr>
          <a:xfrm>
            <a:off x="4067944" y="1697230"/>
            <a:ext cx="3528392" cy="830997"/>
          </a:xfrm>
          <a:prstGeom prst="rect">
            <a:avLst/>
          </a:prstGeom>
          <a:solidFill>
            <a:srgbClr val="FAFAFA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PlayerBase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4661702-442B-ADB3-8811-BEA45FF3C8BF}"/>
              </a:ext>
            </a:extLst>
          </p:cNvPr>
          <p:cNvSpPr txBox="1"/>
          <p:nvPr/>
        </p:nvSpPr>
        <p:spPr>
          <a:xfrm>
            <a:off x="1605954" y="4745271"/>
            <a:ext cx="4118173" cy="1569660"/>
          </a:xfrm>
          <a:prstGeom prst="rect">
            <a:avLst/>
          </a:prstGeom>
          <a:solidFill>
            <a:srgbClr val="FAFAFA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Monster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MobBase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BossMonster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MobBase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582771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532E11-EB7D-5746-F25F-CAA4BFEBD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450F3D-3913-455E-630D-69039FB4A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8.1.2 is-a </a:t>
            </a:r>
            <a:r>
              <a:rPr lang="ko-KR" altLang="en-US" dirty="0"/>
              <a:t>관계와 대체 가능성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1115CEA-6AD6-36DE-64A9-0E1D9B9221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sz="2400" dirty="0" err="1"/>
              <a:t>public</a:t>
            </a:r>
            <a:r>
              <a:rPr lang="ko-KR" altLang="ko-KR" sz="2400" dirty="0"/>
              <a:t> 상속은 파생 클래스가 기반 클래스의 한 종류임을 표현</a:t>
            </a:r>
          </a:p>
          <a:p>
            <a:pPr lvl="0"/>
            <a:r>
              <a:rPr lang="ko-KR" altLang="ko-KR" sz="2400" dirty="0"/>
              <a:t>파생 객체는 기반 클래스 참조나 포인터가 필요한 위치에 전달 가능</a:t>
            </a:r>
          </a:p>
          <a:p>
            <a:pPr lvl="0"/>
            <a:r>
              <a:rPr lang="ko-KR" altLang="ko-KR" sz="2400" dirty="0"/>
              <a:t>문법상 변환뿐 아니라 기반 클래스의 의미와 규칙도 유지해야 함</a:t>
            </a:r>
          </a:p>
          <a:p>
            <a:endParaRPr lang="ko-KR" altLang="en-US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E0C74A-03E0-5381-2510-ABE14223769C}"/>
              </a:ext>
            </a:extLst>
          </p:cNvPr>
          <p:cNvSpPr txBox="1"/>
          <p:nvPr/>
        </p:nvSpPr>
        <p:spPr>
          <a:xfrm>
            <a:off x="395536" y="4452282"/>
            <a:ext cx="4752528" cy="1569660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PrintCharacterState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&amp; 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.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GetX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&lt;&lt;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", "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      &lt;&lt; 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.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GetY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&lt;&lt;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", 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hp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="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      &lt;&lt; 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.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GetHp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&lt;&lt;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'\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B5FB2817-E35F-4C56-3E06-CE3AF1756F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9229333"/>
              </p:ext>
            </p:extLst>
          </p:nvPr>
        </p:nvGraphicFramePr>
        <p:xfrm>
          <a:off x="395536" y="2292530"/>
          <a:ext cx="4572000" cy="1939160"/>
        </p:xfrm>
        <a:graphic>
          <a:graphicData uri="http://schemas.openxmlformats.org/drawingml/2006/table">
            <a:tbl>
              <a:tblPr/>
              <a:tblGrid>
                <a:gridCol w="3244586">
                  <a:extLst>
                    <a:ext uri="{9D8B030D-6E8A-4147-A177-3AD203B41FA5}">
                      <a16:colId xmlns:a16="http://schemas.microsoft.com/office/drawing/2014/main" val="1245288438"/>
                    </a:ext>
                  </a:extLst>
                </a:gridCol>
                <a:gridCol w="1327414">
                  <a:extLst>
                    <a:ext uri="{9D8B030D-6E8A-4147-A177-3AD203B41FA5}">
                      <a16:colId xmlns:a16="http://schemas.microsoft.com/office/drawing/2014/main" val="427943847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Pretendard ExtraBold" panose="02000903000000020004" pitchFamily="50" charset="-127"/>
                        </a:rPr>
                        <a:t>표현</a:t>
                      </a:r>
                      <a:endParaRPr lang="ko-KR" sz="2800" dirty="0">
                        <a:effectLst/>
                        <a:latin typeface="+mn-ea"/>
                        <a:ea typeface="+mn-ea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Pretendard ExtraBold" panose="02000903000000020004" pitchFamily="50" charset="-127"/>
                        </a:rPr>
                        <a:t>의미</a:t>
                      </a:r>
                      <a:endParaRPr lang="ko-KR" sz="2800" dirty="0">
                        <a:effectLst/>
                        <a:latin typeface="+mn-ea"/>
                        <a:ea typeface="+mn-ea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91069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Player is a Character</a:t>
                      </a:r>
                      <a:endParaRPr lang="ko-KR" sz="28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성립</a:t>
                      </a:r>
                      <a:endParaRPr lang="ko-KR" sz="28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88136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Monster is a Character</a:t>
                      </a:r>
                      <a:endParaRPr lang="ko-KR" sz="28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성립</a:t>
                      </a:r>
                      <a:endParaRPr lang="ko-KR" sz="28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1663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BossMonster is a GameObject</a:t>
                      </a:r>
                      <a:endParaRPr lang="ko-KR" sz="28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성립</a:t>
                      </a:r>
                      <a:endParaRPr lang="ko-KR" sz="28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75539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Character is a Weapon</a:t>
                      </a:r>
                      <a:endParaRPr lang="ko-KR" sz="28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성립하지 않음</a:t>
                      </a:r>
                      <a:endParaRPr lang="ko-KR" sz="28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7368016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4333FD9E-3211-5A6A-2376-FE8AA946ED50}"/>
              </a:ext>
            </a:extLst>
          </p:cNvPr>
          <p:cNvSpPr txBox="1"/>
          <p:nvPr/>
        </p:nvSpPr>
        <p:spPr>
          <a:xfrm>
            <a:off x="5292080" y="4451628"/>
            <a:ext cx="3672408" cy="1569660"/>
          </a:xfrm>
          <a:prstGeom prst="rect">
            <a:avLst/>
          </a:prstGeom>
          <a:solidFill>
            <a:srgbClr val="FFFFFF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Monster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monster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BossMonster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boss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PrintCharacterState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PrintCharacterState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monster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PrintCharacterState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boss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579739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497862-7285-762E-45FB-F013C2FAA5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D1E983-EA81-DAE3-AA39-A6EBFA958C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8.1.3 </a:t>
            </a:r>
            <a:r>
              <a:rPr lang="ko-KR" altLang="en-US" dirty="0"/>
              <a:t>상속 사용 조건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DC63F4-13D8-D7E5-0BDF-4110811D03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sz="2400" dirty="0"/>
              <a:t>공통 코드가 있다는 이유만으로 상속을 선택하지 않음</a:t>
            </a:r>
          </a:p>
          <a:p>
            <a:pPr lvl="0"/>
            <a:r>
              <a:rPr lang="ko-KR" altLang="ko-KR" sz="2400" dirty="0"/>
              <a:t>상속은 타입 관계와 인터페이스 계약을 함께 만듦</a:t>
            </a:r>
          </a:p>
          <a:p>
            <a:pPr lvl="0"/>
            <a:r>
              <a:rPr lang="ko-KR" altLang="ko-KR" sz="2400" dirty="0"/>
              <a:t>기반 클래스 대신 파생 클래스를 사용해도 의미가 유지되어야 함</a:t>
            </a:r>
          </a:p>
          <a:p>
            <a:endParaRPr lang="ko-KR" altLang="en-US" sz="2400" dirty="0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9D5996D3-ED37-9546-AE08-57439C88F7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6138022"/>
              </p:ext>
            </p:extLst>
          </p:nvPr>
        </p:nvGraphicFramePr>
        <p:xfrm>
          <a:off x="539750" y="2268729"/>
          <a:ext cx="6930852" cy="2509872"/>
        </p:xfrm>
        <a:graphic>
          <a:graphicData uri="http://schemas.openxmlformats.org/drawingml/2006/table">
            <a:tbl>
              <a:tblPr/>
              <a:tblGrid>
                <a:gridCol w="1367219">
                  <a:extLst>
                    <a:ext uri="{9D8B030D-6E8A-4147-A177-3AD203B41FA5}">
                      <a16:colId xmlns:a16="http://schemas.microsoft.com/office/drawing/2014/main" val="3261057491"/>
                    </a:ext>
                  </a:extLst>
                </a:gridCol>
                <a:gridCol w="5563633">
                  <a:extLst>
                    <a:ext uri="{9D8B030D-6E8A-4147-A177-3AD203B41FA5}">
                      <a16:colId xmlns:a16="http://schemas.microsoft.com/office/drawing/2014/main" val="194359407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Pretendard ExtraBold" panose="02000903000000020004" pitchFamily="50" charset="-127"/>
                        </a:rPr>
                        <a:t>기준</a:t>
                      </a:r>
                      <a:endParaRPr lang="ko-KR" sz="3200" dirty="0">
                        <a:effectLst/>
                        <a:latin typeface="+mn-ea"/>
                        <a:ea typeface="+mn-ea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Pretendard ExtraBold" panose="02000903000000020004" pitchFamily="50" charset="-127"/>
                        </a:rPr>
                        <a:t>확인 내용</a:t>
                      </a:r>
                      <a:endParaRPr lang="ko-KR" sz="3200" dirty="0">
                        <a:effectLst/>
                        <a:latin typeface="+mn-ea"/>
                        <a:ea typeface="+mn-ea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16683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개념 관계</a:t>
                      </a:r>
                      <a:endParaRPr lang="ko-KR" sz="32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파생 클래스가 기반 클래스의 한 종류인가</a:t>
                      </a:r>
                      <a:endParaRPr lang="ko-KR" sz="32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21882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인터페이스</a:t>
                      </a:r>
                      <a:endParaRPr lang="ko-KR" sz="32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기반 클래스의 공개 연산이 파생 클래스에도 의미가 있는가</a:t>
                      </a:r>
                      <a:endParaRPr lang="ko-KR" sz="32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6031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계약</a:t>
                      </a:r>
                      <a:endParaRPr lang="ko-KR" sz="32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파생 클래스가 기반 클래스의 규칙을 유지하는가</a:t>
                      </a:r>
                      <a:endParaRPr lang="ko-KR" sz="32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45697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다형성</a:t>
                      </a:r>
                      <a:endParaRPr lang="ko-KR" sz="32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구체 타입을 몰라도 공통 기능을 호출해야 하는가</a:t>
                      </a:r>
                      <a:endParaRPr lang="ko-KR" sz="32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2494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변경 영향</a:t>
                      </a:r>
                      <a:endParaRPr lang="ko-KR" sz="32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기반 클래스 변경을 파생 클래스들이 수용할 수 있는가</a:t>
                      </a:r>
                      <a:endParaRPr lang="ko-KR" sz="32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4003339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FF42CF38-BDA7-8A33-6CE1-CEC8BB99BDA8}"/>
              </a:ext>
            </a:extLst>
          </p:cNvPr>
          <p:cNvSpPr txBox="1"/>
          <p:nvPr/>
        </p:nvSpPr>
        <p:spPr>
          <a:xfrm>
            <a:off x="539750" y="5159534"/>
            <a:ext cx="6930851" cy="646331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 marL="342900" lvl="0" indent="-342900" rtl="0" fontAlgn="base">
              <a:buFont typeface="Arial" panose="020B0604020202020204" pitchFamily="34" charset="0"/>
              <a:buChar char="•"/>
            </a:pPr>
            <a:r>
              <a:rPr lang="ko-KR" altLang="ko-KR" sz="1800" b="0" i="0" u="none" strike="noStrike" dirty="0" err="1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r>
              <a:rPr lang="ko-KR" altLang="ko-KR" sz="18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800" b="0" i="0" u="none" strike="noStrike" dirty="0" err="1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is</a:t>
            </a:r>
            <a:r>
              <a:rPr lang="ko-KR" altLang="ko-KR" sz="18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800" b="0" i="0" u="none" strike="noStrike" dirty="0" err="1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a</a:t>
            </a:r>
            <a:r>
              <a:rPr lang="ko-KR" altLang="ko-KR" sz="18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800" b="0" i="0" u="none" strike="noStrike" dirty="0" err="1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Weapon</a:t>
            </a:r>
            <a:r>
              <a:rPr lang="ko-KR" altLang="ko-KR" sz="18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→ 잘못된 관계</a:t>
            </a:r>
          </a:p>
          <a:p>
            <a:pPr marL="342900" lvl="0" indent="-342900" rtl="0" fontAlgn="base">
              <a:buFont typeface="Arial" panose="020B0604020202020204" pitchFamily="34" charset="0"/>
              <a:buChar char="•"/>
            </a:pPr>
            <a:r>
              <a:rPr lang="ko-KR" altLang="ko-KR" sz="1800" b="0" i="0" u="none" strike="noStrike" dirty="0" err="1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r>
              <a:rPr lang="ko-KR" altLang="ko-KR" sz="18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800" b="0" i="0" u="none" strike="noStrike" dirty="0" err="1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has</a:t>
            </a:r>
            <a:r>
              <a:rPr lang="ko-KR" altLang="ko-KR" sz="18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800" b="0" i="0" u="none" strike="noStrike" dirty="0" err="1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a</a:t>
            </a:r>
            <a:r>
              <a:rPr lang="ko-KR" altLang="ko-KR" sz="18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800" b="0" i="0" u="none" strike="noStrike" dirty="0" err="1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Weapon</a:t>
            </a:r>
            <a:r>
              <a:rPr lang="ko-KR" altLang="ko-KR" sz="18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→ 구성으로 표현</a:t>
            </a:r>
          </a:p>
        </p:txBody>
      </p:sp>
    </p:spTree>
    <p:extLst>
      <p:ext uri="{BB962C8B-B14F-4D97-AF65-F5344CB8AC3E}">
        <p14:creationId xmlns:p14="http://schemas.microsoft.com/office/powerpoint/2010/main" val="1335275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B40307-5AE9-40E1-CC3A-390D46ACE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A45AE7-B3BB-0B6F-38E7-ED61B04758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8.1.4 UML</a:t>
            </a:r>
            <a:r>
              <a:rPr lang="ko-KR" altLang="en-US" dirty="0"/>
              <a:t>로 표현하는 일반화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C8CBB29-125E-38DA-4BA4-E5D65C061D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sz="2400" dirty="0"/>
              <a:t>UML 다이어그램에서 일반화는 빈 삼각형 화살표로 표현</a:t>
            </a:r>
          </a:p>
          <a:p>
            <a:pPr lvl="0"/>
            <a:r>
              <a:rPr lang="ko-KR" altLang="ko-KR" sz="2400" dirty="0"/>
              <a:t>화살표 방향은 파생 클래스에서 기반 클래스를 향함</a:t>
            </a:r>
          </a:p>
          <a:p>
            <a:pPr lvl="0"/>
            <a:r>
              <a:rPr lang="ko-KR" altLang="ko-KR" sz="2400" dirty="0" err="1"/>
              <a:t>UML은</a:t>
            </a:r>
            <a:r>
              <a:rPr lang="ko-KR" altLang="ko-KR" sz="2400" dirty="0"/>
              <a:t> 설계 관계를 표현</a:t>
            </a:r>
          </a:p>
          <a:p>
            <a:pPr lvl="0"/>
            <a:r>
              <a:rPr lang="ko-KR" altLang="ko-KR" sz="2400" dirty="0"/>
              <a:t>C++ 세부 구현은 별도 설명 필요</a:t>
            </a:r>
          </a:p>
          <a:p>
            <a:endParaRPr lang="ko-KR" altLang="en-US" sz="24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8A3FA78-900B-C74C-CBC8-671891E7C1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552" y="2783245"/>
            <a:ext cx="4433334" cy="3741380"/>
          </a:xfrm>
          <a:prstGeom prst="rect">
            <a:avLst/>
          </a:prstGeom>
        </p:spPr>
      </p:pic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50A4FAC0-8D37-0BC3-F21E-DCE7E2BA8F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2863856"/>
              </p:ext>
            </p:extLst>
          </p:nvPr>
        </p:nvGraphicFramePr>
        <p:xfrm>
          <a:off x="4865382" y="3608387"/>
          <a:ext cx="4171114" cy="2091560"/>
        </p:xfrm>
        <a:graphic>
          <a:graphicData uri="http://schemas.openxmlformats.org/drawingml/2006/table">
            <a:tbl>
              <a:tblPr/>
              <a:tblGrid>
                <a:gridCol w="1006820">
                  <a:extLst>
                    <a:ext uri="{9D8B030D-6E8A-4147-A177-3AD203B41FA5}">
                      <a16:colId xmlns:a16="http://schemas.microsoft.com/office/drawing/2014/main" val="2421863191"/>
                    </a:ext>
                  </a:extLst>
                </a:gridCol>
                <a:gridCol w="3164294">
                  <a:extLst>
                    <a:ext uri="{9D8B030D-6E8A-4147-A177-3AD203B41FA5}">
                      <a16:colId xmlns:a16="http://schemas.microsoft.com/office/drawing/2014/main" val="263527338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Pretendard ExtraBold" panose="02000903000000020004" pitchFamily="50" charset="-127"/>
                        </a:rPr>
                        <a:t>UML관계</a:t>
                      </a:r>
                      <a:endParaRPr lang="ko-KR" sz="3200" b="1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Pretendard ExtraBold" panose="02000903000000020004" pitchFamily="50" charset="-127"/>
                        </a:rPr>
                        <a:t>C++ 표현</a:t>
                      </a:r>
                      <a:endParaRPr lang="ko-KR" sz="3200" b="1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58579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일반화</a:t>
                      </a:r>
                      <a:endParaRPr lang="ko-KR" sz="32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class Derived : public Base</a:t>
                      </a:r>
                      <a:endParaRPr lang="ko-KR" sz="32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34594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합성</a:t>
                      </a:r>
                      <a:endParaRPr lang="ko-KR" sz="32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값 멤버, unique_ptr 등</a:t>
                      </a:r>
                      <a:endParaRPr lang="ko-KR" sz="32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38172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연관</a:t>
                      </a:r>
                      <a:endParaRPr lang="ko-KR" sz="32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참조, 포인터 등</a:t>
                      </a:r>
                      <a:endParaRPr lang="ko-KR" sz="32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89068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의존</a:t>
                      </a:r>
                      <a:endParaRPr lang="ko-KR" sz="32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매개변수, 지역 변수 등</a:t>
                      </a:r>
                      <a:endParaRPr lang="ko-KR" sz="32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48522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240707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55DA3-76A4-D299-FBEE-E6BFC8BAE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05BC5F-4AA7-8E41-05C7-A2E6A5B5A5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8.2 </a:t>
            </a:r>
            <a:r>
              <a:rPr lang="ko-KR" altLang="en-US" dirty="0"/>
              <a:t>상속의 기본 구조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93DB244-ACF4-B6CB-3B58-844568411C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sz="2400" dirty="0"/>
              <a:t>파생 클래스 선언에서 기반 클래스 이름 앞에 상속 접근 지정자 작성</a:t>
            </a:r>
            <a:endParaRPr lang="en-US" altLang="ko-KR" sz="2400" dirty="0"/>
          </a:p>
          <a:p>
            <a:pPr lvl="4"/>
            <a:endParaRPr lang="ko-KR" altLang="ko-KR" sz="1200" dirty="0"/>
          </a:p>
          <a:p>
            <a:pPr lvl="0"/>
            <a:r>
              <a:rPr lang="ko-KR" altLang="ko-KR" sz="2400" dirty="0"/>
              <a:t>상속 접근 지정자는 기반 클래스의 </a:t>
            </a:r>
            <a:r>
              <a:rPr lang="ko-KR" altLang="ko-KR" sz="2400" dirty="0" err="1"/>
              <a:t>public</a:t>
            </a:r>
            <a:r>
              <a:rPr lang="ko-KR" altLang="ko-KR" sz="2400" dirty="0"/>
              <a:t>, </a:t>
            </a:r>
            <a:r>
              <a:rPr lang="ko-KR" altLang="ko-KR" sz="2400" dirty="0" err="1"/>
              <a:t>protected</a:t>
            </a:r>
            <a:r>
              <a:rPr lang="ko-KR" altLang="ko-KR" sz="2400" dirty="0"/>
              <a:t> 멤버가 파생 클래스에서 보이는 수준을 결정</a:t>
            </a:r>
            <a:endParaRPr lang="en-US" altLang="ko-KR" sz="2400" dirty="0"/>
          </a:p>
          <a:p>
            <a:pPr lvl="4"/>
            <a:endParaRPr lang="ko-KR" altLang="ko-KR" sz="1200" dirty="0"/>
          </a:p>
          <a:p>
            <a:pPr lvl="0"/>
            <a:r>
              <a:rPr lang="ko-KR" altLang="ko-KR" sz="2400" dirty="0"/>
              <a:t>기반 클래스의 </a:t>
            </a:r>
            <a:r>
              <a:rPr lang="ko-KR" altLang="ko-KR" sz="2400" dirty="0" err="1"/>
              <a:t>private</a:t>
            </a:r>
            <a:r>
              <a:rPr lang="ko-KR" altLang="ko-KR" sz="2400" dirty="0"/>
              <a:t> 멤버는 어떤 상속 방식에서도 파생 클래스가 직접 접근할 수 없음</a:t>
            </a:r>
          </a:p>
          <a:p>
            <a:pPr lvl="3"/>
            <a:endParaRPr lang="ko-KR" altLang="en-US" sz="1400" dirty="0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F01DBF0A-39E6-A62A-1479-EB26FAE7CF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1291847"/>
              </p:ext>
            </p:extLst>
          </p:nvPr>
        </p:nvGraphicFramePr>
        <p:xfrm>
          <a:off x="588045" y="4293096"/>
          <a:ext cx="7967910" cy="1978048"/>
        </p:xfrm>
        <a:graphic>
          <a:graphicData uri="http://schemas.openxmlformats.org/drawingml/2006/table">
            <a:tbl>
              <a:tblPr/>
              <a:tblGrid>
                <a:gridCol w="1703214">
                  <a:extLst>
                    <a:ext uri="{9D8B030D-6E8A-4147-A177-3AD203B41FA5}">
                      <a16:colId xmlns:a16="http://schemas.microsoft.com/office/drawing/2014/main" val="977306140"/>
                    </a:ext>
                  </a:extLst>
                </a:gridCol>
                <a:gridCol w="3895858">
                  <a:extLst>
                    <a:ext uri="{9D8B030D-6E8A-4147-A177-3AD203B41FA5}">
                      <a16:colId xmlns:a16="http://schemas.microsoft.com/office/drawing/2014/main" val="756240034"/>
                    </a:ext>
                  </a:extLst>
                </a:gridCol>
                <a:gridCol w="2368838">
                  <a:extLst>
                    <a:ext uri="{9D8B030D-6E8A-4147-A177-3AD203B41FA5}">
                      <a16:colId xmlns:a16="http://schemas.microsoft.com/office/drawing/2014/main" val="19777703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Pretendard ExtraBold" panose="02000903000000020004" pitchFamily="50" charset="-127"/>
                        </a:rPr>
                        <a:t>상속 방식</a:t>
                      </a:r>
                      <a:endParaRPr lang="ko-KR" sz="3600" dirty="0">
                        <a:effectLst/>
                        <a:latin typeface="+mn-ea"/>
                        <a:ea typeface="+mn-ea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Pretendard ExtraBold" panose="02000903000000020004" pitchFamily="50" charset="-127"/>
                        </a:rPr>
                        <a:t>외부에 공개되는 관계</a:t>
                      </a:r>
                      <a:endParaRPr lang="ko-KR" sz="3600" dirty="0">
                        <a:effectLst/>
                        <a:latin typeface="+mn-ea"/>
                        <a:ea typeface="+mn-ea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Pretendard ExtraBold" panose="02000903000000020004" pitchFamily="50" charset="-127"/>
                        </a:rPr>
                        <a:t>대표 목적</a:t>
                      </a:r>
                      <a:endParaRPr lang="ko-KR" sz="3600" dirty="0">
                        <a:effectLst/>
                        <a:latin typeface="+mn-ea"/>
                        <a:ea typeface="+mn-ea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39764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4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public</a:t>
                      </a:r>
                      <a:endParaRPr lang="ko-KR" sz="40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 err="1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is-a</a:t>
                      </a:r>
                      <a:r>
                        <a:rPr lang="ko-KR" sz="20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관계 공개</a:t>
                      </a:r>
                      <a:endParaRPr lang="ko-KR" sz="3600" dirty="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객체 계층과 </a:t>
                      </a:r>
                      <a:r>
                        <a:rPr lang="ko-KR" sz="2000" b="0" i="0" u="none" strike="noStrike" dirty="0" err="1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다형성</a:t>
                      </a:r>
                      <a:endParaRPr lang="ko-KR" sz="3600" dirty="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71767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4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protected</a:t>
                      </a:r>
                      <a:endParaRPr lang="ko-KR" sz="40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파생 계층 내부에서만 기반 관계 사용</a:t>
                      </a:r>
                      <a:endParaRPr lang="ko-KR" sz="3600" dirty="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제한된 구현 공유</a:t>
                      </a:r>
                      <a:endParaRPr lang="ko-KR" sz="3600" dirty="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10803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4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private</a:t>
                      </a:r>
                      <a:endParaRPr lang="ko-KR" sz="40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기반 구현을 내부적으로 사용</a:t>
                      </a:r>
                      <a:endParaRPr lang="ko-KR" sz="360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구현 재사용</a:t>
                      </a:r>
                      <a:endParaRPr lang="ko-KR" sz="3600" dirty="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962211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8571AB0-6947-D582-89E6-F47FFD361436}"/>
              </a:ext>
            </a:extLst>
          </p:cNvPr>
          <p:cNvSpPr txBox="1"/>
          <p:nvPr/>
        </p:nvSpPr>
        <p:spPr>
          <a:xfrm>
            <a:off x="588045" y="3659981"/>
            <a:ext cx="5280099" cy="461665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Derived</a:t>
            </a:r>
            <a: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b="0" i="0" u="none" strike="noStrike" dirty="0" err="1">
                <a:solidFill>
                  <a:srgbClr val="0000F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Base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48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090651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CBF03E-C3CB-0732-FB2D-774164DA23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C1FBE7-7C2E-714C-E784-E4FC7F25ED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8.2.1 public </a:t>
            </a:r>
            <a:r>
              <a:rPr lang="ko-KR" altLang="en-US" dirty="0"/>
              <a:t>상속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2E4873D-D4D8-C342-6A8E-7797FE9A99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sz="2400" dirty="0" err="1"/>
              <a:t>public</a:t>
            </a:r>
            <a:r>
              <a:rPr lang="ko-KR" altLang="ko-KR" sz="2400" dirty="0"/>
              <a:t> 상속은 공개적인 </a:t>
            </a:r>
            <a:r>
              <a:rPr lang="ko-KR" altLang="ko-KR" sz="2400" dirty="0" err="1"/>
              <a:t>is-a</a:t>
            </a:r>
            <a:r>
              <a:rPr lang="ko-KR" altLang="ko-KR" sz="2400" dirty="0"/>
              <a:t> 관계를 표현</a:t>
            </a:r>
          </a:p>
          <a:p>
            <a:pPr lvl="0"/>
            <a:r>
              <a:rPr lang="ko-KR" altLang="ko-KR" sz="2400" dirty="0"/>
              <a:t>기반 클래스의 </a:t>
            </a:r>
            <a:r>
              <a:rPr lang="ko-KR" altLang="ko-KR" sz="2400" dirty="0" err="1"/>
              <a:t>public</a:t>
            </a:r>
            <a:r>
              <a:rPr lang="ko-KR" altLang="ko-KR" sz="2400" dirty="0"/>
              <a:t> 멤버는 파생 클래스에서도 </a:t>
            </a:r>
            <a:r>
              <a:rPr lang="ko-KR" altLang="ko-KR" sz="2400" dirty="0" err="1"/>
              <a:t>public</a:t>
            </a:r>
            <a:r>
              <a:rPr lang="ko-KR" altLang="ko-KR" sz="2400" dirty="0"/>
              <a:t> 유지</a:t>
            </a:r>
          </a:p>
          <a:p>
            <a:pPr lvl="0"/>
            <a:r>
              <a:rPr lang="ko-KR" altLang="ko-KR" sz="2400" dirty="0"/>
              <a:t>기반 클래스의 </a:t>
            </a:r>
            <a:r>
              <a:rPr lang="ko-KR" altLang="ko-KR" sz="2400" dirty="0" err="1"/>
              <a:t>protected</a:t>
            </a:r>
            <a:r>
              <a:rPr lang="ko-KR" altLang="ko-KR" sz="2400" dirty="0"/>
              <a:t> 멤버는 파생 클래스에서도 </a:t>
            </a:r>
            <a:r>
              <a:rPr lang="ko-KR" altLang="ko-KR" sz="2400" dirty="0" err="1"/>
              <a:t>protected</a:t>
            </a:r>
            <a:r>
              <a:rPr lang="ko-KR" altLang="ko-KR" sz="2400" dirty="0"/>
              <a:t> 유지</a:t>
            </a:r>
          </a:p>
          <a:p>
            <a:pPr lvl="0"/>
            <a:r>
              <a:rPr lang="ko-KR" altLang="ko-KR" sz="2400" dirty="0"/>
              <a:t>외부 코드에서 업캐스팅 가능</a:t>
            </a:r>
          </a:p>
          <a:p>
            <a:endParaRPr lang="ko-KR" altLang="en-US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ED0E85-65A6-AC75-B537-258F1880A051}"/>
              </a:ext>
            </a:extLst>
          </p:cNvPr>
          <p:cNvSpPr txBox="1"/>
          <p:nvPr/>
        </p:nvSpPr>
        <p:spPr>
          <a:xfrm>
            <a:off x="467544" y="2765827"/>
            <a:ext cx="4032250" cy="1815882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MobBase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Monster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MobBase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7D39D6-754D-35C8-1875-74B3A91064B8}"/>
              </a:ext>
            </a:extLst>
          </p:cNvPr>
          <p:cNvSpPr txBox="1"/>
          <p:nvPr/>
        </p:nvSpPr>
        <p:spPr>
          <a:xfrm>
            <a:off x="4644206" y="2757353"/>
            <a:ext cx="4032250" cy="1815882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Monster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monster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monster.SetPosition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50.0f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30.0f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monster.TakeDamage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10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0070C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MobBase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&amp;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mob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monster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0070C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&amp;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monster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0070C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GameObject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&amp;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object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monster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4A281333-9B3A-46E1-C6D6-B175CBF243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4772850"/>
              </p:ext>
            </p:extLst>
          </p:nvPr>
        </p:nvGraphicFramePr>
        <p:xfrm>
          <a:off x="1763688" y="4797425"/>
          <a:ext cx="5616624" cy="1727200"/>
        </p:xfrm>
        <a:graphic>
          <a:graphicData uri="http://schemas.openxmlformats.org/drawingml/2006/table">
            <a:tbl>
              <a:tblPr/>
              <a:tblGrid>
                <a:gridCol w="2193008">
                  <a:extLst>
                    <a:ext uri="{9D8B030D-6E8A-4147-A177-3AD203B41FA5}">
                      <a16:colId xmlns:a16="http://schemas.microsoft.com/office/drawing/2014/main" val="73770254"/>
                    </a:ext>
                  </a:extLst>
                </a:gridCol>
                <a:gridCol w="3423616">
                  <a:extLst>
                    <a:ext uri="{9D8B030D-6E8A-4147-A177-3AD203B41FA5}">
                      <a16:colId xmlns:a16="http://schemas.microsoft.com/office/drawing/2014/main" val="3755879523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Pretendard ExtraBold" panose="02000903000000020004" pitchFamily="50" charset="-127"/>
                        </a:rPr>
                        <a:t>기반 클래스 멤버</a:t>
                      </a:r>
                      <a:endParaRPr lang="ko-KR" sz="3600" dirty="0">
                        <a:effectLst/>
                        <a:latin typeface="+mn-ea"/>
                        <a:ea typeface="+mn-ea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>
                    <a:lnL w="9614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614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614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614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Pretendard ExtraBold" panose="02000903000000020004" pitchFamily="50" charset="-127"/>
                        </a:rPr>
                        <a:t>파생 클래스에서 접근 수준</a:t>
                      </a:r>
                      <a:endParaRPr lang="ko-KR" sz="3600" dirty="0">
                        <a:effectLst/>
                        <a:latin typeface="+mn-ea"/>
                        <a:ea typeface="+mn-ea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>
                    <a:lnL w="9614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614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614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614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6311222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20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public</a:t>
                      </a:r>
                      <a:endParaRPr lang="ko-KR" sz="36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>
                    <a:lnL w="9614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614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614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614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20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public</a:t>
                      </a:r>
                      <a:endParaRPr lang="ko-KR" sz="36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>
                    <a:lnL w="9614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614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614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614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9575775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20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protected</a:t>
                      </a:r>
                      <a:endParaRPr lang="ko-KR" sz="36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>
                    <a:lnL w="9614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614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614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614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20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protected</a:t>
                      </a:r>
                      <a:endParaRPr lang="ko-KR" sz="36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>
                    <a:lnL w="9614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614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614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614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091004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2000" b="0" i="0" u="none" strike="noStrike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private</a:t>
                      </a:r>
                      <a:endParaRPr lang="ko-KR" sz="360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>
                    <a:lnL w="9614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614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614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614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직접 접근 불가</a:t>
                      </a:r>
                      <a:endParaRPr lang="ko-KR" sz="36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>
                    <a:lnL w="9614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614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614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614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19941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333865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D7B0FB-7FA4-F17E-0700-D592421B9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3BE4B2-4F3E-3BDF-2D47-B5790502BF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8.2.2 protected </a:t>
            </a:r>
            <a:r>
              <a:rPr lang="ko-KR" altLang="en-US" dirty="0"/>
              <a:t>상속과 </a:t>
            </a:r>
            <a:r>
              <a:rPr lang="en-US" altLang="ko-KR" dirty="0"/>
              <a:t>private </a:t>
            </a:r>
            <a:r>
              <a:rPr lang="ko-KR" altLang="en-US" dirty="0"/>
              <a:t>상속</a:t>
            </a:r>
          </a:p>
        </p:txBody>
      </p:sp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90A9D79E-8EDB-9515-6CA3-528F9C95CBA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19178776"/>
              </p:ext>
            </p:extLst>
          </p:nvPr>
        </p:nvGraphicFramePr>
        <p:xfrm>
          <a:off x="467544" y="692696"/>
          <a:ext cx="7704658" cy="2061080"/>
        </p:xfrm>
        <a:graphic>
          <a:graphicData uri="http://schemas.openxmlformats.org/drawingml/2006/table">
            <a:tbl>
              <a:tblPr/>
              <a:tblGrid>
                <a:gridCol w="2521240">
                  <a:extLst>
                    <a:ext uri="{9D8B030D-6E8A-4147-A177-3AD203B41FA5}">
                      <a16:colId xmlns:a16="http://schemas.microsoft.com/office/drawing/2014/main" val="98886794"/>
                    </a:ext>
                  </a:extLst>
                </a:gridCol>
                <a:gridCol w="3006696">
                  <a:extLst>
                    <a:ext uri="{9D8B030D-6E8A-4147-A177-3AD203B41FA5}">
                      <a16:colId xmlns:a16="http://schemas.microsoft.com/office/drawing/2014/main" val="3333351859"/>
                    </a:ext>
                  </a:extLst>
                </a:gridCol>
                <a:gridCol w="2176722">
                  <a:extLst>
                    <a:ext uri="{9D8B030D-6E8A-4147-A177-3AD203B41FA5}">
                      <a16:colId xmlns:a16="http://schemas.microsoft.com/office/drawing/2014/main" val="245861215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6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ExtraBold" panose="02000903000000020004" pitchFamily="50" charset="-127"/>
                        </a:rPr>
                        <a:t>구분</a:t>
                      </a:r>
                      <a:endParaRPr lang="ko-KR" sz="2800" b="1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600" b="1" i="0" u="none" strike="noStrike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ExtraBold" panose="02000903000000020004" pitchFamily="50" charset="-127"/>
                        </a:rPr>
                        <a:t>protected</a:t>
                      </a:r>
                      <a:r>
                        <a:rPr lang="ko-KR" sz="16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ExtraBold" panose="02000903000000020004" pitchFamily="50" charset="-127"/>
                        </a:rPr>
                        <a:t> 상속</a:t>
                      </a:r>
                      <a:endParaRPr lang="ko-KR" sz="2800" b="1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600" b="1" i="0" u="none" strike="noStrike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ExtraBold" panose="02000903000000020004" pitchFamily="50" charset="-127"/>
                        </a:rPr>
                        <a:t>private</a:t>
                      </a:r>
                      <a:r>
                        <a:rPr lang="ko-KR" sz="16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ExtraBold" panose="02000903000000020004" pitchFamily="50" charset="-127"/>
                        </a:rPr>
                        <a:t> 상속</a:t>
                      </a:r>
                      <a:endParaRPr lang="ko-KR" sz="2800" b="1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3676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기반 </a:t>
                      </a:r>
                      <a:r>
                        <a:rPr lang="ko-KR" sz="18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public</a:t>
                      </a:r>
                      <a:r>
                        <a:rPr lang="ko-KR" sz="18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멤버</a:t>
                      </a:r>
                      <a:endParaRPr lang="ko-KR" sz="32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protected가</a:t>
                      </a:r>
                      <a:r>
                        <a:rPr lang="ko-KR" sz="18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됨</a:t>
                      </a:r>
                      <a:endParaRPr lang="ko-KR" sz="32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0" i="0" u="none" strike="noStrike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private가 됨</a:t>
                      </a:r>
                      <a:endParaRPr lang="ko-KR" sz="320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99944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기반 </a:t>
                      </a:r>
                      <a:r>
                        <a:rPr lang="ko-KR" sz="18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protected</a:t>
                      </a:r>
                      <a:r>
                        <a:rPr lang="ko-KR" sz="18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멤버</a:t>
                      </a:r>
                      <a:endParaRPr lang="ko-KR" sz="32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protected가</a:t>
                      </a:r>
                      <a:r>
                        <a:rPr lang="ko-KR" sz="18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됨</a:t>
                      </a:r>
                      <a:endParaRPr lang="ko-KR" sz="32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0" i="0" u="none" strike="noStrike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private가 됨</a:t>
                      </a:r>
                      <a:endParaRPr lang="ko-KR" sz="320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12362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0" i="0" u="none" strike="noStrike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외부 업캐스팅</a:t>
                      </a:r>
                      <a:endParaRPr lang="ko-KR" sz="320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일반적으로 불가</a:t>
                      </a:r>
                      <a:endParaRPr lang="ko-KR" sz="32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일반적으로 불가</a:t>
                      </a:r>
                      <a:endParaRPr lang="ko-KR" sz="32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35387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0" i="0" u="none" strike="noStrike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대표 의미</a:t>
                      </a:r>
                      <a:endParaRPr lang="ko-KR" sz="320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파생 계층 내부 구현 공유</a:t>
                      </a:r>
                      <a:endParaRPr lang="ko-KR" sz="32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내부 구현 재사용</a:t>
                      </a:r>
                      <a:endParaRPr lang="ko-KR" sz="32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082144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4E3CE8E-E566-972F-D777-5C8592CB6CA3}"/>
              </a:ext>
            </a:extLst>
          </p:cNvPr>
          <p:cNvSpPr txBox="1"/>
          <p:nvPr/>
        </p:nvSpPr>
        <p:spPr>
          <a:xfrm>
            <a:off x="395536" y="3073173"/>
            <a:ext cx="4824536" cy="2062103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InternalCharacter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protected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ResetPosition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SetPosition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0.0f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0.0f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DBA02B-A59A-9165-D249-12FE1B77C36C}"/>
              </a:ext>
            </a:extLst>
          </p:cNvPr>
          <p:cNvSpPr txBox="1"/>
          <p:nvPr/>
        </p:nvSpPr>
        <p:spPr>
          <a:xfrm>
            <a:off x="3841996" y="4423621"/>
            <a:ext cx="5184576" cy="2062103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PlayerController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private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MovementService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MovePlayer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float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x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float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y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Move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x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y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706428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C9FEA5-A507-48DD-3D76-ABF0B90D5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8CBC68-7BE5-AAF0-CBE3-46F33CD47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8.2.4 protected </a:t>
            </a:r>
            <a:r>
              <a:rPr lang="ko-KR" altLang="en-US" dirty="0"/>
              <a:t>멤버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2473281-DEE8-C3F5-26C3-E1CFA02C20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sz="2400"/>
              <a:t>protected 멤버는 클래스 외부에서는 접근 불가</a:t>
            </a:r>
          </a:p>
          <a:p>
            <a:pPr lvl="0"/>
            <a:r>
              <a:rPr lang="ko-KR" altLang="ko-KR" sz="2400"/>
              <a:t>파생 클래스의 멤버 함수에서는 접근 가능</a:t>
            </a:r>
          </a:p>
          <a:p>
            <a:pPr lvl="0"/>
            <a:r>
              <a:rPr lang="ko-KR" altLang="ko-KR" sz="2400"/>
              <a:t>데이터 멤버를 protected로 열면 파생 클래스가 내부 표현에 강하게 결합됨</a:t>
            </a:r>
          </a:p>
          <a:p>
            <a:endParaRPr lang="ko-KR" altLang="en-US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DE5050-D146-1535-CE90-ABA2E4DCCAE6}"/>
              </a:ext>
            </a:extLst>
          </p:cNvPr>
          <p:cNvSpPr txBox="1"/>
          <p:nvPr/>
        </p:nvSpPr>
        <p:spPr>
          <a:xfrm>
            <a:off x="557808" y="2611650"/>
            <a:ext cx="3798168" cy="3539430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GameObject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protected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hp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100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MobBase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bool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IsDefeated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return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hp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== 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0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8581D56-1015-F0AA-7F54-D82AA67DF510}"/>
              </a:ext>
            </a:extLst>
          </p:cNvPr>
          <p:cNvSpPr txBox="1"/>
          <p:nvPr/>
        </p:nvSpPr>
        <p:spPr>
          <a:xfrm>
            <a:off x="4689648" y="2611650"/>
            <a:ext cx="3896544" cy="3046988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// 더 안전한 방향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GameObject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GetHp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protected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SetHp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hp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private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hp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100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126092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EABA43-EF01-E16D-7159-646F7C44C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27E152-FA5A-67DD-4743-AC78EC3DF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8.3 </a:t>
            </a:r>
            <a:r>
              <a:rPr lang="ko-KR" altLang="en-US" dirty="0"/>
              <a:t>기반 클래스와 파생 클래스의 초기화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D489B1F-790D-CB66-035A-54A9E40D9A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lnSpc>
                <a:spcPct val="120000"/>
              </a:lnSpc>
            </a:pPr>
            <a:r>
              <a:rPr lang="ko-KR" altLang="ko-KR" sz="2400" dirty="0"/>
              <a:t>파생 클래스 객체를 생성하면 기반 클래스 부분도 함께 생성</a:t>
            </a:r>
          </a:p>
          <a:p>
            <a:pPr lvl="0">
              <a:lnSpc>
                <a:spcPct val="120000"/>
              </a:lnSpc>
            </a:pPr>
            <a:r>
              <a:rPr lang="ko-KR" altLang="ko-KR" sz="2400" dirty="0"/>
              <a:t>기반 부분이 먼저 유효한 상태가 되어야 파생 부분 초기화 가능</a:t>
            </a:r>
          </a:p>
          <a:p>
            <a:pPr lvl="0">
              <a:lnSpc>
                <a:spcPct val="120000"/>
              </a:lnSpc>
            </a:pPr>
            <a:r>
              <a:rPr lang="ko-KR" altLang="ko-KR" sz="2400" dirty="0"/>
              <a:t>생성은 계층의 위에서 아래로 진행</a:t>
            </a:r>
            <a:endParaRPr lang="ko-KR" altLang="ko-KR" dirty="0"/>
          </a:p>
          <a:p>
            <a:pPr lvl="0">
              <a:lnSpc>
                <a:spcPct val="120000"/>
              </a:lnSpc>
            </a:pPr>
            <a:r>
              <a:rPr lang="ko-KR" altLang="ko-KR" sz="2400" dirty="0"/>
              <a:t>소멸은 계층의 아래에서 위로 진행</a:t>
            </a:r>
          </a:p>
          <a:p>
            <a:endParaRPr lang="ko-KR" altLang="en-US" sz="2400" dirty="0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0B2AB6C7-7FEF-58B2-BF1A-68BFC625BB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4219148"/>
              </p:ext>
            </p:extLst>
          </p:nvPr>
        </p:nvGraphicFramePr>
        <p:xfrm>
          <a:off x="755576" y="3322704"/>
          <a:ext cx="2808312" cy="2482560"/>
        </p:xfrm>
        <a:graphic>
          <a:graphicData uri="http://schemas.openxmlformats.org/drawingml/2006/table">
            <a:tbl>
              <a:tblPr/>
              <a:tblGrid>
                <a:gridCol w="2808312">
                  <a:extLst>
                    <a:ext uri="{9D8B030D-6E8A-4147-A177-3AD203B41FA5}">
                      <a16:colId xmlns:a16="http://schemas.microsoft.com/office/drawing/2014/main" val="262671137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ko-KR" sz="1800" b="0" i="0" u="none" strike="noStrike" dirty="0" err="1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Player</a:t>
                      </a:r>
                      <a:r>
                        <a:rPr lang="ko-KR" sz="18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객체 생성</a:t>
                      </a:r>
                      <a:br>
                        <a:rPr lang="ko-KR" sz="18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18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GameObject</a:t>
                      </a:r>
                      <a:br>
                        <a:rPr lang="ko-KR" sz="18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18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↓</a:t>
                      </a:r>
                      <a:br>
                        <a:rPr lang="ko-KR" sz="18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1800" b="0" i="0" u="none" strike="noStrike" dirty="0" err="1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Character</a:t>
                      </a:r>
                      <a:br>
                        <a:rPr lang="ko-KR" sz="18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18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↓</a:t>
                      </a:r>
                      <a:br>
                        <a:rPr lang="ko-KR" sz="18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1800" b="0" i="0" u="none" strike="noStrike" dirty="0" err="1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PlayerBase</a:t>
                      </a:r>
                      <a:br>
                        <a:rPr lang="ko-KR" sz="18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18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↓</a:t>
                      </a:r>
                      <a:br>
                        <a:rPr lang="ko-KR" sz="18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1800" b="0" i="0" u="none" strike="noStrike" dirty="0" err="1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Player</a:t>
                      </a:r>
                      <a:endParaRPr lang="ko-KR" sz="32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216000" marR="216000" marT="144000" marB="144000">
                    <a:lnL w="1270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8614936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E58C5193-0E69-D530-0548-296E1675A1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9078907"/>
              </p:ext>
            </p:extLst>
          </p:nvPr>
        </p:nvGraphicFramePr>
        <p:xfrm>
          <a:off x="4067944" y="3322704"/>
          <a:ext cx="3266728" cy="2482560"/>
        </p:xfrm>
        <a:graphic>
          <a:graphicData uri="http://schemas.openxmlformats.org/drawingml/2006/table">
            <a:tbl>
              <a:tblPr/>
              <a:tblGrid>
                <a:gridCol w="3266728">
                  <a:extLst>
                    <a:ext uri="{9D8B030D-6E8A-4147-A177-3AD203B41FA5}">
                      <a16:colId xmlns:a16="http://schemas.microsoft.com/office/drawing/2014/main" val="327333865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ko-KR" sz="1800" b="0" i="0" u="none" strike="noStrike" dirty="0" err="1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BossMonster</a:t>
                      </a:r>
                      <a:r>
                        <a:rPr lang="ko-KR" sz="18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객체 생성</a:t>
                      </a:r>
                      <a:br>
                        <a:rPr lang="ko-KR" sz="18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18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GameObject</a:t>
                      </a:r>
                      <a:br>
                        <a:rPr lang="ko-KR" sz="18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18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↓</a:t>
                      </a:r>
                      <a:br>
                        <a:rPr lang="ko-KR" sz="18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1800" b="0" i="0" u="none" strike="noStrike" dirty="0" err="1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Character</a:t>
                      </a:r>
                      <a:br>
                        <a:rPr lang="ko-KR" sz="18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18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↓</a:t>
                      </a:r>
                      <a:br>
                        <a:rPr lang="ko-KR" sz="18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1800" b="0" i="0" u="none" strike="noStrike" dirty="0" err="1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MobBase</a:t>
                      </a:r>
                      <a:br>
                        <a:rPr lang="ko-KR" sz="18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18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↓</a:t>
                      </a:r>
                      <a:br>
                        <a:rPr lang="ko-KR" sz="18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1800" b="0" i="0" u="none" strike="noStrike" dirty="0" err="1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BossMonster</a:t>
                      </a:r>
                      <a:endParaRPr lang="ko-KR" sz="32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216000" marR="216000" marT="144000" marB="144000">
                    <a:lnL w="1270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54830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160620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0F7D26-195B-A92D-9EDF-51F583740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A2537F-3755-93C1-308A-6337F1D972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8.3.1 </a:t>
            </a:r>
            <a:r>
              <a:rPr lang="ko-KR" altLang="en-US" dirty="0"/>
              <a:t>기반 클래스 생성자 호출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A220D8B-7863-C844-0997-7EDCA28C66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sz="2400" dirty="0"/>
              <a:t>파생 클래스 생성자는 직접 기반 클래스의 생성자를 호출</a:t>
            </a:r>
          </a:p>
          <a:p>
            <a:pPr lvl="0"/>
            <a:r>
              <a:rPr lang="ko-KR" altLang="ko-KR" sz="2400" dirty="0"/>
              <a:t>직접 기반 클래스 생성자를 명시하지 않으면 기본 생성자를 호출</a:t>
            </a:r>
          </a:p>
          <a:p>
            <a:pPr lvl="0"/>
            <a:r>
              <a:rPr lang="ko-KR" altLang="ko-KR" sz="2400" dirty="0"/>
              <a:t>더 위의 기반 클래스는 직접 초기화할 수 없음</a:t>
            </a:r>
          </a:p>
          <a:p>
            <a:endParaRPr lang="ko-KR" altLang="en-US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C69DAA-56B7-AB34-C0F8-C22D3FE7ACEF}"/>
              </a:ext>
            </a:extLst>
          </p:cNvPr>
          <p:cNvSpPr txBox="1"/>
          <p:nvPr/>
        </p:nvSpPr>
        <p:spPr>
          <a:xfrm>
            <a:off x="251520" y="2132856"/>
            <a:ext cx="4176464" cy="2462213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GameObject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GameObject(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string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&amp;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name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: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),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name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name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private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string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name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32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0E177D-BCB6-E30B-033B-6AD22494536B}"/>
              </a:ext>
            </a:extLst>
          </p:cNvPr>
          <p:cNvSpPr txBox="1"/>
          <p:nvPr/>
        </p:nvSpPr>
        <p:spPr>
          <a:xfrm>
            <a:off x="4427984" y="2240577"/>
            <a:ext cx="4464496" cy="2246769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GameObject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string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&amp;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name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hp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: GameObject(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name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),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hp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hp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private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hp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32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F30466-D0E6-80AE-4BE1-BF7A4E021AA1}"/>
              </a:ext>
            </a:extLst>
          </p:cNvPr>
          <p:cNvSpPr txBox="1"/>
          <p:nvPr/>
        </p:nvSpPr>
        <p:spPr>
          <a:xfrm>
            <a:off x="1835696" y="4766519"/>
            <a:ext cx="6192688" cy="338554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 marL="342900" lvl="0" indent="-342900" rtl="0" fontAlgn="base">
              <a:buFont typeface="Arial" panose="020B0604020202020204" pitchFamily="34" charset="0"/>
              <a:buChar char="•"/>
            </a:pPr>
            <a:r>
              <a:rPr lang="ko-KR" altLang="ko-KR" sz="1600" b="0" i="0" u="none" strike="noStrike" dirty="0" err="1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Character는</a:t>
            </a:r>
            <a:r>
              <a:rPr lang="ko-KR" altLang="ko-KR" sz="16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직접 기반 클래스인 </a:t>
            </a:r>
            <a:r>
              <a:rPr lang="ko-KR" altLang="ko-KR" sz="1600" b="0" i="0" u="none" strike="noStrike" dirty="0" err="1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GameObject를</a:t>
            </a:r>
            <a:r>
              <a:rPr lang="ko-KR" altLang="ko-KR" sz="16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초기화</a:t>
            </a:r>
            <a:endParaRPr lang="ko-KR" altLang="ko-KR" sz="1600" b="0" i="0" u="none" strike="noStrike" dirty="0">
              <a:solidFill>
                <a:srgbClr val="333333"/>
              </a:solidFill>
              <a:effectLst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346199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E51F0-45ED-FCE3-974B-3C5FC00E58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8E89B1-6E85-4478-7B8A-4C6765D776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8.3.2 </a:t>
            </a:r>
            <a:r>
              <a:rPr lang="ko-KR" altLang="en-US" dirty="0"/>
              <a:t>직접 기반 클래스 초기화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19686E2-D479-B94F-6453-6FB5562A48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ko-KR" dirty="0"/>
              <a:t>각 클래스는 자신의 직접 기반 클래스만 선택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F3D836-4767-8E5A-AC4D-2C3E59A8583E}"/>
              </a:ext>
            </a:extLst>
          </p:cNvPr>
          <p:cNvSpPr txBox="1"/>
          <p:nvPr/>
        </p:nvSpPr>
        <p:spPr>
          <a:xfrm>
            <a:off x="611560" y="1412776"/>
            <a:ext cx="4572000" cy="3539430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PlayerBase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PlayerBase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  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string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&amp;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name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  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hp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  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score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: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name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hp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),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score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score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private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score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6D126D-E486-E2CC-A6F8-E3D4B6326F85}"/>
              </a:ext>
            </a:extLst>
          </p:cNvPr>
          <p:cNvSpPr txBox="1"/>
          <p:nvPr/>
        </p:nvSpPr>
        <p:spPr>
          <a:xfrm>
            <a:off x="3851920" y="3846383"/>
            <a:ext cx="4860032" cy="2554545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PlayerBase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string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&amp;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name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6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// : GameObject(</a:t>
            </a:r>
            <a:r>
              <a:rPr lang="ko-KR" altLang="ko-KR" sz="1600" b="0" i="1" u="none" strike="noStrike" dirty="0" err="1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id</a:t>
            </a:r>
            <a:r>
              <a:rPr lang="ko-KR" altLang="ko-KR" sz="16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0" i="1" u="none" strike="noStrike" dirty="0" err="1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name</a:t>
            </a:r>
            <a:r>
              <a:rPr lang="ko-KR" altLang="ko-KR" sz="16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     // 오류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6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// : </a:t>
            </a:r>
            <a:r>
              <a:rPr lang="ko-KR" altLang="ko-KR" sz="1600" b="0" i="1" u="none" strike="noStrike" dirty="0" err="1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r>
              <a:rPr lang="ko-KR" altLang="ko-KR" sz="16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0" i="1" u="none" strike="noStrike" dirty="0" err="1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id</a:t>
            </a:r>
            <a:r>
              <a:rPr lang="ko-KR" altLang="ko-KR" sz="16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0" i="1" u="none" strike="noStrike" dirty="0" err="1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name</a:t>
            </a:r>
            <a:r>
              <a:rPr lang="ko-KR" altLang="ko-KR" sz="16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100) // 오류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: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PlayerBase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name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100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0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692889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D79754-6CEE-5027-25D3-C3124B703A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FD881F-132B-680E-9AFA-F41F5F25A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8.3.3 </a:t>
            </a:r>
            <a:r>
              <a:rPr lang="ko-KR" altLang="en-US" dirty="0"/>
              <a:t>초기화 순서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D7BEEFD-5041-49C3-AC2B-C7F779A802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ko-KR" sz="2400" dirty="0"/>
              <a:t>초기화 순서는 </a:t>
            </a:r>
            <a:r>
              <a:rPr lang="ko-KR" altLang="en-US" sz="2400" dirty="0"/>
              <a:t>초기화</a:t>
            </a:r>
            <a:r>
              <a:rPr lang="en-US" altLang="ko-KR" sz="2400" dirty="0"/>
              <a:t> </a:t>
            </a:r>
            <a:r>
              <a:rPr lang="ko-KR" altLang="en-US" sz="2400" dirty="0"/>
              <a:t>리스트가 아닌 </a:t>
            </a:r>
            <a:r>
              <a:rPr lang="ko-KR" altLang="ko-KR" sz="2400" dirty="0"/>
              <a:t>클래스 선언 구조로 결정</a:t>
            </a:r>
          </a:p>
          <a:p>
            <a:r>
              <a:rPr lang="ko-KR" altLang="ko-KR" sz="2400" dirty="0"/>
              <a:t>초기화 리스트도 실제 초기화 순서와 맞추는 것이 좋음</a:t>
            </a:r>
          </a:p>
          <a:p>
            <a:endParaRPr lang="ko-KR" altLang="en-US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EF6B87-7D49-D945-08BA-D6744611DED4}"/>
              </a:ext>
            </a:extLst>
          </p:cNvPr>
          <p:cNvSpPr txBox="1"/>
          <p:nvPr/>
        </p:nvSpPr>
        <p:spPr>
          <a:xfrm>
            <a:off x="539750" y="1830695"/>
            <a:ext cx="6165850" cy="3539430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PlayerBase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string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&amp;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name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level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gold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: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gold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gold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),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 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PlayerBase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name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100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0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),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 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level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level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private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level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gold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AD21BC56-6A6B-B53A-F41F-9DA66CCCA3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6417561"/>
              </p:ext>
            </p:extLst>
          </p:nvPr>
        </p:nvGraphicFramePr>
        <p:xfrm>
          <a:off x="508496" y="5559008"/>
          <a:ext cx="6197104" cy="675640"/>
        </p:xfrm>
        <a:graphic>
          <a:graphicData uri="http://schemas.openxmlformats.org/drawingml/2006/table">
            <a:tbl>
              <a:tblPr/>
              <a:tblGrid>
                <a:gridCol w="6197104">
                  <a:extLst>
                    <a:ext uri="{9D8B030D-6E8A-4147-A177-3AD203B41FA5}">
                      <a16:colId xmlns:a16="http://schemas.microsoft.com/office/drawing/2014/main" val="336020827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실제 순서</a:t>
                      </a:r>
                      <a:br>
                        <a:rPr lang="ko-KR" sz="18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1800" b="0" i="0" u="none" strike="noStrike" dirty="0" err="1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PlayerBase</a:t>
                      </a:r>
                      <a:r>
                        <a:rPr lang="ko-KR" sz="18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→ </a:t>
                      </a:r>
                      <a:r>
                        <a:rPr lang="ko-KR" sz="1800" b="0" i="0" u="none" strike="noStrike" dirty="0" err="1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level</a:t>
                      </a:r>
                      <a:r>
                        <a:rPr lang="ko-KR" sz="18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→ </a:t>
                      </a:r>
                      <a:r>
                        <a:rPr lang="ko-KR" sz="1800" b="0" i="0" u="none" strike="noStrike" dirty="0" err="1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gold</a:t>
                      </a:r>
                      <a:r>
                        <a:rPr lang="ko-KR" sz="18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→ 생성자 본문</a:t>
                      </a:r>
                      <a:endParaRPr lang="ko-KR" sz="32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8863370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5987D971-865C-0ABD-671E-03704576DD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9978874"/>
              </p:ext>
            </p:extLst>
          </p:nvPr>
        </p:nvGraphicFramePr>
        <p:xfrm>
          <a:off x="5508104" y="3608387"/>
          <a:ext cx="2912566" cy="1346200"/>
        </p:xfrm>
        <a:graphic>
          <a:graphicData uri="http://schemas.openxmlformats.org/drawingml/2006/table">
            <a:tbl>
              <a:tblPr/>
              <a:tblGrid>
                <a:gridCol w="2912566">
                  <a:extLst>
                    <a:ext uri="{9D8B030D-6E8A-4147-A177-3AD203B41FA5}">
                      <a16:colId xmlns:a16="http://schemas.microsoft.com/office/drawing/2014/main" val="36843736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986801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1.</a:t>
                      </a:r>
                      <a: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가상 기반 클래스</a:t>
                      </a:r>
                      <a:b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2000" b="0" i="0" u="none" strike="noStrike" dirty="0">
                          <a:solidFill>
                            <a:srgbClr val="986801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2.</a:t>
                      </a:r>
                      <a: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직접 기반 클래스</a:t>
                      </a:r>
                      <a:b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2000" b="0" i="0" u="none" strike="noStrike" dirty="0">
                          <a:solidFill>
                            <a:srgbClr val="986801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3.</a:t>
                      </a:r>
                      <a: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데이터 멤버의 선언 순서</a:t>
                      </a:r>
                      <a:b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2000" b="0" i="0" u="none" strike="noStrike" dirty="0">
                          <a:solidFill>
                            <a:srgbClr val="986801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4.</a:t>
                      </a:r>
                      <a: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생성자 본문</a:t>
                      </a:r>
                      <a:endParaRPr lang="ko-KR" sz="36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25384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786563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62585A-47D7-2DD5-86C6-FB1DCF0DC6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EB19F9-325E-E3FF-98D7-A6A79BAC51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8.3.4 </a:t>
            </a:r>
            <a:r>
              <a:rPr lang="ko-KR" altLang="en-US" dirty="0"/>
              <a:t>생성과 소멸 순서 예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9F36AE-952E-7F18-5E6E-01C3AFD511F6}"/>
              </a:ext>
            </a:extLst>
          </p:cNvPr>
          <p:cNvSpPr txBox="1"/>
          <p:nvPr/>
        </p:nvSpPr>
        <p:spPr>
          <a:xfrm>
            <a:off x="311148" y="620688"/>
            <a:ext cx="6007104" cy="5909310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GameObject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GameObject() {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"GameObject 생성\</a:t>
            </a:r>
            <a:r>
              <a:rPr lang="ko-KR" altLang="ko-KR" sz="14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 }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virtual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~GameObject() {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"GameObject 소멸\</a:t>
            </a:r>
            <a:r>
              <a:rPr lang="ko-KR" altLang="ko-KR" sz="14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 }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GameObject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{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4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생성\</a:t>
            </a:r>
            <a:r>
              <a:rPr lang="ko-KR" altLang="ko-KR" sz="14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 }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~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override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{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4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소멸\</a:t>
            </a:r>
            <a:r>
              <a:rPr lang="ko-KR" altLang="ko-KR" sz="14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 }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MobBase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MobBase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{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4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MobBase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생성\</a:t>
            </a:r>
            <a:r>
              <a:rPr lang="ko-KR" altLang="ko-KR" sz="14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 }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~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MobBase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override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{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4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MobBase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소멸\</a:t>
            </a:r>
            <a:r>
              <a:rPr lang="ko-KR" altLang="ko-KR" sz="14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 }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BossMonster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MobBase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BossMonster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{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4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BossMonster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생성\</a:t>
            </a:r>
            <a:r>
              <a:rPr lang="ko-KR" altLang="ko-KR" sz="14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 }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~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BossMonster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override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{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4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BossMonster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소멸\</a:t>
            </a:r>
            <a:r>
              <a:rPr lang="ko-KR" altLang="ko-KR" sz="14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 }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32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graphicFrame>
        <p:nvGraphicFramePr>
          <p:cNvPr id="6" name="내용 개체 틀 5">
            <a:extLst>
              <a:ext uri="{FF2B5EF4-FFF2-40B4-BE49-F238E27FC236}">
                <a16:creationId xmlns:a16="http://schemas.microsoft.com/office/drawing/2014/main" id="{F6B57511-18DD-4BDB-FF0D-6BB9172E87E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90231640"/>
              </p:ext>
            </p:extLst>
          </p:nvPr>
        </p:nvGraphicFramePr>
        <p:xfrm>
          <a:off x="5726561" y="3212976"/>
          <a:ext cx="3096344" cy="1254936"/>
        </p:xfrm>
        <a:graphic>
          <a:graphicData uri="http://schemas.openxmlformats.org/drawingml/2006/table">
            <a:tbl>
              <a:tblPr/>
              <a:tblGrid>
                <a:gridCol w="550461">
                  <a:extLst>
                    <a:ext uri="{9D8B030D-6E8A-4147-A177-3AD203B41FA5}">
                      <a16:colId xmlns:a16="http://schemas.microsoft.com/office/drawing/2014/main" val="2329293446"/>
                    </a:ext>
                  </a:extLst>
                </a:gridCol>
                <a:gridCol w="2545883">
                  <a:extLst>
                    <a:ext uri="{9D8B030D-6E8A-4147-A177-3AD203B41FA5}">
                      <a16:colId xmlns:a16="http://schemas.microsoft.com/office/drawing/2014/main" val="101329237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과정</a:t>
                      </a:r>
                      <a:endParaRPr lang="ko-KR" sz="32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방향</a:t>
                      </a:r>
                      <a:endParaRPr lang="ko-KR" sz="32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43231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생성</a:t>
                      </a:r>
                      <a:endParaRPr lang="ko-KR" sz="32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기반 클래스 → 파생 클래스</a:t>
                      </a:r>
                      <a:endParaRPr lang="ko-KR" sz="32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48288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0" i="0" u="none" strike="noStrike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소멸</a:t>
                      </a:r>
                      <a:endParaRPr lang="ko-KR" sz="320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파생 클래스 → 기반 클래스</a:t>
                      </a:r>
                      <a:endParaRPr lang="ko-KR" sz="32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11311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936125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B5E7EE-F5B3-9F46-2CE9-A7148C483D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4BF26B-0F11-FB1D-1B97-DC572BF3EB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8.4 </a:t>
            </a:r>
            <a:r>
              <a:rPr lang="ko-KR" altLang="en-US" dirty="0"/>
              <a:t>함수 재정의와 이름 숨김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984B09-7D7F-CF40-8963-E56AB21379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sz="2400" dirty="0"/>
              <a:t>파생 클래스는 기반 클래스에서 물려받은 함수와 같은 이름의 함수를 선언할 수 있음</a:t>
            </a:r>
          </a:p>
          <a:p>
            <a:pPr lvl="0"/>
            <a:r>
              <a:rPr lang="ko-KR" altLang="ko-KR" sz="2400" dirty="0"/>
              <a:t>오버로딩, </a:t>
            </a:r>
            <a:r>
              <a:rPr lang="ko-KR" altLang="ko-KR" sz="2400" dirty="0" err="1"/>
              <a:t>오버라이딩</a:t>
            </a:r>
            <a:r>
              <a:rPr lang="ko-KR" altLang="ko-KR" sz="2400" dirty="0"/>
              <a:t>, 이름 숨김을 구분해야 함</a:t>
            </a:r>
          </a:p>
          <a:p>
            <a:endParaRPr lang="ko-KR" altLang="en-US" sz="2400" dirty="0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929B4067-A62C-27CD-026E-67029D51AB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559952"/>
              </p:ext>
            </p:extLst>
          </p:nvPr>
        </p:nvGraphicFramePr>
        <p:xfrm>
          <a:off x="683568" y="2132856"/>
          <a:ext cx="7344618" cy="1673248"/>
        </p:xfrm>
        <a:graphic>
          <a:graphicData uri="http://schemas.openxmlformats.org/drawingml/2006/table">
            <a:tbl>
              <a:tblPr/>
              <a:tblGrid>
                <a:gridCol w="1322293">
                  <a:extLst>
                    <a:ext uri="{9D8B030D-6E8A-4147-A177-3AD203B41FA5}">
                      <a16:colId xmlns:a16="http://schemas.microsoft.com/office/drawing/2014/main" val="2159287505"/>
                    </a:ext>
                  </a:extLst>
                </a:gridCol>
                <a:gridCol w="6022325">
                  <a:extLst>
                    <a:ext uri="{9D8B030D-6E8A-4147-A177-3AD203B41FA5}">
                      <a16:colId xmlns:a16="http://schemas.microsoft.com/office/drawing/2014/main" val="106041828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구분</a:t>
                      </a:r>
                      <a:endParaRPr lang="ko-KR" sz="32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의미</a:t>
                      </a:r>
                      <a:endParaRPr lang="ko-KR" sz="32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76660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오버로딩</a:t>
                      </a:r>
                      <a:endParaRPr lang="ko-KR" sz="32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같은 범위에서 </a:t>
                      </a:r>
                      <a:r>
                        <a:rPr lang="ko-KR" sz="18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이름은 같고 매개변수 목록이 다른 함수</a:t>
                      </a:r>
                      <a:r>
                        <a:rPr 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선언</a:t>
                      </a:r>
                      <a:endParaRPr lang="ko-KR" sz="32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63671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오버라이딩</a:t>
                      </a:r>
                      <a:endParaRPr lang="ko-KR" sz="32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파생 클래스가 기반 클래스의 가상 함수를 같은 </a:t>
                      </a:r>
                      <a:r>
                        <a:rPr lang="ko-KR" sz="18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시그니처로</a:t>
                      </a:r>
                      <a:r>
                        <a:rPr lang="ko-KR" sz="18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재정의</a:t>
                      </a:r>
                      <a:endParaRPr lang="ko-KR" sz="32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41380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이름 숨김</a:t>
                      </a:r>
                      <a:endParaRPr lang="ko-KR" sz="32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파생 클래스의 같은 이름이 기반 클래스의 이름 검색을 가림</a:t>
                      </a:r>
                      <a:endParaRPr lang="ko-KR" sz="32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8457117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38F68CCB-C553-3ED7-1D93-D391C8208B08}"/>
              </a:ext>
            </a:extLst>
          </p:cNvPr>
          <p:cNvSpPr txBox="1"/>
          <p:nvPr/>
        </p:nvSpPr>
        <p:spPr>
          <a:xfrm>
            <a:off x="690414" y="4080690"/>
            <a:ext cx="3774082" cy="1754326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8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Move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float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x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float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y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8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Move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float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distance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40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74254C-383E-ED36-B487-F232A384C1EE}"/>
              </a:ext>
            </a:extLst>
          </p:cNvPr>
          <p:cNvSpPr txBox="1"/>
          <p:nvPr/>
        </p:nvSpPr>
        <p:spPr>
          <a:xfrm>
            <a:off x="4679506" y="4076668"/>
            <a:ext cx="3774080" cy="1477328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8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Move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direction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40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3636539-1E5E-A3FC-D315-1FE20EA24AA5}"/>
              </a:ext>
            </a:extLst>
          </p:cNvPr>
          <p:cNvSpPr txBox="1"/>
          <p:nvPr/>
        </p:nvSpPr>
        <p:spPr>
          <a:xfrm>
            <a:off x="690414" y="5992267"/>
            <a:ext cx="7763172" cy="369332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 marL="342900" lvl="0" indent="-342900" rtl="0" fontAlgn="base">
              <a:buFont typeface="Arial" panose="020B0604020202020204" pitchFamily="34" charset="0"/>
              <a:buChar char="•"/>
            </a:pPr>
            <a:r>
              <a:rPr lang="ko-KR" altLang="ko-KR" sz="1800" b="0" i="0" u="none" strike="noStrike" dirty="0" err="1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18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800" b="0" i="0" u="none" strike="noStrike" dirty="0" err="1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Move</a:t>
            </a:r>
            <a:r>
              <a:rPr lang="ko-KR" altLang="ko-KR" sz="18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800" b="0" i="0" u="none" strike="noStrike" dirty="0" err="1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8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)가 </a:t>
            </a:r>
            <a:r>
              <a:rPr lang="ko-KR" altLang="ko-KR" sz="1800" b="0" i="0" u="none" strike="noStrike" dirty="0" err="1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r>
              <a:rPr lang="ko-KR" altLang="ko-KR" sz="18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800" b="0" i="0" u="none" strike="noStrike" dirty="0" err="1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Move</a:t>
            </a:r>
            <a:r>
              <a:rPr lang="ko-KR" altLang="ko-KR" sz="18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오버로드 집합을 숨길 수 있음</a:t>
            </a:r>
            <a:endParaRPr lang="ko-KR" altLang="ko-KR" sz="2000" b="0" i="0" u="none" strike="noStrike" dirty="0">
              <a:solidFill>
                <a:srgbClr val="333333"/>
              </a:solidFill>
              <a:effectLst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592475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1D3EA9-B6D2-9941-D8E0-696E3AFF6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7F61A0-D988-9FB6-7720-2BE3C4601E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8.4.1 </a:t>
            </a:r>
            <a:r>
              <a:rPr lang="ko-KR" altLang="en-US" dirty="0"/>
              <a:t>오버로딩과 </a:t>
            </a:r>
            <a:r>
              <a:rPr lang="ko-KR" altLang="en-US" dirty="0" err="1"/>
              <a:t>오버라이딩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3E7523D-6E2E-76BE-0EB2-D16C5773DC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ko-KR" dirty="0"/>
              <a:t>재정의 함수</a:t>
            </a:r>
            <a:r>
              <a:rPr lang="ko-KR" altLang="en-US" dirty="0"/>
              <a:t>에 </a:t>
            </a:r>
            <a:r>
              <a:rPr lang="ko-KR" altLang="ko-KR" dirty="0" err="1">
                <a:solidFill>
                  <a:srgbClr val="0000FF"/>
                </a:solidFill>
              </a:rPr>
              <a:t>override</a:t>
            </a:r>
            <a:r>
              <a:rPr lang="en-US" altLang="ko-KR" dirty="0"/>
              <a:t> </a:t>
            </a:r>
            <a:r>
              <a:rPr lang="ko-KR" altLang="ko-KR" dirty="0"/>
              <a:t>를 붙여 </a:t>
            </a:r>
            <a:r>
              <a:rPr lang="ko-KR" altLang="ko-KR" dirty="0" err="1"/>
              <a:t>시그니처</a:t>
            </a:r>
            <a:r>
              <a:rPr lang="ko-KR" altLang="ko-KR" dirty="0"/>
              <a:t> 오류를 검사</a:t>
            </a:r>
          </a:p>
          <a:p>
            <a:endParaRPr lang="ko-KR" altLang="en-US" dirty="0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6F07ED35-9655-EE87-4307-3063A8FAC0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7735521"/>
              </p:ext>
            </p:extLst>
          </p:nvPr>
        </p:nvGraphicFramePr>
        <p:xfrm>
          <a:off x="567158" y="1556792"/>
          <a:ext cx="7605241" cy="2243960"/>
        </p:xfrm>
        <a:graphic>
          <a:graphicData uri="http://schemas.openxmlformats.org/drawingml/2006/table">
            <a:tbl>
              <a:tblPr/>
              <a:tblGrid>
                <a:gridCol w="1379983">
                  <a:extLst>
                    <a:ext uri="{9D8B030D-6E8A-4147-A177-3AD203B41FA5}">
                      <a16:colId xmlns:a16="http://schemas.microsoft.com/office/drawing/2014/main" val="2588438333"/>
                    </a:ext>
                  </a:extLst>
                </a:gridCol>
                <a:gridCol w="2361305">
                  <a:extLst>
                    <a:ext uri="{9D8B030D-6E8A-4147-A177-3AD203B41FA5}">
                      <a16:colId xmlns:a16="http://schemas.microsoft.com/office/drawing/2014/main" val="2521365559"/>
                    </a:ext>
                  </a:extLst>
                </a:gridCol>
                <a:gridCol w="3863953">
                  <a:extLst>
                    <a:ext uri="{9D8B030D-6E8A-4147-A177-3AD203B41FA5}">
                      <a16:colId xmlns:a16="http://schemas.microsoft.com/office/drawing/2014/main" val="340577135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Pretendard ExtraBold" panose="02000903000000020004" pitchFamily="50" charset="-127"/>
                        </a:rPr>
                        <a:t>구분</a:t>
                      </a:r>
                      <a:endParaRPr lang="ko-KR" sz="3600" dirty="0">
                        <a:effectLst/>
                        <a:latin typeface="+mn-ea"/>
                        <a:ea typeface="+mn-ea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Pretendard ExtraBold" panose="02000903000000020004" pitchFamily="50" charset="-127"/>
                        </a:rPr>
                        <a:t>오버로딩</a:t>
                      </a:r>
                      <a:endParaRPr lang="ko-KR" sz="3600" dirty="0">
                        <a:effectLst/>
                        <a:latin typeface="+mn-ea"/>
                        <a:ea typeface="+mn-ea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Pretendard ExtraBold" panose="02000903000000020004" pitchFamily="50" charset="-127"/>
                        </a:rPr>
                        <a:t>오버라이딩</a:t>
                      </a:r>
                      <a:endParaRPr lang="ko-KR" sz="3600" dirty="0">
                        <a:effectLst/>
                        <a:latin typeface="+mn-ea"/>
                        <a:ea typeface="+mn-ea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77548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관계</a:t>
                      </a:r>
                      <a:endParaRPr lang="ko-KR" sz="3600" dirty="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같은 범위의 함수</a:t>
                      </a:r>
                      <a:r>
                        <a:rPr 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들</a:t>
                      </a:r>
                      <a:endParaRPr lang="ko-KR" sz="36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기반 클래스와 파생 클래스</a:t>
                      </a:r>
                      <a:endParaRPr lang="ko-KR" sz="3600" dirty="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56390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매개변수</a:t>
                      </a:r>
                      <a:endParaRPr lang="ko-KR" sz="3600" dirty="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서로 달라야</a:t>
                      </a:r>
                      <a:r>
                        <a:rPr 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함</a:t>
                      </a:r>
                      <a:endParaRPr lang="ko-KR" sz="36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같아야</a:t>
                      </a:r>
                      <a:r>
                        <a:rPr 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함</a:t>
                      </a:r>
                      <a:endParaRPr lang="ko-KR" sz="36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72367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virtual</a:t>
                      </a:r>
                      <a:endParaRPr lang="ko-KR" sz="36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필요 없음</a:t>
                      </a:r>
                      <a:endParaRPr lang="ko-KR" sz="36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기반 함수에 필요</a:t>
                      </a:r>
                      <a:endParaRPr lang="ko-KR" sz="36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71721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선택 시점</a:t>
                      </a:r>
                      <a:endParaRPr lang="ko-KR" sz="3600" dirty="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주로 </a:t>
                      </a:r>
                      <a:r>
                        <a:rPr lang="ko-KR" sz="20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컴파일 시점</a:t>
                      </a:r>
                      <a:endParaRPr lang="ko-KR" sz="3600" dirty="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기반 </a:t>
                      </a:r>
                      <a:r>
                        <a:rPr lang="ko-KR" sz="2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포인터·참조에서는</a:t>
                      </a:r>
                      <a:r>
                        <a:rPr 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</a:t>
                      </a:r>
                      <a:r>
                        <a:rPr lang="ko-KR" sz="20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실행 시점</a:t>
                      </a:r>
                      <a:endParaRPr lang="ko-KR" sz="3600" dirty="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056753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BA0B2496-55DD-3E33-9448-FB29FDCF4BE0}"/>
              </a:ext>
            </a:extLst>
          </p:cNvPr>
          <p:cNvSpPr txBox="1"/>
          <p:nvPr/>
        </p:nvSpPr>
        <p:spPr>
          <a:xfrm>
            <a:off x="395536" y="4077072"/>
            <a:ext cx="4176464" cy="2062103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GameObject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virtual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Update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"GameObject 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Update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\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499647-4110-6246-C38F-631D6849D8FD}"/>
              </a:ext>
            </a:extLst>
          </p:cNvPr>
          <p:cNvSpPr txBox="1"/>
          <p:nvPr/>
        </p:nvSpPr>
        <p:spPr>
          <a:xfrm>
            <a:off x="4716016" y="4077072"/>
            <a:ext cx="4176464" cy="2062103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Monster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GameObject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Update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override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Monster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AI 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Update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\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309445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BF0428-EA59-0E70-1F61-36A118F15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E83248-3162-D6BD-0735-FFE10EA440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8.4.2 </a:t>
            </a:r>
            <a:r>
              <a:rPr lang="ko-KR" altLang="en-US" dirty="0"/>
              <a:t>이름 숨김과 </a:t>
            </a:r>
            <a:r>
              <a:rPr lang="en-US" altLang="ko-KR" dirty="0"/>
              <a:t>using </a:t>
            </a:r>
            <a:r>
              <a:rPr lang="ko-KR" altLang="en-US" dirty="0"/>
              <a:t>선언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52680EE-F429-4739-B16C-A7A9B1C407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87803D9-5B55-F80D-6A00-5C6F80D685C2}"/>
              </a:ext>
            </a:extLst>
          </p:cNvPr>
          <p:cNvSpPr txBox="1"/>
          <p:nvPr/>
        </p:nvSpPr>
        <p:spPr>
          <a:xfrm>
            <a:off x="450599" y="821779"/>
            <a:ext cx="4041803" cy="2062103"/>
          </a:xfrm>
          <a:prstGeom prst="rect">
            <a:avLst/>
          </a:prstGeom>
          <a:solidFill>
            <a:srgbClr val="FFFFFF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GameObject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Move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float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x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float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y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Move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\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BF3767-7303-2DE7-9AC5-521505A75939}"/>
              </a:ext>
            </a:extLst>
          </p:cNvPr>
          <p:cNvSpPr txBox="1"/>
          <p:nvPr/>
        </p:nvSpPr>
        <p:spPr>
          <a:xfrm>
            <a:off x="539750" y="3717032"/>
            <a:ext cx="3456186" cy="2062103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// 기반 함수 다시 노출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using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Move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Move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direction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C582A5C-4F86-BA4F-A537-DF2824FB13A9}"/>
              </a:ext>
            </a:extLst>
          </p:cNvPr>
          <p:cNvSpPr txBox="1"/>
          <p:nvPr/>
        </p:nvSpPr>
        <p:spPr>
          <a:xfrm>
            <a:off x="4499992" y="823506"/>
            <a:ext cx="4392486" cy="2062103"/>
          </a:xfrm>
          <a:prstGeom prst="rect">
            <a:avLst/>
          </a:prstGeom>
          <a:solidFill>
            <a:srgbClr val="FFFFFF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Move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direction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input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direction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\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184B18-6B5D-2B66-49BA-36424ADDB231}"/>
              </a:ext>
            </a:extLst>
          </p:cNvPr>
          <p:cNvSpPr txBox="1"/>
          <p:nvPr/>
        </p:nvSpPr>
        <p:spPr>
          <a:xfrm>
            <a:off x="2727604" y="2890140"/>
            <a:ext cx="3715534" cy="830997"/>
          </a:xfrm>
          <a:prstGeom prst="rect">
            <a:avLst/>
          </a:prstGeom>
          <a:solidFill>
            <a:srgbClr val="FFFFFF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player.Move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// </a:t>
            </a:r>
            <a:r>
              <a:rPr lang="ko-KR" altLang="ko-KR" sz="1600" b="0" i="1" u="none" strike="noStrike" dirty="0" err="1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player.Move</a:t>
            </a:r>
            <a:r>
              <a:rPr lang="ko-KR" altLang="ko-KR" sz="16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(10.0f, 20.0f); // 오류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C553AB0-D4B8-312D-6111-720155931ACB}"/>
              </a:ext>
            </a:extLst>
          </p:cNvPr>
          <p:cNvSpPr txBox="1"/>
          <p:nvPr/>
        </p:nvSpPr>
        <p:spPr>
          <a:xfrm>
            <a:off x="3779912" y="5194360"/>
            <a:ext cx="4968552" cy="584775"/>
          </a:xfrm>
          <a:prstGeom prst="rect">
            <a:avLst/>
          </a:prstGeom>
          <a:solidFill>
            <a:srgbClr val="FFFFFF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 marL="342900" lvl="0" indent="-342900" rtl="0" fontAlgn="base">
              <a:buFont typeface="Arial" panose="020B0604020202020204" pitchFamily="34" charset="0"/>
              <a:buChar char="•"/>
            </a:pPr>
            <a:r>
              <a:rPr lang="ko-KR" altLang="ko-KR" sz="1600" b="0" i="0" u="none" strike="noStrike" dirty="0" err="1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using</a:t>
            </a:r>
            <a:r>
              <a:rPr lang="ko-KR" altLang="ko-KR" sz="16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r>
              <a:rPr lang="ko-KR" altLang="ko-KR" sz="16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Move;는</a:t>
            </a:r>
            <a:r>
              <a:rPr lang="ko-KR" altLang="ko-KR" sz="16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기반 클래스의 오버로드 집합을 다시 보이게 함</a:t>
            </a:r>
            <a:endParaRPr lang="ko-KR" altLang="ko-KR" sz="1800" b="0" i="0" u="none" strike="noStrike" dirty="0">
              <a:solidFill>
                <a:srgbClr val="333333"/>
              </a:solidFill>
              <a:effectLst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969992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7F319-53B2-8F7B-EC1B-87FE1C246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207E52-A308-631E-DB32-ED35BD51B2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8.4.4 </a:t>
            </a:r>
            <a:r>
              <a:rPr lang="ko-KR" altLang="en-US" dirty="0"/>
              <a:t>기반 클래스 함수 호출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0D96FA7-A5A5-37AA-5AB9-6643D7C015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sz="2400" dirty="0"/>
              <a:t>파생 클래스가 기반 클래스 구현을 확장할 때 범위 지정 연산자 사용</a:t>
            </a:r>
          </a:p>
          <a:p>
            <a:pPr lvl="0"/>
            <a:r>
              <a:rPr lang="ko-KR" altLang="ko-KR" sz="2400" dirty="0"/>
              <a:t>범위를 명시한 호출은 해당 클래스의 구현을 직접 호출</a:t>
            </a:r>
          </a:p>
          <a:p>
            <a:endParaRPr lang="ko-KR" altLang="en-US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D07496E-E9F9-06F3-88CA-6797CEDBA0C1}"/>
              </a:ext>
            </a:extLst>
          </p:cNvPr>
          <p:cNvSpPr txBox="1"/>
          <p:nvPr/>
        </p:nvSpPr>
        <p:spPr>
          <a:xfrm>
            <a:off x="557287" y="1774701"/>
            <a:ext cx="5022826" cy="4770537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GameObject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Update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</a:t>
            </a:r>
            <a:r>
              <a:rPr lang="ko-KR" altLang="ko-KR" sz="1600" b="0" i="0" u="none" strike="noStrike" dirty="0" err="1">
                <a:solidFill>
                  <a:srgbClr val="0000F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override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GameObject::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Update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status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update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\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Update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</a:t>
            </a:r>
            <a:r>
              <a:rPr lang="ko-KR" altLang="ko-KR" sz="1600" b="0" i="0" u="none" strike="noStrike" dirty="0" err="1">
                <a:solidFill>
                  <a:srgbClr val="0000F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override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Update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animation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update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\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861B26-3BC1-6CDC-BD18-526FAEB257F3}"/>
              </a:ext>
            </a:extLst>
          </p:cNvPr>
          <p:cNvSpPr txBox="1"/>
          <p:nvPr/>
        </p:nvSpPr>
        <p:spPr>
          <a:xfrm>
            <a:off x="4860032" y="4005064"/>
            <a:ext cx="3793059" cy="830997"/>
          </a:xfrm>
          <a:prstGeom prst="rect">
            <a:avLst/>
          </a:prstGeom>
          <a:solidFill>
            <a:srgbClr val="FFFFFF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GameObject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Update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status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update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animation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update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27633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EE469D-B052-9FAA-2182-2DA42BC43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C8FA62-AABA-8244-CBC2-A8A7A8AAA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8.4.5 </a:t>
            </a:r>
            <a:r>
              <a:rPr lang="ko-KR" altLang="en-US" dirty="0"/>
              <a:t>재정의 </a:t>
            </a:r>
            <a:r>
              <a:rPr lang="ko-KR" altLang="en-US" dirty="0" err="1"/>
              <a:t>시그니처와</a:t>
            </a:r>
            <a:r>
              <a:rPr lang="ko-KR" altLang="en-US" dirty="0"/>
              <a:t> </a:t>
            </a:r>
            <a:r>
              <a:rPr lang="en-US" altLang="ko-KR" dirty="0"/>
              <a:t>override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D37A50B-B887-C8D7-6DC3-13FAB23933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sz="2400" dirty="0"/>
              <a:t>가상 함수</a:t>
            </a:r>
            <a:r>
              <a:rPr lang="en-US" altLang="ko-KR" sz="2400" dirty="0"/>
              <a:t> </a:t>
            </a:r>
            <a:r>
              <a:rPr lang="ko-KR" altLang="ko-KR" sz="2400" dirty="0"/>
              <a:t>재정의</a:t>
            </a:r>
            <a:r>
              <a:rPr lang="en-US" altLang="ko-KR" sz="2400" dirty="0"/>
              <a:t> </a:t>
            </a:r>
            <a:r>
              <a:rPr lang="ko-KR" altLang="en-US" sz="2400" dirty="0"/>
              <a:t>← </a:t>
            </a:r>
            <a:r>
              <a:rPr lang="ko-KR" altLang="ko-KR" sz="2400" dirty="0" err="1"/>
              <a:t>시그니처</a:t>
            </a:r>
            <a:r>
              <a:rPr lang="ko-KR" altLang="ko-KR" sz="2400" dirty="0"/>
              <a:t> 일치</a:t>
            </a:r>
          </a:p>
          <a:p>
            <a:pPr lvl="0"/>
            <a:r>
              <a:rPr lang="ko-KR" altLang="ko-KR" sz="2400" dirty="0"/>
              <a:t>이름, 매개변수 타입, 순서, </a:t>
            </a:r>
            <a:r>
              <a:rPr lang="ko-KR" altLang="ko-KR" sz="2400" dirty="0" err="1"/>
              <a:t>const</a:t>
            </a:r>
            <a:r>
              <a:rPr lang="ko-KR" altLang="ko-KR" sz="2400" dirty="0"/>
              <a:t>, 참조 한정자 등 재정의 조건에 영향</a:t>
            </a:r>
          </a:p>
          <a:p>
            <a:pPr lvl="0"/>
            <a:r>
              <a:rPr lang="ko-KR" altLang="ko-KR" sz="2400" dirty="0" err="1">
                <a:solidFill>
                  <a:srgbClr val="0000FF"/>
                </a:solidFill>
              </a:rPr>
              <a:t>override</a:t>
            </a:r>
            <a:r>
              <a:rPr lang="en-US" altLang="ko-KR" sz="2400" dirty="0"/>
              <a:t> </a:t>
            </a:r>
            <a:r>
              <a:rPr lang="ko-KR" altLang="ko-KR" sz="2400" dirty="0"/>
              <a:t>는 재정의 여부를 컴파일러가 검사하게 함</a:t>
            </a:r>
          </a:p>
          <a:p>
            <a:endParaRPr lang="ko-KR" altLang="en-US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8BF765-07CD-B87E-54F6-97AA72DB9B4B}"/>
              </a:ext>
            </a:extLst>
          </p:cNvPr>
          <p:cNvSpPr txBox="1"/>
          <p:nvPr/>
        </p:nvSpPr>
        <p:spPr>
          <a:xfrm>
            <a:off x="539552" y="2237718"/>
            <a:ext cx="4464496" cy="1815882"/>
          </a:xfrm>
          <a:prstGeom prst="rect">
            <a:avLst/>
          </a:prstGeom>
          <a:solidFill>
            <a:srgbClr val="FFFFFF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MobBase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virtual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Think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F4F87D1-2286-9463-1A0A-CDEA191F2099}"/>
              </a:ext>
            </a:extLst>
          </p:cNvPr>
          <p:cNvSpPr txBox="1"/>
          <p:nvPr/>
        </p:nvSpPr>
        <p:spPr>
          <a:xfrm>
            <a:off x="1547664" y="3593616"/>
            <a:ext cx="4680520" cy="2062103"/>
          </a:xfrm>
          <a:prstGeom prst="rect">
            <a:avLst/>
          </a:prstGeom>
          <a:solidFill>
            <a:srgbClr val="FFFFFF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Monster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MobBase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Think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0000F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override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Monster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patrol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\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D294CC-C634-C060-4A96-52B3E143D194}"/>
              </a:ext>
            </a:extLst>
          </p:cNvPr>
          <p:cNvSpPr txBox="1"/>
          <p:nvPr/>
        </p:nvSpPr>
        <p:spPr>
          <a:xfrm>
            <a:off x="2843808" y="5345921"/>
            <a:ext cx="5760640" cy="1323439"/>
          </a:xfrm>
          <a:prstGeom prst="rect">
            <a:avLst/>
          </a:prstGeom>
          <a:solidFill>
            <a:srgbClr val="FFFFFF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BossMonster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MobBase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// </a:t>
            </a:r>
            <a:r>
              <a:rPr lang="ko-KR" altLang="ko-KR" sz="1600" b="0" i="1" u="none" strike="noStrike" dirty="0" err="1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6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1" u="none" strike="noStrike" dirty="0" err="1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Think</a:t>
            </a:r>
            <a:r>
              <a:rPr lang="ko-KR" altLang="ko-KR" sz="16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</a:t>
            </a:r>
            <a:r>
              <a:rPr lang="ko-KR" altLang="ko-KR" sz="1600" b="0" i="1" u="none" strike="noStrike" dirty="0" err="1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override</a:t>
            </a:r>
            <a:r>
              <a:rPr lang="ko-KR" altLang="ko-KR" sz="16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 // 오류: </a:t>
            </a:r>
            <a:r>
              <a:rPr lang="ko-KR" altLang="ko-KR" sz="1600" b="0" i="1" u="none" strike="noStrike" dirty="0" err="1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const가</a:t>
            </a:r>
            <a:r>
              <a:rPr lang="ko-KR" altLang="ko-KR" sz="16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일치하지 않음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496116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E25C8C-6438-D36A-CA35-ACFC7F0621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51F81C-3AD2-D341-4522-BCD72C3E36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8.5 </a:t>
            </a:r>
            <a:r>
              <a:rPr lang="ko-KR" altLang="en-US" dirty="0"/>
              <a:t>가상 함수와 동적 바인딩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A8F8E82-B3B5-F487-1DC7-1D63687DA6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sz="2400" dirty="0"/>
              <a:t>기반 클래스 포인터나 참조가 실제로 가리키는 객체에 따라 다른 함수 호출</a:t>
            </a:r>
          </a:p>
          <a:p>
            <a:pPr lvl="0"/>
            <a:r>
              <a:rPr lang="ko-KR" altLang="ko-KR" sz="2400" dirty="0"/>
              <a:t>가상 함수는 실행 시점의 실제 객체 타입을 사용</a:t>
            </a:r>
          </a:p>
          <a:p>
            <a:pPr lvl="0"/>
            <a:r>
              <a:rPr lang="ko-KR" altLang="ko-KR" sz="2400" dirty="0"/>
              <a:t>다형성의 핵심 기능</a:t>
            </a:r>
          </a:p>
          <a:p>
            <a:endParaRPr lang="ko-KR" altLang="en-US" sz="2400" dirty="0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EC066BB1-475E-E874-FF3B-40DD460D5E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2444917"/>
              </p:ext>
            </p:extLst>
          </p:nvPr>
        </p:nvGraphicFramePr>
        <p:xfrm>
          <a:off x="553838" y="2636912"/>
          <a:ext cx="6682457" cy="2006600"/>
        </p:xfrm>
        <a:graphic>
          <a:graphicData uri="http://schemas.openxmlformats.org/drawingml/2006/table">
            <a:tbl>
              <a:tblPr/>
              <a:tblGrid>
                <a:gridCol w="1639388">
                  <a:extLst>
                    <a:ext uri="{9D8B030D-6E8A-4147-A177-3AD203B41FA5}">
                      <a16:colId xmlns:a16="http://schemas.microsoft.com/office/drawing/2014/main" val="1990535996"/>
                    </a:ext>
                  </a:extLst>
                </a:gridCol>
                <a:gridCol w="5043069">
                  <a:extLst>
                    <a:ext uri="{9D8B030D-6E8A-4147-A177-3AD203B41FA5}">
                      <a16:colId xmlns:a16="http://schemas.microsoft.com/office/drawing/2014/main" val="149054785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Pretendard ExtraBold" panose="02000903000000020004" pitchFamily="50" charset="-127"/>
                        </a:rPr>
                        <a:t>구분</a:t>
                      </a:r>
                      <a:endParaRPr lang="ko-KR" sz="3200" dirty="0">
                        <a:effectLst/>
                        <a:latin typeface="+mn-ea"/>
                        <a:ea typeface="+mn-ea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Pretendard ExtraBold" panose="02000903000000020004" pitchFamily="50" charset="-127"/>
                        </a:rPr>
                        <a:t>의미</a:t>
                      </a:r>
                      <a:endParaRPr lang="ko-KR" sz="3200" dirty="0">
                        <a:effectLst/>
                        <a:latin typeface="+mn-ea"/>
                        <a:ea typeface="+mn-ea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0972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정적 타입</a:t>
                      </a:r>
                      <a:endParaRPr lang="ko-KR" sz="32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변수나 표현식 선언에서 결정</a:t>
                      </a:r>
                      <a:r>
                        <a:rPr lang="ko-KR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되는 타입</a:t>
                      </a:r>
                      <a:endParaRPr lang="ko-KR" sz="3200" dirty="0">
                        <a:solidFill>
                          <a:schemeClr val="tx1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34432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동적 타입</a:t>
                      </a:r>
                      <a:endParaRPr lang="ko-KR" sz="32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실행 중 실제로 존재하는 객체의 타입</a:t>
                      </a:r>
                      <a:endParaRPr lang="ko-KR" sz="32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55684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정적 바인딩</a:t>
                      </a:r>
                      <a:endParaRPr lang="ko-KR" sz="32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컴파일 시점</a:t>
                      </a:r>
                      <a:r>
                        <a:rPr lang="ko-KR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에 호출 함수 결정</a:t>
                      </a:r>
                      <a:endParaRPr lang="ko-KR" sz="3200" dirty="0">
                        <a:solidFill>
                          <a:schemeClr val="tx1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9248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동적 바인딩</a:t>
                      </a:r>
                      <a:endParaRPr lang="ko-KR" sz="32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실행 시점의 동적 타입에 따라 호출 함수 결정</a:t>
                      </a:r>
                      <a:endParaRPr lang="ko-KR" sz="32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210560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9CB0E89-15E5-6934-8616-B7D4ABAE1072}"/>
              </a:ext>
            </a:extLst>
          </p:cNvPr>
          <p:cNvSpPr txBox="1"/>
          <p:nvPr/>
        </p:nvSpPr>
        <p:spPr>
          <a:xfrm>
            <a:off x="1368152" y="5085184"/>
            <a:ext cx="4572000" cy="400110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GameObject&amp; </a:t>
            </a: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object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endParaRPr lang="ko-KR" altLang="en-US" sz="44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3DE12E-D659-4537-6963-D24BA8690E2F}"/>
              </a:ext>
            </a:extLst>
          </p:cNvPr>
          <p:cNvSpPr txBox="1"/>
          <p:nvPr/>
        </p:nvSpPr>
        <p:spPr>
          <a:xfrm>
            <a:off x="1368152" y="5597766"/>
            <a:ext cx="4572000" cy="707886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2000" b="0" i="0" u="none" strike="noStrike" dirty="0">
                <a:solidFill>
                  <a:srgbClr val="0000F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정적 타입: GameObject&amp;</a:t>
            </a:r>
            <a:br>
              <a:rPr lang="ko-KR" altLang="ko-KR" sz="2000" b="0" i="0" u="none" strike="noStrike" dirty="0">
                <a:solidFill>
                  <a:srgbClr val="0000F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2000" b="0" i="0" u="none" strike="noStrike" dirty="0">
                <a:solidFill>
                  <a:srgbClr val="0000F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동적 타입: </a:t>
            </a:r>
            <a:r>
              <a:rPr lang="ko-KR" altLang="ko-KR" sz="2000" b="0" i="0" u="none" strike="noStrike" dirty="0" err="1">
                <a:solidFill>
                  <a:srgbClr val="0000F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endParaRPr lang="ko-KR" altLang="en-US" sz="4400" dirty="0">
              <a:solidFill>
                <a:srgbClr val="0000FF"/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5794439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4EC3A-702E-8A37-E5BF-5AB4B60F6B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2FFA1D-4966-C949-0C3C-2232D09024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8.5.1 </a:t>
            </a:r>
            <a:r>
              <a:rPr lang="ko-KR" altLang="en-US" dirty="0"/>
              <a:t>정적 바인딩과 동적 바인딩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68C0A15-D685-A6B0-7F46-3E52CB27A8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ko-KR" sz="2400" dirty="0"/>
              <a:t>비가상 함수</a:t>
            </a:r>
          </a:p>
          <a:p>
            <a:endParaRPr lang="en-US" altLang="ko-KR" sz="2400" dirty="0"/>
          </a:p>
          <a:p>
            <a:endParaRPr lang="en-US" altLang="ko-KR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r>
              <a:rPr lang="ko-KR" altLang="en-US" sz="2400" dirty="0"/>
              <a:t>가상 함수</a:t>
            </a:r>
            <a:endParaRPr lang="en-US" altLang="ko-KR" sz="2400" dirty="0"/>
          </a:p>
          <a:p>
            <a:pPr lvl="1"/>
            <a:r>
              <a:rPr lang="ko-KR" altLang="ko-KR" sz="2000" dirty="0"/>
              <a:t>가상 함수 호출은 실제 객체의 동적 타입을 반영</a:t>
            </a:r>
            <a:br>
              <a:rPr lang="ko-KR" altLang="ko-KR" sz="2000" dirty="0"/>
            </a:br>
            <a:endParaRPr lang="ko-KR" altLang="en-US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C8B32C3-CB7B-1D22-EDED-6E1D91E3F976}"/>
              </a:ext>
            </a:extLst>
          </p:cNvPr>
          <p:cNvSpPr txBox="1"/>
          <p:nvPr/>
        </p:nvSpPr>
        <p:spPr>
          <a:xfrm>
            <a:off x="539552" y="1150873"/>
            <a:ext cx="3555392" cy="2062103"/>
          </a:xfrm>
          <a:prstGeom prst="rect">
            <a:avLst/>
          </a:prstGeom>
          <a:solidFill>
            <a:srgbClr val="FFFFFF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GameObject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PrintType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"GameObject\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BCF2B0C-7C73-D88D-41FD-104B097D8940}"/>
              </a:ext>
            </a:extLst>
          </p:cNvPr>
          <p:cNvSpPr txBox="1"/>
          <p:nvPr/>
        </p:nvSpPr>
        <p:spPr>
          <a:xfrm>
            <a:off x="4094944" y="1150873"/>
            <a:ext cx="3555392" cy="2062103"/>
          </a:xfrm>
          <a:prstGeom prst="rect">
            <a:avLst/>
          </a:prstGeom>
          <a:solidFill>
            <a:srgbClr val="FFFFFF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GameObject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PrintType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\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F0B309-95E0-58D8-F7AA-A9B19472AA7E}"/>
              </a:ext>
            </a:extLst>
          </p:cNvPr>
          <p:cNvSpPr txBox="1"/>
          <p:nvPr/>
        </p:nvSpPr>
        <p:spPr>
          <a:xfrm>
            <a:off x="5465600" y="2996952"/>
            <a:ext cx="3555393" cy="830997"/>
          </a:xfrm>
          <a:prstGeom prst="rect">
            <a:avLst/>
          </a:prstGeom>
          <a:solidFill>
            <a:srgbClr val="FFFFFF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1600" b="0" i="0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1600" b="0" i="0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GameObject&amp; </a:t>
            </a:r>
            <a:r>
              <a:rPr lang="ko-KR" altLang="ko-KR" sz="1600" b="0" i="0" u="none" strike="noStrike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object</a:t>
            </a:r>
            <a:r>
              <a:rPr lang="ko-KR" altLang="ko-KR" sz="1600" b="0" i="0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600" b="0" i="0" u="none" strike="noStrike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1600" b="0" i="0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object.PrintType</a:t>
            </a:r>
            <a:r>
              <a:rPr lang="ko-KR" altLang="ko-KR" sz="1600" b="0" i="0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(); </a:t>
            </a:r>
            <a:r>
              <a:rPr lang="ko-KR" altLang="ko-KR" sz="16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// GameObject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91E6ECF-848A-01F5-4AAB-47191DDE4EFA}"/>
              </a:ext>
            </a:extLst>
          </p:cNvPr>
          <p:cNvSpPr txBox="1"/>
          <p:nvPr/>
        </p:nvSpPr>
        <p:spPr>
          <a:xfrm>
            <a:off x="539553" y="4841865"/>
            <a:ext cx="3555392" cy="1323439"/>
          </a:xfrm>
          <a:prstGeom prst="rect">
            <a:avLst/>
          </a:prstGeom>
          <a:solidFill>
            <a:srgbClr val="FFFFFF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GameObject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virtual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PrintType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3010367-016D-2CEC-A0BD-E519C8DC9C88}"/>
              </a:ext>
            </a:extLst>
          </p:cNvPr>
          <p:cNvSpPr txBox="1"/>
          <p:nvPr/>
        </p:nvSpPr>
        <p:spPr>
          <a:xfrm>
            <a:off x="4094945" y="4841865"/>
            <a:ext cx="3555392" cy="1323439"/>
          </a:xfrm>
          <a:prstGeom prst="rect">
            <a:avLst/>
          </a:prstGeom>
          <a:solidFill>
            <a:srgbClr val="FFFFFF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GameObject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PrintType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override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197067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8C46F-0EB8-74D2-B002-C62C84D66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F1B1E8-A059-DC6E-D942-73295D6D4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8.5.2 </a:t>
            </a:r>
            <a:r>
              <a:rPr lang="ko-KR" altLang="en-US" dirty="0"/>
              <a:t>가상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E307C6B-0E9F-0F7A-04D5-B03CC44791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같은 형식으로 호출</a:t>
            </a:r>
            <a:r>
              <a:rPr lang="en-US" altLang="ko-KR" dirty="0"/>
              <a:t>, </a:t>
            </a:r>
            <a:r>
              <a:rPr lang="ko-KR" altLang="en-US" dirty="0"/>
              <a:t> </a:t>
            </a:r>
            <a:r>
              <a:rPr lang="ko-KR" altLang="ko-KR" dirty="0"/>
              <a:t>실행</a:t>
            </a:r>
            <a:r>
              <a:rPr lang="ko-KR" altLang="en-US" dirty="0"/>
              <a:t>은 </a:t>
            </a:r>
            <a:r>
              <a:rPr lang="ko-KR" altLang="ko-KR" dirty="0"/>
              <a:t>동적 타입에 따라 </a:t>
            </a:r>
            <a:r>
              <a:rPr lang="ko-KR" altLang="en-US" dirty="0"/>
              <a:t>달라짐</a:t>
            </a:r>
            <a:endParaRPr lang="ko-KR" altLang="ko-KR" dirty="0"/>
          </a:p>
          <a:p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F99CEA3-3108-CD49-F6E9-22E75FCB6712}"/>
              </a:ext>
            </a:extLst>
          </p:cNvPr>
          <p:cNvSpPr txBox="1"/>
          <p:nvPr/>
        </p:nvSpPr>
        <p:spPr>
          <a:xfrm>
            <a:off x="323528" y="1340768"/>
            <a:ext cx="4320480" cy="3293209"/>
          </a:xfrm>
          <a:prstGeom prst="rect">
            <a:avLst/>
          </a:prstGeom>
          <a:solidFill>
            <a:srgbClr val="FFFFFF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GameObject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virtual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~GameObject() =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default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virtual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Update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"GameObject 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Update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\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virtual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Render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"GameObject 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Render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\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50CE18-0F06-713A-5520-5DA6B4E0E3F3}"/>
              </a:ext>
            </a:extLst>
          </p:cNvPr>
          <p:cNvSpPr txBox="1"/>
          <p:nvPr/>
        </p:nvSpPr>
        <p:spPr>
          <a:xfrm>
            <a:off x="4644008" y="1340768"/>
            <a:ext cx="3816424" cy="3293209"/>
          </a:xfrm>
          <a:prstGeom prst="rect">
            <a:avLst/>
          </a:prstGeom>
          <a:solidFill>
            <a:srgbClr val="FFFFFF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GameObject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Update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</a:t>
            </a:r>
            <a:r>
              <a:rPr lang="ko-KR" altLang="ko-KR" sz="1600" b="0" i="0" u="none" strike="noStrike" dirty="0" err="1">
                <a:solidFill>
                  <a:srgbClr val="0000F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override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Update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\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Render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0000F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override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Render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\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en-US" altLang="ko-KR" sz="1600" b="0" i="0" u="none" strike="noStrike" dirty="0">
              <a:solidFill>
                <a:srgbClr val="383A42"/>
              </a:solidFill>
              <a:effectLst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  <a:p>
            <a:endParaRPr lang="ko-KR" altLang="en-US" sz="1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E844AB7-8523-1953-394D-1B813D1C5254}"/>
              </a:ext>
            </a:extLst>
          </p:cNvPr>
          <p:cNvSpPr txBox="1"/>
          <p:nvPr/>
        </p:nvSpPr>
        <p:spPr>
          <a:xfrm>
            <a:off x="2483768" y="4930132"/>
            <a:ext cx="3816424" cy="1323439"/>
          </a:xfrm>
          <a:prstGeom prst="rect">
            <a:avLst/>
          </a:prstGeom>
          <a:solidFill>
            <a:srgbClr val="FFFFFF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Process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(GameObject&amp;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object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object.Update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object.Render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475974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3A873-B970-0072-3482-9E96D02AFB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2656EC-2939-A7C9-03A1-AE3C714F6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8.5.3 override</a:t>
            </a:r>
            <a:r>
              <a:rPr lang="ko-KR" altLang="en-US" dirty="0"/>
              <a:t>와 </a:t>
            </a:r>
            <a:r>
              <a:rPr lang="en-US" altLang="ko-KR" dirty="0"/>
              <a:t>final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E31B6F9-84B8-75CD-39BF-70625AED0F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dirty="0" err="1">
                <a:solidFill>
                  <a:srgbClr val="0000FF"/>
                </a:solidFill>
              </a:rPr>
              <a:t>override</a:t>
            </a:r>
            <a:r>
              <a:rPr lang="en-US" altLang="ko-KR" dirty="0"/>
              <a:t> </a:t>
            </a:r>
            <a:r>
              <a:rPr lang="ko-KR" altLang="ko-KR" dirty="0"/>
              <a:t>: 기반 가상 함수를 재정의한다는 의도 명시</a:t>
            </a:r>
          </a:p>
          <a:p>
            <a:pPr lvl="0"/>
            <a:r>
              <a:rPr lang="ko-KR" altLang="ko-KR" dirty="0" err="1">
                <a:solidFill>
                  <a:srgbClr val="0000FF"/>
                </a:solidFill>
              </a:rPr>
              <a:t>final</a:t>
            </a:r>
            <a:endParaRPr lang="en-US" altLang="ko-KR" dirty="0">
              <a:solidFill>
                <a:srgbClr val="0000FF"/>
              </a:solidFill>
            </a:endParaRPr>
          </a:p>
          <a:p>
            <a:pPr lvl="1"/>
            <a:r>
              <a:rPr lang="ko-KR" altLang="ko-KR" dirty="0"/>
              <a:t>더 이상 재정의하거나 상속하지 못하게 제한</a:t>
            </a:r>
            <a:endParaRPr lang="en-US" altLang="ko-KR" dirty="0"/>
          </a:p>
          <a:p>
            <a:pPr lvl="1"/>
            <a:r>
              <a:rPr lang="ko-KR" altLang="ko-KR" dirty="0" err="1"/>
              <a:t>final은</a:t>
            </a:r>
            <a:r>
              <a:rPr lang="ko-KR" altLang="ko-KR" dirty="0"/>
              <a:t> 확장을 막는 강한 제약</a:t>
            </a:r>
            <a:endParaRPr lang="ko-KR" altLang="ko-KR" sz="2800" dirty="0"/>
          </a:p>
          <a:p>
            <a:pPr lvl="1"/>
            <a:r>
              <a:rPr lang="ko-KR" altLang="ko-KR" dirty="0"/>
              <a:t>명확한 이유가 있을 때 사용</a:t>
            </a:r>
            <a:endParaRPr lang="ko-KR" altLang="ko-KR" sz="2800" dirty="0"/>
          </a:p>
          <a:p>
            <a:pPr lvl="1"/>
            <a:endParaRPr lang="ko-KR" altLang="ko-KR" dirty="0"/>
          </a:p>
          <a:p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5F27D2-2FB7-7B96-2C23-0825F8C16240}"/>
              </a:ext>
            </a:extLst>
          </p:cNvPr>
          <p:cNvSpPr txBox="1"/>
          <p:nvPr/>
        </p:nvSpPr>
        <p:spPr>
          <a:xfrm>
            <a:off x="395536" y="3284984"/>
            <a:ext cx="3240360" cy="1600438"/>
          </a:xfrm>
          <a:prstGeom prst="rect">
            <a:avLst/>
          </a:prstGeom>
          <a:solidFill>
            <a:srgbClr val="FFFFFF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Monster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MobBase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Update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override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32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43F42D-7A76-3AD7-8CEA-5646BE10D6DA}"/>
              </a:ext>
            </a:extLst>
          </p:cNvPr>
          <p:cNvSpPr txBox="1"/>
          <p:nvPr/>
        </p:nvSpPr>
        <p:spPr>
          <a:xfrm>
            <a:off x="3635898" y="3282205"/>
            <a:ext cx="3744416" cy="1815882"/>
          </a:xfrm>
          <a:prstGeom prst="rect">
            <a:avLst/>
          </a:prstGeom>
          <a:solidFill>
            <a:srgbClr val="FFFFFF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BossMonster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MobBase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EnterRageMode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final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4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Boss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rage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mode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\</a:t>
            </a:r>
            <a:r>
              <a:rPr lang="ko-KR" altLang="ko-KR" sz="14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32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177C529-CA7C-C459-FCFC-7A679913967C}"/>
              </a:ext>
            </a:extLst>
          </p:cNvPr>
          <p:cNvSpPr txBox="1"/>
          <p:nvPr/>
        </p:nvSpPr>
        <p:spPr>
          <a:xfrm>
            <a:off x="3635896" y="5226580"/>
            <a:ext cx="4824536" cy="1169551"/>
          </a:xfrm>
          <a:prstGeom prst="rect">
            <a:avLst/>
          </a:prstGeom>
          <a:solidFill>
            <a:srgbClr val="FFFFFF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FinalBossMonster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final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BossMonster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// </a:t>
            </a:r>
            <a:r>
              <a:rPr lang="ko-KR" altLang="ko-KR" sz="1400" b="0" i="1" u="none" strike="noStrike" dirty="0" err="1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4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1" u="none" strike="noStrike" dirty="0" err="1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HiddenBoss</a:t>
            </a:r>
            <a:r>
              <a:rPr lang="ko-KR" altLang="ko-KR" sz="14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1400" b="0" i="1" u="none" strike="noStrike" dirty="0" err="1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1" u="none" strike="noStrike" dirty="0" err="1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FinalBossMonster</a:t>
            </a:r>
            <a:r>
              <a:rPr lang="ko-KR" altLang="ko-KR" sz="14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// 오류</a:t>
            </a:r>
            <a:endParaRPr lang="ko-KR" altLang="en-US" sz="32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398140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E66A7-8ABB-AFD2-BF2C-8F302B613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544AF4-0CC8-AD5A-B26A-8C54A96F9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8.5.4 </a:t>
            </a:r>
            <a:r>
              <a:rPr lang="ko-KR" altLang="en-US" dirty="0"/>
              <a:t>가상 함수 테이블의 개념적 모델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F4AE8CC-8D32-DE07-03CC-122BE9E9AF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dirty="0"/>
              <a:t>C++ 표준은 구현 방식으로 </a:t>
            </a:r>
            <a:r>
              <a:rPr lang="ko-KR" altLang="ko-KR" dirty="0" err="1"/>
              <a:t>vtable을</a:t>
            </a:r>
            <a:r>
              <a:rPr lang="ko-KR" altLang="ko-KR" dirty="0"/>
              <a:t> 요구하지 않음</a:t>
            </a:r>
          </a:p>
          <a:p>
            <a:pPr lvl="0"/>
            <a:r>
              <a:rPr lang="ko-KR" altLang="ko-KR" dirty="0"/>
              <a:t>대부분의 구현은 </a:t>
            </a:r>
            <a:r>
              <a:rPr lang="ko-KR" altLang="ko-KR" dirty="0" err="1"/>
              <a:t>vtable과</a:t>
            </a:r>
            <a:r>
              <a:rPr lang="ko-KR" altLang="ko-KR" dirty="0"/>
              <a:t> </a:t>
            </a:r>
            <a:r>
              <a:rPr lang="ko-KR" altLang="ko-KR" dirty="0" err="1"/>
              <a:t>vptr에</a:t>
            </a:r>
            <a:r>
              <a:rPr lang="ko-KR" altLang="ko-KR" dirty="0"/>
              <a:t> 가까운 구조 사용</a:t>
            </a:r>
          </a:p>
          <a:p>
            <a:pPr lvl="0"/>
            <a:r>
              <a:rPr lang="ko-KR" altLang="ko-KR" dirty="0"/>
              <a:t>개념 이해용 모델로 활용</a:t>
            </a:r>
          </a:p>
          <a:p>
            <a:endParaRPr lang="ko-KR" altLang="en-US" dirty="0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A86C4BA5-D806-C39E-85C9-EB49CB10EB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5488879"/>
              </p:ext>
            </p:extLst>
          </p:nvPr>
        </p:nvGraphicFramePr>
        <p:xfrm>
          <a:off x="611560" y="2492896"/>
          <a:ext cx="4536504" cy="1029208"/>
        </p:xfrm>
        <a:graphic>
          <a:graphicData uri="http://schemas.openxmlformats.org/drawingml/2006/table">
            <a:tbl>
              <a:tblPr/>
              <a:tblGrid>
                <a:gridCol w="4536504">
                  <a:extLst>
                    <a:ext uri="{9D8B030D-6E8A-4147-A177-3AD203B41FA5}">
                      <a16:colId xmlns:a16="http://schemas.microsoft.com/office/drawing/2014/main" val="136215605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lnSpc>
                          <a:spcPct val="92000"/>
                        </a:lnSpc>
                        <a:buNone/>
                      </a:pPr>
                      <a: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GameObject 가상 함수 테이블</a:t>
                      </a:r>
                      <a:b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├─ </a:t>
                      </a:r>
                      <a:r>
                        <a:rPr lang="ko-KR" sz="16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Update</a:t>
                      </a:r>
                      <a: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 → GameObject::</a:t>
                      </a:r>
                      <a:r>
                        <a:rPr lang="ko-KR" sz="16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Update</a:t>
                      </a:r>
                      <a:b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├─ </a:t>
                      </a:r>
                      <a:r>
                        <a:rPr lang="ko-KR" sz="16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Render</a:t>
                      </a:r>
                      <a: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 → GameObject::</a:t>
                      </a:r>
                      <a:r>
                        <a:rPr lang="ko-KR" sz="16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Render</a:t>
                      </a:r>
                      <a:b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└─ </a:t>
                      </a:r>
                      <a:r>
                        <a:rPr lang="ko-KR" sz="16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소멸자</a:t>
                      </a:r>
                      <a: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  → GameObject::~GameObject</a:t>
                      </a:r>
                      <a:endParaRPr lang="ko-KR" sz="2800" b="1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1184437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3BD6C630-361B-5247-7702-C766E7B18F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2055944"/>
              </p:ext>
            </p:extLst>
          </p:nvPr>
        </p:nvGraphicFramePr>
        <p:xfrm>
          <a:off x="1547664" y="3717032"/>
          <a:ext cx="4536504" cy="1029208"/>
        </p:xfrm>
        <a:graphic>
          <a:graphicData uri="http://schemas.openxmlformats.org/drawingml/2006/table">
            <a:tbl>
              <a:tblPr/>
              <a:tblGrid>
                <a:gridCol w="4536504">
                  <a:extLst>
                    <a:ext uri="{9D8B030D-6E8A-4147-A177-3AD203B41FA5}">
                      <a16:colId xmlns:a16="http://schemas.microsoft.com/office/drawing/2014/main" val="365980076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lnSpc>
                          <a:spcPct val="92000"/>
                        </a:lnSpc>
                        <a:buNone/>
                      </a:pPr>
                      <a:r>
                        <a:rPr lang="ko-KR" sz="16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Player</a:t>
                      </a:r>
                      <a: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 가상 함수 테이블</a:t>
                      </a:r>
                      <a:b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├─ </a:t>
                      </a:r>
                      <a:r>
                        <a:rPr lang="ko-KR" sz="16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Update</a:t>
                      </a:r>
                      <a: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 → </a:t>
                      </a:r>
                      <a:r>
                        <a:rPr lang="ko-KR" sz="16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Player</a:t>
                      </a:r>
                      <a: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::</a:t>
                      </a:r>
                      <a:r>
                        <a:rPr lang="ko-KR" sz="16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Update</a:t>
                      </a:r>
                      <a:b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├─ </a:t>
                      </a:r>
                      <a:r>
                        <a:rPr lang="ko-KR" sz="16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Render</a:t>
                      </a:r>
                      <a: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 → </a:t>
                      </a:r>
                      <a:r>
                        <a:rPr lang="ko-KR" sz="16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Player</a:t>
                      </a:r>
                      <a: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::</a:t>
                      </a:r>
                      <a:r>
                        <a:rPr lang="ko-KR" sz="16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Render</a:t>
                      </a:r>
                      <a:b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└─ </a:t>
                      </a:r>
                      <a:r>
                        <a:rPr lang="ko-KR" sz="16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소멸자</a:t>
                      </a:r>
                      <a: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  → </a:t>
                      </a:r>
                      <a:r>
                        <a:rPr lang="ko-KR" sz="16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Player</a:t>
                      </a:r>
                      <a: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::~</a:t>
                      </a:r>
                      <a:r>
                        <a:rPr lang="ko-KR" sz="16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Player</a:t>
                      </a:r>
                      <a:endParaRPr lang="ko-KR" sz="2800" b="1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7233163"/>
                  </a:ext>
                </a:extLst>
              </a:tr>
            </a:tbl>
          </a:graphicData>
        </a:graphic>
      </p:graphicFrame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6FC77A31-350B-ADA1-018E-53E925F324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404846"/>
              </p:ext>
            </p:extLst>
          </p:nvPr>
        </p:nvGraphicFramePr>
        <p:xfrm>
          <a:off x="2627784" y="4979848"/>
          <a:ext cx="4536503" cy="1477899"/>
        </p:xfrm>
        <a:graphic>
          <a:graphicData uri="http://schemas.openxmlformats.org/drawingml/2006/table">
            <a:tbl>
              <a:tblPr/>
              <a:tblGrid>
                <a:gridCol w="4536503">
                  <a:extLst>
                    <a:ext uri="{9D8B030D-6E8A-4147-A177-3AD203B41FA5}">
                      <a16:colId xmlns:a16="http://schemas.microsoft.com/office/drawing/2014/main" val="228417945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lnSpc>
                          <a:spcPct val="92000"/>
                        </a:lnSpc>
                        <a:buNone/>
                      </a:pPr>
                      <a:r>
                        <a:rPr lang="ko-KR" sz="16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Player</a:t>
                      </a:r>
                      <a: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 객체</a:t>
                      </a:r>
                      <a:b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├─ </a:t>
                      </a:r>
                      <a:r>
                        <a:rPr lang="ko-KR" sz="16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vptr</a:t>
                      </a:r>
                      <a: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 ─────▶ </a:t>
                      </a:r>
                      <a:r>
                        <a:rPr lang="ko-KR" sz="16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Player</a:t>
                      </a:r>
                      <a: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 가상 함수 테이블</a:t>
                      </a:r>
                      <a:b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├─ GameObject 부분</a:t>
                      </a:r>
                      <a:b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├─ </a:t>
                      </a:r>
                      <a:r>
                        <a:rPr lang="ko-KR" sz="16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Character</a:t>
                      </a:r>
                      <a: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 부분</a:t>
                      </a:r>
                      <a:b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├─ </a:t>
                      </a:r>
                      <a:r>
                        <a:rPr lang="ko-KR" sz="16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PlayerBase</a:t>
                      </a:r>
                      <a: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 부분</a:t>
                      </a:r>
                      <a:b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└─ </a:t>
                      </a:r>
                      <a:r>
                        <a:rPr lang="ko-KR" sz="16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Player</a:t>
                      </a:r>
                      <a: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 부분</a:t>
                      </a:r>
                      <a:endParaRPr lang="ko-KR" sz="2800" b="1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86351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3930510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320230-5F90-870B-4800-7E4D1C7EBD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8E170C-7891-D9C8-E793-6415E953E5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8.5.5 </a:t>
            </a:r>
            <a:r>
              <a:rPr lang="ko-KR" altLang="en-US" dirty="0" err="1"/>
              <a:t>공변</a:t>
            </a:r>
            <a:r>
              <a:rPr lang="ko-KR" altLang="en-US" dirty="0"/>
              <a:t> 반환형 </a:t>
            </a:r>
            <a:r>
              <a:rPr lang="en-US" altLang="ko-KR" dirty="0"/>
              <a:t>(</a:t>
            </a:r>
            <a:r>
              <a:rPr lang="ko-KR" altLang="ko-KR" dirty="0" err="1"/>
              <a:t>covariant</a:t>
            </a:r>
            <a:r>
              <a:rPr lang="ko-KR" altLang="ko-KR" dirty="0"/>
              <a:t> </a:t>
            </a:r>
            <a:r>
              <a:rPr lang="ko-KR" altLang="ko-KR" dirty="0" err="1"/>
              <a:t>return</a:t>
            </a:r>
            <a:r>
              <a:rPr lang="ko-KR" altLang="ko-KR" dirty="0"/>
              <a:t> </a:t>
            </a:r>
            <a:r>
              <a:rPr lang="ko-KR" altLang="ko-KR" dirty="0" err="1"/>
              <a:t>type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D8ACEF5-F64B-50AB-6A8D-A48A6A1520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dirty="0"/>
              <a:t>기반 클래스의 포인터나 참조를 반환하는 가상 함수</a:t>
            </a:r>
          </a:p>
          <a:p>
            <a:pPr lvl="0"/>
            <a:r>
              <a:rPr lang="ko-KR" altLang="ko-KR" dirty="0" err="1"/>
              <a:t>공변</a:t>
            </a:r>
            <a:r>
              <a:rPr lang="ko-KR" altLang="ko-KR" dirty="0"/>
              <a:t> 반환형</a:t>
            </a:r>
            <a:endParaRPr lang="en-US" altLang="ko-KR" dirty="0"/>
          </a:p>
          <a:p>
            <a:pPr lvl="1"/>
            <a:r>
              <a:rPr lang="ko-KR" altLang="ko-KR" dirty="0"/>
              <a:t>파생 클래스 재정의 함수</a:t>
            </a:r>
            <a:r>
              <a:rPr lang="ko-KR" altLang="en-US" dirty="0"/>
              <a:t>에서</a:t>
            </a:r>
            <a:r>
              <a:rPr lang="en-US" altLang="ko-KR" dirty="0"/>
              <a:t> </a:t>
            </a:r>
            <a:r>
              <a:rPr lang="ko-KR" altLang="ko-KR" dirty="0"/>
              <a:t>더 구체적인 포인터나 참조를 반환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C93BCE-F35C-3C11-3F09-9E22670F81E3}"/>
              </a:ext>
            </a:extLst>
          </p:cNvPr>
          <p:cNvSpPr txBox="1"/>
          <p:nvPr/>
        </p:nvSpPr>
        <p:spPr>
          <a:xfrm>
            <a:off x="467544" y="2406751"/>
            <a:ext cx="4248472" cy="2308324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GameObject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virtual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~GameObject() =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default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virtual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GameObject* </a:t>
            </a:r>
            <a:r>
              <a:rPr lang="ko-KR" altLang="ko-KR" sz="16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CloneRaw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return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new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GameObject(*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this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E6C1D13-C514-5A0E-5EA4-ACAEC9F18AE6}"/>
              </a:ext>
            </a:extLst>
          </p:cNvPr>
          <p:cNvSpPr txBox="1"/>
          <p:nvPr/>
        </p:nvSpPr>
        <p:spPr>
          <a:xfrm>
            <a:off x="4716016" y="2397948"/>
            <a:ext cx="3888432" cy="2062103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PlayerBase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* </a:t>
            </a:r>
            <a:r>
              <a:rPr lang="ko-KR" altLang="ko-KR" sz="16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CloneRaw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0000F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override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return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new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(*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this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892CEE-8586-9149-381D-5BF84C174ADE}"/>
              </a:ext>
            </a:extLst>
          </p:cNvPr>
          <p:cNvSpPr txBox="1"/>
          <p:nvPr/>
        </p:nvSpPr>
        <p:spPr>
          <a:xfrm>
            <a:off x="1398637" y="5438417"/>
            <a:ext cx="5598368" cy="338554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스마트 포인터 템플릿 타입에는 </a:t>
            </a:r>
            <a:r>
              <a:rPr lang="ko-KR" altLang="ko-KR" sz="1600" b="0" i="0" u="none" strike="noStrike" dirty="0" err="1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공변</a:t>
            </a:r>
            <a:r>
              <a:rPr lang="ko-KR" altLang="ko-KR" sz="16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반환형 규칙이 적용되지 않음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2BD4380-9A50-361B-B585-404665614D77}"/>
              </a:ext>
            </a:extLst>
          </p:cNvPr>
          <p:cNvSpPr txBox="1"/>
          <p:nvPr/>
        </p:nvSpPr>
        <p:spPr>
          <a:xfrm>
            <a:off x="1410097" y="5770522"/>
            <a:ext cx="5598368" cy="584775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// </a:t>
            </a:r>
            <a:r>
              <a:rPr lang="ko-KR" altLang="ko-KR" sz="1600" b="0" i="1" u="none" strike="noStrike" dirty="0" err="1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1" u="none" strike="noStrike" dirty="0" err="1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unique_ptr</a:t>
            </a:r>
            <a:r>
              <a:rPr lang="ko-KR" altLang="ko-KR" sz="16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600" b="0" i="1" u="none" strike="noStrike" dirty="0" err="1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16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&gt;는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// </a:t>
            </a:r>
            <a:r>
              <a:rPr lang="ko-KR" altLang="ko-KR" sz="1600" b="0" i="1" u="none" strike="noStrike" dirty="0" err="1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1" u="none" strike="noStrike" dirty="0" err="1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unique_ptr</a:t>
            </a:r>
            <a:r>
              <a:rPr lang="ko-KR" altLang="ko-KR" sz="16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&lt;GameObject&gt;의 </a:t>
            </a:r>
            <a:r>
              <a:rPr lang="ko-KR" altLang="ko-KR" sz="1600" b="0" i="1" u="none" strike="noStrike" dirty="0" err="1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공변</a:t>
            </a:r>
            <a:r>
              <a:rPr lang="ko-KR" altLang="ko-KR" sz="16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반환형이 아님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1430868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636D0-2D1F-5745-7C50-2628689E5A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659C22-E421-23FD-92A2-9F4A78641B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8.5.6 </a:t>
            </a:r>
            <a:r>
              <a:rPr lang="ko-KR" altLang="en-US" dirty="0"/>
              <a:t>생성자와 소멸자에서의 가상 함수 호출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6F706C8-5F7E-A8CB-6E58-91CE831748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sz="2400" dirty="0"/>
              <a:t>생성자와 </a:t>
            </a:r>
            <a:r>
              <a:rPr lang="ko-KR" altLang="ko-KR" sz="2400" dirty="0" err="1"/>
              <a:t>소멸자</a:t>
            </a:r>
            <a:r>
              <a:rPr lang="ko-KR" altLang="ko-KR" sz="2400" dirty="0"/>
              <a:t> 안의 가상 호출은 현재 생성 또는 소멸 중인 클래스 범위를 기준으로 처리</a:t>
            </a:r>
          </a:p>
          <a:p>
            <a:pPr lvl="0"/>
            <a:r>
              <a:rPr lang="ko-KR" altLang="ko-KR" sz="2400" dirty="0"/>
              <a:t>아직 생성되지 않은 파생 부분을 사용하지 않도록 하기 위한 규칙</a:t>
            </a:r>
          </a:p>
          <a:p>
            <a:pPr lvl="0"/>
            <a:r>
              <a:rPr lang="ko-KR" altLang="ko-KR" sz="2400" dirty="0"/>
              <a:t>이미 소멸한 파생 부분을 사용하지 않도록 하기 위한 규칙</a:t>
            </a:r>
          </a:p>
          <a:p>
            <a:endParaRPr lang="ko-KR" altLang="en-US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EC942C-7EB6-9E65-A723-DC66E6C3736D}"/>
              </a:ext>
            </a:extLst>
          </p:cNvPr>
          <p:cNvSpPr txBox="1"/>
          <p:nvPr/>
        </p:nvSpPr>
        <p:spPr>
          <a:xfrm>
            <a:off x="539750" y="2456795"/>
            <a:ext cx="3816226" cy="4401205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GameObject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GameObject()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Initialize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virtual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~GameObject()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Shutdown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virtual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Initialize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virtual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Shutdown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PlayerBase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Initialize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override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Shutdown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override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32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511B767-D87E-70C8-2547-72BB679EC875}"/>
              </a:ext>
            </a:extLst>
          </p:cNvPr>
          <p:cNvSpPr txBox="1"/>
          <p:nvPr/>
        </p:nvSpPr>
        <p:spPr>
          <a:xfrm>
            <a:off x="3924225" y="4509120"/>
            <a:ext cx="4968354" cy="923330"/>
          </a:xfrm>
          <a:prstGeom prst="rect">
            <a:avLst/>
          </a:prstGeom>
          <a:solidFill>
            <a:srgbClr val="FAFAFA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 marL="342900" lvl="0" indent="-342900" rtl="0" fontAlgn="base">
              <a:buFont typeface="Arial" panose="020B0604020202020204" pitchFamily="34" charset="0"/>
              <a:buChar char="•"/>
            </a:pPr>
            <a:r>
              <a:rPr lang="ko-KR" altLang="ko-KR" sz="1800" b="0" i="0" u="none" strike="noStrike" dirty="0" err="1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18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생성 중 GameObject 생성자에서는 GameObject::</a:t>
            </a:r>
            <a:r>
              <a:rPr lang="ko-KR" altLang="ko-KR" sz="1800" b="0" i="0" u="none" strike="noStrike" dirty="0" err="1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Initialize</a:t>
            </a:r>
            <a:r>
              <a:rPr lang="ko-KR" altLang="ko-KR" sz="18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호출</a:t>
            </a:r>
            <a:endParaRPr lang="ko-KR" altLang="ko-KR" sz="1800" b="0" i="0" u="none" strike="noStrike" dirty="0">
              <a:solidFill>
                <a:srgbClr val="333333"/>
              </a:solidFill>
              <a:effectLst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  <a:p>
            <a:pPr marL="342900" lvl="0" indent="-342900" rtl="0" fontAlgn="base">
              <a:buFont typeface="Arial" panose="020B0604020202020204" pitchFamily="34" charset="0"/>
              <a:buChar char="•"/>
            </a:pPr>
            <a:r>
              <a:rPr lang="ko-KR" altLang="ko-KR" sz="18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파생 초기화는 객체 생성 완료 뒤 별도 단계로 처리</a:t>
            </a:r>
            <a:endParaRPr lang="ko-KR" altLang="ko-KR" sz="1800" b="0" i="0" u="none" strike="noStrike" dirty="0">
              <a:solidFill>
                <a:srgbClr val="333333"/>
              </a:solidFill>
              <a:effectLst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7315280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B4E8E5-16F4-A0AF-1CFA-EC23AF1851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C4AD6D-DA3A-31A0-FC5C-9C89E02EF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8.5.7 </a:t>
            </a:r>
            <a:r>
              <a:rPr lang="ko-KR" altLang="en-US" dirty="0"/>
              <a:t>가상 함수와 기본 인수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EC2E67B-042B-D3CE-4608-A4E2B61EB3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dirty="0"/>
              <a:t>가상 함수 구현은 동적 타입에 따라 선택</a:t>
            </a:r>
          </a:p>
          <a:p>
            <a:pPr lvl="0"/>
            <a:r>
              <a:rPr lang="ko-KR" altLang="ko-KR" dirty="0"/>
              <a:t>기본 인수는 호출 표현식의 정적 타입에서 선택</a:t>
            </a:r>
          </a:p>
          <a:p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9372526-0EDA-24F1-47D6-98F652FB3DDB}"/>
              </a:ext>
            </a:extLst>
          </p:cNvPr>
          <p:cNvSpPr txBox="1"/>
          <p:nvPr/>
        </p:nvSpPr>
        <p:spPr>
          <a:xfrm>
            <a:off x="395536" y="1916832"/>
            <a:ext cx="4536504" cy="2800767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GameObject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virtual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Draw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layer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0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PlayerBase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Draw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layer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10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override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45E1745-5BC3-F87F-8B9E-A2A24EB3E563}"/>
              </a:ext>
            </a:extLst>
          </p:cNvPr>
          <p:cNvSpPr txBox="1"/>
          <p:nvPr/>
        </p:nvSpPr>
        <p:spPr>
          <a:xfrm>
            <a:off x="4932040" y="2564904"/>
            <a:ext cx="3744416" cy="1323439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GameObject&amp;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object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player.Draw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object.Draw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();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3D3A42-9E64-0710-CEBA-046BCFB39385}"/>
              </a:ext>
            </a:extLst>
          </p:cNvPr>
          <p:cNvSpPr txBox="1"/>
          <p:nvPr/>
        </p:nvSpPr>
        <p:spPr>
          <a:xfrm>
            <a:off x="4932040" y="3888343"/>
            <a:ext cx="3744416" cy="523220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layer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 </a:t>
            </a:r>
            <a:r>
              <a:rPr lang="ko-KR" altLang="ko-KR" sz="14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10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layer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 </a:t>
            </a:r>
            <a:r>
              <a:rPr lang="ko-KR" altLang="ko-KR" sz="14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0</a:t>
            </a:r>
            <a:endParaRPr lang="ko-KR" altLang="en-US" sz="32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F6D187-D6D8-33E2-1ABF-E06D06C3CE66}"/>
              </a:ext>
            </a:extLst>
          </p:cNvPr>
          <p:cNvSpPr txBox="1"/>
          <p:nvPr/>
        </p:nvSpPr>
        <p:spPr>
          <a:xfrm>
            <a:off x="1259632" y="5021977"/>
            <a:ext cx="6624736" cy="923330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 marL="342900" lvl="0" indent="-342900" rtl="0" fontAlgn="base">
              <a:buFont typeface="Arial" panose="020B0604020202020204" pitchFamily="34" charset="0"/>
              <a:buChar char="•"/>
            </a:pPr>
            <a:r>
              <a:rPr lang="ko-KR" altLang="ko-KR" sz="1800" b="0" i="0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두 호출 모두 </a:t>
            </a:r>
            <a:r>
              <a:rPr lang="ko-KR" altLang="ko-KR" sz="1800" b="0" i="0" u="none" strike="noStrike" dirty="0" err="1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1800" b="0" i="0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800" b="0" i="0" u="none" strike="noStrike" dirty="0" err="1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Draw</a:t>
            </a:r>
            <a:r>
              <a:rPr lang="ko-KR" altLang="ko-KR" sz="1800" b="0" i="0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실행</a:t>
            </a:r>
          </a:p>
          <a:p>
            <a:pPr marL="342900" lvl="0" indent="-342900" rtl="0" fontAlgn="base">
              <a:buFont typeface="Arial" panose="020B0604020202020204" pitchFamily="34" charset="0"/>
              <a:buChar char="•"/>
            </a:pPr>
            <a:r>
              <a:rPr lang="ko-KR" altLang="ko-KR" sz="1800" b="0" i="0" u="none" strike="noStrike" dirty="0" err="1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object.Draw</a:t>
            </a:r>
            <a:r>
              <a:rPr lang="ko-KR" altLang="ko-KR" sz="1800" b="0" i="0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()의 기본 인수는 GameObject 선언에서 가져옴</a:t>
            </a:r>
          </a:p>
          <a:p>
            <a:pPr marL="342900" lvl="0" indent="-342900" rtl="0" fontAlgn="base">
              <a:buFont typeface="Arial" panose="020B0604020202020204" pitchFamily="34" charset="0"/>
              <a:buChar char="•"/>
            </a:pPr>
            <a:r>
              <a:rPr lang="ko-KR" altLang="ko-KR" sz="1800" b="0" i="0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가상 함수마다 다른 기본 인수를 두지 않는 편이 좋음</a:t>
            </a:r>
          </a:p>
        </p:txBody>
      </p:sp>
    </p:spTree>
    <p:extLst>
      <p:ext uri="{BB962C8B-B14F-4D97-AF65-F5344CB8AC3E}">
        <p14:creationId xmlns:p14="http://schemas.microsoft.com/office/powerpoint/2010/main" val="193654863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13840D-2800-1E72-031B-CF8A2855B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BA5FA5-6A31-F7B5-6DA6-F0752B2310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8.6 </a:t>
            </a:r>
            <a:r>
              <a:rPr lang="ko-KR" altLang="en-US" dirty="0"/>
              <a:t>추상 클래스와 인터페이스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0392405-A60F-FFAB-F0EC-064FA256C4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sz="2400" dirty="0"/>
              <a:t>공통 계약만 선언하고 실제 동작은 파생 클래스에 맡길 수 있음</a:t>
            </a:r>
          </a:p>
          <a:p>
            <a:pPr lvl="0"/>
            <a:r>
              <a:rPr lang="ko-KR" altLang="ko-KR" sz="2400" dirty="0">
                <a:solidFill>
                  <a:srgbClr val="0000FF"/>
                </a:solidFill>
              </a:rPr>
              <a:t>순수 가상 함수는 = 0</a:t>
            </a:r>
            <a:r>
              <a:rPr lang="ko-KR" altLang="ko-KR" sz="2400" dirty="0"/>
              <a:t>으로 선언</a:t>
            </a:r>
          </a:p>
          <a:p>
            <a:pPr lvl="0"/>
            <a:r>
              <a:rPr lang="ko-KR" altLang="ko-KR" sz="2400" dirty="0">
                <a:solidFill>
                  <a:srgbClr val="0000FF"/>
                </a:solidFill>
              </a:rPr>
              <a:t>순수 가상 함수가 하나 이상 </a:t>
            </a:r>
            <a:r>
              <a:rPr lang="ko-KR" altLang="ko-KR" sz="2400" dirty="0"/>
              <a:t>있으면 </a:t>
            </a:r>
            <a:r>
              <a:rPr lang="ko-KR" altLang="ko-KR" sz="2400" dirty="0">
                <a:solidFill>
                  <a:srgbClr val="0000FF"/>
                </a:solidFill>
              </a:rPr>
              <a:t>추상 클래스</a:t>
            </a:r>
          </a:p>
          <a:p>
            <a:pPr lvl="0"/>
            <a:r>
              <a:rPr lang="ko-KR" altLang="ko-KR" sz="2400" dirty="0"/>
              <a:t>추상 클래스는 직접 객체 생성 불가</a:t>
            </a:r>
          </a:p>
          <a:p>
            <a:endParaRPr lang="ko-KR" altLang="en-US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767B080-7407-C2F7-5D08-FB8FBCB53A30}"/>
              </a:ext>
            </a:extLst>
          </p:cNvPr>
          <p:cNvSpPr txBox="1"/>
          <p:nvPr/>
        </p:nvSpPr>
        <p:spPr>
          <a:xfrm>
            <a:off x="395536" y="2924944"/>
            <a:ext cx="3888234" cy="2554545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GameObject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virtual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~GameObject() =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default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virtual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Update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= 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0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virtual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Render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0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// GameObject </a:t>
            </a:r>
            <a:r>
              <a:rPr lang="ko-KR" altLang="ko-KR" sz="1600" b="0" i="1" u="none" strike="noStrike" dirty="0" err="1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object</a:t>
            </a:r>
            <a:r>
              <a:rPr lang="ko-KR" altLang="ko-KR" sz="16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 // 오류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3D779588-1031-5414-0DF8-61CF676C9B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4736140"/>
              </p:ext>
            </p:extLst>
          </p:nvPr>
        </p:nvGraphicFramePr>
        <p:xfrm>
          <a:off x="4283770" y="3212976"/>
          <a:ext cx="4464694" cy="1551328"/>
        </p:xfrm>
        <a:graphic>
          <a:graphicData uri="http://schemas.openxmlformats.org/drawingml/2006/table">
            <a:tbl>
              <a:tblPr/>
              <a:tblGrid>
                <a:gridCol w="1414435">
                  <a:extLst>
                    <a:ext uri="{9D8B030D-6E8A-4147-A177-3AD203B41FA5}">
                      <a16:colId xmlns:a16="http://schemas.microsoft.com/office/drawing/2014/main" val="2002012305"/>
                    </a:ext>
                  </a:extLst>
                </a:gridCol>
                <a:gridCol w="3050259">
                  <a:extLst>
                    <a:ext uri="{9D8B030D-6E8A-4147-A177-3AD203B41FA5}">
                      <a16:colId xmlns:a16="http://schemas.microsoft.com/office/drawing/2014/main" val="37224460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Pretendard ExtraBold" panose="02000903000000020004" pitchFamily="50" charset="-127"/>
                        </a:rPr>
                        <a:t>구분</a:t>
                      </a:r>
                      <a:endParaRPr lang="ko-KR" sz="2800" dirty="0">
                        <a:effectLst/>
                        <a:latin typeface="+mn-ea"/>
                        <a:ea typeface="+mn-ea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Pretendard ExtraBold" panose="02000903000000020004" pitchFamily="50" charset="-127"/>
                        </a:rPr>
                        <a:t>의미</a:t>
                      </a:r>
                      <a:endParaRPr lang="ko-KR" sz="2800" dirty="0">
                        <a:effectLst/>
                        <a:latin typeface="+mn-ea"/>
                        <a:ea typeface="+mn-ea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7550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6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순수 가상 함수</a:t>
                      </a:r>
                      <a:endParaRPr lang="ko-KR" sz="28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파생 클래스가 구현해야 하는 계약</a:t>
                      </a:r>
                      <a:endParaRPr lang="ko-KR" sz="28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123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6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추상 클래스</a:t>
                      </a:r>
                      <a:endParaRPr lang="ko-KR" sz="28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직접 객체를 만들 수 없는 공통 기반</a:t>
                      </a:r>
                      <a:endParaRPr lang="ko-KR" sz="28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23977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6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구체 클래스</a:t>
                      </a:r>
                      <a:endParaRPr lang="ko-KR" sz="28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모든 순수 가상 함수를 구현한 클래스</a:t>
                      </a:r>
                      <a:endParaRPr lang="ko-KR" sz="28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3899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054970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16D1D5-83AA-2160-E4D3-4F03F0E64C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197ECC-ED61-8E96-FE5B-B593014F15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8.6.2 </a:t>
            </a:r>
            <a:r>
              <a:rPr lang="ko-KR" altLang="en-US" dirty="0"/>
              <a:t>추상 클래스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E2E0AF-C0DE-47AA-626D-FB1E2089B6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sz="2400" dirty="0"/>
              <a:t>추상 클래스는 공통 상태와 일부 구현을 가질 수 있음</a:t>
            </a:r>
          </a:p>
          <a:p>
            <a:pPr lvl="0"/>
            <a:r>
              <a:rPr lang="ko-KR" altLang="ko-KR" sz="2400" dirty="0"/>
              <a:t>생성자, 데이터 멤버, 일반 멤버 함수 포함 가능</a:t>
            </a:r>
          </a:p>
          <a:p>
            <a:pPr lvl="0"/>
            <a:r>
              <a:rPr lang="ko-KR" altLang="ko-KR" sz="2400" dirty="0"/>
              <a:t>순수 가상 함수를 구현하지 않으면 계속 추상 클래스</a:t>
            </a:r>
          </a:p>
          <a:p>
            <a:endParaRPr lang="ko-KR" altLang="en-US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286B94-97C0-D3E0-AAF8-0CADF67159A0}"/>
              </a:ext>
            </a:extLst>
          </p:cNvPr>
          <p:cNvSpPr txBox="1"/>
          <p:nvPr/>
        </p:nvSpPr>
        <p:spPr>
          <a:xfrm>
            <a:off x="395536" y="2196902"/>
            <a:ext cx="4572000" cy="4616648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1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GameObject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explicit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1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hp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 : </a:t>
            </a:r>
            <a:r>
              <a:rPr lang="ko-KR" altLang="ko-KR" sz="1400" b="1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hp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hp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){}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1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TakeDamage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damage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if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(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damage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&gt; </a:t>
            </a:r>
            <a:r>
              <a:rPr lang="ko-KR" altLang="ko-KR" sz="1400" b="1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0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{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   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if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(</a:t>
            </a:r>
            <a:r>
              <a:rPr lang="ko-KR" altLang="ko-KR" sz="1400" b="1" dirty="0" err="1">
                <a:solidFill>
                  <a:srgbClr val="383A42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hp</a:t>
            </a:r>
            <a:r>
              <a:rPr lang="ko-KR" altLang="ko-KR" sz="1400" b="1" dirty="0">
                <a:solidFill>
                  <a:srgbClr val="383A42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-= </a:t>
            </a:r>
            <a:r>
              <a:rPr lang="ko-KR" altLang="ko-KR" sz="1400" b="1" dirty="0" err="1">
                <a:solidFill>
                  <a:srgbClr val="383A42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damage</a:t>
            </a:r>
            <a:r>
              <a:rPr lang="ko-KR" altLang="ko-KR" sz="1400" b="1" dirty="0">
                <a:solidFill>
                  <a:srgbClr val="383A42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hp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 </a:t>
            </a:r>
            <a:r>
              <a:rPr lang="ko-KR" altLang="ko-KR" sz="1400" b="1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0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    {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       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hp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400" b="1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0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    }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}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1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GetHp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return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hp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private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hp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3200" b="1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935889A-021E-9A9C-19EA-730B6B00DC39}"/>
              </a:ext>
            </a:extLst>
          </p:cNvPr>
          <p:cNvSpPr txBox="1"/>
          <p:nvPr/>
        </p:nvSpPr>
        <p:spPr>
          <a:xfrm>
            <a:off x="4452664" y="4505226"/>
            <a:ext cx="4572000" cy="584775"/>
          </a:xfrm>
          <a:prstGeom prst="rect">
            <a:avLst/>
          </a:prstGeom>
          <a:solidFill>
            <a:srgbClr val="FFFFFF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 marL="342900" lvl="0" indent="-342900" rtl="0" fontAlgn="base">
              <a:buFont typeface="Arial" panose="020B0604020202020204" pitchFamily="34" charset="0"/>
              <a:buChar char="•"/>
            </a:pPr>
            <a:r>
              <a:rPr lang="ko-KR" altLang="ko-KR" sz="1600" b="0" i="0" u="none" strike="noStrike" dirty="0" err="1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Update</a:t>
            </a:r>
            <a:r>
              <a:rPr lang="ko-KR" altLang="ko-KR" sz="16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(), </a:t>
            </a:r>
            <a:r>
              <a:rPr lang="ko-KR" altLang="ko-KR" sz="1600" b="0" i="0" u="none" strike="noStrike" dirty="0" err="1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Render</a:t>
            </a:r>
            <a:r>
              <a:rPr lang="ko-KR" altLang="ko-KR" sz="16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</a:t>
            </a:r>
            <a:r>
              <a:rPr lang="ko-KR" altLang="ko-KR" sz="1600" b="0" i="0" u="none" strike="noStrike" dirty="0" err="1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를</a:t>
            </a:r>
            <a:r>
              <a:rPr lang="ko-KR" altLang="ko-KR" sz="16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구현하지 않았다면 </a:t>
            </a:r>
            <a:r>
              <a:rPr lang="ko-KR" altLang="ko-KR" sz="1600" b="0" i="0" u="none" strike="noStrike" dirty="0" err="1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Character도</a:t>
            </a:r>
            <a:r>
              <a:rPr lang="ko-KR" altLang="ko-KR" sz="16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추상 클래스</a:t>
            </a:r>
            <a:endParaRPr lang="ko-KR" altLang="ko-KR" sz="1800" b="0" i="0" u="none" strike="noStrike" dirty="0">
              <a:solidFill>
                <a:srgbClr val="333333"/>
              </a:solidFill>
              <a:effectLst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4903661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24A9B2-2EAF-BE48-0F67-D40E9C61B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8AAD61-49DE-4433-084D-F4007A6D8C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8.6.3 </a:t>
            </a:r>
            <a:r>
              <a:rPr lang="ko-KR" altLang="en-US" dirty="0"/>
              <a:t>인터페이스 역할의 클래스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BFF46AE-A150-AFA3-E030-3D786DBE12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sz="2400" dirty="0"/>
              <a:t>C++에는 별도 </a:t>
            </a:r>
            <a:r>
              <a:rPr lang="ko-KR" altLang="ko-KR" sz="2400" dirty="0" err="1"/>
              <a:t>interface</a:t>
            </a:r>
            <a:r>
              <a:rPr lang="ko-KR" altLang="ko-KR" sz="2400" dirty="0"/>
              <a:t> 키워드가 없음</a:t>
            </a:r>
            <a:endParaRPr lang="en-US" altLang="ko-KR" sz="2400" dirty="0"/>
          </a:p>
          <a:p>
            <a:pPr lvl="1"/>
            <a:r>
              <a:rPr lang="en-US" altLang="ko-KR" sz="2000" dirty="0"/>
              <a:t>※</a:t>
            </a:r>
            <a:r>
              <a:rPr lang="ko-KR" altLang="en-US" sz="2000" dirty="0"/>
              <a:t>일부에서 순수 가상함수로 구성된 클래스를 </a:t>
            </a:r>
            <a:r>
              <a:rPr lang="en-US" altLang="ko-KR" sz="2000" dirty="0"/>
              <a:t>interface </a:t>
            </a:r>
            <a:r>
              <a:rPr lang="ko-KR" altLang="en-US" sz="2000" dirty="0"/>
              <a:t>로 부르기도 함</a:t>
            </a:r>
            <a:endParaRPr lang="ko-KR" altLang="ko-KR" sz="2000" dirty="0"/>
          </a:p>
          <a:p>
            <a:pPr lvl="0"/>
            <a:r>
              <a:rPr lang="ko-KR" altLang="ko-KR" sz="2400" dirty="0"/>
              <a:t>순수 가상 함수와 가상 소멸자로 인터페이스 역할의 클래스 구성 가능</a:t>
            </a:r>
          </a:p>
          <a:p>
            <a:pPr lvl="0"/>
            <a:r>
              <a:rPr lang="ko-KR" altLang="ko-KR" sz="2400" dirty="0"/>
              <a:t>데이터 멤버 없이 작은 계약으로 유지하는 편이 좋음</a:t>
            </a:r>
          </a:p>
          <a:p>
            <a:endParaRPr lang="ko-KR" altLang="en-US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7A4FC1-5D55-EB28-34E9-EB6564713C95}"/>
              </a:ext>
            </a:extLst>
          </p:cNvPr>
          <p:cNvSpPr txBox="1"/>
          <p:nvPr/>
        </p:nvSpPr>
        <p:spPr>
          <a:xfrm>
            <a:off x="545877" y="2644170"/>
            <a:ext cx="4572000" cy="1384995"/>
          </a:xfrm>
          <a:prstGeom prst="rect">
            <a:avLst/>
          </a:prstGeom>
          <a:solidFill>
            <a:srgbClr val="FFFFFF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IDamageable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virtual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~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IDamageable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=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default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virtual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TakeDamage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damage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 = </a:t>
            </a:r>
            <a:r>
              <a:rPr lang="ko-KR" altLang="ko-KR" sz="14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0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14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C711062-7060-73B9-447D-C6B247B75C7C}"/>
              </a:ext>
            </a:extLst>
          </p:cNvPr>
          <p:cNvSpPr txBox="1"/>
          <p:nvPr/>
        </p:nvSpPr>
        <p:spPr>
          <a:xfrm>
            <a:off x="1619672" y="3933056"/>
            <a:ext cx="5256584" cy="1169551"/>
          </a:xfrm>
          <a:prstGeom prst="rect">
            <a:avLst/>
          </a:prstGeom>
          <a:solidFill>
            <a:srgbClr val="FFFFFF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ISavable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virtual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~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ISavable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=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default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virtual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Save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ostream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&amp;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output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4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0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endParaRPr lang="ko-KR" altLang="en-US" sz="14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CF91A8-591C-AAE6-0E75-B73C9D3A6612}"/>
              </a:ext>
            </a:extLst>
          </p:cNvPr>
          <p:cNvSpPr txBox="1"/>
          <p:nvPr/>
        </p:nvSpPr>
        <p:spPr>
          <a:xfrm>
            <a:off x="2983532" y="5140349"/>
            <a:ext cx="5256584" cy="1384995"/>
          </a:xfrm>
          <a:prstGeom prst="rect">
            <a:avLst/>
          </a:prstGeom>
          <a:solidFill>
            <a:srgbClr val="FFFFFF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GameObject,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      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IDamageable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TakeDamage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damage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override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endParaRPr lang="ko-KR" altLang="ko-KR" sz="1400" b="0" dirty="0">
              <a:effectLst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  <a:p>
            <a:pPr rtl="0">
              <a:buNone/>
            </a:pP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   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Save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ostream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&amp;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output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override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endParaRPr lang="ko-KR" altLang="en-US" sz="14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3664001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41B60E-9980-8AE2-3F7F-840A71FE1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C07820-425A-74BA-25BD-6006F90DA7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8.6.4 </a:t>
            </a:r>
            <a:r>
              <a:rPr lang="ko-KR" altLang="en-US" dirty="0"/>
              <a:t>구현 상속과 인터페이스 상속</a:t>
            </a:r>
          </a:p>
        </p:txBody>
      </p:sp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4849A273-9A17-0C26-AE50-0CBBB2EABE7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8403518"/>
              </p:ext>
            </p:extLst>
          </p:nvPr>
        </p:nvGraphicFramePr>
        <p:xfrm>
          <a:off x="529878" y="719037"/>
          <a:ext cx="7642522" cy="2243960"/>
        </p:xfrm>
        <a:graphic>
          <a:graphicData uri="http://schemas.openxmlformats.org/drawingml/2006/table">
            <a:tbl>
              <a:tblPr/>
              <a:tblGrid>
                <a:gridCol w="1531421">
                  <a:extLst>
                    <a:ext uri="{9D8B030D-6E8A-4147-A177-3AD203B41FA5}">
                      <a16:colId xmlns:a16="http://schemas.microsoft.com/office/drawing/2014/main" val="2634987729"/>
                    </a:ext>
                  </a:extLst>
                </a:gridCol>
                <a:gridCol w="2727389">
                  <a:extLst>
                    <a:ext uri="{9D8B030D-6E8A-4147-A177-3AD203B41FA5}">
                      <a16:colId xmlns:a16="http://schemas.microsoft.com/office/drawing/2014/main" val="92419301"/>
                    </a:ext>
                  </a:extLst>
                </a:gridCol>
                <a:gridCol w="3383712">
                  <a:extLst>
                    <a:ext uri="{9D8B030D-6E8A-4147-A177-3AD203B41FA5}">
                      <a16:colId xmlns:a16="http://schemas.microsoft.com/office/drawing/2014/main" val="306538962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Pretendard ExtraBold" panose="02000903000000020004" pitchFamily="50" charset="-127"/>
                        </a:rPr>
                        <a:t>구분</a:t>
                      </a:r>
                      <a:endParaRPr lang="ko-KR" sz="3200" dirty="0">
                        <a:effectLst/>
                        <a:latin typeface="+mn-ea"/>
                        <a:ea typeface="+mn-ea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1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구현 상속</a:t>
                      </a:r>
                      <a:endParaRPr lang="ko-KR" sz="3600" b="1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1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인터페이스 상속</a:t>
                      </a:r>
                      <a:endParaRPr lang="ko-KR" sz="3600" b="1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50181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목적</a:t>
                      </a:r>
                      <a:endParaRPr lang="ko-KR" sz="3600" dirty="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상태와 구현 재사용</a:t>
                      </a:r>
                      <a:endParaRPr lang="ko-KR" sz="36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공통 호출 계약 제공</a:t>
                      </a:r>
                      <a:endParaRPr lang="ko-KR" sz="36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8448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데이터 멤버</a:t>
                      </a:r>
                      <a:endParaRPr lang="ko-KR" sz="3600" dirty="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가질 수 있음</a:t>
                      </a:r>
                      <a:endParaRPr lang="ko-KR" sz="3600" dirty="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보통 두지 않음</a:t>
                      </a:r>
                      <a:endParaRPr lang="ko-KR" sz="3600" dirty="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01751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일반 함수</a:t>
                      </a:r>
                      <a:endParaRPr lang="ko-KR" sz="360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3399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포함 가능</a:t>
                      </a:r>
                      <a:endParaRPr lang="ko-KR" sz="3600" dirty="0">
                        <a:solidFill>
                          <a:srgbClr val="3399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3399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순수 가상 함수 중심</a:t>
                      </a:r>
                      <a:endParaRPr lang="ko-KR" sz="3600" dirty="0">
                        <a:solidFill>
                          <a:srgbClr val="3399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78374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결합도</a:t>
                      </a:r>
                      <a:endParaRPr lang="ko-KR" sz="3600" dirty="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3399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기반 구현에 강하게 결합</a:t>
                      </a:r>
                      <a:endParaRPr lang="ko-KR" sz="3600" dirty="0">
                        <a:solidFill>
                          <a:srgbClr val="3399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3399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계약에 상대적으로 약하게 결합</a:t>
                      </a:r>
                      <a:endParaRPr lang="ko-KR" sz="3600" dirty="0">
                        <a:solidFill>
                          <a:srgbClr val="3399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9789473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6E97833A-930B-A549-F4E7-225E106221A2}"/>
              </a:ext>
            </a:extLst>
          </p:cNvPr>
          <p:cNvSpPr txBox="1"/>
          <p:nvPr/>
        </p:nvSpPr>
        <p:spPr>
          <a:xfrm>
            <a:off x="529581" y="3122848"/>
            <a:ext cx="5040560" cy="1169551"/>
          </a:xfrm>
          <a:prstGeom prst="rect">
            <a:avLst/>
          </a:prstGeom>
          <a:solidFill>
            <a:srgbClr val="FFFFFF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1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MobBase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protected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attackPower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400" b="1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10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1400" b="1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1D66839-C981-A8E5-C0E5-5C7DB4D678F0}"/>
              </a:ext>
            </a:extLst>
          </p:cNvPr>
          <p:cNvSpPr txBox="1"/>
          <p:nvPr/>
        </p:nvSpPr>
        <p:spPr>
          <a:xfrm>
            <a:off x="529581" y="4375615"/>
            <a:ext cx="5040560" cy="2031325"/>
          </a:xfrm>
          <a:prstGeom prst="rect">
            <a:avLst/>
          </a:prstGeom>
          <a:solidFill>
            <a:srgbClr val="FFFFFF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1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BossMonster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MobBase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           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ISavable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1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Save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400" b="1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ostream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&amp;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output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override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output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400" b="1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400" b="1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BossMonster</a:t>
            </a:r>
            <a:r>
              <a:rPr lang="ko-KR" altLang="ko-KR" sz="1400" b="1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\</a:t>
            </a:r>
            <a:r>
              <a:rPr lang="ko-KR" altLang="ko-KR" sz="1400" b="1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</a:t>
            </a:r>
            <a:r>
              <a:rPr lang="ko-KR" altLang="ko-KR" sz="1400" b="1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1400" b="1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21C8EA5-699C-A7F8-E70D-D3F4062FB166}"/>
              </a:ext>
            </a:extLst>
          </p:cNvPr>
          <p:cNvSpPr txBox="1"/>
          <p:nvPr/>
        </p:nvSpPr>
        <p:spPr>
          <a:xfrm>
            <a:off x="5028406" y="5724579"/>
            <a:ext cx="4032448" cy="646331"/>
          </a:xfrm>
          <a:prstGeom prst="rect">
            <a:avLst/>
          </a:prstGeom>
          <a:solidFill>
            <a:srgbClr val="FFFFFF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 marL="342900" lvl="0" indent="-342900" rtl="0" fontAlgn="base">
              <a:buFont typeface="Arial" panose="020B0604020202020204" pitchFamily="34" charset="0"/>
              <a:buChar char="•"/>
            </a:pPr>
            <a:r>
              <a:rPr lang="ko-KR" altLang="ko-KR" sz="1800" b="1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하나의 주 구현 계층 + 여러 작은 인터페이스 구조가 관리하기 쉬움</a:t>
            </a:r>
            <a:endParaRPr lang="ko-KR" altLang="ko-KR" sz="1800" b="1" i="0" u="none" strike="noStrike" dirty="0">
              <a:solidFill>
                <a:srgbClr val="333333"/>
              </a:solidFill>
              <a:effectLst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352793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FA2CA1-3317-9A7F-AD2F-922E08B9D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7B85F1-1AA9-2040-5883-8F66E9CBC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8.6.5 </a:t>
            </a:r>
            <a:r>
              <a:rPr lang="ko-KR" altLang="en-US" dirty="0"/>
              <a:t>최소 인터페이스와 계약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612799F-4D71-99B8-3B57-FA16F35E03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sz="2400" dirty="0"/>
              <a:t>기반 클래스 </a:t>
            </a:r>
            <a:r>
              <a:rPr lang="ko-KR" altLang="ko-KR" sz="2400" dirty="0">
                <a:solidFill>
                  <a:srgbClr val="0070C0"/>
                </a:solidFill>
              </a:rPr>
              <a:t>공개 인터페이스</a:t>
            </a:r>
            <a:r>
              <a:rPr lang="ko-KR" altLang="ko-KR" sz="2400" dirty="0"/>
              <a:t>는 </a:t>
            </a:r>
            <a:r>
              <a:rPr lang="ko-KR" altLang="ko-KR" sz="2400" dirty="0">
                <a:solidFill>
                  <a:srgbClr val="0070C0"/>
                </a:solidFill>
              </a:rPr>
              <a:t>모든 파생 클래스에 의미가 있어야</a:t>
            </a:r>
          </a:p>
          <a:p>
            <a:pPr lvl="0"/>
            <a:r>
              <a:rPr lang="ko-KR" altLang="ko-KR" sz="2400" dirty="0"/>
              <a:t>특정 파생 클래스에서만 필요한 기능을 최상위 기반에 넣지 않음</a:t>
            </a:r>
          </a:p>
          <a:p>
            <a:pPr lvl="0"/>
            <a:r>
              <a:rPr lang="ko-KR" altLang="ko-KR" sz="2400" dirty="0"/>
              <a:t>서로 독립적인 역할은 작은 인터페이스로 분리</a:t>
            </a:r>
          </a:p>
          <a:p>
            <a:endParaRPr lang="ko-KR" altLang="en-US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CEBF15-864E-F6F1-D0C9-5F4632AA2F16}"/>
              </a:ext>
            </a:extLst>
          </p:cNvPr>
          <p:cNvSpPr txBox="1"/>
          <p:nvPr/>
        </p:nvSpPr>
        <p:spPr>
          <a:xfrm>
            <a:off x="467544" y="2204864"/>
            <a:ext cx="3904258" cy="4524315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GameObject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  </a:t>
            </a:r>
            <a:r>
              <a:rPr lang="ko-KR" altLang="ko-KR" sz="16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// </a:t>
            </a:r>
            <a:r>
              <a:rPr lang="ko-KR" altLang="ko-KR" sz="1600" b="0" i="1" u="none" strike="noStrike" dirty="0" err="1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virtual</a:t>
            </a:r>
            <a:r>
              <a:rPr lang="ko-KR" altLang="ko-KR" sz="16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1" u="none" strike="noStrike" dirty="0" err="1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6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1" u="none" strike="noStrike" dirty="0" err="1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ProcessInput</a:t>
            </a:r>
            <a:r>
              <a:rPr lang="ko-KR" altLang="ko-KR" sz="16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= 0;</a:t>
            </a:r>
            <a:b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// </a:t>
            </a:r>
            <a:r>
              <a:rPr lang="ko-KR" altLang="ko-KR" sz="1600" b="0" i="1" u="none" strike="noStrike" dirty="0" err="1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Monster에</a:t>
            </a:r>
            <a:r>
              <a:rPr lang="ko-KR" altLang="ko-KR" sz="16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부적절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PlayerBase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virtual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ProcessInput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= 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0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MobBase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virtual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Think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= 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0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8EFB9CC7-E2F6-1B79-CF82-E05645CC4C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1175185"/>
              </p:ext>
            </p:extLst>
          </p:nvPr>
        </p:nvGraphicFramePr>
        <p:xfrm>
          <a:off x="4372918" y="3501008"/>
          <a:ext cx="4438201" cy="2280920"/>
        </p:xfrm>
        <a:graphic>
          <a:graphicData uri="http://schemas.openxmlformats.org/drawingml/2006/table">
            <a:tbl>
              <a:tblPr/>
              <a:tblGrid>
                <a:gridCol w="909809">
                  <a:extLst>
                    <a:ext uri="{9D8B030D-6E8A-4147-A177-3AD203B41FA5}">
                      <a16:colId xmlns:a16="http://schemas.microsoft.com/office/drawing/2014/main" val="1209161623"/>
                    </a:ext>
                  </a:extLst>
                </a:gridCol>
                <a:gridCol w="3528392">
                  <a:extLst>
                    <a:ext uri="{9D8B030D-6E8A-4147-A177-3AD203B41FA5}">
                      <a16:colId xmlns:a16="http://schemas.microsoft.com/office/drawing/2014/main" val="338616015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0" i="0" u="none" strike="noStrike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기준</a:t>
                      </a:r>
                      <a:endParaRPr lang="ko-KR" sz="3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0" i="0" u="none" strike="noStrike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설명</a:t>
                      </a:r>
                      <a:endParaRPr lang="ko-KR" sz="3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90920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의미</a:t>
                      </a:r>
                      <a:endParaRPr lang="ko-KR" sz="32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모든 파생 클래스에 의미 있는가</a:t>
                      </a:r>
                      <a:endParaRPr lang="ko-KR" sz="32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2993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계약</a:t>
                      </a:r>
                      <a:endParaRPr lang="ko-KR" sz="32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사전 조건과 사후 조건을</a:t>
                      </a:r>
                      <a:b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유지할 수 있는가</a:t>
                      </a:r>
                      <a:endParaRPr lang="ko-KR" sz="32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16785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안정성</a:t>
                      </a:r>
                      <a:endParaRPr lang="ko-KR" sz="32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자주 바뀌지 않는가</a:t>
                      </a:r>
                      <a:endParaRPr lang="ko-KR" sz="32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09333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크기</a:t>
                      </a:r>
                      <a:endParaRPr lang="ko-KR" sz="32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필요한 연산만 포함하는가</a:t>
                      </a:r>
                      <a:endParaRPr lang="ko-KR" sz="32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4941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9301752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BD23F5-F862-0473-9EE2-2839B600C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16EC54B-E493-718A-2BE1-87EB6F911D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8.6.6 </a:t>
            </a:r>
            <a:r>
              <a:rPr lang="ko-KR" altLang="en-US" dirty="0"/>
              <a:t>비가상 인터페이스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A71752D-4E44-D8C4-8E09-6AE8C4E43B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sz="2400" dirty="0"/>
              <a:t>공개 함수는 비가상으로 유지</a:t>
            </a:r>
          </a:p>
          <a:p>
            <a:pPr lvl="0"/>
            <a:r>
              <a:rPr lang="ko-KR" altLang="ko-KR" sz="2400" dirty="0"/>
              <a:t>내부에서 보호 가상 함수를 호출</a:t>
            </a:r>
          </a:p>
          <a:p>
            <a:pPr lvl="0"/>
            <a:r>
              <a:rPr lang="ko-KR" altLang="ko-KR" sz="2400" dirty="0"/>
              <a:t>공통 규칙을 기반 클래스가 보장</a:t>
            </a:r>
          </a:p>
          <a:p>
            <a:pPr lvl="0"/>
            <a:r>
              <a:rPr lang="ko-KR" altLang="ko-KR" sz="2400" dirty="0"/>
              <a:t>파생 클래스는 확장 지점만 구현</a:t>
            </a:r>
          </a:p>
          <a:p>
            <a:endParaRPr lang="ko-KR" altLang="en-US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A79CA3-D2EB-B40F-C147-74E16C4C4C24}"/>
              </a:ext>
            </a:extLst>
          </p:cNvPr>
          <p:cNvSpPr txBox="1"/>
          <p:nvPr/>
        </p:nvSpPr>
        <p:spPr>
          <a:xfrm>
            <a:off x="323528" y="2535282"/>
            <a:ext cx="4248472" cy="4031873"/>
          </a:xfrm>
          <a:prstGeom prst="rect">
            <a:avLst/>
          </a:prstGeom>
          <a:solidFill>
            <a:srgbClr val="FFFFFF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GameObject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virtual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~GameObject() =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default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Update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if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(!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active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   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return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}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OnUpdate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protected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virtual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OnUpdate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= 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0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private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bool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active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600" b="0" i="0" u="none" strike="noStrike" dirty="0" err="1">
                <a:solidFill>
                  <a:srgbClr val="0184BB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true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549B68-2E8C-ED31-BD9C-D0C449B107DF}"/>
              </a:ext>
            </a:extLst>
          </p:cNvPr>
          <p:cNvSpPr txBox="1"/>
          <p:nvPr/>
        </p:nvSpPr>
        <p:spPr>
          <a:xfrm>
            <a:off x="4572000" y="2535282"/>
            <a:ext cx="4032448" cy="2062103"/>
          </a:xfrm>
          <a:prstGeom prst="rect">
            <a:avLst/>
          </a:prstGeom>
          <a:solidFill>
            <a:srgbClr val="FFFFFF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Monster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MobBase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protected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OnUpdate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override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Think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F8ED10-FCE9-7B29-2D8D-AD81E5385E78}"/>
              </a:ext>
            </a:extLst>
          </p:cNvPr>
          <p:cNvSpPr txBox="1"/>
          <p:nvPr/>
        </p:nvSpPr>
        <p:spPr>
          <a:xfrm>
            <a:off x="4572000" y="5179117"/>
            <a:ext cx="4032448" cy="646331"/>
          </a:xfrm>
          <a:prstGeom prst="rect">
            <a:avLst/>
          </a:prstGeom>
          <a:solidFill>
            <a:srgbClr val="FFFFFF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 marL="342900" lvl="0" indent="-342900" rtl="0" fontAlgn="base">
              <a:buFont typeface="Arial" panose="020B0604020202020204" pitchFamily="34" charset="0"/>
              <a:buChar char="•"/>
            </a:pPr>
            <a:r>
              <a:rPr lang="ko-KR" altLang="ko-KR" sz="18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파생 클래스가 공통 검사를</a:t>
            </a:r>
            <a:b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빠뜨릴 가능성을 줄임</a:t>
            </a:r>
            <a:endParaRPr lang="ko-KR" altLang="ko-KR" sz="2000" b="0" i="0" u="none" strike="noStrike" dirty="0">
              <a:solidFill>
                <a:srgbClr val="333333"/>
              </a:solidFill>
              <a:effectLst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3618966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841D8-D37D-2473-277A-1DF77ECD43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9FE51B-28EA-96B0-FF07-5037641CCA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8.7 </a:t>
            </a:r>
            <a:r>
              <a:rPr lang="ko-KR" altLang="en-US" dirty="0"/>
              <a:t>다형 객체의 수명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4F88756-862A-AA49-22F1-DB18FF4D19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z="2400" dirty="0"/>
              <a:t>다형 객체 →파생 클래스 객체를 </a:t>
            </a:r>
            <a:r>
              <a:rPr lang="ko-KR" altLang="ko-KR" sz="2400" dirty="0"/>
              <a:t>기반 클래스 포인터</a:t>
            </a:r>
            <a:r>
              <a:rPr lang="en-US" altLang="ko-KR" sz="2400" dirty="0"/>
              <a:t>,</a:t>
            </a:r>
            <a:r>
              <a:rPr lang="ko-KR" altLang="ko-KR" sz="2400" dirty="0"/>
              <a:t> 참조</a:t>
            </a:r>
            <a:r>
              <a:rPr lang="ko-KR" altLang="en-US" sz="2400" dirty="0"/>
              <a:t>로 활용</a:t>
            </a:r>
            <a:endParaRPr lang="en-US" altLang="ko-KR" sz="2400" dirty="0"/>
          </a:p>
          <a:p>
            <a:pPr lvl="0"/>
            <a:r>
              <a:rPr lang="ko-KR" altLang="ko-KR" sz="2400" dirty="0"/>
              <a:t>다형 객체를 기반 클래스 포인터로 관리할 때 수명 설계가 중요</a:t>
            </a:r>
          </a:p>
          <a:p>
            <a:pPr lvl="0"/>
            <a:r>
              <a:rPr lang="ko-KR" altLang="ko-KR" sz="2400" dirty="0"/>
              <a:t>기반 클래스 소멸자는 가상이어야 함</a:t>
            </a:r>
          </a:p>
          <a:p>
            <a:pPr lvl="0"/>
            <a:r>
              <a:rPr lang="ko-KR" altLang="ko-KR" sz="2400" dirty="0"/>
              <a:t>객체 잘림 방지 필요</a:t>
            </a:r>
          </a:p>
          <a:p>
            <a:pPr lvl="0"/>
            <a:r>
              <a:rPr lang="ko-KR" altLang="ko-KR" sz="2400" dirty="0"/>
              <a:t>다형 복사는 </a:t>
            </a:r>
            <a:r>
              <a:rPr lang="ko-KR" altLang="ko-KR" sz="2400" dirty="0" err="1"/>
              <a:t>Clone</a:t>
            </a:r>
            <a:r>
              <a:rPr lang="ko-KR" altLang="ko-KR" sz="2400" dirty="0"/>
              <a:t> 패턴으로 처리 가능</a:t>
            </a:r>
          </a:p>
          <a:p>
            <a:pPr lvl="0"/>
            <a:r>
              <a:rPr lang="ko-KR" altLang="ko-KR" sz="2400" dirty="0"/>
              <a:t>스마트 포인터 컨테이너로 소유권을 표현</a:t>
            </a:r>
          </a:p>
          <a:p>
            <a:endParaRPr lang="ko-KR" altLang="en-US" sz="2400" dirty="0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A64986B4-7932-B151-AAB0-EBD50DCF7F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1131162"/>
              </p:ext>
            </p:extLst>
          </p:nvPr>
        </p:nvGraphicFramePr>
        <p:xfrm>
          <a:off x="611560" y="3608387"/>
          <a:ext cx="6018014" cy="2692752"/>
        </p:xfrm>
        <a:graphic>
          <a:graphicData uri="http://schemas.openxmlformats.org/drawingml/2006/table">
            <a:tbl>
              <a:tblPr/>
              <a:tblGrid>
                <a:gridCol w="2780252">
                  <a:extLst>
                    <a:ext uri="{9D8B030D-6E8A-4147-A177-3AD203B41FA5}">
                      <a16:colId xmlns:a16="http://schemas.microsoft.com/office/drawing/2014/main" val="3456453394"/>
                    </a:ext>
                  </a:extLst>
                </a:gridCol>
                <a:gridCol w="3237762">
                  <a:extLst>
                    <a:ext uri="{9D8B030D-6E8A-4147-A177-3AD203B41FA5}">
                      <a16:colId xmlns:a16="http://schemas.microsoft.com/office/drawing/2014/main" val="397850794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Pretendard ExtraBold" panose="02000903000000020004" pitchFamily="50" charset="-127"/>
                        </a:rPr>
                        <a:t>문제</a:t>
                      </a:r>
                      <a:endParaRPr lang="ko-KR" sz="3600" dirty="0">
                        <a:effectLst/>
                        <a:latin typeface="+mn-ea"/>
                        <a:ea typeface="+mn-ea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Pretendard ExtraBold" panose="02000903000000020004" pitchFamily="50" charset="-127"/>
                        </a:rPr>
                        <a:t>대응</a:t>
                      </a:r>
                      <a:endParaRPr lang="ko-KR" sz="3600" dirty="0">
                        <a:effectLst/>
                        <a:latin typeface="+mn-ea"/>
                        <a:ea typeface="+mn-ea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86832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기반 포인터 삭제</a:t>
                      </a:r>
                      <a:endParaRPr lang="ko-KR" sz="36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가상 </a:t>
                      </a:r>
                      <a:r>
                        <a:rPr lang="ko-KR" sz="20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소멸자</a:t>
                      </a:r>
                      <a:endParaRPr lang="ko-KR" sz="36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66959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기반 값 복사</a:t>
                      </a:r>
                      <a:endParaRPr lang="ko-KR" sz="3600" dirty="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 err="1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참조·포인터</a:t>
                      </a:r>
                      <a:r>
                        <a:rPr lang="ko-KR" sz="20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전달</a:t>
                      </a:r>
                      <a:endParaRPr lang="ko-KR" sz="3600" dirty="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50281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컨테이너 저장</a:t>
                      </a:r>
                      <a:endParaRPr lang="ko-KR" sz="36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std</a:t>
                      </a:r>
                      <a:r>
                        <a:rPr lang="ko-KR" sz="20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::</a:t>
                      </a:r>
                      <a:r>
                        <a:rPr lang="ko-KR" sz="20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unique_ptr</a:t>
                      </a:r>
                      <a:r>
                        <a:rPr lang="ko-KR" sz="20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&lt;</a:t>
                      </a:r>
                      <a:r>
                        <a:rPr lang="ko-KR" sz="20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Base</a:t>
                      </a:r>
                      <a:r>
                        <a:rPr lang="ko-KR" sz="20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&gt;</a:t>
                      </a:r>
                      <a:endParaRPr lang="ko-KR" sz="36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32498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동적 타입 유지 복사</a:t>
                      </a:r>
                      <a:endParaRPr lang="ko-KR" sz="360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가상 </a:t>
                      </a:r>
                      <a:r>
                        <a:rPr lang="ko-KR" sz="2000" b="0" i="0" u="none" strike="noStrike" dirty="0" err="1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Clone</a:t>
                      </a:r>
                      <a:r>
                        <a:rPr lang="ko-KR" sz="20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()</a:t>
                      </a:r>
                      <a:endParaRPr lang="ko-KR" sz="3600" dirty="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48955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원시 포인터 소유</a:t>
                      </a:r>
                      <a:endParaRPr lang="ko-KR" sz="360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스마트 포인터 사용</a:t>
                      </a:r>
                      <a:endParaRPr lang="ko-KR" sz="3600" dirty="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63377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134373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BC5717-320E-4047-B1BE-7D7FF8301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8545E0-41D2-C49A-D2DF-91F4FBC983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8.7.1 </a:t>
            </a:r>
            <a:r>
              <a:rPr lang="ko-KR" altLang="en-US" dirty="0"/>
              <a:t>가상 </a:t>
            </a:r>
            <a:r>
              <a:rPr lang="ko-KR" altLang="en-US" dirty="0" err="1"/>
              <a:t>소멸자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FEA2B8-3B44-04C6-3C08-0AE4EACFF8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dirty="0"/>
              <a:t>기반 클래스 포인터를 통해 파생 객체를 삭제할 가능성이 있으면 기반 클래스 소멸자는 가상</a:t>
            </a:r>
          </a:p>
          <a:p>
            <a:pPr lvl="0"/>
            <a:r>
              <a:rPr lang="ko-KR" altLang="ko-KR" dirty="0"/>
              <a:t>파생 클래스 소멸자는 자동으로 가상 함수</a:t>
            </a:r>
          </a:p>
          <a:p>
            <a:pPr lvl="0"/>
            <a:r>
              <a:rPr lang="ko-KR" altLang="ko-KR" dirty="0" err="1"/>
              <a:t>override</a:t>
            </a:r>
            <a:r>
              <a:rPr lang="en-US" altLang="ko-KR" dirty="0"/>
              <a:t> </a:t>
            </a:r>
            <a:r>
              <a:rPr lang="ko-KR" altLang="ko-KR" dirty="0"/>
              <a:t>를 소멸자에도 사용할 수 있음</a:t>
            </a:r>
          </a:p>
          <a:p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A2A52C-0309-99E1-5478-4B79C2C09338}"/>
              </a:ext>
            </a:extLst>
          </p:cNvPr>
          <p:cNvSpPr txBox="1"/>
          <p:nvPr/>
        </p:nvSpPr>
        <p:spPr>
          <a:xfrm>
            <a:off x="532532" y="2852936"/>
            <a:ext cx="4039468" cy="2246769"/>
          </a:xfrm>
          <a:prstGeom prst="rect">
            <a:avLst/>
          </a:prstGeom>
          <a:solidFill>
            <a:srgbClr val="FAFAFA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GameObject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virtual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~GameObject() =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default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GameObject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~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override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default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32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8EBEF8-3C9D-1B8D-5D07-FC6A006B5C98}"/>
              </a:ext>
            </a:extLst>
          </p:cNvPr>
          <p:cNvSpPr txBox="1"/>
          <p:nvPr/>
        </p:nvSpPr>
        <p:spPr>
          <a:xfrm>
            <a:off x="539750" y="5288945"/>
            <a:ext cx="4039468" cy="523220"/>
          </a:xfrm>
          <a:prstGeom prst="rect">
            <a:avLst/>
          </a:prstGeom>
          <a:solidFill>
            <a:srgbClr val="FAFAFA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GameObject*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object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new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BossMonster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delete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object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endParaRPr lang="ko-KR" altLang="en-US" sz="32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FB41D534-E4EC-3585-52EC-D64460AE46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9761682"/>
              </p:ext>
            </p:extLst>
          </p:nvPr>
        </p:nvGraphicFramePr>
        <p:xfrm>
          <a:off x="4788123" y="4587885"/>
          <a:ext cx="2664296" cy="1224280"/>
        </p:xfrm>
        <a:graphic>
          <a:graphicData uri="http://schemas.openxmlformats.org/drawingml/2006/table">
            <a:tbl>
              <a:tblPr/>
              <a:tblGrid>
                <a:gridCol w="2664296">
                  <a:extLst>
                    <a:ext uri="{9D8B030D-6E8A-4147-A177-3AD203B41FA5}">
                      <a16:colId xmlns:a16="http://schemas.microsoft.com/office/drawing/2014/main" val="225812964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800" b="0" i="0" u="none" strike="noStrike" dirty="0" err="1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BossMonster</a:t>
                      </a:r>
                      <a:r>
                        <a:rPr lang="ko-KR" sz="18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소멸</a:t>
                      </a:r>
                      <a:br>
                        <a:rPr lang="ko-KR" sz="18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1800" b="0" i="0" u="none" strike="noStrike" dirty="0" err="1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MobBase</a:t>
                      </a:r>
                      <a:r>
                        <a:rPr lang="ko-KR" sz="18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소멸</a:t>
                      </a:r>
                      <a:br>
                        <a:rPr lang="ko-KR" sz="18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1800" b="0" i="0" u="none" strike="noStrike" dirty="0" err="1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Character</a:t>
                      </a:r>
                      <a:r>
                        <a:rPr lang="ko-KR" sz="18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소멸</a:t>
                      </a:r>
                      <a:br>
                        <a:rPr lang="ko-KR" sz="18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18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GameObject 소멸</a:t>
                      </a:r>
                      <a:endParaRPr lang="ko-KR" sz="32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2332396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3A6528EF-12F1-896A-A294-E729D4743344}"/>
              </a:ext>
            </a:extLst>
          </p:cNvPr>
          <p:cNvSpPr txBox="1"/>
          <p:nvPr/>
        </p:nvSpPr>
        <p:spPr>
          <a:xfrm>
            <a:off x="539749" y="6093738"/>
            <a:ext cx="6912669" cy="369332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 marL="342900" lvl="0" indent="-342900" rtl="0" fontAlgn="base">
              <a:buFont typeface="Arial" panose="020B0604020202020204" pitchFamily="34" charset="0"/>
              <a:buChar char="•"/>
            </a:pPr>
            <a:r>
              <a:rPr lang="ko-KR" altLang="ko-KR" sz="18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기반 소멸자가 비가상이면 기반 포인터 삭제는 정의되지 않은 동작</a:t>
            </a:r>
            <a:endParaRPr lang="ko-KR" altLang="ko-KR" sz="2000" b="0" i="0" u="none" strike="noStrike" dirty="0">
              <a:solidFill>
                <a:srgbClr val="333333"/>
              </a:solidFill>
              <a:effectLst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3090055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DA2D8-2708-B1AD-0237-A27AF7C719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3A0FB5-9726-3D46-0B75-7A7A15DF0A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8.7.3 </a:t>
            </a:r>
            <a:r>
              <a:rPr lang="ko-KR" altLang="en-US" dirty="0"/>
              <a:t>객체 잘림</a:t>
            </a:r>
            <a:r>
              <a:rPr lang="ko-KR" altLang="ko-KR" dirty="0"/>
              <a:t>(</a:t>
            </a:r>
            <a:r>
              <a:rPr lang="en-US" altLang="ko-KR" dirty="0"/>
              <a:t>O</a:t>
            </a:r>
            <a:r>
              <a:rPr lang="ko-KR" altLang="ko-KR" dirty="0"/>
              <a:t>bject </a:t>
            </a:r>
            <a:r>
              <a:rPr lang="ko-KR" altLang="ko-KR" dirty="0" err="1"/>
              <a:t>slicing</a:t>
            </a:r>
            <a:r>
              <a:rPr lang="ko-KR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18318EE-EB79-1B6F-39A7-9D53DFF3CE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sz="2400" dirty="0"/>
              <a:t>파생 객체를 기반 클래스 값으로 복사하면 기반 클래스 부분만 복사됨</a:t>
            </a:r>
          </a:p>
          <a:p>
            <a:pPr lvl="0"/>
            <a:r>
              <a:rPr lang="ko-KR" altLang="ko-KR" sz="2400" dirty="0"/>
              <a:t>파생 클래스 부분은 사라짐</a:t>
            </a:r>
          </a:p>
          <a:p>
            <a:pPr lvl="0"/>
            <a:r>
              <a:rPr lang="ko-KR" altLang="ko-KR" sz="2400" dirty="0"/>
              <a:t>이를 객체 잘림이라고 함</a:t>
            </a:r>
          </a:p>
          <a:p>
            <a:endParaRPr lang="ko-KR" altLang="en-US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13585E-CAAB-A32F-0DA8-FB44308754E6}"/>
              </a:ext>
            </a:extLst>
          </p:cNvPr>
          <p:cNvSpPr txBox="1"/>
          <p:nvPr/>
        </p:nvSpPr>
        <p:spPr>
          <a:xfrm>
            <a:off x="539750" y="2204864"/>
            <a:ext cx="3816226" cy="4185761"/>
          </a:xfrm>
          <a:prstGeom prst="rect">
            <a:avLst/>
          </a:prstGeom>
          <a:solidFill>
            <a:srgbClr val="FAFAFA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virtual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~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=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default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virtual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PrintType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4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\</a:t>
            </a:r>
            <a:r>
              <a:rPr lang="ko-KR" altLang="ko-KR" sz="14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PrintType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override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4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\</a:t>
            </a:r>
            <a:r>
              <a:rPr lang="ko-KR" altLang="ko-KR" sz="14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32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2971F7C-31E3-7721-1C7D-FABBF7799332}"/>
              </a:ext>
            </a:extLst>
          </p:cNvPr>
          <p:cNvSpPr txBox="1"/>
          <p:nvPr/>
        </p:nvSpPr>
        <p:spPr>
          <a:xfrm>
            <a:off x="4355976" y="3759135"/>
            <a:ext cx="4050196" cy="1077218"/>
          </a:xfrm>
          <a:prstGeom prst="rect">
            <a:avLst/>
          </a:prstGeom>
          <a:solidFill>
            <a:srgbClr val="FAFAFA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copied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copied.PrintType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(); </a:t>
            </a:r>
            <a:r>
              <a:rPr lang="ko-KR" altLang="ko-KR" sz="16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// </a:t>
            </a:r>
            <a:r>
              <a:rPr lang="ko-KR" altLang="ko-KR" sz="1600" b="0" i="1" u="none" strike="noStrike" dirty="0" err="1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33F494-E9EE-A3F2-349C-973B0A088995}"/>
              </a:ext>
            </a:extLst>
          </p:cNvPr>
          <p:cNvSpPr txBox="1"/>
          <p:nvPr/>
        </p:nvSpPr>
        <p:spPr>
          <a:xfrm>
            <a:off x="4355976" y="5085184"/>
            <a:ext cx="4050196" cy="830997"/>
          </a:xfrm>
          <a:prstGeom prst="rect">
            <a:avLst/>
          </a:prstGeom>
          <a:solidFill>
            <a:srgbClr val="FAFAFA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 marL="342900" lvl="0" indent="-342900" rtl="0" fontAlgn="base">
              <a:buFont typeface="Arial" panose="020B0604020202020204" pitchFamily="34" charset="0"/>
              <a:buChar char="•"/>
            </a:pPr>
            <a:r>
              <a:rPr lang="ko-KR" altLang="ko-KR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다형 객체는 값이 아니라 참조나 포인터로 전달</a:t>
            </a:r>
            <a:endParaRPr lang="ko-KR" altLang="ko-KR" sz="2800" b="0" i="0" u="none" strike="noStrike" dirty="0">
              <a:solidFill>
                <a:srgbClr val="333333"/>
              </a:solidFill>
              <a:effectLst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4931087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2FCAB9-F221-4DAE-F64F-6497F1095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F1B19B-E89B-FCFE-6A74-A2B3565362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8.7.4 </a:t>
            </a:r>
            <a:r>
              <a:rPr lang="ko-KR" altLang="en-US" dirty="0"/>
              <a:t>다형 객체의 복사와 </a:t>
            </a:r>
            <a:r>
              <a:rPr lang="en-US" altLang="ko-KR" dirty="0"/>
              <a:t>Clone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13966B-7919-E888-5C5C-FED08B71AE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dirty="0"/>
              <a:t>기반 클래스 포인터가 가리키는 구체 타입을 유지하며 복사하려면 가상 복제 함수 제공</a:t>
            </a:r>
          </a:p>
          <a:p>
            <a:pPr lvl="0"/>
            <a:r>
              <a:rPr lang="ko-KR" altLang="ko-KR" dirty="0">
                <a:solidFill>
                  <a:srgbClr val="0070C0"/>
                </a:solidFill>
              </a:rPr>
              <a:t>반환 타입은 기반 스마트 포인터</a:t>
            </a:r>
            <a:r>
              <a:rPr lang="ko-KR" altLang="ko-KR" dirty="0"/>
              <a:t>로 통일</a:t>
            </a:r>
          </a:p>
          <a:p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A69F8CE-46C1-59FE-9D7A-0449594456F4}"/>
              </a:ext>
            </a:extLst>
          </p:cNvPr>
          <p:cNvSpPr txBox="1"/>
          <p:nvPr/>
        </p:nvSpPr>
        <p:spPr>
          <a:xfrm>
            <a:off x="539750" y="2270453"/>
            <a:ext cx="5184378" cy="954107"/>
          </a:xfrm>
          <a:prstGeom prst="rect">
            <a:avLst/>
          </a:prstGeom>
          <a:solidFill>
            <a:srgbClr val="FFFFFF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GameObject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virtual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~GameObject() =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default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virtual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unique_ptr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&lt;GameObject&gt;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Clone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4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0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endParaRPr lang="ko-KR" altLang="en-US" sz="32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13BAE7-18A1-A6B0-23CC-358C75F0EBB8}"/>
              </a:ext>
            </a:extLst>
          </p:cNvPr>
          <p:cNvSpPr txBox="1"/>
          <p:nvPr/>
        </p:nvSpPr>
        <p:spPr>
          <a:xfrm>
            <a:off x="971600" y="3232393"/>
            <a:ext cx="5286946" cy="1169551"/>
          </a:xfrm>
          <a:prstGeom prst="rect">
            <a:avLst/>
          </a:prstGeom>
          <a:solidFill>
            <a:srgbClr val="FFFFFF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PlayerBase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unique_ptr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&lt;GameObject&gt;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Clone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override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return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make_unique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&gt;(*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this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</a:t>
            </a:r>
            <a:endParaRPr lang="ko-KR" altLang="en-US" sz="32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5BE6E7-08CD-05D8-A082-AE155E525BEA}"/>
              </a:ext>
            </a:extLst>
          </p:cNvPr>
          <p:cNvSpPr txBox="1"/>
          <p:nvPr/>
        </p:nvSpPr>
        <p:spPr>
          <a:xfrm>
            <a:off x="1470695" y="4402356"/>
            <a:ext cx="5646986" cy="1169551"/>
          </a:xfrm>
          <a:prstGeom prst="rect">
            <a:avLst/>
          </a:prstGeom>
          <a:solidFill>
            <a:srgbClr val="FFFFFF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BossMonster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MobBase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unique_ptr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&lt;GameObject&gt;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Clone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override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return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make_unique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BossMonster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&gt;(*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this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</a:t>
            </a:r>
            <a:endParaRPr lang="ko-KR" altLang="en-US" sz="32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8B5838D-2A18-56CB-22A5-01F4C202D721}"/>
              </a:ext>
            </a:extLst>
          </p:cNvPr>
          <p:cNvSpPr txBox="1"/>
          <p:nvPr/>
        </p:nvSpPr>
        <p:spPr>
          <a:xfrm>
            <a:off x="2329080" y="5579601"/>
            <a:ext cx="5987336" cy="338554"/>
          </a:xfrm>
          <a:prstGeom prst="rect">
            <a:avLst/>
          </a:prstGeom>
          <a:solidFill>
            <a:srgbClr val="FFFFFF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unique_ptr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&lt;GameObject&gt;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copied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original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-&gt;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Clone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();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8665404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2916D6-BDE2-09F4-883E-37BDD4F0D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62F501-4DC2-269F-F445-CE44102D32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8.7.5 </a:t>
            </a:r>
            <a:r>
              <a:rPr lang="ko-KR" altLang="en-US" dirty="0"/>
              <a:t>스마트 포인터와 다형 객체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F174CF5-3B52-9A03-C8A8-2606840596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sz="2400" dirty="0"/>
              <a:t>고유 소유권을 가진 다형 객체는 </a:t>
            </a:r>
            <a:r>
              <a:rPr lang="ko-KR" altLang="ko-KR" sz="2400" dirty="0" err="1">
                <a:solidFill>
                  <a:srgbClr val="0000FF"/>
                </a:solidFill>
              </a:rPr>
              <a:t>std</a:t>
            </a:r>
            <a:r>
              <a:rPr lang="ko-KR" altLang="ko-KR" sz="2400" dirty="0">
                <a:solidFill>
                  <a:srgbClr val="0000FF"/>
                </a:solidFill>
              </a:rPr>
              <a:t>::</a:t>
            </a:r>
            <a:r>
              <a:rPr lang="ko-KR" altLang="ko-KR" sz="2400" dirty="0" err="1">
                <a:solidFill>
                  <a:srgbClr val="0000FF"/>
                </a:solidFill>
              </a:rPr>
              <a:t>unique_ptr</a:t>
            </a:r>
            <a:r>
              <a:rPr lang="ko-KR" altLang="ko-KR" sz="2400" dirty="0">
                <a:solidFill>
                  <a:srgbClr val="0000FF"/>
                </a:solidFill>
              </a:rPr>
              <a:t>&lt;</a:t>
            </a:r>
            <a:r>
              <a:rPr lang="ko-KR" altLang="ko-KR" sz="2400" dirty="0" err="1">
                <a:solidFill>
                  <a:srgbClr val="0000FF"/>
                </a:solidFill>
              </a:rPr>
              <a:t>Base</a:t>
            </a:r>
            <a:r>
              <a:rPr lang="ko-KR" altLang="ko-KR" sz="2400" dirty="0">
                <a:solidFill>
                  <a:srgbClr val="0000FF"/>
                </a:solidFill>
              </a:rPr>
              <a:t>&gt;</a:t>
            </a:r>
            <a:r>
              <a:rPr lang="ko-KR" altLang="ko-KR" sz="2400" dirty="0"/>
              <a:t>로 관리</a:t>
            </a:r>
          </a:p>
          <a:p>
            <a:pPr lvl="0"/>
            <a:r>
              <a:rPr lang="ko-KR" altLang="ko-KR" sz="2400" dirty="0"/>
              <a:t>컨테이너에 기반 클래스 값을 직접 저장하지 않음</a:t>
            </a:r>
          </a:p>
          <a:p>
            <a:pPr lvl="0"/>
            <a:r>
              <a:rPr lang="ko-KR" altLang="ko-KR" sz="2400" dirty="0"/>
              <a:t>객체 잘림 없이 동적 타입 유지</a:t>
            </a:r>
          </a:p>
          <a:p>
            <a:endParaRPr lang="ko-KR" altLang="en-US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986804-ADFF-1959-3EAC-BBE7A2487BCD}"/>
              </a:ext>
            </a:extLst>
          </p:cNvPr>
          <p:cNvSpPr txBox="1"/>
          <p:nvPr/>
        </p:nvSpPr>
        <p:spPr>
          <a:xfrm>
            <a:off x="534392" y="2292642"/>
            <a:ext cx="7710016" cy="3539430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vector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unique_ptr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&lt;GameObject&gt;&gt;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objects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objects.push_back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make_unique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&gt;());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objects.push_back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make_unique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Monster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&gt;());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objects.push_back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make_unique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BossMonster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&gt;());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for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(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auto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&amp;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object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objects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object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-&gt;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Update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object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-&gt;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Render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unique_ptr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concrete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make_unique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&gt;();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unique_ptr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&lt;GameObject&gt;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object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move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concrete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3201140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9C8D88-A1C7-3B6F-EEA0-1BC8117B0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EDA59F-4097-2B0C-8CFE-17A9FF750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8.8 </a:t>
            </a:r>
            <a:r>
              <a:rPr lang="ko-KR" altLang="en-US" dirty="0"/>
              <a:t>형 변환과 </a:t>
            </a:r>
            <a:r>
              <a:rPr lang="en-US" altLang="ko-KR" dirty="0"/>
              <a:t>RTTI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9EC6F2F-D0B6-CC3E-0709-595F8112FF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sz="2400" dirty="0"/>
              <a:t>상속 계층의 포인터와 참조는 업캐스팅과 다운캐스팅을 지원</a:t>
            </a:r>
          </a:p>
          <a:p>
            <a:pPr lvl="0"/>
            <a:r>
              <a:rPr lang="ko-KR" altLang="ko-KR" sz="2400" dirty="0" err="1"/>
              <a:t>RTTI는</a:t>
            </a:r>
            <a:r>
              <a:rPr lang="ko-KR" altLang="ko-KR" sz="2400" dirty="0"/>
              <a:t> 실행 중 실제 타입을 확인하는 기능</a:t>
            </a:r>
          </a:p>
          <a:p>
            <a:endParaRPr lang="ko-KR" altLang="en-US" sz="2400" dirty="0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5C24B601-15A0-DEAA-69E0-54C9A3AFB4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5098350"/>
              </p:ext>
            </p:extLst>
          </p:nvPr>
        </p:nvGraphicFramePr>
        <p:xfrm>
          <a:off x="539750" y="1844824"/>
          <a:ext cx="7776665" cy="2692752"/>
        </p:xfrm>
        <a:graphic>
          <a:graphicData uri="http://schemas.openxmlformats.org/drawingml/2006/table">
            <a:tbl>
              <a:tblPr/>
              <a:tblGrid>
                <a:gridCol w="2016026">
                  <a:extLst>
                    <a:ext uri="{9D8B030D-6E8A-4147-A177-3AD203B41FA5}">
                      <a16:colId xmlns:a16="http://schemas.microsoft.com/office/drawing/2014/main" val="916906923"/>
                    </a:ext>
                  </a:extLst>
                </a:gridCol>
                <a:gridCol w="2016224">
                  <a:extLst>
                    <a:ext uri="{9D8B030D-6E8A-4147-A177-3AD203B41FA5}">
                      <a16:colId xmlns:a16="http://schemas.microsoft.com/office/drawing/2014/main" val="2928385086"/>
                    </a:ext>
                  </a:extLst>
                </a:gridCol>
                <a:gridCol w="3744415">
                  <a:extLst>
                    <a:ext uri="{9D8B030D-6E8A-4147-A177-3AD203B41FA5}">
                      <a16:colId xmlns:a16="http://schemas.microsoft.com/office/drawing/2014/main" val="57914831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Pretendard ExtraBold" panose="02000903000000020004" pitchFamily="50" charset="-127"/>
                        </a:rPr>
                        <a:t>변환</a:t>
                      </a:r>
                      <a:endParaRPr lang="ko-KR" sz="3600" dirty="0">
                        <a:effectLst/>
                        <a:latin typeface="+mn-ea"/>
                        <a:ea typeface="+mn-ea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Pretendard ExtraBold" panose="02000903000000020004" pitchFamily="50" charset="-127"/>
                        </a:rPr>
                        <a:t>의미</a:t>
                      </a:r>
                      <a:endParaRPr lang="ko-KR" sz="3600" dirty="0">
                        <a:effectLst/>
                        <a:latin typeface="+mn-ea"/>
                        <a:ea typeface="+mn-ea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Pretendard ExtraBold" panose="02000903000000020004" pitchFamily="50" charset="-127"/>
                        </a:rPr>
                        <a:t>안전성</a:t>
                      </a:r>
                      <a:endParaRPr lang="ko-KR" sz="3600" dirty="0">
                        <a:effectLst/>
                        <a:latin typeface="+mn-ea"/>
                        <a:ea typeface="+mn-ea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05820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업캐스팅</a:t>
                      </a:r>
                      <a:endParaRPr lang="ko-KR" sz="3600" dirty="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파생 → 기반</a:t>
                      </a:r>
                      <a:endParaRPr lang="ko-KR" sz="3600" dirty="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공개 상속에서는 </a:t>
                      </a:r>
                      <a:r>
                        <a:rPr lang="ko-KR" sz="20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일반적으로 안전</a:t>
                      </a:r>
                      <a:endParaRPr lang="ko-KR" sz="3600" dirty="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0589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다운캐스팅</a:t>
                      </a:r>
                      <a:endParaRPr lang="ko-KR" sz="360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기반 → 파생</a:t>
                      </a:r>
                      <a:endParaRPr lang="ko-KR" sz="3600" dirty="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실제 타입 확인 </a:t>
                      </a:r>
                      <a:r>
                        <a:rPr 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필요</a:t>
                      </a:r>
                      <a:endParaRPr lang="ko-KR" sz="36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01351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static_cast</a:t>
                      </a:r>
                      <a:endParaRPr lang="ko-KR" sz="360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실행 중 검사 없음</a:t>
                      </a:r>
                      <a:endParaRPr lang="ko-KR" sz="36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타입 보장 없으면 </a:t>
                      </a:r>
                      <a:r>
                        <a:rPr lang="ko-KR" sz="20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위험</a:t>
                      </a:r>
                      <a:endParaRPr lang="ko-KR" sz="3600" dirty="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80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dynamic_cast</a:t>
                      </a:r>
                      <a:endParaRPr lang="ko-KR" sz="360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실행 중 타입 검사</a:t>
                      </a:r>
                      <a:endParaRPr lang="ko-KR" sz="360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다형 기반 클래스 </a:t>
                      </a:r>
                      <a:r>
                        <a:rPr 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필요</a:t>
                      </a:r>
                      <a:endParaRPr lang="ko-KR" sz="36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28510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typeid</a:t>
                      </a:r>
                      <a:endParaRPr lang="ko-KR" sz="360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타입 정보 확인</a:t>
                      </a:r>
                      <a:endParaRPr lang="ko-KR" sz="36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문자열 형식은 </a:t>
                      </a:r>
                      <a:r>
                        <a:rPr lang="ko-KR" sz="20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구현 의존</a:t>
                      </a:r>
                      <a:endParaRPr lang="ko-KR" sz="3600" dirty="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99692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2070842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A53405-DBBF-7B0E-BD40-A2C2434573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98F580-0E38-23E6-DE2A-F628F8CB6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8.8.1 </a:t>
            </a:r>
            <a:r>
              <a:rPr lang="ko-KR" altLang="en-US" dirty="0"/>
              <a:t>업캐스팅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706A81-3AFD-F1D6-0BC8-7E978AD2B9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sz="2400" dirty="0"/>
              <a:t>파생 클래스 포인터나 참조를 접근 가능한 기반 클래스 포인터나 참조로 변환</a:t>
            </a:r>
          </a:p>
          <a:p>
            <a:pPr lvl="0"/>
            <a:r>
              <a:rPr lang="ko-KR" altLang="ko-KR" sz="2400" dirty="0"/>
              <a:t>공개 상속에서는 일반적으로 암시적으로 수행 가능</a:t>
            </a:r>
          </a:p>
          <a:p>
            <a:pPr lvl="0"/>
            <a:r>
              <a:rPr lang="ko-KR" altLang="ko-KR" sz="2400" dirty="0"/>
              <a:t>업캐스팅 후에는 정적 타입이 제공하는 인터페이스만 사용 가능</a:t>
            </a:r>
          </a:p>
          <a:p>
            <a:endParaRPr lang="ko-KR" altLang="en-US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F2DB21-BA3C-A21C-4E9A-EBEB08F62328}"/>
              </a:ext>
            </a:extLst>
          </p:cNvPr>
          <p:cNvSpPr txBox="1"/>
          <p:nvPr/>
        </p:nvSpPr>
        <p:spPr>
          <a:xfrm>
            <a:off x="539750" y="2492752"/>
            <a:ext cx="7632650" cy="3785652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PlayerBase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*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playerBase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&amp;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*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&amp;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GameObject*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object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&amp;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BossMonster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boss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MobBase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&amp;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mob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boss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&amp;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boss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GameObject&amp;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object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boss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GameObject&amp;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object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boss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object.Update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// </a:t>
            </a:r>
            <a:r>
              <a:rPr lang="ko-KR" altLang="ko-KR" sz="1600" b="0" i="1" u="none" strike="noStrike" dirty="0" err="1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object.EnterRageMode</a:t>
            </a:r>
            <a:r>
              <a:rPr lang="ko-KR" altLang="ko-KR" sz="16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(); // 오류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6201700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C1B6A-D70C-AF59-68FA-6B60EE0F0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8C6815-4B2B-BD91-DB5A-889CAF9B3A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8.8.2 </a:t>
            </a:r>
            <a:r>
              <a:rPr lang="ko-KR" altLang="en-US" dirty="0"/>
              <a:t>다운캐스팅과 </a:t>
            </a:r>
            <a:r>
              <a:rPr lang="en-US" altLang="ko-KR" dirty="0" err="1"/>
              <a:t>dynamic_cast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239ED04-F2BC-F270-4DDE-C6ED51B50D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sz="2400" dirty="0"/>
              <a:t>기반 클래스 포인터나 참조를 더 구체적인 파생 클래스 타입으로 변환</a:t>
            </a:r>
          </a:p>
          <a:p>
            <a:pPr lvl="0"/>
            <a:r>
              <a:rPr lang="ko-KR" altLang="ko-KR" sz="2400" dirty="0" err="1">
                <a:solidFill>
                  <a:srgbClr val="0070C0"/>
                </a:solidFill>
              </a:rPr>
              <a:t>static_cast</a:t>
            </a:r>
            <a:r>
              <a:rPr lang="en-US" altLang="ko-KR" sz="2400" dirty="0"/>
              <a:t>:</a:t>
            </a:r>
            <a:r>
              <a:rPr lang="ko-KR" altLang="ko-KR" sz="2400" dirty="0"/>
              <a:t> 실행 중 타입을 검사하지 않음</a:t>
            </a:r>
          </a:p>
          <a:p>
            <a:pPr lvl="0"/>
            <a:r>
              <a:rPr lang="ko-KR" altLang="ko-KR" sz="2400" dirty="0" err="1">
                <a:solidFill>
                  <a:srgbClr val="0000FF"/>
                </a:solidFill>
              </a:rPr>
              <a:t>dynamic_cast</a:t>
            </a:r>
            <a:r>
              <a:rPr lang="en-US" altLang="ko-KR" sz="2400" dirty="0"/>
              <a:t>:</a:t>
            </a:r>
          </a:p>
          <a:p>
            <a:pPr lvl="1"/>
            <a:r>
              <a:rPr lang="en-US" altLang="ko-KR" sz="2000" dirty="0"/>
              <a:t> </a:t>
            </a:r>
            <a:r>
              <a:rPr lang="ko-KR" altLang="ko-KR" sz="2000" dirty="0"/>
              <a:t>다형 기반 클래스의 </a:t>
            </a:r>
            <a:r>
              <a:rPr lang="ko-KR" altLang="ko-KR" sz="2000" dirty="0" err="1"/>
              <a:t>RTTI를</a:t>
            </a:r>
            <a:r>
              <a:rPr lang="ko-KR" altLang="ko-KR" sz="2000" dirty="0"/>
              <a:t> 사용하여 타입 검사</a:t>
            </a:r>
            <a:r>
              <a:rPr lang="en-US" altLang="ko-KR" sz="2000" dirty="0"/>
              <a:t> </a:t>
            </a:r>
            <a:r>
              <a:rPr lang="ko-KR" altLang="en-US" sz="2000" dirty="0"/>
              <a:t>→ 실패 시 </a:t>
            </a:r>
            <a:r>
              <a:rPr lang="en-US" altLang="ko-KR" sz="2000" dirty="0">
                <a:solidFill>
                  <a:srgbClr val="0070C0"/>
                </a:solidFill>
              </a:rPr>
              <a:t>nullptr</a:t>
            </a:r>
            <a:r>
              <a:rPr lang="en-US" altLang="ko-KR" sz="2000" dirty="0"/>
              <a:t> </a:t>
            </a:r>
            <a:r>
              <a:rPr lang="ko-KR" altLang="en-US" sz="2000" dirty="0"/>
              <a:t>반환</a:t>
            </a:r>
            <a:endParaRPr lang="ko-KR" altLang="ko-KR" sz="2000" dirty="0"/>
          </a:p>
          <a:p>
            <a:endParaRPr lang="ko-KR" altLang="en-US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3013D1-9698-9AB6-B58F-5B81C96A7678}"/>
              </a:ext>
            </a:extLst>
          </p:cNvPr>
          <p:cNvSpPr txBox="1"/>
          <p:nvPr/>
        </p:nvSpPr>
        <p:spPr>
          <a:xfrm>
            <a:off x="545826" y="2493471"/>
            <a:ext cx="7986614" cy="4031873"/>
          </a:xfrm>
          <a:prstGeom prst="rect">
            <a:avLst/>
          </a:prstGeom>
          <a:solidFill>
            <a:srgbClr val="FFFFFF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ActivateBossMode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(GameObject*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object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 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BossMonster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*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boss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dynamic_cast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BossMonster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*&gt;(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object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if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(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boss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!= </a:t>
            </a:r>
            <a:r>
              <a:rPr lang="ko-KR" altLang="ko-KR" sz="1600" b="0" i="0" u="none" strike="noStrike" dirty="0">
                <a:solidFill>
                  <a:srgbClr val="0184BB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nullptr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boss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-&gt;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EnterRageMode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try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BossMonster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&amp;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boss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dynamic_cast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BossMonster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&amp;&gt;(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object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boss.EnterRageMode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catch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(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bad_cast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&amp;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error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error.what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&lt;&lt;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'\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3865022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1DC058-C6B6-D4E9-92D3-20BAF9F25A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2AE871-912B-7107-E7ED-D80FAFA786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8.8.5 </a:t>
            </a:r>
            <a:r>
              <a:rPr lang="ko-KR" altLang="en-US" dirty="0"/>
              <a:t>다운캐스팅을 줄이는 설계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CC5ECE6-BED0-69D2-81B3-59D67A3D59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dirty="0"/>
              <a:t>다운캐스팅이 반복되면 기반 인터페이스가 필요한 행동을 충분히 표현하지 못할 수 있음</a:t>
            </a:r>
          </a:p>
          <a:p>
            <a:pPr lvl="0"/>
            <a:r>
              <a:rPr lang="ko-KR" altLang="ko-KR" dirty="0"/>
              <a:t>타입 검사 분기보다 가상 함수나 작은 인터페이스로 표현</a:t>
            </a:r>
          </a:p>
          <a:p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2DDD81-1E53-F9E8-3AC4-8A05FFA1352A}"/>
              </a:ext>
            </a:extLst>
          </p:cNvPr>
          <p:cNvSpPr txBox="1"/>
          <p:nvPr/>
        </p:nvSpPr>
        <p:spPr>
          <a:xfrm>
            <a:off x="542776" y="2348880"/>
            <a:ext cx="6189464" cy="2462213"/>
          </a:xfrm>
          <a:prstGeom prst="rect">
            <a:avLst/>
          </a:prstGeom>
          <a:solidFill>
            <a:srgbClr val="FFFFFF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ExecuteAction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(GameObject&amp;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object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if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(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auto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*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monster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dynamic_cast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Monster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*&gt;(&amp;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object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))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monster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-&gt;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Attack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else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if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(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auto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*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boss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dynamic_cast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BossMonster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*&gt;(&amp;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object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))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boss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-&gt;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Attack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</a:t>
            </a:r>
            <a:endParaRPr lang="ko-KR" altLang="en-US" sz="32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A17BD23-CE1D-7820-29F4-3AF971BB98F2}"/>
              </a:ext>
            </a:extLst>
          </p:cNvPr>
          <p:cNvSpPr txBox="1"/>
          <p:nvPr/>
        </p:nvSpPr>
        <p:spPr>
          <a:xfrm>
            <a:off x="2535248" y="4307175"/>
            <a:ext cx="5925183" cy="2246769"/>
          </a:xfrm>
          <a:prstGeom prst="rect">
            <a:avLst/>
          </a:prstGeom>
          <a:solidFill>
            <a:srgbClr val="FFFFFF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MobBase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virtual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Attack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&amp;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target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 = </a:t>
            </a:r>
            <a:r>
              <a:rPr lang="ko-KR" altLang="ko-KR" sz="14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0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ExecuteAttack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MobBase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&amp;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mob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&amp;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target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mob.Attack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target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</a:t>
            </a:r>
            <a:endParaRPr lang="ko-KR" altLang="en-US" sz="32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982662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2F3DC0-F2DE-B793-C01F-29974E346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/>
              <a:t>8.9 다중 상속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18C5EB1-C146-5827-16D5-8DB57C341D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sz="2400" dirty="0">
                <a:solidFill>
                  <a:srgbClr val="0000FF"/>
                </a:solidFill>
              </a:rPr>
              <a:t>한 파생 클래스가 둘 이상의 기반 클래스 상속</a:t>
            </a:r>
          </a:p>
          <a:p>
            <a:pPr lvl="0"/>
            <a:r>
              <a:rPr lang="ko-KR" altLang="ko-KR" sz="2400" dirty="0"/>
              <a:t>여러 역할을 하나의 타입에 결합 가능</a:t>
            </a:r>
          </a:p>
          <a:p>
            <a:pPr lvl="0"/>
            <a:r>
              <a:rPr lang="ko-KR" altLang="ko-KR" sz="2400" dirty="0"/>
              <a:t>상태 중복, 이름 충돌, 다이아몬드 상속 문제 발생 가능</a:t>
            </a:r>
          </a:p>
          <a:p>
            <a:endParaRPr lang="ko-KR" altLang="en-US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645B9-3D81-6AD6-8692-7EEA720908C9}"/>
              </a:ext>
            </a:extLst>
          </p:cNvPr>
          <p:cNvSpPr txBox="1"/>
          <p:nvPr/>
        </p:nvSpPr>
        <p:spPr>
          <a:xfrm>
            <a:off x="323528" y="2204864"/>
            <a:ext cx="4776105" cy="3046988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2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2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ISavable</a:t>
            </a:r>
            <a:b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2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2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virtual</a:t>
            </a:r>
            <a: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~</a:t>
            </a:r>
            <a:r>
              <a:rPr lang="ko-KR" altLang="ko-KR" sz="12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ISavable</a:t>
            </a:r>
            <a: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= </a:t>
            </a:r>
            <a:r>
              <a:rPr lang="ko-KR" altLang="ko-KR" sz="12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default</a:t>
            </a:r>
            <a: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2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virtual</a:t>
            </a:r>
            <a: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2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2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Save</a:t>
            </a:r>
            <a: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2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2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ostream</a:t>
            </a:r>
            <a: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&amp; </a:t>
            </a:r>
            <a:r>
              <a:rPr lang="ko-KR" altLang="ko-KR" sz="12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output</a:t>
            </a:r>
            <a: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 </a:t>
            </a:r>
            <a:r>
              <a:rPr lang="ko-KR" altLang="ko-KR" sz="12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2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0</a:t>
            </a:r>
            <a: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b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2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2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BossMonster</a:t>
            </a:r>
            <a: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12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2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MobBase</a:t>
            </a:r>
            <a: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</a:t>
            </a:r>
            <a:b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            </a:t>
            </a:r>
            <a:r>
              <a:rPr lang="ko-KR" altLang="ko-KR" sz="12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2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ISavable</a:t>
            </a:r>
            <a:b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2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2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2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Save</a:t>
            </a:r>
            <a: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2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2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ostream</a:t>
            </a:r>
            <a: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&amp; </a:t>
            </a:r>
            <a:r>
              <a:rPr lang="ko-KR" altLang="ko-KR" sz="12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output</a:t>
            </a:r>
            <a: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 </a:t>
            </a:r>
            <a:r>
              <a:rPr lang="ko-KR" altLang="ko-KR" sz="12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2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override</a:t>
            </a:r>
            <a:b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b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2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output</a:t>
            </a:r>
            <a: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2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2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BossMonster</a:t>
            </a:r>
            <a:r>
              <a:rPr lang="ko-KR" altLang="ko-KR" sz="12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\</a:t>
            </a:r>
            <a:r>
              <a:rPr lang="ko-KR" altLang="ko-KR" sz="12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</a:t>
            </a:r>
            <a:r>
              <a:rPr lang="ko-KR" altLang="ko-KR" sz="12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</a:t>
            </a:r>
            <a:b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28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800A6663-2E0A-20E1-DBF0-BAAC183B60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901667"/>
              </p:ext>
            </p:extLst>
          </p:nvPr>
        </p:nvGraphicFramePr>
        <p:xfrm>
          <a:off x="3203848" y="4739726"/>
          <a:ext cx="5760640" cy="1764688"/>
        </p:xfrm>
        <a:graphic>
          <a:graphicData uri="http://schemas.openxmlformats.org/drawingml/2006/table">
            <a:tbl>
              <a:tblPr/>
              <a:tblGrid>
                <a:gridCol w="2776212">
                  <a:extLst>
                    <a:ext uri="{9D8B030D-6E8A-4147-A177-3AD203B41FA5}">
                      <a16:colId xmlns:a16="http://schemas.microsoft.com/office/drawing/2014/main" val="2010867794"/>
                    </a:ext>
                  </a:extLst>
                </a:gridCol>
                <a:gridCol w="2984428">
                  <a:extLst>
                    <a:ext uri="{9D8B030D-6E8A-4147-A177-3AD203B41FA5}">
                      <a16:colId xmlns:a16="http://schemas.microsoft.com/office/drawing/2014/main" val="29228588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Pretendard ExtraBold" panose="02000903000000020004" pitchFamily="50" charset="-127"/>
                        </a:rPr>
                        <a:t>형태</a:t>
                      </a:r>
                      <a:endParaRPr lang="ko-KR" sz="3200" dirty="0">
                        <a:effectLst/>
                        <a:latin typeface="+mn-ea"/>
                        <a:ea typeface="+mn-ea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Pretendard ExtraBold" panose="02000903000000020004" pitchFamily="50" charset="-127"/>
                        </a:rPr>
                        <a:t>위험</a:t>
                      </a:r>
                      <a:endParaRPr lang="ko-KR" sz="3200" dirty="0">
                        <a:effectLst/>
                        <a:latin typeface="+mn-ea"/>
                        <a:ea typeface="+mn-ea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78285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주 구현 계층 + 인터페이스</a:t>
                      </a:r>
                      <a:endParaRPr lang="ko-KR" sz="36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비교적 단순</a:t>
                      </a:r>
                      <a:endParaRPr lang="ko-KR" sz="36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96312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여러 상태 기반 클래스</a:t>
                      </a:r>
                      <a:endParaRPr lang="ko-KR" sz="3600" dirty="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이름 충돌, 상태 중복</a:t>
                      </a:r>
                      <a:endParaRPr lang="ko-KR" sz="3600" dirty="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0761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다이아몬드 구조</a:t>
                      </a:r>
                      <a:endParaRPr lang="ko-KR" sz="3600" dirty="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기반 부분 중복, 초기화 복잡</a:t>
                      </a:r>
                      <a:endParaRPr lang="ko-KR" sz="3600" dirty="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29262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7595082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13F38A-3F7E-3961-DC2E-D3E5A6878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164B2F-A474-5232-D6CD-9031F9B1E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8.9.2 </a:t>
            </a:r>
            <a:r>
              <a:rPr lang="ko-KR" altLang="en-US" dirty="0"/>
              <a:t>이름 충돌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6F412C3-A431-2F58-5195-DFB65BC86E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sz="2400" dirty="0"/>
              <a:t>둘 이상의 기반 클래스에 같은 이름의 멤버가 있으면 모호성 발생</a:t>
            </a:r>
          </a:p>
          <a:p>
            <a:pPr lvl="0"/>
            <a:r>
              <a:rPr lang="ko-KR" altLang="ko-KR" sz="2400" dirty="0"/>
              <a:t>범위를 명시하거나 파생 클래스에서 의미를 통합</a:t>
            </a:r>
            <a:endParaRPr lang="en-US" altLang="ko-KR" sz="2400" dirty="0"/>
          </a:p>
          <a:p>
            <a:pPr lvl="0"/>
            <a:r>
              <a:rPr lang="ko-KR" altLang="ko-KR" sz="2400" dirty="0"/>
              <a:t>이름 충돌이 잦으면 인터페이스 책임이 겹치는지 검토</a:t>
            </a:r>
          </a:p>
          <a:p>
            <a:endParaRPr lang="ko-KR" altLang="en-US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E762E6-3A25-37A8-4C33-20D2FEAE0D13}"/>
              </a:ext>
            </a:extLst>
          </p:cNvPr>
          <p:cNvSpPr txBox="1"/>
          <p:nvPr/>
        </p:nvSpPr>
        <p:spPr>
          <a:xfrm>
            <a:off x="539750" y="2397948"/>
            <a:ext cx="6408514" cy="2062103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1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BossMonster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16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MobBase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            </a:t>
            </a:r>
            <a:r>
              <a:rPr lang="ko-KR" altLang="ko-KR" sz="16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IRenderable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            </a:t>
            </a:r>
            <a:r>
              <a:rPr lang="ko-KR" altLang="ko-KR" sz="16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ISavable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BossMonster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boss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1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// </a:t>
            </a:r>
            <a:r>
              <a:rPr lang="ko-KR" altLang="ko-KR" sz="1600" b="1" i="1" u="none" strike="noStrike" dirty="0" err="1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boss.Reset</a:t>
            </a:r>
            <a:r>
              <a:rPr lang="ko-KR" altLang="ko-KR" sz="1600" b="1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();    // 오류: 어느 기반 함수인지 모호함</a:t>
            </a:r>
            <a:endParaRPr lang="ko-KR" altLang="en-US" sz="3600" b="1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BFD414-7714-91C5-3F4A-474CCBBEB5CD}"/>
              </a:ext>
            </a:extLst>
          </p:cNvPr>
          <p:cNvSpPr txBox="1"/>
          <p:nvPr/>
        </p:nvSpPr>
        <p:spPr>
          <a:xfrm>
            <a:off x="530968" y="4631501"/>
            <a:ext cx="6420007" cy="830997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1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// </a:t>
            </a:r>
            <a:r>
              <a:rPr lang="ko-KR" altLang="en-US" sz="1600" b="1" i="1" dirty="0">
                <a:solidFill>
                  <a:srgbClr val="A0A1A7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명시적 호출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boss.IRenderable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Reset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();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boss.ISavable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Reset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();</a:t>
            </a:r>
            <a:endParaRPr lang="ko-KR" altLang="en-US" sz="3600" b="1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6818890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49A197-5A39-4179-F5CC-88DF401C6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53EB5C-DFF8-F493-6DF2-4ABD89C397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8.9.3 </a:t>
            </a:r>
            <a:r>
              <a:rPr lang="ko-KR" altLang="en-US" dirty="0"/>
              <a:t>다이아몬드 상속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56C57C3-BE1E-722A-DD1D-4842BAC184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dirty="0"/>
              <a:t>두 기반 클래스가 같은 상위 기반 클래스를 상속</a:t>
            </a:r>
          </a:p>
          <a:p>
            <a:pPr lvl="0"/>
            <a:r>
              <a:rPr lang="ko-KR" altLang="ko-KR" dirty="0"/>
              <a:t>하나의 파생 클래스가 두 기반 클래스를 모두 상속</a:t>
            </a:r>
          </a:p>
          <a:p>
            <a:pPr lvl="0"/>
            <a:r>
              <a:rPr lang="ko-KR" altLang="ko-KR" dirty="0"/>
              <a:t>최상위 기반 부분이 두 개 생길 수 있음</a:t>
            </a:r>
          </a:p>
          <a:p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7C885C-A4B4-2D39-0E3B-8C9A19D2415E}"/>
              </a:ext>
            </a:extLst>
          </p:cNvPr>
          <p:cNvSpPr txBox="1"/>
          <p:nvPr/>
        </p:nvSpPr>
        <p:spPr>
          <a:xfrm>
            <a:off x="539750" y="2420888"/>
            <a:ext cx="4572000" cy="3323987"/>
          </a:xfrm>
          <a:prstGeom prst="rect">
            <a:avLst/>
          </a:prstGeom>
          <a:solidFill>
            <a:srgbClr val="FFFFFF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GameObject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GetId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GameObject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{};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NetworkObject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GameObject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{};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NetworkCharacter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            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NetworkObject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{};</a:t>
            </a:r>
            <a:endParaRPr lang="ko-KR" altLang="en-US" sz="32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9EF8A0DD-9BA0-E558-B045-F122380631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1569867"/>
              </p:ext>
            </p:extLst>
          </p:nvPr>
        </p:nvGraphicFramePr>
        <p:xfrm>
          <a:off x="5122366" y="4869160"/>
          <a:ext cx="3050034" cy="1342554"/>
        </p:xfrm>
        <a:graphic>
          <a:graphicData uri="http://schemas.openxmlformats.org/drawingml/2006/table">
            <a:tbl>
              <a:tblPr/>
              <a:tblGrid>
                <a:gridCol w="3050034">
                  <a:extLst>
                    <a:ext uri="{9D8B030D-6E8A-4147-A177-3AD203B41FA5}">
                      <a16:colId xmlns:a16="http://schemas.microsoft.com/office/drawing/2014/main" val="19964339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lnSpc>
                          <a:spcPct val="92000"/>
                        </a:lnSpc>
                        <a:buNone/>
                      </a:pPr>
                      <a:r>
                        <a:rPr lang="ko-KR" sz="16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NetworkCharacter</a:t>
                      </a:r>
                      <a: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 객체</a:t>
                      </a:r>
                      <a:b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├─ </a:t>
                      </a:r>
                      <a:r>
                        <a:rPr lang="ko-KR" sz="16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Character</a:t>
                      </a:r>
                      <a: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 부분</a:t>
                      </a:r>
                      <a:b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│  └─ GameObject 부분</a:t>
                      </a:r>
                      <a:b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└─ </a:t>
                      </a:r>
                      <a:r>
                        <a:rPr lang="ko-KR" sz="16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NetworkObject</a:t>
                      </a:r>
                      <a: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 부분</a:t>
                      </a:r>
                      <a:b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  └─ GameObject 부분</a:t>
                      </a:r>
                      <a:endParaRPr lang="ko-KR" sz="2800" b="1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216000" marR="216000" marT="108000" marB="108000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319251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D40DF490-2008-4D9F-AA6C-18F446DE643B}"/>
              </a:ext>
            </a:extLst>
          </p:cNvPr>
          <p:cNvSpPr txBox="1"/>
          <p:nvPr/>
        </p:nvSpPr>
        <p:spPr>
          <a:xfrm>
            <a:off x="539750" y="5858108"/>
            <a:ext cx="4572000" cy="523220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NetworkCharacter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object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// </a:t>
            </a:r>
            <a:r>
              <a:rPr lang="ko-KR" altLang="ko-KR" sz="1400" b="0" i="1" u="none" strike="noStrike" dirty="0" err="1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object.GetId</a:t>
            </a:r>
            <a:r>
              <a:rPr lang="ko-KR" altLang="ko-KR" sz="14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(); // 오류: 모호함</a:t>
            </a:r>
            <a:endParaRPr lang="ko-KR" altLang="en-US" sz="32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8608301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BF371F-247A-D427-7915-85F45A106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2C6797-0272-951A-89A0-18B200D753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8.9.4 </a:t>
            </a:r>
            <a:r>
              <a:rPr lang="ko-KR" altLang="en-US" dirty="0"/>
              <a:t>가상 상속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2570AEE-B05C-1A59-3D94-84325FB10E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sz="2400" dirty="0"/>
              <a:t>다이아몬드 구조에서 최상위 기반 클래스 부분을 하나만 공유</a:t>
            </a:r>
          </a:p>
          <a:p>
            <a:pPr lvl="0"/>
            <a:r>
              <a:rPr lang="en-US" altLang="ko-KR" sz="2400" dirty="0">
                <a:solidFill>
                  <a:srgbClr val="0000FF"/>
                </a:solidFill>
              </a:rPr>
              <a:t>virtual</a:t>
            </a:r>
            <a:r>
              <a:rPr lang="en-US" altLang="ko-KR" sz="2400" dirty="0"/>
              <a:t> </a:t>
            </a:r>
            <a:r>
              <a:rPr lang="ko-KR" altLang="en-US" sz="2400" dirty="0"/>
              <a:t>을</a:t>
            </a:r>
            <a:r>
              <a:rPr lang="en-US" altLang="ko-KR" sz="2400" dirty="0"/>
              <a:t> </a:t>
            </a:r>
            <a:r>
              <a:rPr lang="ko-KR" altLang="en-US" sz="2400" dirty="0"/>
              <a:t>추가</a:t>
            </a:r>
            <a:r>
              <a:rPr lang="en-US" altLang="ko-KR" sz="2400" dirty="0"/>
              <a:t>, </a:t>
            </a:r>
            <a:r>
              <a:rPr lang="ko-KR" altLang="ko-KR" sz="2400" dirty="0"/>
              <a:t>기반 부분 중복을 해결</a:t>
            </a:r>
          </a:p>
          <a:p>
            <a:pPr lvl="0"/>
            <a:r>
              <a:rPr lang="ko-KR" altLang="ko-KR" sz="2400" dirty="0"/>
              <a:t>객체 배치, 초기화, 접근 비용은 더 복잡해질 수 있음</a:t>
            </a:r>
          </a:p>
          <a:p>
            <a:endParaRPr lang="ko-KR" altLang="en-US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E5FBBD-0C63-01A1-F43A-5D90D159C137}"/>
              </a:ext>
            </a:extLst>
          </p:cNvPr>
          <p:cNvSpPr txBox="1"/>
          <p:nvPr/>
        </p:nvSpPr>
        <p:spPr>
          <a:xfrm>
            <a:off x="539750" y="2208346"/>
            <a:ext cx="6120482" cy="2585323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virtual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GameObject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NetworkObject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virtual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GameObject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NetworkCharacter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NetworkObject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32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B26421-CEEB-8BF6-2FCF-1127A30FF869}"/>
              </a:ext>
            </a:extLst>
          </p:cNvPr>
          <p:cNvSpPr txBox="1"/>
          <p:nvPr/>
        </p:nvSpPr>
        <p:spPr>
          <a:xfrm>
            <a:off x="568299" y="4996333"/>
            <a:ext cx="2563541" cy="1384995"/>
          </a:xfrm>
          <a:prstGeom prst="rect">
            <a:avLst/>
          </a:prstGeom>
          <a:solidFill>
            <a:srgbClr val="FAFAFA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4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// 구성으로 대체 가능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NetworkComponent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Replicate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32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0966373-DD84-3712-C0AB-A0E17CD9F594}"/>
              </a:ext>
            </a:extLst>
          </p:cNvPr>
          <p:cNvSpPr txBox="1"/>
          <p:nvPr/>
        </p:nvSpPr>
        <p:spPr>
          <a:xfrm>
            <a:off x="3143250" y="5211777"/>
            <a:ext cx="3516982" cy="1169551"/>
          </a:xfrm>
          <a:prstGeom prst="rect">
            <a:avLst/>
          </a:prstGeom>
          <a:solidFill>
            <a:srgbClr val="FAFAFA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GameObject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private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NetworkComponent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network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32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7225523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AEA975-3D89-BB3A-1E49-810FEEAA9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56F39F-D6AB-F351-8AA9-BE66FF63E2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8.9.5 </a:t>
            </a:r>
            <a:r>
              <a:rPr lang="ko-KR" altLang="en-US" dirty="0"/>
              <a:t>가상 기반 클래스 초기화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CE24CDB-390C-BD23-FDEB-C69A39626E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sz="2400" dirty="0"/>
              <a:t>가상 기반 클래스는 가장 구체적인 파생 클래스가 직접 초기화</a:t>
            </a:r>
          </a:p>
          <a:p>
            <a:pPr lvl="0"/>
            <a:r>
              <a:rPr lang="ko-KR" altLang="ko-KR" sz="2400" dirty="0"/>
              <a:t>중간 클래스의 가상 기반 초기화 지정은 최종 객체 생성에서는 사용되지 않을 수 있음</a:t>
            </a:r>
          </a:p>
          <a:p>
            <a:endParaRPr lang="ko-KR" altLang="en-US" sz="2400" dirty="0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E0DDD670-EF2B-3FE3-64AE-0209980E8F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9521951"/>
              </p:ext>
            </p:extLst>
          </p:nvPr>
        </p:nvGraphicFramePr>
        <p:xfrm>
          <a:off x="569838" y="2060848"/>
          <a:ext cx="7272808" cy="1795168"/>
        </p:xfrm>
        <a:graphic>
          <a:graphicData uri="http://schemas.openxmlformats.org/drawingml/2006/table">
            <a:tbl>
              <a:tblPr/>
              <a:tblGrid>
                <a:gridCol w="1960496">
                  <a:extLst>
                    <a:ext uri="{9D8B030D-6E8A-4147-A177-3AD203B41FA5}">
                      <a16:colId xmlns:a16="http://schemas.microsoft.com/office/drawing/2014/main" val="2291705448"/>
                    </a:ext>
                  </a:extLst>
                </a:gridCol>
                <a:gridCol w="5312312">
                  <a:extLst>
                    <a:ext uri="{9D8B030D-6E8A-4147-A177-3AD203B41FA5}">
                      <a16:colId xmlns:a16="http://schemas.microsoft.com/office/drawing/2014/main" val="88400349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Pretendard ExtraBold" panose="02000903000000020004" pitchFamily="50" charset="-127"/>
                        </a:rPr>
                        <a:t>항목</a:t>
                      </a:r>
                      <a:endParaRPr lang="ko-KR" sz="3600" dirty="0">
                        <a:effectLst/>
                        <a:latin typeface="+mn-ea"/>
                        <a:ea typeface="+mn-ea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Pretendard ExtraBold" panose="02000903000000020004" pitchFamily="50" charset="-127"/>
                        </a:rPr>
                        <a:t>규칙</a:t>
                      </a:r>
                      <a:endParaRPr lang="ko-KR" sz="3600" dirty="0">
                        <a:effectLst/>
                        <a:latin typeface="+mn-ea"/>
                        <a:ea typeface="+mn-ea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09333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초기화 책임</a:t>
                      </a:r>
                      <a:endParaRPr lang="ko-KR" sz="36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가장 구체적인 파생 클래스</a:t>
                      </a:r>
                      <a:endParaRPr lang="ko-KR" sz="36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0048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생성 순서</a:t>
                      </a:r>
                      <a:endParaRPr lang="ko-KR" sz="36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가상 기반 → 일반 기반 → 멤버 → 생성자 본문</a:t>
                      </a:r>
                      <a:endParaRPr lang="ko-KR" sz="36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91046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중복 기반 부분</a:t>
                      </a:r>
                      <a:endParaRPr lang="ko-KR" sz="36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하나만 존재</a:t>
                      </a:r>
                      <a:endParaRPr lang="ko-KR" sz="36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0107210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3B82E68-B7A2-F45B-26C7-65EC25E0F0B2}"/>
              </a:ext>
            </a:extLst>
          </p:cNvPr>
          <p:cNvSpPr txBox="1"/>
          <p:nvPr/>
        </p:nvSpPr>
        <p:spPr>
          <a:xfrm>
            <a:off x="567184" y="4027466"/>
            <a:ext cx="4940920" cy="2031325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NetworkCharacter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            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NetworkObject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NetworkCharacter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: GameObject(</a:t>
            </a:r>
            <a:r>
              <a:rPr lang="ko-KR" altLang="ko-KR" sz="14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100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),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(),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NetworkObject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32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B7CB7B0-5004-F181-22C0-86CDC60BBCEA}"/>
              </a:ext>
            </a:extLst>
          </p:cNvPr>
          <p:cNvSpPr txBox="1"/>
          <p:nvPr/>
        </p:nvSpPr>
        <p:spPr>
          <a:xfrm>
            <a:off x="3166852" y="5656243"/>
            <a:ext cx="5869644" cy="954107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 marL="342900" lvl="0" indent="-342900" rtl="0" fontAlgn="base">
              <a:buFont typeface="Arial" panose="020B0604020202020204" pitchFamily="34" charset="0"/>
              <a:buChar char="•"/>
            </a:pPr>
            <a:r>
              <a:rPr lang="ko-KR" altLang="ko-KR" sz="1400" b="0" i="0" u="none" strike="noStrike" dirty="0" err="1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NetworkCharacter가</a:t>
            </a:r>
            <a:r>
              <a:rPr lang="ko-KR" altLang="ko-KR" sz="14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가장 구체적인 파생 클래스이므로 가상 기반 클래스 </a:t>
            </a:r>
            <a:r>
              <a:rPr lang="ko-KR" altLang="ko-KR" sz="1400" b="0" i="0" u="none" strike="noStrike" dirty="0" err="1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GameObject를</a:t>
            </a:r>
            <a:r>
              <a:rPr lang="ko-KR" altLang="ko-KR" sz="14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직접 초기화</a:t>
            </a:r>
          </a:p>
          <a:p>
            <a:pPr marL="342900" lvl="0" indent="-342900" rtl="0" fontAlgn="base">
              <a:buFont typeface="Arial" panose="020B0604020202020204" pitchFamily="34" charset="0"/>
              <a:buChar char="•"/>
            </a:pPr>
            <a:r>
              <a:rPr lang="ko-KR" altLang="ko-KR" sz="1400" b="0" i="0" u="none" strike="noStrike" dirty="0" err="1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r>
              <a:rPr lang="ko-KR" altLang="ko-KR" sz="14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400" b="0" i="0" u="none" strike="noStrike" dirty="0" err="1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NetworkObject에서</a:t>
            </a:r>
            <a:r>
              <a:rPr lang="ko-KR" altLang="ko-KR" sz="14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지정한 GameObject 초기화보다 GameObject(100)이 적용됨</a:t>
            </a:r>
          </a:p>
        </p:txBody>
      </p:sp>
    </p:spTree>
    <p:extLst>
      <p:ext uri="{BB962C8B-B14F-4D97-AF65-F5344CB8AC3E}">
        <p14:creationId xmlns:p14="http://schemas.microsoft.com/office/powerpoint/2010/main" val="93898762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B05D40-E852-292A-B6AC-02BE1D8853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173CE9-80FB-618B-CB7C-0839254087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8.9.6 </a:t>
            </a:r>
            <a:r>
              <a:rPr lang="ko-KR" altLang="en-US" dirty="0"/>
              <a:t>인터페이스 다중 상속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E401CC-7AEA-3EEA-AD75-1AC9B370F8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sz="2400" dirty="0"/>
              <a:t>상태와 구현을 가진 여러 클래스를 상속하면 복잡도 증가</a:t>
            </a:r>
          </a:p>
          <a:p>
            <a:pPr lvl="0"/>
            <a:r>
              <a:rPr lang="ko-KR" altLang="ko-KR" sz="2400" dirty="0">
                <a:solidFill>
                  <a:srgbClr val="0000FF"/>
                </a:solidFill>
              </a:rPr>
              <a:t>작은 인터페이스 여러 개를 구현</a:t>
            </a:r>
            <a:r>
              <a:rPr lang="ko-KR" altLang="ko-KR" sz="2400" dirty="0"/>
              <a:t>하는 방식은 비교적 안전</a:t>
            </a:r>
          </a:p>
          <a:p>
            <a:pPr lvl="0"/>
            <a:r>
              <a:rPr lang="ko-KR" altLang="ko-KR" sz="2400" dirty="0">
                <a:solidFill>
                  <a:srgbClr val="0070C0"/>
                </a:solidFill>
              </a:rPr>
              <a:t>호출 코드는 필요한 역할에만 의존</a:t>
            </a:r>
          </a:p>
          <a:p>
            <a:endParaRPr lang="ko-KR" altLang="en-US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C10929-C1BC-E1DB-9FA4-706876E825A0}"/>
              </a:ext>
            </a:extLst>
          </p:cNvPr>
          <p:cNvSpPr txBox="1"/>
          <p:nvPr/>
        </p:nvSpPr>
        <p:spPr>
          <a:xfrm>
            <a:off x="323528" y="2361555"/>
            <a:ext cx="4824536" cy="1384995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ISavable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virtual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~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ISavable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=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default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virtual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Save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ostream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&amp;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output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4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0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32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10CA9D-4CDE-5AE3-B5CD-9444FD376CB6}"/>
              </a:ext>
            </a:extLst>
          </p:cNvPr>
          <p:cNvSpPr txBox="1"/>
          <p:nvPr/>
        </p:nvSpPr>
        <p:spPr>
          <a:xfrm>
            <a:off x="323528" y="3945731"/>
            <a:ext cx="4824536" cy="1384995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ITargetable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virtual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~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ITargetable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=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default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virtual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bool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CanBeTargeted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4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0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32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EB2813-7FEC-AA6D-58D1-627BCC46EF28}"/>
              </a:ext>
            </a:extLst>
          </p:cNvPr>
          <p:cNvSpPr txBox="1"/>
          <p:nvPr/>
        </p:nvSpPr>
        <p:spPr>
          <a:xfrm>
            <a:off x="4242023" y="4638228"/>
            <a:ext cx="4824536" cy="1815882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BossMonster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MobBase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        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ISavable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        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ITargetable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Save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ostream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&amp;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output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override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bool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CanBeTargeted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override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32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2396464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2DB92-CCD9-DEBD-BD66-3021E6F93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3193FC-4327-0646-AA01-F00C15BD94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8.10 </a:t>
            </a:r>
            <a:r>
              <a:rPr lang="ko-KR" altLang="en-US" dirty="0"/>
              <a:t>상속과 구성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F265A4D-2BB8-3DC8-AB8D-59AC15D613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sz="2400" dirty="0"/>
              <a:t>상속은 </a:t>
            </a:r>
            <a:r>
              <a:rPr lang="ko-KR" altLang="ko-KR" sz="2400" dirty="0" err="1"/>
              <a:t>is-a</a:t>
            </a:r>
            <a:r>
              <a:rPr lang="ko-KR" altLang="ko-KR" sz="2400" dirty="0"/>
              <a:t> 관계</a:t>
            </a:r>
          </a:p>
          <a:p>
            <a:pPr lvl="0"/>
            <a:r>
              <a:rPr lang="ko-KR" altLang="ko-KR" sz="2400" dirty="0"/>
              <a:t>구성은 </a:t>
            </a:r>
            <a:r>
              <a:rPr lang="ko-KR" altLang="ko-KR" sz="2400" dirty="0" err="1"/>
              <a:t>has-a</a:t>
            </a:r>
            <a:r>
              <a:rPr lang="ko-KR" altLang="ko-KR" sz="2400" dirty="0"/>
              <a:t> 관계</a:t>
            </a:r>
          </a:p>
          <a:p>
            <a:pPr lvl="0"/>
            <a:r>
              <a:rPr lang="ko-KR" altLang="ko-KR" sz="2400" dirty="0"/>
              <a:t>두 방식은 코드 재사용 수단이 아니라 객체 관계와 책임 설계의 선택</a:t>
            </a:r>
          </a:p>
          <a:p>
            <a:endParaRPr lang="ko-KR" altLang="en-US" sz="2400" dirty="0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C95A3371-DB82-2A3C-F254-013E8130EE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6709302"/>
              </p:ext>
            </p:extLst>
          </p:nvPr>
        </p:nvGraphicFramePr>
        <p:xfrm>
          <a:off x="611560" y="4797152"/>
          <a:ext cx="3096146" cy="1507200"/>
        </p:xfrm>
        <a:graphic>
          <a:graphicData uri="http://schemas.openxmlformats.org/drawingml/2006/table">
            <a:tbl>
              <a:tblPr/>
              <a:tblGrid>
                <a:gridCol w="3096146">
                  <a:extLst>
                    <a:ext uri="{9D8B030D-6E8A-4147-A177-3AD203B41FA5}">
                      <a16:colId xmlns:a16="http://schemas.microsoft.com/office/drawing/2014/main" val="104170710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상속</a:t>
                      </a:r>
                      <a:b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2000" b="0" i="0" u="none" strike="noStrike" dirty="0" err="1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Player</a:t>
                      </a:r>
                      <a: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</a:t>
                      </a:r>
                      <a:r>
                        <a:rPr lang="ko-KR" sz="2000" b="0" i="0" u="none" strike="noStrike" dirty="0" err="1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is</a:t>
                      </a:r>
                      <a: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</a:t>
                      </a:r>
                      <a:r>
                        <a:rPr lang="ko-KR" sz="2000" b="0" i="0" u="none" strike="noStrike" dirty="0" err="1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a</a:t>
                      </a:r>
                      <a: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</a:t>
                      </a:r>
                      <a:r>
                        <a:rPr lang="ko-KR" sz="2000" b="0" i="0" u="none" strike="noStrike" dirty="0" err="1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Character</a:t>
                      </a:r>
                      <a: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.</a:t>
                      </a:r>
                      <a:b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2000" b="0" i="0" u="none" strike="noStrike" dirty="0" err="1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Monster</a:t>
                      </a:r>
                      <a: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</a:t>
                      </a:r>
                      <a:r>
                        <a:rPr lang="ko-KR" sz="2000" b="0" i="0" u="none" strike="noStrike" dirty="0" err="1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is</a:t>
                      </a:r>
                      <a: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</a:t>
                      </a:r>
                      <a:r>
                        <a:rPr lang="ko-KR" sz="2000" b="0" i="0" u="none" strike="noStrike" dirty="0" err="1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a</a:t>
                      </a:r>
                      <a: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</a:t>
                      </a:r>
                      <a:r>
                        <a:rPr lang="ko-KR" sz="2000" b="0" i="0" u="none" strike="noStrike" dirty="0" err="1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Character</a:t>
                      </a:r>
                      <a: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.</a:t>
                      </a:r>
                      <a:endParaRPr lang="ko-KR" sz="36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216000" marR="216000" marT="144000" marB="144000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8553145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03AF5AF7-1EC2-1AA0-6723-40524004F0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2394957"/>
              </p:ext>
            </p:extLst>
          </p:nvPr>
        </p:nvGraphicFramePr>
        <p:xfrm>
          <a:off x="3923928" y="4797152"/>
          <a:ext cx="4320480" cy="1812000"/>
        </p:xfrm>
        <a:graphic>
          <a:graphicData uri="http://schemas.openxmlformats.org/drawingml/2006/table">
            <a:tbl>
              <a:tblPr/>
              <a:tblGrid>
                <a:gridCol w="4320480">
                  <a:extLst>
                    <a:ext uri="{9D8B030D-6E8A-4147-A177-3AD203B41FA5}">
                      <a16:colId xmlns:a16="http://schemas.microsoft.com/office/drawing/2014/main" val="93039364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구성</a:t>
                      </a:r>
                      <a:b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2000" b="0" i="0" u="none" strike="noStrike" dirty="0" err="1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Player</a:t>
                      </a:r>
                      <a: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</a:t>
                      </a:r>
                      <a:r>
                        <a:rPr lang="ko-KR" sz="2000" b="0" i="0" u="none" strike="noStrike" dirty="0" err="1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has</a:t>
                      </a:r>
                      <a: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</a:t>
                      </a:r>
                      <a:r>
                        <a:rPr lang="ko-KR" sz="2000" b="0" i="0" u="none" strike="noStrike" dirty="0" err="1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an</a:t>
                      </a:r>
                      <a: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</a:t>
                      </a:r>
                      <a:r>
                        <a:rPr lang="ko-KR" sz="2000" b="0" i="0" u="none" strike="noStrike" dirty="0" err="1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Inventory</a:t>
                      </a:r>
                      <a: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.</a:t>
                      </a:r>
                      <a:b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2000" b="0" i="0" u="none" strike="noStrike" dirty="0" err="1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Player</a:t>
                      </a:r>
                      <a: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</a:t>
                      </a:r>
                      <a:r>
                        <a:rPr lang="ko-KR" sz="2000" b="0" i="0" u="none" strike="noStrike" dirty="0" err="1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has</a:t>
                      </a:r>
                      <a: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</a:t>
                      </a:r>
                      <a:r>
                        <a:rPr lang="ko-KR" sz="2000" b="0" i="0" u="none" strike="noStrike" dirty="0" err="1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a</a:t>
                      </a:r>
                      <a: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</a:t>
                      </a:r>
                      <a:r>
                        <a:rPr lang="ko-KR" sz="2000" b="0" i="0" u="none" strike="noStrike" dirty="0" err="1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Weapon</a:t>
                      </a:r>
                      <a: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.</a:t>
                      </a:r>
                      <a:b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2000" b="0" i="0" u="none" strike="noStrike" dirty="0" err="1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BossMonster</a:t>
                      </a:r>
                      <a: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</a:t>
                      </a:r>
                      <a:r>
                        <a:rPr lang="ko-KR" sz="2000" b="0" i="0" u="none" strike="noStrike" dirty="0" err="1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has</a:t>
                      </a:r>
                      <a: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</a:t>
                      </a:r>
                      <a:r>
                        <a:rPr lang="ko-KR" sz="2000" b="0" i="0" u="none" strike="noStrike" dirty="0" err="1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a</a:t>
                      </a:r>
                      <a: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</a:t>
                      </a:r>
                      <a:r>
                        <a:rPr lang="ko-KR" sz="2000" b="0" i="0" u="none" strike="noStrike" dirty="0" err="1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BossPhaseController</a:t>
                      </a:r>
                      <a: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.</a:t>
                      </a:r>
                      <a:endParaRPr lang="ko-KR" sz="20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216000" marR="216000" marT="144000" marB="144000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9677304"/>
                  </a:ext>
                </a:extLst>
              </a:tr>
            </a:tbl>
          </a:graphicData>
        </a:graphic>
      </p:graphicFrame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9921760B-8C50-0991-D122-42650D4172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7624981"/>
              </p:ext>
            </p:extLst>
          </p:nvPr>
        </p:nvGraphicFramePr>
        <p:xfrm>
          <a:off x="539750" y="2204864"/>
          <a:ext cx="7704658" cy="2243960"/>
        </p:xfrm>
        <a:graphic>
          <a:graphicData uri="http://schemas.openxmlformats.org/drawingml/2006/table">
            <a:tbl>
              <a:tblPr/>
              <a:tblGrid>
                <a:gridCol w="1073206">
                  <a:extLst>
                    <a:ext uri="{9D8B030D-6E8A-4147-A177-3AD203B41FA5}">
                      <a16:colId xmlns:a16="http://schemas.microsoft.com/office/drawing/2014/main" val="3272623606"/>
                    </a:ext>
                  </a:extLst>
                </a:gridCol>
                <a:gridCol w="3091474">
                  <a:extLst>
                    <a:ext uri="{9D8B030D-6E8A-4147-A177-3AD203B41FA5}">
                      <a16:colId xmlns:a16="http://schemas.microsoft.com/office/drawing/2014/main" val="1859468724"/>
                    </a:ext>
                  </a:extLst>
                </a:gridCol>
                <a:gridCol w="3539978">
                  <a:extLst>
                    <a:ext uri="{9D8B030D-6E8A-4147-A177-3AD203B41FA5}">
                      <a16:colId xmlns:a16="http://schemas.microsoft.com/office/drawing/2014/main" val="168713978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관계</a:t>
                      </a:r>
                      <a:endParaRPr lang="ko-KR" sz="3600" dirty="0"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C++ 표현</a:t>
                      </a:r>
                      <a:endParaRPr lang="ko-KR" sz="3600" b="1" dirty="0"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의미</a:t>
                      </a:r>
                      <a:endParaRPr lang="ko-KR" sz="3600" b="1" dirty="0"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630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is-a</a:t>
                      </a:r>
                      <a:endParaRPr lang="ko-KR" sz="36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public</a:t>
                      </a:r>
                      <a:r>
                        <a:rPr lang="ko-KR" sz="20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상속</a:t>
                      </a:r>
                      <a:endParaRPr lang="ko-KR" sz="36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기반 타입으로 대체 가능</a:t>
                      </a:r>
                      <a:endParaRPr lang="ko-KR" sz="3600" dirty="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1610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has-a</a:t>
                      </a:r>
                      <a:endParaRPr lang="ko-KR" sz="360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멤버 객체</a:t>
                      </a:r>
                      <a:endParaRPr lang="ko-KR" sz="36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객체가 기능이나 상태를 가짐</a:t>
                      </a:r>
                      <a:endParaRPr lang="ko-KR" sz="3600" dirty="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69400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 err="1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uses</a:t>
                      </a:r>
                      <a:endParaRPr lang="ko-KR" sz="3600" dirty="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참조, 포인터, 매개변수</a:t>
                      </a:r>
                      <a:endParaRPr lang="ko-KR" sz="360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일시적 사용 또는 비</a:t>
                      </a:r>
                      <a:r>
                        <a:rPr lang="en-US" altLang="ko-KR" sz="20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</a:t>
                      </a:r>
                      <a:r>
                        <a:rPr lang="ko-KR" sz="20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소유 접근</a:t>
                      </a:r>
                      <a:endParaRPr lang="ko-KR" sz="3600" dirty="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0634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owns</a:t>
                      </a:r>
                      <a:endParaRPr lang="ko-KR" sz="360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값, </a:t>
                      </a:r>
                      <a:r>
                        <a:rPr lang="ko-KR" sz="2000" b="0" i="0" u="none" strike="noStrike" dirty="0" err="1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unique_ptr</a:t>
                      </a:r>
                      <a:r>
                        <a:rPr lang="ko-KR" sz="20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, 컨테이너</a:t>
                      </a:r>
                      <a:endParaRPr lang="ko-KR" sz="3600" dirty="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수명 책임</a:t>
                      </a:r>
                      <a:endParaRPr lang="ko-KR" sz="3600" dirty="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95749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292080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B525C-3B74-3EDA-B6E8-A03C7FB79F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EA5CC4-1F72-C08C-27F8-8B9A5320C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8.10.1 has-a </a:t>
            </a:r>
            <a:r>
              <a:rPr lang="ko-KR" altLang="en-US" dirty="0"/>
              <a:t>관계와 구성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F47C1B2-DF86-47F1-AEAA-3EBA994794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dirty="0"/>
              <a:t>구성 객체는 자신의 상태와 규칙을 관리</a:t>
            </a:r>
          </a:p>
          <a:p>
            <a:pPr lvl="0"/>
            <a:r>
              <a:rPr lang="ko-KR" altLang="ko-KR" dirty="0"/>
              <a:t>필요한 기능만 외부에 제공</a:t>
            </a:r>
          </a:p>
          <a:p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AFCE96-9AA5-54EE-2758-4F22C6D825AB}"/>
              </a:ext>
            </a:extLst>
          </p:cNvPr>
          <p:cNvSpPr txBox="1"/>
          <p:nvPr/>
        </p:nvSpPr>
        <p:spPr>
          <a:xfrm>
            <a:off x="539750" y="1844824"/>
            <a:ext cx="3600202" cy="4401205"/>
          </a:xfrm>
          <a:prstGeom prst="rect">
            <a:avLst/>
          </a:prstGeom>
          <a:solidFill>
            <a:srgbClr val="FAFAFA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Inventory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AddItem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itemId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items.push_back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itemId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private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vector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items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Weapon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Attack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4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Weapon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attack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\</a:t>
            </a:r>
            <a:r>
              <a:rPr lang="ko-KR" altLang="ko-KR" sz="14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32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EED8382-6303-8466-01BB-21C2AD80C99F}"/>
              </a:ext>
            </a:extLst>
          </p:cNvPr>
          <p:cNvSpPr txBox="1"/>
          <p:nvPr/>
        </p:nvSpPr>
        <p:spPr>
          <a:xfrm>
            <a:off x="4430935" y="1832273"/>
            <a:ext cx="3957489" cy="3754874"/>
          </a:xfrm>
          <a:prstGeom prst="rect">
            <a:avLst/>
          </a:prstGeom>
          <a:solidFill>
            <a:srgbClr val="FAFAFA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PlayerBase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AddItem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itemId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inventory.AddItem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itemId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Attack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weapon.Attack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private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Inventory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inventory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Weapon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weapon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32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6390224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BD6CE-1062-953D-F524-7965A84607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AC8F17-47F3-4155-DFC5-30600B260E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8.10.2 </a:t>
            </a:r>
            <a:r>
              <a:rPr lang="ko-KR" altLang="en-US" dirty="0"/>
              <a:t>위임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2FB5405-CDA3-49E3-BE9C-9DE5FEAD87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dirty="0"/>
              <a:t>객체가 자신이 가진 다른 객체에 작업을 맡기는 것</a:t>
            </a:r>
          </a:p>
          <a:p>
            <a:pPr lvl="0"/>
            <a:r>
              <a:rPr lang="ko-KR" altLang="ko-KR" dirty="0"/>
              <a:t>기능을 독립된 구성 요소로 분리 가능</a:t>
            </a:r>
          </a:p>
          <a:p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D1DD56-3233-24DC-936A-D97169BA8C0E}"/>
              </a:ext>
            </a:extLst>
          </p:cNvPr>
          <p:cNvSpPr txBox="1"/>
          <p:nvPr/>
        </p:nvSpPr>
        <p:spPr>
          <a:xfrm>
            <a:off x="467544" y="1916832"/>
            <a:ext cx="3888432" cy="2462213"/>
          </a:xfrm>
          <a:prstGeom prst="rect">
            <a:avLst/>
          </a:prstGeom>
          <a:solidFill>
            <a:srgbClr val="FAFAFA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HealthComponent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explicit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HealthComponent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maxHp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TakeDamage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damage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GetHp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private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hp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maxHp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32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190B4E-012A-275A-90AE-E0C363AB7AD8}"/>
              </a:ext>
            </a:extLst>
          </p:cNvPr>
          <p:cNvSpPr txBox="1"/>
          <p:nvPr/>
        </p:nvSpPr>
        <p:spPr>
          <a:xfrm>
            <a:off x="4572000" y="1900759"/>
            <a:ext cx="3888432" cy="4616648"/>
          </a:xfrm>
          <a:prstGeom prst="rect">
            <a:avLst/>
          </a:prstGeom>
          <a:solidFill>
            <a:srgbClr val="FAFAFA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GameObject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explicit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hp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: </a:t>
            </a:r>
            <a:r>
              <a:rPr lang="ko-KR" altLang="ko-KR" sz="14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health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hp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TakeDamage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damage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health.TakeDamage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damage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GetHp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return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health.GetHp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private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HealthComponent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health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32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0489144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C4DD2E-05DE-E2AB-F302-7DF29BD818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12886F-5E79-2F57-FB59-695DE34598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8.10.3 </a:t>
            </a:r>
            <a:r>
              <a:rPr lang="ko-KR" altLang="en-US" dirty="0"/>
              <a:t>상속의 결합도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06955C3-F265-FCB4-41CA-0071E934FB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sz="2400" dirty="0"/>
              <a:t>파생 클래스는 기반 클래스의 인터페이스, 초기화 규칙, 수명에 의존</a:t>
            </a:r>
          </a:p>
          <a:p>
            <a:pPr lvl="0"/>
            <a:r>
              <a:rPr lang="ko-KR" altLang="ko-KR" sz="2400" dirty="0" err="1">
                <a:solidFill>
                  <a:srgbClr val="0000FF"/>
                </a:solidFill>
              </a:rPr>
              <a:t>protected</a:t>
            </a:r>
            <a:r>
              <a:rPr lang="ko-KR" altLang="ko-KR" sz="2400" dirty="0"/>
              <a:t> 데이터에 직접 접근하면 내부 표현에도 의존</a:t>
            </a:r>
          </a:p>
          <a:p>
            <a:endParaRPr lang="ko-KR" altLang="en-US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63D17A-E95E-F296-944D-23952A64A23E}"/>
              </a:ext>
            </a:extLst>
          </p:cNvPr>
          <p:cNvSpPr txBox="1"/>
          <p:nvPr/>
        </p:nvSpPr>
        <p:spPr>
          <a:xfrm>
            <a:off x="395536" y="1792505"/>
            <a:ext cx="4176464" cy="1815882"/>
          </a:xfrm>
          <a:prstGeom prst="rect">
            <a:avLst/>
          </a:prstGeom>
          <a:solidFill>
            <a:srgbClr val="FAFAFA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MobBase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protected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RecoverHalfHp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hp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+= </a:t>
            </a:r>
            <a:r>
              <a:rPr lang="ko-KR" altLang="ko-KR" sz="14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50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 </a:t>
            </a:r>
            <a:r>
              <a:rPr lang="ko-KR" altLang="ko-KR" sz="14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// </a:t>
            </a:r>
            <a:r>
              <a:rPr lang="ko-KR" altLang="ko-KR" sz="1400" b="0" i="1" u="none" strike="noStrike" dirty="0" err="1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Character의</a:t>
            </a:r>
            <a:r>
              <a:rPr lang="ko-KR" altLang="ko-KR" sz="14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저장 방식에 직접 의존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14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24EC7ED-D811-A99F-0FAB-93D7DEDBBCD2}"/>
              </a:ext>
            </a:extLst>
          </p:cNvPr>
          <p:cNvSpPr txBox="1"/>
          <p:nvPr/>
        </p:nvSpPr>
        <p:spPr>
          <a:xfrm>
            <a:off x="4752528" y="1792505"/>
            <a:ext cx="3995936" cy="4185761"/>
          </a:xfrm>
          <a:prstGeom prst="rect">
            <a:avLst/>
          </a:prstGeom>
          <a:solidFill>
            <a:srgbClr val="FAFAFA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ko-KR" altLang="ko-KR" sz="14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// </a:t>
            </a:r>
            <a:r>
              <a:rPr lang="ko-KR" altLang="ko-KR" sz="1400" b="0" i="1" u="none" strike="noStrike" dirty="0" err="1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Character의</a:t>
            </a:r>
            <a:r>
              <a:rPr lang="ko-KR" altLang="ko-KR" sz="14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저장 방식에 직접 의존</a:t>
            </a:r>
            <a:endParaRPr lang="ko-KR" altLang="ko-KR" sz="1400" b="0" dirty="0">
              <a:effectLst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  <a:p>
            <a:pPr rtl="0">
              <a:buNone/>
            </a:pP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GameObject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GetHp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Recover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amount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private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HealthComponent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health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MobBase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protected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RecoverHalfHp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Recover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4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50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14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6837547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E65BC6-0CD9-CACB-0C2E-7079D0E1C6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32003B4-D8B1-26D7-B4BF-6FDD774ACD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8.10.4 </a:t>
            </a:r>
            <a:r>
              <a:rPr lang="ko-KR" altLang="en-US" dirty="0"/>
              <a:t>상속보다 구성을 우선하는 이유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53A1418-6AA0-6380-29B0-B50200B5AA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sz="2400" dirty="0"/>
              <a:t>실행 중 구성 요소 교체 가능</a:t>
            </a:r>
          </a:p>
          <a:p>
            <a:pPr lvl="0"/>
            <a:r>
              <a:rPr lang="ko-KR" altLang="ko-KR" sz="2400" dirty="0"/>
              <a:t>기능 조합 때문에 파생 클래스 수가 늘어나는 문제 감소</a:t>
            </a:r>
          </a:p>
          <a:p>
            <a:pPr lvl="0"/>
            <a:r>
              <a:rPr lang="ko-KR" altLang="ko-KR" sz="2400" dirty="0"/>
              <a:t>기반 구현 변경의 영향 제한</a:t>
            </a:r>
          </a:p>
          <a:p>
            <a:pPr lvl="0"/>
            <a:r>
              <a:rPr lang="ko-KR" altLang="ko-KR" sz="2400" dirty="0"/>
              <a:t>각 구성 요소를 독립적으로 테스트 가능</a:t>
            </a:r>
          </a:p>
          <a:p>
            <a:endParaRPr lang="ko-KR" altLang="en-US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721644-7910-1228-3764-8038942ED5B3}"/>
              </a:ext>
            </a:extLst>
          </p:cNvPr>
          <p:cNvSpPr txBox="1"/>
          <p:nvPr/>
        </p:nvSpPr>
        <p:spPr>
          <a:xfrm>
            <a:off x="539750" y="2521029"/>
            <a:ext cx="5328394" cy="1384995"/>
          </a:xfrm>
          <a:prstGeom prst="rect">
            <a:avLst/>
          </a:prstGeom>
          <a:solidFill>
            <a:srgbClr val="FAFAFA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IMobBehavior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virtual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~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IMobBehavior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=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default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virtual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Think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= </a:t>
            </a:r>
            <a:r>
              <a:rPr lang="ko-KR" altLang="ko-KR" sz="14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0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32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7D2AEA-9E08-74F0-9FD3-1CDC33F20D27}"/>
              </a:ext>
            </a:extLst>
          </p:cNvPr>
          <p:cNvSpPr txBox="1"/>
          <p:nvPr/>
        </p:nvSpPr>
        <p:spPr>
          <a:xfrm>
            <a:off x="539750" y="3904481"/>
            <a:ext cx="5328394" cy="2893100"/>
          </a:xfrm>
          <a:prstGeom prst="rect">
            <a:avLst/>
          </a:prstGeom>
          <a:solidFill>
            <a:srgbClr val="FAFAFA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Monster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MobBase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explicit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Monster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unique_ptr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IMobBehavior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behavior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: </a:t>
            </a:r>
            <a:r>
              <a:rPr lang="ko-KR" altLang="ko-KR" sz="14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behavior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move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behavior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)){  }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Think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override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behavior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-&gt;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Think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private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unique_ptr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IMobBehavior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behavior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32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ABB692EE-5C48-86A4-DE56-27BD65DBA4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477307"/>
              </p:ext>
            </p:extLst>
          </p:nvPr>
        </p:nvGraphicFramePr>
        <p:xfrm>
          <a:off x="5652120" y="3390900"/>
          <a:ext cx="2808312" cy="2087590"/>
        </p:xfrm>
        <a:graphic>
          <a:graphicData uri="http://schemas.openxmlformats.org/drawingml/2006/table">
            <a:tbl>
              <a:tblPr/>
              <a:tblGrid>
                <a:gridCol w="2808312">
                  <a:extLst>
                    <a:ext uri="{9D8B030D-6E8A-4147-A177-3AD203B41FA5}">
                      <a16:colId xmlns:a16="http://schemas.microsoft.com/office/drawing/2014/main" val="14818525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lnSpc>
                          <a:spcPct val="92000"/>
                        </a:lnSpc>
                        <a:buNone/>
                      </a:pPr>
                      <a: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상속으로 행동 분류</a:t>
                      </a:r>
                      <a:endParaRPr lang="ko-KR" sz="1600" b="1" dirty="0">
                        <a:effectLst/>
                        <a:latin typeface="Consolas" panose="020B0609020204030204" pitchFamily="49" charset="0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  <a:p>
                      <a:pPr rtl="0" fontAlgn="t">
                        <a:lnSpc>
                          <a:spcPct val="92000"/>
                        </a:lnSpc>
                        <a:buNone/>
                      </a:pPr>
                      <a:r>
                        <a:rPr lang="ko-KR" sz="16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MobBase</a:t>
                      </a:r>
                      <a:b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├─ </a:t>
                      </a:r>
                      <a:r>
                        <a:rPr lang="ko-KR" sz="16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PatrolMonster</a:t>
                      </a:r>
                      <a:b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├─ </a:t>
                      </a:r>
                      <a:r>
                        <a:rPr lang="ko-KR" sz="16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ChaseMonster</a:t>
                      </a:r>
                      <a:b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├─ </a:t>
                      </a:r>
                      <a:r>
                        <a:rPr lang="ko-KR" sz="16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RangedMonster</a:t>
                      </a:r>
                      <a:b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├─ </a:t>
                      </a:r>
                      <a:r>
                        <a:rPr lang="ko-KR" sz="16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PatrolRangedMonster</a:t>
                      </a:r>
                      <a:b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└─ </a:t>
                      </a:r>
                      <a:r>
                        <a:rPr lang="ko-KR" sz="16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ChaseRangedMonster</a:t>
                      </a:r>
                      <a:endParaRPr lang="ko-KR" sz="1600" b="1" dirty="0">
                        <a:effectLst/>
                        <a:latin typeface="Consolas" panose="020B0609020204030204" pitchFamily="49" charset="0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216000" marR="216000" marT="144000" marB="144000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87051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5622249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BC91C-109C-3CEC-4F5F-DFAF6A8DAF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2123B6-761F-2C4E-9BC6-CF035AE29C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8.10.5 </a:t>
            </a:r>
            <a:r>
              <a:rPr lang="ko-KR" altLang="en-US" dirty="0"/>
              <a:t>상속이 필요한 경우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E83B093-9F4E-4130-8440-F1279DEEED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dirty="0"/>
              <a:t>공개적인 타입 관계와 동적 대체가 필요하면 상속이 적합</a:t>
            </a:r>
          </a:p>
          <a:p>
            <a:pPr lvl="0"/>
            <a:r>
              <a:rPr lang="ko-KR" altLang="ko-KR" dirty="0"/>
              <a:t>구체 타입을 몰라도 공통 인터페이스로 처리해야 하는 구조</a:t>
            </a:r>
          </a:p>
          <a:p>
            <a:endParaRPr lang="ko-KR" altLang="en-US" dirty="0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2DB7A0E8-1F3D-E946-969E-76622C74C6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6854712"/>
              </p:ext>
            </p:extLst>
          </p:nvPr>
        </p:nvGraphicFramePr>
        <p:xfrm>
          <a:off x="539750" y="1988840"/>
          <a:ext cx="7488634" cy="3744414"/>
        </p:xfrm>
        <a:graphic>
          <a:graphicData uri="http://schemas.openxmlformats.org/drawingml/2006/table">
            <a:tbl>
              <a:tblPr/>
              <a:tblGrid>
                <a:gridCol w="3998692">
                  <a:extLst>
                    <a:ext uri="{9D8B030D-6E8A-4147-A177-3AD203B41FA5}">
                      <a16:colId xmlns:a16="http://schemas.microsoft.com/office/drawing/2014/main" val="3661130507"/>
                    </a:ext>
                  </a:extLst>
                </a:gridCol>
                <a:gridCol w="3489942">
                  <a:extLst>
                    <a:ext uri="{9D8B030D-6E8A-4147-A177-3AD203B41FA5}">
                      <a16:colId xmlns:a16="http://schemas.microsoft.com/office/drawing/2014/main" val="2346904258"/>
                    </a:ext>
                  </a:extLst>
                </a:gridCol>
              </a:tblGrid>
              <a:tr h="624069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ko-KR" sz="2000" b="1" i="0" u="none" strike="noStrike" dirty="0">
                          <a:solidFill>
                            <a:srgbClr val="0070C0"/>
                          </a:solidFill>
                          <a:effectLst/>
                          <a:latin typeface="Arial" panose="020B0604020202020204" pitchFamily="34" charset="0"/>
                        </a:rPr>
                        <a:t>상속이 적합한 경우</a:t>
                      </a:r>
                      <a:endParaRPr lang="ko-KR" sz="3600" b="1" dirty="0">
                        <a:solidFill>
                          <a:srgbClr val="0070C0"/>
                        </a:solidFill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ko-KR" sz="20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구성이 적합한 경우</a:t>
                      </a:r>
                      <a:endParaRPr lang="ko-KR" sz="3600" b="1" dirty="0">
                        <a:solidFill>
                          <a:srgbClr val="002060"/>
                        </a:solidFill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2992652"/>
                  </a:ext>
                </a:extLst>
              </a:tr>
              <a:tr h="624069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파생 객체가 기반 객체의 한 종류</a:t>
                      </a:r>
                      <a:endParaRPr lang="ko-KR" sz="3600" dirty="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206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객체가 다른 기능 객체를 소유</a:t>
                      </a:r>
                      <a:endParaRPr lang="ko-KR" sz="3600" dirty="0">
                        <a:solidFill>
                          <a:srgbClr val="00206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7843709"/>
                  </a:ext>
                </a:extLst>
              </a:tr>
              <a:tr h="624069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공통 인터페이스로 여러 구체 타입 처리</a:t>
                      </a:r>
                      <a:endParaRPr lang="ko-KR" sz="3600" dirty="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206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기능을 실행 중 교체</a:t>
                      </a:r>
                      <a:endParaRPr lang="ko-KR" sz="3600" dirty="0">
                        <a:solidFill>
                          <a:srgbClr val="00206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5388865"/>
                  </a:ext>
                </a:extLst>
              </a:tr>
              <a:tr h="624069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기반 클래스 계약이 안정적</a:t>
                      </a:r>
                      <a:endParaRPr lang="ko-KR" sz="3600" dirty="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206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여러 기능의 조합 필요</a:t>
                      </a:r>
                      <a:endParaRPr lang="ko-KR" sz="3600" dirty="0">
                        <a:solidFill>
                          <a:srgbClr val="00206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7963231"/>
                  </a:ext>
                </a:extLst>
              </a:tr>
              <a:tr h="624069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동적 바인딩 필요</a:t>
                      </a:r>
                      <a:endParaRPr lang="ko-KR" sz="3600" dirty="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206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타입 관계보다 구현 재사용이 목적</a:t>
                      </a:r>
                      <a:endParaRPr lang="ko-KR" sz="3600" dirty="0">
                        <a:solidFill>
                          <a:srgbClr val="00206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0607330"/>
                  </a:ext>
                </a:extLst>
              </a:tr>
              <a:tr h="624069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프레임워크 확장 지점</a:t>
                      </a:r>
                      <a:endParaRPr lang="ko-KR" sz="3600" dirty="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206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기반 변경과의 결합을 줄여야 함</a:t>
                      </a:r>
                      <a:endParaRPr lang="ko-KR" sz="3600" dirty="0">
                        <a:solidFill>
                          <a:srgbClr val="00206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07611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6825153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FE2AB3-A7E7-DCA6-514D-6CFD34565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C41921-9F21-7D59-FA43-1DE41AEAD7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8.11 </a:t>
            </a:r>
            <a:r>
              <a:rPr lang="ko-KR" altLang="en-US" dirty="0"/>
              <a:t>종합 예제 구조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E225257-ACC3-15F0-7925-AE5EEFDE9B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dirty="0" err="1"/>
              <a:t>GameScene은</a:t>
            </a:r>
            <a:r>
              <a:rPr lang="ko-KR" altLang="ko-KR" dirty="0"/>
              <a:t> 서로 다른 게임 객체를 고유 소유</a:t>
            </a:r>
          </a:p>
          <a:p>
            <a:pPr lvl="0"/>
            <a:r>
              <a:rPr lang="ko-KR" altLang="ko-KR" dirty="0"/>
              <a:t>컨테이너에는 </a:t>
            </a:r>
            <a:r>
              <a:rPr lang="ko-KR" altLang="ko-KR" dirty="0" err="1"/>
              <a:t>std</a:t>
            </a:r>
            <a:r>
              <a:rPr lang="ko-KR" altLang="ko-KR" dirty="0"/>
              <a:t>::</a:t>
            </a:r>
            <a:r>
              <a:rPr lang="ko-KR" altLang="ko-KR" dirty="0" err="1"/>
              <a:t>unique_ptr</a:t>
            </a:r>
            <a:r>
              <a:rPr lang="ko-KR" altLang="ko-KR" dirty="0"/>
              <a:t>&lt;GameObject&gt; 저장</a:t>
            </a:r>
          </a:p>
          <a:p>
            <a:pPr lvl="0"/>
            <a:r>
              <a:rPr lang="ko-KR" altLang="ko-KR" dirty="0" err="1"/>
              <a:t>GameObject는</a:t>
            </a:r>
            <a:r>
              <a:rPr lang="ko-KR" altLang="ko-KR" dirty="0"/>
              <a:t> 추상 기반 클래스</a:t>
            </a:r>
          </a:p>
          <a:p>
            <a:pPr lvl="0"/>
            <a:r>
              <a:rPr lang="ko-KR" altLang="ko-KR" dirty="0"/>
              <a:t>구체 클래스는 </a:t>
            </a:r>
            <a:r>
              <a:rPr lang="ko-KR" altLang="ko-KR" dirty="0" err="1"/>
              <a:t>Update</a:t>
            </a:r>
            <a:r>
              <a:rPr lang="ko-KR" altLang="ko-KR" dirty="0"/>
              <a:t>(), </a:t>
            </a:r>
            <a:r>
              <a:rPr lang="ko-KR" altLang="ko-KR" dirty="0" err="1"/>
              <a:t>Render</a:t>
            </a:r>
            <a:r>
              <a:rPr lang="ko-KR" altLang="ko-KR" dirty="0"/>
              <a:t>(), </a:t>
            </a:r>
            <a:r>
              <a:rPr lang="ko-KR" altLang="ko-KR" dirty="0" err="1"/>
              <a:t>Clone</a:t>
            </a:r>
            <a:r>
              <a:rPr lang="ko-KR" altLang="ko-KR" dirty="0"/>
              <a:t>() 구현</a:t>
            </a:r>
          </a:p>
          <a:p>
            <a:pPr lvl="0"/>
            <a:r>
              <a:rPr lang="ko-KR" altLang="ko-KR" dirty="0"/>
              <a:t>체력은 </a:t>
            </a:r>
            <a:r>
              <a:rPr lang="ko-KR" altLang="ko-KR" dirty="0" err="1"/>
              <a:t>HealthComponent가</a:t>
            </a:r>
            <a:r>
              <a:rPr lang="ko-KR" altLang="ko-KR" dirty="0"/>
              <a:t> 관리</a:t>
            </a:r>
          </a:p>
          <a:p>
            <a:pPr lvl="0"/>
            <a:r>
              <a:rPr lang="ko-KR" altLang="ko-KR" dirty="0"/>
              <a:t>프레임 시간은 </a:t>
            </a:r>
            <a:r>
              <a:rPr lang="ko-KR" altLang="ko-KR" dirty="0" err="1"/>
              <a:t>GameSystem에서</a:t>
            </a:r>
            <a:r>
              <a:rPr lang="ko-KR" altLang="ko-KR" dirty="0"/>
              <a:t> 조회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9114537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7D4AA-39B0-4EBB-A3EB-4103132F45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83A7DB-DDE1-6F0A-C0E4-DC442AC943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8.11.2 GameObject </a:t>
            </a:r>
            <a:r>
              <a:rPr lang="ko-KR" altLang="en-US" dirty="0"/>
              <a:t>핵심 구조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F8AAE31-1B2B-F73E-453C-7C5F64B5FE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dirty="0"/>
              <a:t>직접 객체를 만들 수 없는 추상 클래스</a:t>
            </a:r>
          </a:p>
          <a:p>
            <a:pPr lvl="0"/>
            <a:r>
              <a:rPr lang="ko-KR" altLang="ko-KR" dirty="0"/>
              <a:t>다형 소멸을 위한 가상 </a:t>
            </a:r>
            <a:r>
              <a:rPr lang="ko-KR" altLang="ko-KR" dirty="0" err="1"/>
              <a:t>소멸자</a:t>
            </a:r>
            <a:r>
              <a:rPr lang="ko-KR" altLang="ko-KR" dirty="0"/>
              <a:t> 제공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9391269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065959-3A1E-0D28-72CB-7B8BAA4F65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9E7339E-1E14-7D70-FD41-C677B69DBA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8.11.3 Character</a:t>
            </a:r>
            <a:r>
              <a:rPr lang="ko-KR" altLang="en-US" dirty="0"/>
              <a:t>와 </a:t>
            </a:r>
            <a:r>
              <a:rPr lang="en-US" altLang="ko-KR" dirty="0"/>
              <a:t>Player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3008594-AB1C-F720-F0B2-BB63CB44DB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7FB161-5121-DC9C-6751-EC272CB21F2C}"/>
              </a:ext>
            </a:extLst>
          </p:cNvPr>
          <p:cNvSpPr txBox="1"/>
          <p:nvPr/>
        </p:nvSpPr>
        <p:spPr>
          <a:xfrm>
            <a:off x="323528" y="692150"/>
            <a:ext cx="5904656" cy="4616648"/>
          </a:xfrm>
          <a:prstGeom prst="rect">
            <a:avLst/>
          </a:prstGeom>
          <a:solidFill>
            <a:srgbClr val="FFFFFF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1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GameObject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id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400" b="1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400" b="1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string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name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maxHp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: GameObject(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id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400" b="1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move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name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)),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health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maxHp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1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TakeDamage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damage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health.TakeDamage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damage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1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GetHp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return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health.GetHp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();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private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HealthComponent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health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3200" b="1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8BF905B-2996-0C90-971A-36F1AF88CBC1}"/>
              </a:ext>
            </a:extLst>
          </p:cNvPr>
          <p:cNvSpPr txBox="1"/>
          <p:nvPr/>
        </p:nvSpPr>
        <p:spPr>
          <a:xfrm>
            <a:off x="3707904" y="3933056"/>
            <a:ext cx="5220072" cy="2462213"/>
          </a:xfrm>
          <a:prstGeom prst="rect">
            <a:avLst/>
          </a:prstGeom>
          <a:solidFill>
            <a:srgbClr val="FFFFFF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1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PlayerBase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1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Update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override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1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Render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override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1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400" b="1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unique_ptr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&lt;GameObject&gt;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Clone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override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return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1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make_unique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&gt;(*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this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3200" b="1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8704081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4E59A2-8E1B-DCAB-C612-483267F83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CF8B7A-99C9-5B32-3503-960A99E998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/>
              <a:t>8.11.4 </a:t>
            </a:r>
            <a:r>
              <a:rPr lang="ko-KR" altLang="ko-KR" dirty="0" err="1"/>
              <a:t>MobBase</a:t>
            </a:r>
            <a:r>
              <a:rPr lang="ko-KR" altLang="ko-KR" dirty="0"/>
              <a:t>, </a:t>
            </a:r>
            <a:r>
              <a:rPr lang="ko-KR" altLang="ko-KR" dirty="0" err="1"/>
              <a:t>Monster</a:t>
            </a:r>
            <a:r>
              <a:rPr lang="ko-KR" altLang="ko-KR" dirty="0"/>
              <a:t>, </a:t>
            </a:r>
            <a:r>
              <a:rPr lang="ko-KR" altLang="ko-KR" dirty="0" err="1"/>
              <a:t>BossMonster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AC20CDE-6051-310B-E59E-001F20EEEA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sz="2400" dirty="0"/>
              <a:t>몹 계열의 공통 계약은 </a:t>
            </a:r>
            <a:r>
              <a:rPr lang="ko-KR" altLang="ko-KR" sz="2400" dirty="0" err="1"/>
              <a:t>MobBase에</a:t>
            </a:r>
            <a:r>
              <a:rPr lang="ko-KR" altLang="ko-KR" sz="2400" dirty="0"/>
              <a:t> 위치</a:t>
            </a:r>
          </a:p>
          <a:p>
            <a:pPr lvl="0"/>
            <a:r>
              <a:rPr lang="ko-KR" altLang="ko-KR" sz="2400" dirty="0"/>
              <a:t>구체 몬스터는 각자의 판단과 공격 구현</a:t>
            </a:r>
          </a:p>
          <a:p>
            <a:endParaRPr lang="ko-KR" altLang="en-US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8FB08E-CF4A-4C94-5297-062C4F0371EC}"/>
              </a:ext>
            </a:extLst>
          </p:cNvPr>
          <p:cNvSpPr txBox="1"/>
          <p:nvPr/>
        </p:nvSpPr>
        <p:spPr>
          <a:xfrm>
            <a:off x="323528" y="1772816"/>
            <a:ext cx="4140968" cy="3323987"/>
          </a:xfrm>
          <a:prstGeom prst="rect">
            <a:avLst/>
          </a:prstGeom>
          <a:solidFill>
            <a:srgbClr val="FFFFFF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MobBase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virtual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Think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= </a:t>
            </a:r>
            <a:r>
              <a:rPr lang="ko-KR" altLang="ko-KR" sz="14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0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virtual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Attack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&amp;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target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 = </a:t>
            </a:r>
            <a:r>
              <a:rPr lang="ko-KR" altLang="ko-KR" sz="14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0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protected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GetAttackPower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return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attackPower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private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attackPower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4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10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32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4F70A3-6E30-4055-2608-3E04A4C95372}"/>
              </a:ext>
            </a:extLst>
          </p:cNvPr>
          <p:cNvSpPr txBox="1"/>
          <p:nvPr/>
        </p:nvSpPr>
        <p:spPr>
          <a:xfrm>
            <a:off x="4464496" y="1772816"/>
            <a:ext cx="4067944" cy="2246769"/>
          </a:xfrm>
          <a:prstGeom prst="rect">
            <a:avLst/>
          </a:prstGeom>
          <a:solidFill>
            <a:srgbClr val="FFFFFF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Monster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MobBase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Think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override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Attack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&amp;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target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override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Update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override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Render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override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unique_ptr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&lt;GameObject&gt;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Clone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override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32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B1F0481-EFAF-7ECA-39B2-61A510677FC6}"/>
              </a:ext>
            </a:extLst>
          </p:cNvPr>
          <p:cNvSpPr txBox="1"/>
          <p:nvPr/>
        </p:nvSpPr>
        <p:spPr>
          <a:xfrm>
            <a:off x="4464496" y="4457923"/>
            <a:ext cx="4067944" cy="1600438"/>
          </a:xfrm>
          <a:prstGeom prst="rect">
            <a:avLst/>
          </a:prstGeom>
          <a:solidFill>
            <a:srgbClr val="FFFFFF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BossMonster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: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MobBase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Think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override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Attack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&amp;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target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override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EnterRageMode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32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8924577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4DADB8-1607-F37E-AD45-DC4170F4A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8.11.5 </a:t>
            </a:r>
            <a:r>
              <a:rPr lang="en-US" altLang="ko-KR" dirty="0" err="1"/>
              <a:t>GameScene</a:t>
            </a:r>
            <a:r>
              <a:rPr lang="ko-KR" altLang="en-US" dirty="0"/>
              <a:t>의 다형 객체 소유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DB45905-D01C-384A-47C5-784F020F32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F203FD7-55F3-6317-CDF3-C36206C09833}"/>
              </a:ext>
            </a:extLst>
          </p:cNvPr>
          <p:cNvSpPr txBox="1"/>
          <p:nvPr/>
        </p:nvSpPr>
        <p:spPr>
          <a:xfrm>
            <a:off x="535211" y="692150"/>
            <a:ext cx="4572000" cy="5847755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1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1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GameScene</a:t>
            </a:r>
            <a:b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1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1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100" b="1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1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ko-KR" altLang="ko-KR" sz="11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unique_ptr</a:t>
            </a: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&lt;GameObject&gt; </a:t>
            </a:r>
            <a:r>
              <a:rPr lang="ko-KR" altLang="ko-KR" sz="11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1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ko-KR" altLang="ko-KR" sz="11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ko-KR" altLang="ko-KR" sz="1100" b="1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{</a:t>
            </a:r>
            <a:b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ko-KR" altLang="ko-KR" sz="11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objects.push_back</a:t>
            </a: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1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ko-KR" altLang="ko-KR" sz="11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1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));</a:t>
            </a:r>
            <a:b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}</a:t>
            </a:r>
            <a:b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1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100" b="1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Update</a:t>
            </a: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</a:t>
            </a:r>
            <a:b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1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ko-KR" altLang="ko-KR" sz="11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1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ko-KR" altLang="ko-KR" sz="11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1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objects</a:t>
            </a: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{</a:t>
            </a:r>
            <a:b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ko-KR" altLang="ko-KR" sz="11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ko-KR" altLang="ko-KR" sz="11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Update</a:t>
            </a: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();</a:t>
            </a:r>
            <a:b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}</a:t>
            </a:r>
            <a:b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1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100" b="1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Render</a:t>
            </a: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ko-KR" altLang="ko-KR" sz="11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b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1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ko-KR" altLang="ko-KR" sz="11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1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ko-KR" altLang="ko-KR" sz="11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1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objects</a:t>
            </a: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{</a:t>
            </a:r>
            <a:b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ko-KR" altLang="ko-KR" sz="11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ko-KR" altLang="ko-KR" sz="11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Render</a:t>
            </a: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();</a:t>
            </a:r>
            <a:b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}</a:t>
            </a:r>
            <a:b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1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100" b="1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CloneObject</a:t>
            </a: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1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ko-KR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1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1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ko-KR" altLang="ko-KR" sz="11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ko-KR" altLang="ko-KR" sz="11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objects.size</a:t>
            </a: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())</a:t>
            </a:r>
            <a:b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{</a:t>
            </a:r>
            <a:b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ko-KR" altLang="ko-KR" sz="11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objects.push_back</a:t>
            </a: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1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objects</a:t>
            </a: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1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]-&gt;</a:t>
            </a:r>
            <a:r>
              <a:rPr lang="ko-KR" altLang="ko-KR" sz="11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Clone</a:t>
            </a: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());</a:t>
            </a:r>
            <a:b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}</a:t>
            </a:r>
            <a:b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1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1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ko-KR" altLang="ko-KR" sz="11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ko-KR" altLang="ko-KR" sz="11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ko-KR" altLang="ko-KR" sz="11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unique_ptr</a:t>
            </a: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&lt;GameObject&gt;&gt; </a:t>
            </a:r>
            <a:r>
              <a:rPr lang="ko-KR" altLang="ko-KR" sz="11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objects</a:t>
            </a: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95613994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F89D32-32CD-292D-436C-3ED2BA97F2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8.12 </a:t>
            </a:r>
            <a:r>
              <a:rPr lang="ko-KR" altLang="en-US" dirty="0"/>
              <a:t>학습 정리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2ECC53-59A3-DABE-12C6-7B232D9512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20000"/>
              </a:lnSpc>
            </a:pPr>
            <a:r>
              <a:rPr lang="ko-KR" altLang="en-US" sz="2400" dirty="0"/>
              <a:t>상속은 일반화 관계와 대체 가능성 표현</a:t>
            </a:r>
          </a:p>
          <a:p>
            <a:pPr>
              <a:lnSpc>
                <a:spcPct val="120000"/>
              </a:lnSpc>
            </a:pPr>
            <a:r>
              <a:rPr lang="en-US" altLang="ko-KR" sz="2400" dirty="0"/>
              <a:t>public </a:t>
            </a:r>
            <a:r>
              <a:rPr lang="ko-KR" altLang="en-US" sz="2400" dirty="0"/>
              <a:t>상속은 </a:t>
            </a:r>
            <a:r>
              <a:rPr lang="en-US" altLang="ko-KR" sz="2400" dirty="0"/>
              <a:t>is-a </a:t>
            </a:r>
            <a:r>
              <a:rPr lang="ko-KR" altLang="en-US" sz="2400" dirty="0"/>
              <a:t>관계에 사용</a:t>
            </a:r>
          </a:p>
          <a:p>
            <a:pPr>
              <a:lnSpc>
                <a:spcPct val="120000"/>
              </a:lnSpc>
            </a:pPr>
            <a:r>
              <a:rPr lang="ko-KR" altLang="en-US" sz="2400" dirty="0"/>
              <a:t>기반 클래스의 공개 인터페이스와 의미를 파생 클래스도 유지해야 함</a:t>
            </a:r>
          </a:p>
          <a:p>
            <a:pPr>
              <a:lnSpc>
                <a:spcPct val="120000"/>
              </a:lnSpc>
            </a:pPr>
            <a:r>
              <a:rPr lang="ko-KR" altLang="en-US" sz="2400" dirty="0"/>
              <a:t>파생 클래스는 직접 기반 클래스 생성자를 초기화 리스트에서 선택</a:t>
            </a:r>
          </a:p>
          <a:p>
            <a:pPr>
              <a:lnSpc>
                <a:spcPct val="120000"/>
              </a:lnSpc>
            </a:pPr>
            <a:r>
              <a:rPr lang="ko-KR" altLang="en-US" sz="2400" dirty="0"/>
              <a:t>생성은 기반 클래스에서 파생 클래스로 진행</a:t>
            </a:r>
          </a:p>
          <a:p>
            <a:pPr>
              <a:lnSpc>
                <a:spcPct val="120000"/>
              </a:lnSpc>
            </a:pPr>
            <a:r>
              <a:rPr lang="ko-KR" altLang="en-US" sz="2400" dirty="0"/>
              <a:t>소멸은 파생 클래스에서 기반 클래스로 진행</a:t>
            </a:r>
          </a:p>
          <a:p>
            <a:pPr>
              <a:lnSpc>
                <a:spcPct val="120000"/>
              </a:lnSpc>
            </a:pPr>
            <a:r>
              <a:rPr lang="ko-KR" altLang="en-US" sz="2400" dirty="0"/>
              <a:t>초기화 순서는 초기화 리스트의 작성 순서가 아니라 선언 구조로 결정</a:t>
            </a:r>
          </a:p>
          <a:p>
            <a:pPr>
              <a:lnSpc>
                <a:spcPct val="120000"/>
              </a:lnSpc>
            </a:pPr>
            <a:r>
              <a:rPr lang="ko-KR" altLang="en-US" sz="2400" dirty="0"/>
              <a:t>같은 이름의 함수 선언은 기반 클래스의 오버로드 집합을 숨길 수 있음</a:t>
            </a:r>
          </a:p>
          <a:p>
            <a:pPr>
              <a:lnSpc>
                <a:spcPct val="120000"/>
              </a:lnSpc>
            </a:pPr>
            <a:r>
              <a:rPr lang="en-US" altLang="ko-KR" sz="2400" dirty="0"/>
              <a:t>using </a:t>
            </a:r>
            <a:r>
              <a:rPr lang="ko-KR" altLang="en-US" sz="2400" dirty="0"/>
              <a:t>선언으로 기반 함수들을 다시 노출 가능</a:t>
            </a:r>
          </a:p>
          <a:p>
            <a:pPr>
              <a:lnSpc>
                <a:spcPct val="120000"/>
              </a:lnSpc>
            </a:pPr>
            <a:r>
              <a:rPr lang="ko-KR" altLang="en-US" sz="2400" dirty="0"/>
              <a:t>재정의 함수에는 </a:t>
            </a:r>
            <a:r>
              <a:rPr lang="en-US" altLang="ko-KR" sz="2400" dirty="0"/>
              <a:t>override</a:t>
            </a:r>
            <a:r>
              <a:rPr lang="ko-KR" altLang="en-US" sz="2400" dirty="0"/>
              <a:t>를 일관되게 사용</a:t>
            </a:r>
          </a:p>
        </p:txBody>
      </p:sp>
    </p:spTree>
    <p:extLst>
      <p:ext uri="{BB962C8B-B14F-4D97-AF65-F5344CB8AC3E}">
        <p14:creationId xmlns:p14="http://schemas.microsoft.com/office/powerpoint/2010/main" val="5144059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18992C-B1A3-5825-1014-9B84C9505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8.12 </a:t>
            </a:r>
            <a:r>
              <a:rPr lang="ko-KR" altLang="en-US" dirty="0"/>
              <a:t>학습 정리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1C2FBB9-DB16-D722-DC40-81F6676A1F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20000"/>
              </a:lnSpc>
            </a:pPr>
            <a:r>
              <a:rPr lang="ko-KR" altLang="en-US" sz="2400" dirty="0"/>
              <a:t>가상 함수는 실제 객체의 동적 타입에 맞는 함수 호출</a:t>
            </a:r>
          </a:p>
          <a:p>
            <a:pPr>
              <a:lnSpc>
                <a:spcPct val="120000"/>
              </a:lnSpc>
            </a:pPr>
            <a:r>
              <a:rPr lang="ko-KR" altLang="en-US" sz="2400" dirty="0"/>
              <a:t>생성자</a:t>
            </a:r>
            <a:r>
              <a:rPr lang="en-US" altLang="ko-KR" sz="2400" dirty="0"/>
              <a:t>,</a:t>
            </a:r>
            <a:r>
              <a:rPr lang="ko-KR" altLang="en-US" sz="2400" dirty="0"/>
              <a:t> </a:t>
            </a:r>
            <a:r>
              <a:rPr lang="ko-KR" altLang="en-US" sz="2400" dirty="0" err="1"/>
              <a:t>소멸자</a:t>
            </a:r>
            <a:r>
              <a:rPr lang="ko-KR" altLang="en-US" sz="2400" dirty="0"/>
              <a:t> 안의 가상 호출은 현재 생성 또는 소멸 중인 클래스</a:t>
            </a:r>
          </a:p>
          <a:p>
            <a:pPr>
              <a:lnSpc>
                <a:spcPct val="120000"/>
              </a:lnSpc>
            </a:pPr>
            <a:r>
              <a:rPr lang="ko-KR" altLang="en-US" sz="2400" dirty="0"/>
              <a:t>가상 함수의 기본 인수는 정적 타입에서 선택</a:t>
            </a:r>
          </a:p>
          <a:p>
            <a:pPr>
              <a:lnSpc>
                <a:spcPct val="120000"/>
              </a:lnSpc>
            </a:pPr>
            <a:r>
              <a:rPr lang="ko-KR" altLang="en-US" sz="2400" dirty="0"/>
              <a:t>추상 클래스는 공통 상태와 일부 구현을 가지면서 계약을 정의</a:t>
            </a:r>
          </a:p>
          <a:p>
            <a:pPr>
              <a:lnSpc>
                <a:spcPct val="120000"/>
              </a:lnSpc>
            </a:pPr>
            <a:r>
              <a:rPr lang="ko-KR" altLang="en-US" sz="2400" dirty="0"/>
              <a:t>작은 인터페이스는 독립적인 역할을 표현</a:t>
            </a:r>
          </a:p>
          <a:p>
            <a:pPr>
              <a:lnSpc>
                <a:spcPct val="120000"/>
              </a:lnSpc>
            </a:pPr>
            <a:r>
              <a:rPr lang="ko-KR" altLang="en-US" sz="2400" dirty="0"/>
              <a:t>다형 기반 클래스는 가상 </a:t>
            </a:r>
            <a:r>
              <a:rPr lang="ko-KR" altLang="en-US" sz="2400" dirty="0" err="1"/>
              <a:t>소멸자</a:t>
            </a:r>
            <a:r>
              <a:rPr lang="ko-KR" altLang="en-US" sz="2400" dirty="0"/>
              <a:t> 제공</a:t>
            </a:r>
          </a:p>
          <a:p>
            <a:pPr>
              <a:lnSpc>
                <a:spcPct val="120000"/>
              </a:lnSpc>
            </a:pPr>
            <a:r>
              <a:rPr lang="ko-KR" altLang="en-US" sz="2400" dirty="0"/>
              <a:t>객체 잘림을 피하려면 다형 객체는 참조나 포인터로 전달</a:t>
            </a:r>
          </a:p>
          <a:p>
            <a:pPr>
              <a:lnSpc>
                <a:spcPct val="120000"/>
              </a:lnSpc>
            </a:pPr>
            <a:r>
              <a:rPr lang="ko-KR" altLang="en-US" sz="2400" dirty="0"/>
              <a:t>다형 객체 컨테이너는 스마트 포인터 사용</a:t>
            </a:r>
          </a:p>
          <a:p>
            <a:pPr>
              <a:lnSpc>
                <a:spcPct val="120000"/>
              </a:lnSpc>
            </a:pPr>
            <a:r>
              <a:rPr lang="ko-KR" altLang="en-US" sz="2400" dirty="0"/>
              <a:t>반복되는 다운캐스팅은 인터페이스 설계를 재검토해야 한다는 신호</a:t>
            </a:r>
          </a:p>
          <a:p>
            <a:pPr>
              <a:lnSpc>
                <a:spcPct val="120000"/>
              </a:lnSpc>
            </a:pPr>
            <a:r>
              <a:rPr lang="ko-KR" altLang="en-US" sz="2400" dirty="0"/>
              <a:t>다중 상속은 이름 충돌과 다이아몬드 구조에 주의</a:t>
            </a:r>
          </a:p>
          <a:p>
            <a:pPr>
              <a:lnSpc>
                <a:spcPct val="120000"/>
              </a:lnSpc>
            </a:pPr>
            <a:r>
              <a:rPr lang="ko-KR" altLang="en-US" sz="2400" dirty="0"/>
              <a:t>상속은 </a:t>
            </a:r>
            <a:r>
              <a:rPr lang="en-US" altLang="ko-KR" sz="2400" dirty="0"/>
              <a:t>is-a, </a:t>
            </a:r>
            <a:r>
              <a:rPr lang="ko-KR" altLang="en-US" sz="2400" dirty="0"/>
              <a:t>구성은 </a:t>
            </a:r>
            <a:r>
              <a:rPr lang="en-US" altLang="ko-KR" sz="2400" dirty="0"/>
              <a:t>has-a </a:t>
            </a:r>
            <a:r>
              <a:rPr lang="ko-KR" altLang="en-US" sz="2400" dirty="0"/>
              <a:t>관계에 사용</a:t>
            </a:r>
          </a:p>
          <a:p>
            <a:pPr>
              <a:lnSpc>
                <a:spcPct val="120000"/>
              </a:lnSpc>
            </a:pP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118917269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 디자인">
  <a:themeElements>
    <a:clrScheme name="기본 디자인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바른고딕">
      <a:majorFont>
        <a:latin typeface="나눔바른고딕"/>
        <a:ea typeface="나눔바른고딕"/>
        <a:cs typeface=""/>
      </a:majorFont>
      <a:minorFont>
        <a:latin typeface="나눔바른고딕"/>
        <a:ea typeface="나눔바른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lnDef>
    <a:txDef>
      <a:spPr>
        <a:noFill/>
        <a:ln w="25400">
          <a:solidFill>
            <a:schemeClr val="bg1">
              <a:lumMod val="75000"/>
            </a:schemeClr>
          </a:solidFill>
          <a:prstDash val="sysDot"/>
        </a:ln>
      </a:spPr>
      <a:bodyPr wrap="square">
        <a:spAutoFit/>
      </a:bodyPr>
      <a:lstStyle>
        <a:defPPr algn="l">
          <a:defRPr sz="1800" b="1" i="0" u="none" strike="noStrike" dirty="0">
            <a:solidFill>
              <a:srgbClr val="4078F2"/>
            </a:solidFill>
            <a:effectLst/>
            <a:latin typeface="Consolas" panose="020B0609020204030204" pitchFamily="49" charset="0"/>
          </a:defRPr>
        </a:defPPr>
      </a:lstStyle>
    </a:tx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12296</TotalTime>
  <Words>7489</Words>
  <Application>Microsoft Office PowerPoint</Application>
  <PresentationFormat>화면 슬라이드 쇼(4:3)</PresentationFormat>
  <Paragraphs>630</Paragraphs>
  <Slides>64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64</vt:i4>
      </vt:variant>
    </vt:vector>
  </HeadingPairs>
  <TitlesOfParts>
    <vt:vector size="75" baseType="lpstr">
      <vt:lpstr>D2Coding</vt:lpstr>
      <vt:lpstr>나눔고딕 ExtraBold</vt:lpstr>
      <vt:lpstr>가을체</vt:lpstr>
      <vt:lpstr>Arial</vt:lpstr>
      <vt:lpstr>HY견고딕</vt:lpstr>
      <vt:lpstr>Consolas</vt:lpstr>
      <vt:lpstr>굴림</vt:lpstr>
      <vt:lpstr>Pretendard ExtraBold</vt:lpstr>
      <vt:lpstr>Wingdings</vt:lpstr>
      <vt:lpstr>나눔바른고딕</vt:lpstr>
      <vt:lpstr>기본 디자인</vt:lpstr>
      <vt:lpstr>08. 상속과 다형성</vt:lpstr>
      <vt:lpstr>08. 상속과 다형성</vt:lpstr>
      <vt:lpstr>8.1 일반화와 상속</vt:lpstr>
      <vt:lpstr>8.1.1 기반 클래스와 파생 클래스</vt:lpstr>
      <vt:lpstr>8.1.1 다단계 상속 구조</vt:lpstr>
      <vt:lpstr>8.1.2 is-a 관계와 대체 가능성</vt:lpstr>
      <vt:lpstr>8.1.3 상속 사용 조건</vt:lpstr>
      <vt:lpstr>8.1.4 UML로 표현하는 일반화</vt:lpstr>
      <vt:lpstr>8.2 상속의 기본 구조</vt:lpstr>
      <vt:lpstr>8.2.1 public 상속</vt:lpstr>
      <vt:lpstr>8.2.2 protected 상속과 private 상속</vt:lpstr>
      <vt:lpstr>8.2.4 protected 멤버</vt:lpstr>
      <vt:lpstr>8.3 기반 클래스와 파생 클래스의 초기화</vt:lpstr>
      <vt:lpstr>8.3.1 기반 클래스 생성자 호출</vt:lpstr>
      <vt:lpstr>8.3.2 직접 기반 클래스 초기화</vt:lpstr>
      <vt:lpstr>8.3.3 초기화 순서</vt:lpstr>
      <vt:lpstr>8.3.4 생성과 소멸 순서 예</vt:lpstr>
      <vt:lpstr>8.4 함수 재정의와 이름 숨김</vt:lpstr>
      <vt:lpstr>8.4.1 오버로딩과 오버라이딩</vt:lpstr>
      <vt:lpstr>8.4.2 이름 숨김과 using 선언</vt:lpstr>
      <vt:lpstr>8.4.4 기반 클래스 함수 호출</vt:lpstr>
      <vt:lpstr>8.4.5 재정의 시그니처와 override</vt:lpstr>
      <vt:lpstr>8.5 가상 함수와 동적 바인딩</vt:lpstr>
      <vt:lpstr>8.5.1 정적 바인딩과 동적 바인딩</vt:lpstr>
      <vt:lpstr>8.5.2 가상 함수</vt:lpstr>
      <vt:lpstr>8.5.3 override와 final</vt:lpstr>
      <vt:lpstr>8.5.4 가상 함수 테이블의 개념적 모델</vt:lpstr>
      <vt:lpstr>8.5.5 공변 반환형 (covariant return type)</vt:lpstr>
      <vt:lpstr>8.5.6 생성자와 소멸자에서의 가상 함수 호출</vt:lpstr>
      <vt:lpstr>8.5.7 가상 함수와 기본 인수</vt:lpstr>
      <vt:lpstr>8.6 추상 클래스와 인터페이스</vt:lpstr>
      <vt:lpstr>8.6.2 추상 클래스</vt:lpstr>
      <vt:lpstr>8.6.3 인터페이스 역할의 클래스</vt:lpstr>
      <vt:lpstr>8.6.4 구현 상속과 인터페이스 상속</vt:lpstr>
      <vt:lpstr>8.6.5 최소 인터페이스와 계약</vt:lpstr>
      <vt:lpstr>8.6.6 비가상 인터페이스</vt:lpstr>
      <vt:lpstr>8.7 다형 객체의 수명</vt:lpstr>
      <vt:lpstr>8.7.1 가상 소멸자</vt:lpstr>
      <vt:lpstr>8.7.3 객체 잘림(Object slicing)</vt:lpstr>
      <vt:lpstr>8.7.4 다형 객체의 복사와 Clone</vt:lpstr>
      <vt:lpstr>8.7.5 스마트 포인터와 다형 객체</vt:lpstr>
      <vt:lpstr>8.8 형 변환과 RTTI</vt:lpstr>
      <vt:lpstr>8.8.1 업캐스팅</vt:lpstr>
      <vt:lpstr>8.8.2 다운캐스팅과 dynamic_cast</vt:lpstr>
      <vt:lpstr>8.8.5 다운캐스팅을 줄이는 설계</vt:lpstr>
      <vt:lpstr>8.9 다중 상속</vt:lpstr>
      <vt:lpstr>8.9.2 이름 충돌</vt:lpstr>
      <vt:lpstr>8.9.3 다이아몬드 상속</vt:lpstr>
      <vt:lpstr>8.9.4 가상 상속</vt:lpstr>
      <vt:lpstr>8.9.5 가상 기반 클래스 초기화</vt:lpstr>
      <vt:lpstr>8.9.6 인터페이스 다중 상속</vt:lpstr>
      <vt:lpstr>8.10 상속과 구성</vt:lpstr>
      <vt:lpstr>8.10.1 has-a 관계와 구성</vt:lpstr>
      <vt:lpstr>8.10.2 위임</vt:lpstr>
      <vt:lpstr>8.10.3 상속의 결합도</vt:lpstr>
      <vt:lpstr>8.10.4 상속보다 구성을 우선하는 이유</vt:lpstr>
      <vt:lpstr>8.10.5 상속이 필요한 경우</vt:lpstr>
      <vt:lpstr>8.11 종합 예제 구조</vt:lpstr>
      <vt:lpstr>8.11.2 GameObject 핵심 구조</vt:lpstr>
      <vt:lpstr>8.11.3 Character와 Player</vt:lpstr>
      <vt:lpstr>8.11.4 MobBase, Monster, BossMonster</vt:lpstr>
      <vt:lpstr>8.11.5 GameScene의 다형 객체 소유</vt:lpstr>
      <vt:lpstr>8.12 학습 정리</vt:lpstr>
      <vt:lpstr>8.12 학습 정리</vt:lpstr>
    </vt:vector>
  </TitlesOfParts>
  <Company>GaLic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</dc:title>
  <dc:creator>Heesung Oh</dc:creator>
  <cp:lastModifiedBy>Heesung Oh</cp:lastModifiedBy>
  <cp:revision>432</cp:revision>
  <dcterms:created xsi:type="dcterms:W3CDTF">2003-11-30T16:03:20Z</dcterms:created>
  <dcterms:modified xsi:type="dcterms:W3CDTF">2026-08-17T14:25:13Z</dcterms:modified>
</cp:coreProperties>
</file>