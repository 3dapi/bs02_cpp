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328" r:id="rId2"/>
    <p:sldId id="329" r:id="rId3"/>
    <p:sldId id="392" r:id="rId4"/>
    <p:sldId id="394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6" r:id="rId32"/>
    <p:sldId id="357" r:id="rId33"/>
    <p:sldId id="358" r:id="rId34"/>
    <p:sldId id="359" r:id="rId35"/>
    <p:sldId id="360" r:id="rId36"/>
    <p:sldId id="362" r:id="rId37"/>
    <p:sldId id="363" r:id="rId38"/>
    <p:sldId id="364" r:id="rId39"/>
    <p:sldId id="365" r:id="rId40"/>
    <p:sldId id="366" r:id="rId41"/>
    <p:sldId id="367" r:id="rId42"/>
    <p:sldId id="368" r:id="rId43"/>
    <p:sldId id="369" r:id="rId44"/>
    <p:sldId id="370" r:id="rId45"/>
    <p:sldId id="371" r:id="rId46"/>
    <p:sldId id="372" r:id="rId47"/>
    <p:sldId id="393" r:id="rId48"/>
    <p:sldId id="373" r:id="rId49"/>
    <p:sldId id="374" r:id="rId50"/>
    <p:sldId id="376" r:id="rId51"/>
    <p:sldId id="375" r:id="rId52"/>
    <p:sldId id="377" r:id="rId53"/>
    <p:sldId id="378" r:id="rId54"/>
    <p:sldId id="379" r:id="rId55"/>
    <p:sldId id="380" r:id="rId56"/>
    <p:sldId id="381" r:id="rId57"/>
    <p:sldId id="382" r:id="rId58"/>
    <p:sldId id="383" r:id="rId59"/>
    <p:sldId id="384" r:id="rId60"/>
    <p:sldId id="385" r:id="rId61"/>
    <p:sldId id="386" r:id="rId62"/>
    <p:sldId id="387" r:id="rId63"/>
    <p:sldId id="389" r:id="rId64"/>
    <p:sldId id="390" r:id="rId65"/>
    <p:sldId id="391" r:id="rId66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69"/>
      <p:bold r:id="rId70"/>
      <p:italic r:id="rId71"/>
      <p:boldItalic r:id="rId72"/>
    </p:embeddedFont>
    <p:embeddedFont>
      <p:font typeface="D2Coding" panose="020B0609020101020101" pitchFamily="49" charset="-127"/>
      <p:regular r:id="rId73"/>
      <p:bold r:id="rId74"/>
    </p:embeddedFont>
    <p:embeddedFont>
      <p:font typeface="HY견고딕" panose="02030600000101010101" pitchFamily="18" charset="-127"/>
      <p:regular r:id="rId75"/>
    </p:embeddedFont>
    <p:embeddedFont>
      <p:font typeface="Pretendard ExtraBold" panose="02000903000000020004" pitchFamily="50" charset="-127"/>
      <p:bold r:id="rId76"/>
    </p:embeddedFont>
    <p:embeddedFont>
      <p:font typeface="가을체" panose="02030600000101010101" pitchFamily="18" charset="-127"/>
      <p:regular r:id="rId77"/>
    </p:embeddedFont>
    <p:embeddedFont>
      <p:font typeface="나눔고딕 ExtraBold" panose="020D0904000000000000" pitchFamily="50" charset="-127"/>
      <p:bold r:id="rId78"/>
    </p:embeddedFont>
    <p:embeddedFont>
      <p:font typeface="나눔바른고딕" panose="020B0603020101020101" pitchFamily="50" charset="-127"/>
      <p:regular r:id="rId79"/>
      <p:bold r:id="rId80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00FF"/>
    <a:srgbClr val="3399FF"/>
    <a:srgbClr val="FFFFCC"/>
    <a:srgbClr val="EFEFED"/>
    <a:srgbClr val="C18401"/>
    <a:srgbClr val="CC00CC"/>
    <a:srgbClr val="FF9900"/>
    <a:srgbClr val="CC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65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596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64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6.fntdata"/><Relationship Id="rId79" Type="http://schemas.openxmlformats.org/officeDocument/2006/relationships/font" Target="fonts/font1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font" Target="fonts/font10.fntdata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A2FCDCC-75BC-443E-E33D-96FB3B93C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DEC5783-C421-C2A7-6C8A-427BD3E44B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3F608-D938-42A6-9A0B-23DC3D655BD5}" type="datetimeFigureOut">
              <a:rPr lang="ko-KR" altLang="en-US" smtClean="0"/>
              <a:t>2026-10-28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7BFB7D-E523-05DD-7599-0B8AE06D2A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1A37456-DBCD-50BC-A8E2-5D301F7B0F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4F7A42-FA84-4141-97EA-F328B808CC4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553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37CE4-DC6E-0507-7ADF-E2E78392D644}"/>
              </a:ext>
            </a:extLst>
          </p:cNvPr>
          <p:cNvSpPr txBox="1"/>
          <p:nvPr userDrawn="1"/>
        </p:nvSpPr>
        <p:spPr>
          <a:xfrm>
            <a:off x="7253184" y="6610716"/>
            <a:ext cx="1542657" cy="234286"/>
          </a:xfrm>
          <a:prstGeom prst="rect">
            <a:avLst/>
          </a:prstGeom>
          <a:noFill/>
          <a:ln w="25400">
            <a:noFill/>
            <a:prstDash val="sysDot"/>
          </a:ln>
        </p:spPr>
        <p:txBody>
          <a:bodyPr wrap="none" lIns="36000" tIns="36000" rIns="36000" bIns="36000" rtlCol="0">
            <a:spAutoFit/>
          </a:bodyPr>
          <a:lstStyle/>
          <a:p>
            <a:pPr>
              <a:defRPr/>
            </a:pPr>
            <a:r>
              <a:rPr lang="ko-KR" altLang="en-US" sz="1050" b="0" dirty="0">
                <a:solidFill>
                  <a:schemeClr val="bg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게임 프로그래밍 교육과정</a:t>
            </a:r>
            <a:endParaRPr lang="ko-KR" altLang="en-US" b="0" dirty="0">
              <a:solidFill>
                <a:schemeClr val="bg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ko-KR" altLang="ko-KR" dirty="0"/>
              <a:t>08. 상속과 </a:t>
            </a:r>
            <a:r>
              <a:rPr lang="ko-KR" altLang="ko-KR" dirty="0" err="1"/>
              <a:t>다형성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416D4-EC55-01A4-4A5C-AA99D12F0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08. 상속과 </a:t>
            </a:r>
            <a:r>
              <a:rPr lang="ko-KR" altLang="ko-KR" dirty="0" err="1"/>
              <a:t>다형성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261982-8DF8-643B-CE5B-F58F4EC3B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일반화와 상속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기반 클래스와 파생 클래스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 err="1"/>
              <a:t>public</a:t>
            </a:r>
            <a:r>
              <a:rPr lang="ko-KR" altLang="ko-KR" sz="2400" dirty="0"/>
              <a:t> / </a:t>
            </a:r>
            <a:r>
              <a:rPr lang="ko-KR" altLang="ko-KR" sz="2400" dirty="0" err="1"/>
              <a:t>protected</a:t>
            </a:r>
            <a:r>
              <a:rPr lang="ko-KR" altLang="ko-KR" sz="2400" dirty="0"/>
              <a:t> / </a:t>
            </a:r>
            <a:r>
              <a:rPr lang="ko-KR" altLang="ko-KR" sz="2400" dirty="0" err="1"/>
              <a:t>private</a:t>
            </a:r>
            <a:r>
              <a:rPr lang="ko-KR" altLang="ko-KR" sz="2400" dirty="0"/>
              <a:t> 상속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기반 클래스와 파생 클래스의 초기화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함수 재정의, 이름 숨김, </a:t>
            </a:r>
            <a:r>
              <a:rPr lang="ko-KR" altLang="ko-KR" sz="2400" dirty="0" err="1"/>
              <a:t>override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가상 함수와 동적 바인딩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추상 클래스와 인터페이스 역할의 클래스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다형 객체의 수명과 가상 </a:t>
            </a:r>
            <a:r>
              <a:rPr lang="ko-KR" altLang="ko-KR" sz="2400" dirty="0" err="1"/>
              <a:t>소멸자</a:t>
            </a:r>
            <a:endParaRPr lang="ko-KR" altLang="ko-KR" sz="2400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업캐스팅, 다운캐스팅, RTTI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다중 상속과 가상 상속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상속과 구성의 선택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1660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352EE-2469-DE5E-8F36-023D57A3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B7B73-27B6-C695-826E-AC4D660B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일반화와 상속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6E10AB-BA5E-2EF8-DF16-C3AD63352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일반화</a:t>
            </a:r>
            <a:r>
              <a:rPr lang="en-US" altLang="ko-KR" sz="2400" dirty="0"/>
              <a:t>: </a:t>
            </a:r>
            <a:r>
              <a:rPr lang="ko-KR" altLang="ko-KR" sz="2400" dirty="0"/>
              <a:t>여러 클래스의 공통 특성을 상위 개념으로 묶는 과정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상속</a:t>
            </a:r>
            <a:r>
              <a:rPr lang="en-US" altLang="ko-KR" sz="2400" dirty="0"/>
              <a:t>: </a:t>
            </a:r>
            <a:r>
              <a:rPr lang="ko-KR" altLang="ko-KR" sz="2400" dirty="0"/>
              <a:t>하위 클래스가 상위 클래스의 특성을 이어받아 더 구체적인 클래스를 정의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공통 상태와 기능은 기반 클래스로 분리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구체적인 차이는 파생 클래스에서 표현</a:t>
            </a:r>
          </a:p>
          <a:p>
            <a:endParaRPr lang="ko-KR" altLang="en-US" sz="24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30FE007-E214-E7C1-448E-A2AC7B9B8C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259907"/>
              </p:ext>
            </p:extLst>
          </p:nvPr>
        </p:nvGraphicFramePr>
        <p:xfrm>
          <a:off x="5924251" y="3861048"/>
          <a:ext cx="2632746" cy="2352240"/>
        </p:xfrm>
        <a:graphic>
          <a:graphicData uri="http://schemas.openxmlformats.org/drawingml/2006/table">
            <a:tbl>
              <a:tblPr/>
              <a:tblGrid>
                <a:gridCol w="2632746">
                  <a:extLst>
                    <a:ext uri="{9D8B030D-6E8A-4147-A177-3AD203B41FA5}">
                      <a16:colId xmlns:a16="http://schemas.microsoft.com/office/drawing/2014/main" val="1271317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게임 객체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캐릭터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├─ 플레이어 계열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│  └─ 플레이어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└─ 몹 계열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├─ 일반 몬스터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    └─ 보스 몬스터</a:t>
                      </a:r>
                      <a:endParaRPr lang="ko-KR" sz="32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144000" marR="144000" marT="216000" marB="216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784137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CD7F44A-21D9-5848-CE11-2FA4F337E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75810"/>
              </p:ext>
            </p:extLst>
          </p:nvPr>
        </p:nvGraphicFramePr>
        <p:xfrm>
          <a:off x="539750" y="3429000"/>
          <a:ext cx="4968354" cy="3058512"/>
        </p:xfrm>
        <a:graphic>
          <a:graphicData uri="http://schemas.openxmlformats.org/drawingml/2006/table">
            <a:tbl>
              <a:tblPr/>
              <a:tblGrid>
                <a:gridCol w="2186467">
                  <a:extLst>
                    <a:ext uri="{9D8B030D-6E8A-4147-A177-3AD203B41FA5}">
                      <a16:colId xmlns:a16="http://schemas.microsoft.com/office/drawing/2014/main" val="2225773069"/>
                    </a:ext>
                  </a:extLst>
                </a:gridCol>
                <a:gridCol w="2781887">
                  <a:extLst>
                    <a:ext uri="{9D8B030D-6E8A-4147-A177-3AD203B41FA5}">
                      <a16:colId xmlns:a16="http://schemas.microsoft.com/office/drawing/2014/main" val="1427699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계층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역할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22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GameObject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게임 세계에 존재하는 객체의 공통 기반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42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체력과 전투 상태를 가진 객체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859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PlayerBase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플레이어 계열의 공통 기반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081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MobBase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몹 계열의 공통 기반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4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Player, Monster, BossMonster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실제 생성 가능한 구체 클래스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80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516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DF7D1-AA7C-C69B-5471-9735E9A15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C60E54-A707-9EC6-86FF-FA9FD190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 </a:t>
            </a:r>
            <a:r>
              <a:rPr lang="ko-KR" altLang="en-US" dirty="0"/>
              <a:t>일반화와 상속 </a:t>
            </a:r>
            <a:r>
              <a:rPr lang="en-US" altLang="ko-KR" dirty="0"/>
              <a:t>- </a:t>
            </a:r>
            <a:r>
              <a:rPr lang="ko-KR" altLang="en-US" dirty="0"/>
              <a:t>용어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45C072-7DAB-1D3E-FFA1-7AA2E19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en-US" sz="2000" dirty="0"/>
              <a:t>추상화</a:t>
            </a:r>
            <a:r>
              <a:rPr lang="en-US" altLang="ko-KR" sz="2000" dirty="0"/>
              <a:t>(Abstraction)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핵심 속성과 기능 추출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구체적인 구현 세부 사항은 은닉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일반적인 인터페이스로 표현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endParaRPr lang="ko-KR" altLang="en-US" sz="1600" dirty="0"/>
          </a:p>
          <a:p>
            <a:pPr lvl="0">
              <a:lnSpc>
                <a:spcPct val="120000"/>
              </a:lnSpc>
            </a:pPr>
            <a:r>
              <a:rPr lang="ko-KR" altLang="en-US" sz="2000" dirty="0"/>
              <a:t>캡슐화</a:t>
            </a:r>
            <a:r>
              <a:rPr lang="en-US" altLang="ko-KR" sz="2000" dirty="0"/>
              <a:t>(Encapsulation)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데이터와 관련 기능을 하나의 단위로 결합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정의된 인터페이스를 통해 내부 구현에 대한 접근 통제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객체의 상태와 추상화된 인터페이스 보호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endParaRPr lang="ko-KR" altLang="en-US" sz="1600" dirty="0"/>
          </a:p>
          <a:p>
            <a:pPr lvl="0">
              <a:lnSpc>
                <a:spcPct val="120000"/>
              </a:lnSpc>
            </a:pPr>
            <a:r>
              <a:rPr lang="ko-KR" altLang="en-US" sz="2000" dirty="0"/>
              <a:t>일반화</a:t>
            </a:r>
            <a:r>
              <a:rPr lang="en-US" altLang="ko-KR" sz="2000" dirty="0"/>
              <a:t>(Generalization)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여러 클래스의 공통된 특성을 추출하여 상위 개념으로 통합</a:t>
            </a:r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상위 클래스와 하위 클래스를 </a:t>
            </a:r>
            <a:r>
              <a:rPr lang="en-US" altLang="ko-KR" sz="1600" dirty="0"/>
              <a:t>is-a </a:t>
            </a:r>
            <a:r>
              <a:rPr lang="ko-KR" altLang="en-US" sz="1600" dirty="0"/>
              <a:t>관계 형성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/>
              <a:t>C++ </a:t>
            </a:r>
            <a:r>
              <a:rPr lang="ko-KR" altLang="en-US" sz="1600" dirty="0"/>
              <a:t>에서는 상속을 통해 일반화 관계 표현</a:t>
            </a:r>
          </a:p>
        </p:txBody>
      </p:sp>
    </p:spTree>
    <p:extLst>
      <p:ext uri="{BB962C8B-B14F-4D97-AF65-F5344CB8AC3E}">
        <p14:creationId xmlns:p14="http://schemas.microsoft.com/office/powerpoint/2010/main" val="258149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35DE-20AB-9CFE-6A22-8DCCA134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36F2B-0DA6-8BDD-8419-012F613B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 </a:t>
            </a:r>
            <a:r>
              <a:rPr lang="ko-KR" altLang="en-US" dirty="0"/>
              <a:t>기반 클래스와 파생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2D0E95-E427-8A3C-3A2E-2F107117F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기반 클래스: 공통 개념을 정의한 클래스</a:t>
            </a:r>
          </a:p>
          <a:p>
            <a:pPr lvl="0"/>
            <a:r>
              <a:rPr lang="ko-KR" altLang="ko-KR" sz="2400" dirty="0"/>
              <a:t>파생 클래스: 기반 클래스를 확장하거나 구체화한 클래스</a:t>
            </a:r>
          </a:p>
          <a:p>
            <a:pPr lvl="0"/>
            <a:r>
              <a:rPr lang="ko-KR" altLang="ko-KR" sz="2400" dirty="0"/>
              <a:t>파생 클래스 객체 안에는 기반 클래스 부분이 포함됨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2A6CE-789A-D170-4FC2-2A3EDA1770FA}"/>
              </a:ext>
            </a:extLst>
          </p:cNvPr>
          <p:cNvSpPr txBox="1"/>
          <p:nvPr/>
        </p:nvSpPr>
        <p:spPr>
          <a:xfrm>
            <a:off x="539750" y="2204864"/>
            <a:ext cx="3672210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058247-93FC-0A2E-74BD-C7F9B6188064}"/>
              </a:ext>
            </a:extLst>
          </p:cNvPr>
          <p:cNvSpPr txBox="1"/>
          <p:nvPr/>
        </p:nvSpPr>
        <p:spPr>
          <a:xfrm>
            <a:off x="4427984" y="2327974"/>
            <a:ext cx="3672210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3260BAF-5BDC-EDE4-37FB-6BDD764FB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087869"/>
              </p:ext>
            </p:extLst>
          </p:nvPr>
        </p:nvGraphicFramePr>
        <p:xfrm>
          <a:off x="3239852" y="4885726"/>
          <a:ext cx="2916324" cy="1807555"/>
        </p:xfrm>
        <a:graphic>
          <a:graphicData uri="http://schemas.openxmlformats.org/drawingml/2006/table">
            <a:tbl>
              <a:tblPr/>
              <a:tblGrid>
                <a:gridCol w="2916324">
                  <a:extLst>
                    <a:ext uri="{9D8B030D-6E8A-4147-A177-3AD203B41FA5}">
                      <a16:colId xmlns:a16="http://schemas.microsoft.com/office/drawing/2014/main" val="2801679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객체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GameObject 부분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│  ├─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│  └─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active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└─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hp</a:t>
                      </a:r>
                      <a:endParaRPr lang="ko-KR" sz="32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9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34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FA22D-3F1A-1957-4D27-C3F9D407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0A10D-E43C-CE46-7E27-D89F46E4D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8.1.1 </a:t>
            </a:r>
            <a:r>
              <a:rPr lang="ko-KR" altLang="en-US" dirty="0"/>
              <a:t>다단계 상속 구조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18C430FD-B6A7-4B25-EB22-038155CD8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3941852"/>
              </p:ext>
            </p:extLst>
          </p:nvPr>
        </p:nvGraphicFramePr>
        <p:xfrm>
          <a:off x="5730948" y="2825130"/>
          <a:ext cx="2681089" cy="1659600"/>
        </p:xfrm>
        <a:graphic>
          <a:graphicData uri="http://schemas.openxmlformats.org/drawingml/2006/table">
            <a:tbl>
              <a:tblPr/>
              <a:tblGrid>
                <a:gridCol w="2681089">
                  <a:extLst>
                    <a:ext uri="{9D8B030D-6E8A-4147-A177-3AD203B41FA5}">
                      <a16:colId xmlns:a16="http://schemas.microsoft.com/office/drawing/2014/main" val="32374789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객체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GameObject 부분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PlayerBase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8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8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endParaRPr lang="ko-KR" sz="32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868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3DFFD98-92D6-4AA7-A7DA-3079117C4C1A}"/>
              </a:ext>
            </a:extLst>
          </p:cNvPr>
          <p:cNvSpPr txBox="1"/>
          <p:nvPr/>
        </p:nvSpPr>
        <p:spPr>
          <a:xfrm>
            <a:off x="278954" y="720308"/>
            <a:ext cx="4233466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value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42B36-0821-17CA-F73C-065B3A80A1BF}"/>
              </a:ext>
            </a:extLst>
          </p:cNvPr>
          <p:cNvSpPr txBox="1"/>
          <p:nvPr/>
        </p:nvSpPr>
        <p:spPr>
          <a:xfrm>
            <a:off x="266526" y="2852936"/>
            <a:ext cx="4245894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Character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SetAttackPower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attackPower);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GetAttackPower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attackPower = </a:t>
            </a:r>
            <a:r>
              <a:rPr lang="ko-KR" altLang="ko-KR" sz="1600" b="0" i="0" u="none" strike="noStrike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64BE0-A96D-C60A-B062-D0A911444877}"/>
              </a:ext>
            </a:extLst>
          </p:cNvPr>
          <p:cNvSpPr txBox="1"/>
          <p:nvPr/>
        </p:nvSpPr>
        <p:spPr>
          <a:xfrm>
            <a:off x="4067944" y="1697230"/>
            <a:ext cx="3528392" cy="830997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61702-442B-ADB3-8811-BEA45FF3C8BF}"/>
              </a:ext>
            </a:extLst>
          </p:cNvPr>
          <p:cNvSpPr txBox="1"/>
          <p:nvPr/>
        </p:nvSpPr>
        <p:spPr>
          <a:xfrm>
            <a:off x="1605954" y="4745271"/>
            <a:ext cx="4118173" cy="156966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8277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32E11-EB7D-5746-F25F-CAA4BFEB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450F3D-3913-455E-630D-69039FB4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8.1.2 is-a </a:t>
            </a:r>
            <a:r>
              <a:rPr lang="ko-KR" altLang="en-US" dirty="0"/>
              <a:t>관계와 대체 가능성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115CEA-6AD6-36DE-64A9-0E1D9B922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public</a:t>
            </a:r>
            <a:r>
              <a:rPr lang="ko-KR" altLang="ko-KR" sz="2400" dirty="0"/>
              <a:t> 상속은 파생 클래스가 기반 클래스의 한 종류임을 표현</a:t>
            </a:r>
          </a:p>
          <a:p>
            <a:pPr lvl="0"/>
            <a:r>
              <a:rPr lang="ko-KR" altLang="ko-KR" sz="2400" dirty="0"/>
              <a:t>파생 객체는 기반 클래스 참조나 포인터가 필요한 위치에 전달 가능</a:t>
            </a:r>
          </a:p>
          <a:p>
            <a:pPr lvl="0"/>
            <a:r>
              <a:rPr lang="ko-KR" altLang="ko-KR" sz="2400" dirty="0"/>
              <a:t>문법상 변환뿐 아니라 기반 클래스의 의미와 규칙도 유지해야 함</a:t>
            </a:r>
          </a:p>
          <a:p>
            <a:endParaRPr lang="ko-KR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0C74A-03E0-5381-2510-ABE14223769C}"/>
              </a:ext>
            </a:extLst>
          </p:cNvPr>
          <p:cNvSpPr txBox="1"/>
          <p:nvPr/>
        </p:nvSpPr>
        <p:spPr>
          <a:xfrm>
            <a:off x="395536" y="4452282"/>
            <a:ext cx="4752528" cy="156966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PrintCharacterState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&lt;&lt;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",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="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&lt;&lt; 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.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5FB2817-E35F-4C56-3E06-CE3AF1756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229333"/>
              </p:ext>
            </p:extLst>
          </p:nvPr>
        </p:nvGraphicFramePr>
        <p:xfrm>
          <a:off x="395536" y="2292530"/>
          <a:ext cx="4572000" cy="1939160"/>
        </p:xfrm>
        <a:graphic>
          <a:graphicData uri="http://schemas.openxmlformats.org/drawingml/2006/table">
            <a:tbl>
              <a:tblPr/>
              <a:tblGrid>
                <a:gridCol w="3244586">
                  <a:extLst>
                    <a:ext uri="{9D8B030D-6E8A-4147-A177-3AD203B41FA5}">
                      <a16:colId xmlns:a16="http://schemas.microsoft.com/office/drawing/2014/main" val="1245288438"/>
                    </a:ext>
                  </a:extLst>
                </a:gridCol>
                <a:gridCol w="1327414">
                  <a:extLst>
                    <a:ext uri="{9D8B030D-6E8A-4147-A177-3AD203B41FA5}">
                      <a16:colId xmlns:a16="http://schemas.microsoft.com/office/drawing/2014/main" val="42794384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표현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10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 is a Character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성립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813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Monster is a Character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성립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66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BossMonster is a GameObject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성립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553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 is a Weapon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성립하지 않음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36801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333FD9E-3211-5A6A-2376-FE8AA946ED50}"/>
              </a:ext>
            </a:extLst>
          </p:cNvPr>
          <p:cNvSpPr txBox="1"/>
          <p:nvPr/>
        </p:nvSpPr>
        <p:spPr>
          <a:xfrm>
            <a:off x="5292080" y="4451628"/>
            <a:ext cx="3672408" cy="1569660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PrintCharacterState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PrintCharacterState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PrintCharacterState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7973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97862-7285-762E-45FB-F013C2FA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1E983-EA81-DAE3-AA39-A6EBFA958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8.1.3 </a:t>
            </a:r>
            <a:r>
              <a:rPr lang="ko-KR" altLang="en-US" dirty="0"/>
              <a:t>상속 사용 조건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DC63F4-13D8-D7E5-0BDF-4110811D0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공통 코드가 있다는 이유만으로 상속을 선택하지 않음</a:t>
            </a:r>
          </a:p>
          <a:p>
            <a:pPr lvl="0"/>
            <a:r>
              <a:rPr lang="ko-KR" altLang="ko-KR" sz="2400" dirty="0"/>
              <a:t>상속은 타입 관계와 인터페이스 계약을 함께 만듦</a:t>
            </a:r>
          </a:p>
          <a:p>
            <a:pPr lvl="0"/>
            <a:r>
              <a:rPr lang="ko-KR" altLang="ko-KR" sz="2400" dirty="0"/>
              <a:t>기반 클래스 대신 파생 클래스를 사용해도 의미가 유지되어야 함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D5996D3-ED37-9546-AE08-57439C88F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6138022"/>
              </p:ext>
            </p:extLst>
          </p:nvPr>
        </p:nvGraphicFramePr>
        <p:xfrm>
          <a:off x="539750" y="2268729"/>
          <a:ext cx="6930852" cy="2509872"/>
        </p:xfrm>
        <a:graphic>
          <a:graphicData uri="http://schemas.openxmlformats.org/drawingml/2006/table">
            <a:tbl>
              <a:tblPr/>
              <a:tblGrid>
                <a:gridCol w="1367219">
                  <a:extLst>
                    <a:ext uri="{9D8B030D-6E8A-4147-A177-3AD203B41FA5}">
                      <a16:colId xmlns:a16="http://schemas.microsoft.com/office/drawing/2014/main" val="3261057491"/>
                    </a:ext>
                  </a:extLst>
                </a:gridCol>
                <a:gridCol w="5563633">
                  <a:extLst>
                    <a:ext uri="{9D8B030D-6E8A-4147-A177-3AD203B41FA5}">
                      <a16:colId xmlns:a16="http://schemas.microsoft.com/office/drawing/2014/main" val="19435940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기준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확인 내용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6683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개념 관계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클래스가 기반 클래스의 한 종류인가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188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인터페이스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클래스의 공개 연산이 파생 클래스에도 의미가 있는가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031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계약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클래스가 기반 클래스의 규칙을 유지하는가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569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다형성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구체 타입을 몰라도 공통 기능을 호출해야 하는가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49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변경 영향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 변경을 파생 클래스들이 수용할 수 있는가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0033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42CF38-BDA7-8A33-6CE1-CEC8BB99BDA8}"/>
              </a:ext>
            </a:extLst>
          </p:cNvPr>
          <p:cNvSpPr txBox="1"/>
          <p:nvPr/>
        </p:nvSpPr>
        <p:spPr>
          <a:xfrm>
            <a:off x="539750" y="5159534"/>
            <a:ext cx="6930851" cy="646331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→ 잘못된 관계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has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→ 구성으로 표현</a:t>
            </a:r>
          </a:p>
        </p:txBody>
      </p:sp>
    </p:spTree>
    <p:extLst>
      <p:ext uri="{BB962C8B-B14F-4D97-AF65-F5344CB8AC3E}">
        <p14:creationId xmlns:p14="http://schemas.microsoft.com/office/powerpoint/2010/main" val="133527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0307-5AE9-40E1-CC3A-390D46ACE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A45AE7-B3BB-0B6F-38E7-ED61B0475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8.1.4 UML</a:t>
            </a:r>
            <a:r>
              <a:rPr lang="ko-KR" altLang="en-US" dirty="0"/>
              <a:t>로 표현하는 일반화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8CBB29-125E-38DA-4BA4-E5D65C061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UML 다이어그램에서 일반화는 빈 삼각형 화살표로 표현</a:t>
            </a:r>
          </a:p>
          <a:p>
            <a:pPr lvl="0"/>
            <a:r>
              <a:rPr lang="ko-KR" altLang="ko-KR" sz="2400" dirty="0"/>
              <a:t>화살표 방향은 파생 클래스에서 기반 클래스를 향함</a:t>
            </a:r>
          </a:p>
          <a:p>
            <a:pPr lvl="0"/>
            <a:r>
              <a:rPr lang="ko-KR" altLang="ko-KR" sz="2400" dirty="0" err="1"/>
              <a:t>UML은</a:t>
            </a:r>
            <a:r>
              <a:rPr lang="ko-KR" altLang="ko-KR" sz="2400" dirty="0"/>
              <a:t> 설계 관계를 표현</a:t>
            </a:r>
          </a:p>
          <a:p>
            <a:pPr lvl="0"/>
            <a:r>
              <a:rPr lang="ko-KR" altLang="ko-KR" sz="2400" dirty="0"/>
              <a:t>C++ 세부 구현은 별도 설명 필요</a:t>
            </a:r>
          </a:p>
          <a:p>
            <a:endParaRPr lang="ko-KR" altLang="en-US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A3FA78-900B-C74C-CBC8-671891E7C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783245"/>
            <a:ext cx="4433334" cy="374138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50A4FAC0-8D37-0BC3-F21E-DCE7E2BA8F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863856"/>
              </p:ext>
            </p:extLst>
          </p:nvPr>
        </p:nvGraphicFramePr>
        <p:xfrm>
          <a:off x="4865382" y="3608387"/>
          <a:ext cx="4171114" cy="2091560"/>
        </p:xfrm>
        <a:graphic>
          <a:graphicData uri="http://schemas.openxmlformats.org/drawingml/2006/table">
            <a:tbl>
              <a:tblPr/>
              <a:tblGrid>
                <a:gridCol w="1006820">
                  <a:extLst>
                    <a:ext uri="{9D8B030D-6E8A-4147-A177-3AD203B41FA5}">
                      <a16:colId xmlns:a16="http://schemas.microsoft.com/office/drawing/2014/main" val="2421863191"/>
                    </a:ext>
                  </a:extLst>
                </a:gridCol>
                <a:gridCol w="3164294">
                  <a:extLst>
                    <a:ext uri="{9D8B030D-6E8A-4147-A177-3AD203B41FA5}">
                      <a16:colId xmlns:a16="http://schemas.microsoft.com/office/drawing/2014/main" val="26352733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UML관계</a:t>
                      </a:r>
                      <a:endParaRPr lang="ko-KR" sz="3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Pretendard ExtraBold" panose="02000903000000020004" pitchFamily="50" charset="-127"/>
                        </a:rPr>
                        <a:t>C++ 표현</a:t>
                      </a:r>
                      <a:endParaRPr lang="ko-KR" sz="3200" b="1" dirty="0"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857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일반화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class Derived : public Base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459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합성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 멤버, unique_ptr 등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817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연관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참조, 포인터 등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906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의존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매개변수, 지역 변수 등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852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070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5DA3-76A4-D299-FBEE-E6BFC8BA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5BC5F-4AA7-8E41-05C7-A2E6A5B5A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 </a:t>
            </a:r>
            <a:r>
              <a:rPr lang="ko-KR" altLang="en-US" dirty="0"/>
              <a:t>상속의 기본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3DB244-ACF4-B6CB-3B58-844568411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클래스 선언에서 기반 클래스 이름 앞에 상속 접근 지정자 작성</a:t>
            </a:r>
            <a:endParaRPr lang="en-US" altLang="ko-KR" sz="2400" dirty="0"/>
          </a:p>
          <a:p>
            <a:pPr lvl="4"/>
            <a:endParaRPr lang="ko-KR" altLang="ko-KR" sz="1200" dirty="0"/>
          </a:p>
          <a:p>
            <a:pPr lvl="0"/>
            <a:r>
              <a:rPr lang="ko-KR" altLang="ko-KR" sz="2400" dirty="0"/>
              <a:t>상속 접근 지정자는 기반 클래스의 </a:t>
            </a:r>
            <a:r>
              <a:rPr lang="ko-KR" altLang="ko-KR" sz="2400" dirty="0" err="1"/>
              <a:t>public</a:t>
            </a:r>
            <a:r>
              <a:rPr lang="ko-KR" altLang="ko-KR" sz="2400" dirty="0"/>
              <a:t>, </a:t>
            </a:r>
            <a:r>
              <a:rPr lang="ko-KR" altLang="ko-KR" sz="2400" dirty="0" err="1"/>
              <a:t>protected</a:t>
            </a:r>
            <a:r>
              <a:rPr lang="ko-KR" altLang="ko-KR" sz="2400" dirty="0"/>
              <a:t> 멤버가 파생 클래스에서 보이는 수준을 결정</a:t>
            </a:r>
            <a:endParaRPr lang="en-US" altLang="ko-KR" sz="2400" dirty="0"/>
          </a:p>
          <a:p>
            <a:pPr lvl="4"/>
            <a:endParaRPr lang="ko-KR" altLang="ko-KR" sz="1200" dirty="0"/>
          </a:p>
          <a:p>
            <a:pPr lvl="0"/>
            <a:r>
              <a:rPr lang="ko-KR" altLang="ko-KR" sz="2400" dirty="0"/>
              <a:t>기반 클래스의 </a:t>
            </a:r>
            <a:r>
              <a:rPr lang="ko-KR" altLang="ko-KR" sz="2400" dirty="0" err="1"/>
              <a:t>private</a:t>
            </a:r>
            <a:r>
              <a:rPr lang="ko-KR" altLang="ko-KR" sz="2400" dirty="0"/>
              <a:t> 멤버는 어떤 상속 방식에서도 파생 클래스가 직접 접근할 수 없음</a:t>
            </a:r>
          </a:p>
          <a:p>
            <a:pPr lvl="3"/>
            <a:endParaRPr lang="ko-KR" altLang="en-US" sz="1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01DBF0A-39E6-A62A-1479-EB26FAE7C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1291847"/>
              </p:ext>
            </p:extLst>
          </p:nvPr>
        </p:nvGraphicFramePr>
        <p:xfrm>
          <a:off x="588045" y="4293096"/>
          <a:ext cx="7967910" cy="1978048"/>
        </p:xfrm>
        <a:graphic>
          <a:graphicData uri="http://schemas.openxmlformats.org/drawingml/2006/table">
            <a:tbl>
              <a:tblPr/>
              <a:tblGrid>
                <a:gridCol w="1703214">
                  <a:extLst>
                    <a:ext uri="{9D8B030D-6E8A-4147-A177-3AD203B41FA5}">
                      <a16:colId xmlns:a16="http://schemas.microsoft.com/office/drawing/2014/main" val="977306140"/>
                    </a:ext>
                  </a:extLst>
                </a:gridCol>
                <a:gridCol w="3895858">
                  <a:extLst>
                    <a:ext uri="{9D8B030D-6E8A-4147-A177-3AD203B41FA5}">
                      <a16:colId xmlns:a16="http://schemas.microsoft.com/office/drawing/2014/main" val="756240034"/>
                    </a:ext>
                  </a:extLst>
                </a:gridCol>
                <a:gridCol w="2368838">
                  <a:extLst>
                    <a:ext uri="{9D8B030D-6E8A-4147-A177-3AD203B41FA5}">
                      <a16:colId xmlns:a16="http://schemas.microsoft.com/office/drawing/2014/main" val="1977770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상속 방식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외부에 공개되는 관계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대표 목적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7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is-a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관계 공개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 계층과 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다형성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176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계층 내부에서만 기반 관계 사용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제한된 구현 공유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080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4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</a:t>
                      </a:r>
                      <a:endParaRPr lang="ko-KR" sz="40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구현을 내부적으로 사용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 재사용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62211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8571AB0-6947-D582-89E6-F47FFD361436}"/>
              </a:ext>
            </a:extLst>
          </p:cNvPr>
          <p:cNvSpPr txBox="1"/>
          <p:nvPr/>
        </p:nvSpPr>
        <p:spPr>
          <a:xfrm>
            <a:off x="588045" y="3659981"/>
            <a:ext cx="5280099" cy="46166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Derived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Base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r>
              <a:rPr lang="en-US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906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F03E-C3CB-0732-FB2D-774164DA2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1FBE7-7C2E-714C-E784-E4FC7F25E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8.2.1 public </a:t>
            </a:r>
            <a:r>
              <a:rPr lang="ko-KR" altLang="en-US" dirty="0"/>
              <a:t>상속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E4873D-D4D8-C342-6A8E-7797FE9A9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 err="1"/>
              <a:t>public</a:t>
            </a:r>
            <a:r>
              <a:rPr lang="ko-KR" altLang="ko-KR" sz="2400" dirty="0"/>
              <a:t> 상속은 공개적인 </a:t>
            </a:r>
            <a:r>
              <a:rPr lang="ko-KR" altLang="ko-KR" sz="2400" dirty="0" err="1"/>
              <a:t>is-a</a:t>
            </a:r>
            <a:r>
              <a:rPr lang="ko-KR" altLang="ko-KR" sz="2400" dirty="0"/>
              <a:t> 관계를 표현</a:t>
            </a:r>
          </a:p>
          <a:p>
            <a:pPr lvl="0"/>
            <a:r>
              <a:rPr lang="ko-KR" altLang="ko-KR" sz="2400" dirty="0"/>
              <a:t>기반 클래스의 </a:t>
            </a:r>
            <a:r>
              <a:rPr lang="ko-KR" altLang="ko-KR" sz="2400" dirty="0" err="1"/>
              <a:t>public</a:t>
            </a:r>
            <a:r>
              <a:rPr lang="ko-KR" altLang="ko-KR" sz="2400" dirty="0"/>
              <a:t> 멤버는 파생 클래스에서도 </a:t>
            </a:r>
            <a:r>
              <a:rPr lang="ko-KR" altLang="ko-KR" sz="2400" dirty="0" err="1"/>
              <a:t>public</a:t>
            </a:r>
            <a:r>
              <a:rPr lang="ko-KR" altLang="ko-KR" sz="2400" dirty="0"/>
              <a:t> 유지</a:t>
            </a:r>
          </a:p>
          <a:p>
            <a:pPr lvl="0"/>
            <a:r>
              <a:rPr lang="ko-KR" altLang="ko-KR" sz="2400" dirty="0"/>
              <a:t>기반 클래스의 </a:t>
            </a:r>
            <a:r>
              <a:rPr lang="ko-KR" altLang="ko-KR" sz="2400" dirty="0" err="1"/>
              <a:t>protected</a:t>
            </a:r>
            <a:r>
              <a:rPr lang="ko-KR" altLang="ko-KR" sz="2400" dirty="0"/>
              <a:t> 멤버는 파생 클래스에서도 </a:t>
            </a:r>
            <a:r>
              <a:rPr lang="ko-KR" altLang="ko-KR" sz="2400" dirty="0" err="1"/>
              <a:t>protected</a:t>
            </a:r>
            <a:r>
              <a:rPr lang="ko-KR" altLang="ko-KR" sz="2400" dirty="0"/>
              <a:t> 유지</a:t>
            </a:r>
          </a:p>
          <a:p>
            <a:pPr lvl="0"/>
            <a:r>
              <a:rPr lang="ko-KR" altLang="ko-KR" sz="2400" dirty="0"/>
              <a:t>외부 코드에서 업캐스팅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D0E85-65A6-AC75-B537-258F1880A051}"/>
              </a:ext>
            </a:extLst>
          </p:cNvPr>
          <p:cNvSpPr txBox="1"/>
          <p:nvPr/>
        </p:nvSpPr>
        <p:spPr>
          <a:xfrm>
            <a:off x="467544" y="2765827"/>
            <a:ext cx="403225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7D39D6-754D-35C8-1875-74B3A91064B8}"/>
              </a:ext>
            </a:extLst>
          </p:cNvPr>
          <p:cNvSpPr txBox="1"/>
          <p:nvPr/>
        </p:nvSpPr>
        <p:spPr>
          <a:xfrm>
            <a:off x="4644206" y="2757353"/>
            <a:ext cx="4032250" cy="181588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monster.SetPosition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30.0f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monster.TakeDamage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0070C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A281333-9B3A-46E1-C6D6-B175CBF24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772850"/>
              </p:ext>
            </p:extLst>
          </p:nvPr>
        </p:nvGraphicFramePr>
        <p:xfrm>
          <a:off x="1763688" y="4797425"/>
          <a:ext cx="5616624" cy="1727200"/>
        </p:xfrm>
        <a:graphic>
          <a:graphicData uri="http://schemas.openxmlformats.org/drawingml/2006/table">
            <a:tbl>
              <a:tblPr/>
              <a:tblGrid>
                <a:gridCol w="2193008">
                  <a:extLst>
                    <a:ext uri="{9D8B030D-6E8A-4147-A177-3AD203B41FA5}">
                      <a16:colId xmlns:a16="http://schemas.microsoft.com/office/drawing/2014/main" val="73770254"/>
                    </a:ext>
                  </a:extLst>
                </a:gridCol>
                <a:gridCol w="3423616">
                  <a:extLst>
                    <a:ext uri="{9D8B030D-6E8A-4147-A177-3AD203B41FA5}">
                      <a16:colId xmlns:a16="http://schemas.microsoft.com/office/drawing/2014/main" val="375587952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기반 클래스 멤버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파생 클래스에서 접근 수준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31122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57577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91004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직접 접근 불가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>
                    <a:lnL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614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9941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386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7B0FB-7FA4-F17E-0700-D592421B9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3BE4B2-4F3E-3BDF-2D47-B5790502B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8.2.2 protected </a:t>
            </a:r>
            <a:r>
              <a:rPr lang="ko-KR" altLang="en-US" dirty="0"/>
              <a:t>상속과 </a:t>
            </a:r>
            <a:r>
              <a:rPr lang="en-US" altLang="ko-KR" dirty="0"/>
              <a:t>private </a:t>
            </a:r>
            <a:r>
              <a:rPr lang="ko-KR" altLang="en-US" dirty="0"/>
              <a:t>상속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90A9D79E-8EDB-9515-6CA3-528F9C95C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178776"/>
              </p:ext>
            </p:extLst>
          </p:nvPr>
        </p:nvGraphicFramePr>
        <p:xfrm>
          <a:off x="467544" y="692696"/>
          <a:ext cx="7704658" cy="2061080"/>
        </p:xfrm>
        <a:graphic>
          <a:graphicData uri="http://schemas.openxmlformats.org/drawingml/2006/table">
            <a:tbl>
              <a:tblPr/>
              <a:tblGrid>
                <a:gridCol w="2521240">
                  <a:extLst>
                    <a:ext uri="{9D8B030D-6E8A-4147-A177-3AD203B41FA5}">
                      <a16:colId xmlns:a16="http://schemas.microsoft.com/office/drawing/2014/main" val="98886794"/>
                    </a:ext>
                  </a:extLst>
                </a:gridCol>
                <a:gridCol w="3006696">
                  <a:extLst>
                    <a:ext uri="{9D8B030D-6E8A-4147-A177-3AD203B41FA5}">
                      <a16:colId xmlns:a16="http://schemas.microsoft.com/office/drawing/2014/main" val="3333351859"/>
                    </a:ext>
                  </a:extLst>
                </a:gridCol>
                <a:gridCol w="2176722">
                  <a:extLst>
                    <a:ext uri="{9D8B030D-6E8A-4147-A177-3AD203B41FA5}">
                      <a16:colId xmlns:a16="http://schemas.microsoft.com/office/drawing/2014/main" val="24586121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2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protected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 상속</a:t>
                      </a:r>
                      <a:endParaRPr lang="ko-KR" sz="2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private</a:t>
                      </a:r>
                      <a:r>
                        <a:rPr lang="ko-KR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 상속</a:t>
                      </a:r>
                      <a:endParaRPr lang="ko-KR" sz="2800" b="1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367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멤버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protected가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됨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private가 됨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994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멤버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protected가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됨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private가 됨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236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외부 업캐스팅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일반적으로 불가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일반적으로 불가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3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대표 의미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계층 내부 구현 공유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내부 구현 재사용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8214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E3CE8E-E566-972F-D777-5C8592CB6CA3}"/>
              </a:ext>
            </a:extLst>
          </p:cNvPr>
          <p:cNvSpPr txBox="1"/>
          <p:nvPr/>
        </p:nvSpPr>
        <p:spPr>
          <a:xfrm>
            <a:off x="395536" y="3073173"/>
            <a:ext cx="4824536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InternalCharacter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ResetPosition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SetPosition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0.0f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BA02B-A59A-9165-D249-12FE1B77C36C}"/>
              </a:ext>
            </a:extLst>
          </p:cNvPr>
          <p:cNvSpPr txBox="1"/>
          <p:nvPr/>
        </p:nvSpPr>
        <p:spPr>
          <a:xfrm>
            <a:off x="3841996" y="4423621"/>
            <a:ext cx="5184576" cy="2062103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PlayerController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MovementService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064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FEA5-A507-48DD-3D76-ABF0B90D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8CBC68-7BE5-AAF0-CBE3-46F33CD4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8.2.4 protected </a:t>
            </a:r>
            <a:r>
              <a:rPr lang="ko-KR" altLang="en-US" dirty="0"/>
              <a:t>멤버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473281-DEE8-C3F5-26C3-E1CFA02C2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/>
              <a:t>protected 멤버는 클래스 외부에서는 접근 불가</a:t>
            </a:r>
          </a:p>
          <a:p>
            <a:pPr lvl="0"/>
            <a:r>
              <a:rPr lang="ko-KR" altLang="ko-KR" sz="2400"/>
              <a:t>파생 클래스의 멤버 함수에서는 접근 가능</a:t>
            </a:r>
          </a:p>
          <a:p>
            <a:pPr lvl="0"/>
            <a:r>
              <a:rPr lang="ko-KR" altLang="ko-KR" sz="2400"/>
              <a:t>데이터 멤버를 protected로 열면 파생 클래스가 내부 표현에 강하게 결합됨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E5050-D146-1535-CE90-ABA2E4DCCAE6}"/>
              </a:ext>
            </a:extLst>
          </p:cNvPr>
          <p:cNvSpPr txBox="1"/>
          <p:nvPr/>
        </p:nvSpPr>
        <p:spPr>
          <a:xfrm>
            <a:off x="557808" y="2611650"/>
            <a:ext cx="3798168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IsDefeated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81D56-1015-F0AA-7F54-D82AA67DF510}"/>
              </a:ext>
            </a:extLst>
          </p:cNvPr>
          <p:cNvSpPr txBox="1"/>
          <p:nvPr/>
        </p:nvSpPr>
        <p:spPr>
          <a:xfrm>
            <a:off x="4689648" y="2611650"/>
            <a:ext cx="3896544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더 안전한 방향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SetHp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60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ABA43-EF01-E16D-7159-646F7C44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7E152-FA5A-67DD-4743-AC78EC3DF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 </a:t>
            </a:r>
            <a:r>
              <a:rPr lang="ko-KR" altLang="en-US" dirty="0"/>
              <a:t>기반 클래스와 파생 클래스의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489B1F-790D-CB66-035A-54A9E40D9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20000"/>
              </a:lnSpc>
            </a:pPr>
            <a:r>
              <a:rPr lang="ko-KR" altLang="ko-KR" sz="2400" dirty="0"/>
              <a:t>파생 클래스 객체를 생성하면 기반 클래스 부분도 함께 생성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기반 부분이 먼저 유효한 상태가 되어야 파생 부분 초기화 가능</a:t>
            </a:r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생성은 계층의 위에서 아래로 진행</a:t>
            </a:r>
            <a:endParaRPr lang="ko-KR" altLang="ko-KR" dirty="0"/>
          </a:p>
          <a:p>
            <a:pPr lvl="0">
              <a:lnSpc>
                <a:spcPct val="120000"/>
              </a:lnSpc>
            </a:pPr>
            <a:r>
              <a:rPr lang="ko-KR" altLang="ko-KR" sz="2400" dirty="0"/>
              <a:t>소멸은 계층의 아래에서 위로 진행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B2AB6C7-7FEF-58B2-BF1A-68BFC625B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219148"/>
              </p:ext>
            </p:extLst>
          </p:nvPr>
        </p:nvGraphicFramePr>
        <p:xfrm>
          <a:off x="755576" y="3322704"/>
          <a:ext cx="2808312" cy="2482560"/>
        </p:xfrm>
        <a:graphic>
          <a:graphicData uri="http://schemas.openxmlformats.org/drawingml/2006/table">
            <a:tbl>
              <a:tblPr/>
              <a:tblGrid>
                <a:gridCol w="2808312">
                  <a:extLst>
                    <a:ext uri="{9D8B030D-6E8A-4147-A177-3AD203B41FA5}">
                      <a16:colId xmlns:a16="http://schemas.microsoft.com/office/drawing/2014/main" val="26267113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 생성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GameObject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PlayerBase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8614936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58C5193-0E69-D530-0548-296E1675A1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078907"/>
              </p:ext>
            </p:extLst>
          </p:nvPr>
        </p:nvGraphicFramePr>
        <p:xfrm>
          <a:off x="4067944" y="3322704"/>
          <a:ext cx="3266728" cy="2482560"/>
        </p:xfrm>
        <a:graphic>
          <a:graphicData uri="http://schemas.openxmlformats.org/drawingml/2006/table">
            <a:tbl>
              <a:tblPr/>
              <a:tblGrid>
                <a:gridCol w="3266728">
                  <a:extLst>
                    <a:ext uri="{9D8B030D-6E8A-4147-A177-3AD203B41FA5}">
                      <a16:colId xmlns:a16="http://schemas.microsoft.com/office/drawing/2014/main" val="32733386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BossMonster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객체 생성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GameObject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MobBase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↓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BossMonster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483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6062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7D26-195B-A92D-9EDF-51F583740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2537F-3755-93C1-308A-6337F1D9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8.3.1 </a:t>
            </a:r>
            <a:r>
              <a:rPr lang="ko-KR" altLang="en-US" dirty="0"/>
              <a:t>기반 클래스 생성자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220D8B-7863-C844-0997-7EDCA28C6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클래스 생성자는 직접 기반 클래스의 생성자를 호출</a:t>
            </a:r>
          </a:p>
          <a:p>
            <a:pPr lvl="0"/>
            <a:r>
              <a:rPr lang="ko-KR" altLang="ko-KR" sz="2400" dirty="0"/>
              <a:t>직접 기반 클래스 생성자를 명시하지 않으면 기본 생성자를 호출</a:t>
            </a:r>
          </a:p>
          <a:p>
            <a:pPr lvl="0"/>
            <a:r>
              <a:rPr lang="ko-KR" altLang="ko-KR" sz="2400" dirty="0"/>
              <a:t>더 위의 기반 클래스는 직접 초기화할 수 없음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69DAA-56B7-AB34-C0F8-C22D3FE7ACEF}"/>
              </a:ext>
            </a:extLst>
          </p:cNvPr>
          <p:cNvSpPr txBox="1"/>
          <p:nvPr/>
        </p:nvSpPr>
        <p:spPr>
          <a:xfrm>
            <a:off x="251520" y="2132856"/>
            <a:ext cx="4176464" cy="246221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GameObject(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E177D-BCB6-E30B-033B-6AD22494536B}"/>
              </a:ext>
            </a:extLst>
          </p:cNvPr>
          <p:cNvSpPr txBox="1"/>
          <p:nvPr/>
        </p:nvSpPr>
        <p:spPr>
          <a:xfrm>
            <a:off x="4427984" y="2240577"/>
            <a:ext cx="4464496" cy="2246769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GameObject(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30466-D0E6-80AE-4BE1-BF7A4E021AA1}"/>
              </a:ext>
            </a:extLst>
          </p:cNvPr>
          <p:cNvSpPr txBox="1"/>
          <p:nvPr/>
        </p:nvSpPr>
        <p:spPr>
          <a:xfrm>
            <a:off x="1835696" y="4766519"/>
            <a:ext cx="6192688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직접 기반 클래스인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GameObject를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초기화</a:t>
            </a:r>
            <a:endParaRPr lang="ko-KR" altLang="ko-KR" sz="16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4619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E51F0-45ED-FCE3-974B-3C5FC00E5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E89B1-6E85-4478-7B8A-4C6765D7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8.3.2 </a:t>
            </a:r>
            <a:r>
              <a:rPr lang="ko-KR" altLang="en-US" dirty="0"/>
              <a:t>직접 기반 클래스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9686E2-D479-B94F-6453-6FB5562A4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각 클래스는 자신의 직접 기반 클래스만 선택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F3D836-4767-8E5A-AC4D-2C3E59A8583E}"/>
              </a:ext>
            </a:extLst>
          </p:cNvPr>
          <p:cNvSpPr txBox="1"/>
          <p:nvPr/>
        </p:nvSpPr>
        <p:spPr>
          <a:xfrm>
            <a:off x="611560" y="1412776"/>
            <a:ext cx="4572000" cy="3539430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score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6D126D-E486-E2CC-A6F8-E3D4B6326F85}"/>
              </a:ext>
            </a:extLst>
          </p:cNvPr>
          <p:cNvSpPr txBox="1"/>
          <p:nvPr/>
        </p:nvSpPr>
        <p:spPr>
          <a:xfrm>
            <a:off x="3851920" y="3846383"/>
            <a:ext cx="4860032" cy="255454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: GameObject(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   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: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100) // 오류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288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9754-6CEE-5027-25D3-C3124B70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D881F-132B-680E-9AFA-F41F5F25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8.3.3 </a:t>
            </a:r>
            <a:r>
              <a:rPr lang="ko-KR" altLang="en-US" dirty="0"/>
              <a:t>초기화 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7BEEFD-5041-49C3-AC2B-C7F779A8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초기화 순서는 </a:t>
            </a:r>
            <a:r>
              <a:rPr lang="ko-KR" altLang="en-US" sz="2400" dirty="0"/>
              <a:t>초기화</a:t>
            </a:r>
            <a:r>
              <a:rPr lang="en-US" altLang="ko-KR" sz="2400" dirty="0"/>
              <a:t> </a:t>
            </a:r>
            <a:r>
              <a:rPr lang="ko-KR" altLang="en-US" sz="2400" dirty="0"/>
              <a:t>리스트가 아닌 </a:t>
            </a:r>
            <a:r>
              <a:rPr lang="ko-KR" altLang="ko-KR" sz="2400" dirty="0"/>
              <a:t>클래스 선언 구조로 결정</a:t>
            </a:r>
          </a:p>
          <a:p>
            <a:r>
              <a:rPr lang="ko-KR" altLang="ko-KR" sz="2400" dirty="0"/>
              <a:t>초기화 리스트도 실제 초기화 순서와 맞추는 것이 좋음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F6B87-7D49-D945-08BA-D6744611DED4}"/>
              </a:ext>
            </a:extLst>
          </p:cNvPr>
          <p:cNvSpPr txBox="1"/>
          <p:nvPr/>
        </p:nvSpPr>
        <p:spPr>
          <a:xfrm>
            <a:off x="539750" y="1830695"/>
            <a:ext cx="6165850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gold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gold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gold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level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gold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D21BC56-6A6B-B53A-F41F-9DA66CCCA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417561"/>
              </p:ext>
            </p:extLst>
          </p:nvPr>
        </p:nvGraphicFramePr>
        <p:xfrm>
          <a:off x="508496" y="5559008"/>
          <a:ext cx="6197104" cy="675640"/>
        </p:xfrm>
        <a:graphic>
          <a:graphicData uri="http://schemas.openxmlformats.org/drawingml/2006/table">
            <a:tbl>
              <a:tblPr/>
              <a:tblGrid>
                <a:gridCol w="6197104">
                  <a:extLst>
                    <a:ext uri="{9D8B030D-6E8A-4147-A177-3AD203B41FA5}">
                      <a16:colId xmlns:a16="http://schemas.microsoft.com/office/drawing/2014/main" val="3360208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실제 순서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PlayerBase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level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</a:t>
                      </a: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gold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→ 생성자 본문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863370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987D971-865C-0ABD-671E-03704576D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9978874"/>
              </p:ext>
            </p:extLst>
          </p:nvPr>
        </p:nvGraphicFramePr>
        <p:xfrm>
          <a:off x="5508104" y="3608387"/>
          <a:ext cx="2912566" cy="1346200"/>
        </p:xfrm>
        <a:graphic>
          <a:graphicData uri="http://schemas.openxmlformats.org/drawingml/2006/table">
            <a:tbl>
              <a:tblPr/>
              <a:tblGrid>
                <a:gridCol w="2912566">
                  <a:extLst>
                    <a:ext uri="{9D8B030D-6E8A-4147-A177-3AD203B41FA5}">
                      <a16:colId xmlns:a16="http://schemas.microsoft.com/office/drawing/2014/main" val="3684373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1.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가상 기반 클래스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2.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직접 기반 클래스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3.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데이터 멤버의 선언 순서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>
                          <a:solidFill>
                            <a:srgbClr val="98680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4.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생성자 본문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38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656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585A-47D7-2DD5-86C6-FB1DCF0D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EB19F9-325E-E3FF-98D7-A6A79BAC5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8.3.4 </a:t>
            </a:r>
            <a:r>
              <a:rPr lang="ko-KR" altLang="en-US" dirty="0"/>
              <a:t>생성과 소멸 순서 예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F36AE-952E-7F18-5E6E-01C3AFD511F6}"/>
              </a:ext>
            </a:extLst>
          </p:cNvPr>
          <p:cNvSpPr txBox="1"/>
          <p:nvPr/>
        </p:nvSpPr>
        <p:spPr>
          <a:xfrm>
            <a:off x="311148" y="620688"/>
            <a:ext cx="6007104" cy="59093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GameObject()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"GameObject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"GameObject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{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소멸\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F6B57511-18DD-4BDB-FF0D-6BB9172E8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231640"/>
              </p:ext>
            </p:extLst>
          </p:nvPr>
        </p:nvGraphicFramePr>
        <p:xfrm>
          <a:off x="5726561" y="3212976"/>
          <a:ext cx="3096344" cy="1254936"/>
        </p:xfrm>
        <a:graphic>
          <a:graphicData uri="http://schemas.openxmlformats.org/drawingml/2006/table">
            <a:tbl>
              <a:tblPr/>
              <a:tblGrid>
                <a:gridCol w="550461">
                  <a:extLst>
                    <a:ext uri="{9D8B030D-6E8A-4147-A177-3AD203B41FA5}">
                      <a16:colId xmlns:a16="http://schemas.microsoft.com/office/drawing/2014/main" val="2329293446"/>
                    </a:ext>
                  </a:extLst>
                </a:gridCol>
                <a:gridCol w="2545883">
                  <a:extLst>
                    <a:ext uri="{9D8B030D-6E8A-4147-A177-3AD203B41FA5}">
                      <a16:colId xmlns:a16="http://schemas.microsoft.com/office/drawing/2014/main" val="10132923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과정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방향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323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 → 파생 클래스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82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</a:t>
                      </a:r>
                      <a:endParaRPr lang="ko-KR" sz="32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 → 기반 클래스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1131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3612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E7EE-F5B3-9F46-2CE9-A7148C483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4BF26B-0F11-FB1D-1B97-DC572BF3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 </a:t>
            </a:r>
            <a:r>
              <a:rPr lang="ko-KR" altLang="en-US" dirty="0"/>
              <a:t>함수 재정의와 이름 숨김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84B09-7D7F-CF40-8963-E56AB2137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클래스는 기반 클래스에서 물려받은 함수와 같은 이름의 함수를 선언할 수 있음</a:t>
            </a:r>
          </a:p>
          <a:p>
            <a:pPr lvl="0"/>
            <a:r>
              <a:rPr lang="ko-KR" altLang="ko-KR" sz="2400" dirty="0"/>
              <a:t>오버로딩, </a:t>
            </a:r>
            <a:r>
              <a:rPr lang="ko-KR" altLang="ko-KR" sz="2400" dirty="0" err="1"/>
              <a:t>오버라이딩</a:t>
            </a:r>
            <a:r>
              <a:rPr lang="ko-KR" altLang="ko-KR" sz="2400" dirty="0"/>
              <a:t>, 이름 숨김을 구분해야 함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29B4067-A62C-27CD-026E-67029D51A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59952"/>
              </p:ext>
            </p:extLst>
          </p:nvPr>
        </p:nvGraphicFramePr>
        <p:xfrm>
          <a:off x="683568" y="2132856"/>
          <a:ext cx="7344618" cy="1673248"/>
        </p:xfrm>
        <a:graphic>
          <a:graphicData uri="http://schemas.openxmlformats.org/drawingml/2006/table">
            <a:tbl>
              <a:tblPr/>
              <a:tblGrid>
                <a:gridCol w="1322293">
                  <a:extLst>
                    <a:ext uri="{9D8B030D-6E8A-4147-A177-3AD203B41FA5}">
                      <a16:colId xmlns:a16="http://schemas.microsoft.com/office/drawing/2014/main" val="2159287505"/>
                    </a:ext>
                  </a:extLst>
                </a:gridCol>
                <a:gridCol w="6022325">
                  <a:extLst>
                    <a:ext uri="{9D8B030D-6E8A-4147-A177-3AD203B41FA5}">
                      <a16:colId xmlns:a16="http://schemas.microsoft.com/office/drawing/2014/main" val="1060418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66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오버로딩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범위에서 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이름은 같고 매개변수 목록이 다른 함수</a:t>
                      </a: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선언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367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오버라이딩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클래스가 기반 클래스의 가상 함수를 같은 </a:t>
                      </a:r>
                      <a:r>
                        <a:rPr lang="ko-KR" sz="18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시그니처로</a:t>
                      </a: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재정의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138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 숨김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클래스의 같은 이름이 기반 클래스의 이름 검색을 가림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4571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8F68CCB-C553-3ED7-1D93-D391C8208B08}"/>
              </a:ext>
            </a:extLst>
          </p:cNvPr>
          <p:cNvSpPr txBox="1"/>
          <p:nvPr/>
        </p:nvSpPr>
        <p:spPr>
          <a:xfrm>
            <a:off x="690414" y="4080690"/>
            <a:ext cx="3774082" cy="175432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distance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4254C-383E-ED36-B487-F232A384C1EE}"/>
              </a:ext>
            </a:extLst>
          </p:cNvPr>
          <p:cNvSpPr txBox="1"/>
          <p:nvPr/>
        </p:nvSpPr>
        <p:spPr>
          <a:xfrm>
            <a:off x="4679506" y="4076668"/>
            <a:ext cx="3774080" cy="147732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direction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40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636539-1E5E-A3FC-D315-1FE20EA24AA5}"/>
              </a:ext>
            </a:extLst>
          </p:cNvPr>
          <p:cNvSpPr txBox="1"/>
          <p:nvPr/>
        </p:nvSpPr>
        <p:spPr>
          <a:xfrm>
            <a:off x="690414" y="5992267"/>
            <a:ext cx="7763172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)가 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오버로드 집합을 숨길 수 있음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24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3EA9-B6D2-9941-D8E0-696E3AFF6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7F61A0-D988-9FB6-7720-2BE3C4601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8.4.1 </a:t>
            </a:r>
            <a:r>
              <a:rPr lang="ko-KR" altLang="en-US" dirty="0"/>
              <a:t>오버로딩과 </a:t>
            </a:r>
            <a:r>
              <a:rPr lang="ko-KR" altLang="en-US" dirty="0" err="1"/>
              <a:t>오버라이딩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E7523D-6E2E-76BE-0EB2-D16C5773D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dirty="0"/>
              <a:t>재정의 함수</a:t>
            </a:r>
            <a:r>
              <a:rPr lang="ko-KR" altLang="en-US" dirty="0"/>
              <a:t>에 </a:t>
            </a:r>
            <a:r>
              <a:rPr lang="ko-KR" altLang="ko-KR" dirty="0" err="1">
                <a:solidFill>
                  <a:srgbClr val="0000FF"/>
                </a:solidFill>
              </a:rPr>
              <a:t>override</a:t>
            </a:r>
            <a:r>
              <a:rPr lang="en-US" altLang="ko-KR" dirty="0"/>
              <a:t> </a:t>
            </a:r>
            <a:r>
              <a:rPr lang="ko-KR" altLang="ko-KR" dirty="0"/>
              <a:t>를 붙여 </a:t>
            </a:r>
            <a:r>
              <a:rPr lang="ko-KR" altLang="ko-KR" dirty="0" err="1"/>
              <a:t>시그니처</a:t>
            </a:r>
            <a:r>
              <a:rPr lang="ko-KR" altLang="ko-KR" dirty="0"/>
              <a:t> 오류를 검사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F07ED35-9655-EE87-4307-3063A8FAC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735521"/>
              </p:ext>
            </p:extLst>
          </p:nvPr>
        </p:nvGraphicFramePr>
        <p:xfrm>
          <a:off x="567158" y="1556792"/>
          <a:ext cx="7605241" cy="2243960"/>
        </p:xfrm>
        <a:graphic>
          <a:graphicData uri="http://schemas.openxmlformats.org/drawingml/2006/table">
            <a:tbl>
              <a:tblPr/>
              <a:tblGrid>
                <a:gridCol w="1379983">
                  <a:extLst>
                    <a:ext uri="{9D8B030D-6E8A-4147-A177-3AD203B41FA5}">
                      <a16:colId xmlns:a16="http://schemas.microsoft.com/office/drawing/2014/main" val="2588438333"/>
                    </a:ext>
                  </a:extLst>
                </a:gridCol>
                <a:gridCol w="2361305">
                  <a:extLst>
                    <a:ext uri="{9D8B030D-6E8A-4147-A177-3AD203B41FA5}">
                      <a16:colId xmlns:a16="http://schemas.microsoft.com/office/drawing/2014/main" val="2521365559"/>
                    </a:ext>
                  </a:extLst>
                </a:gridCol>
                <a:gridCol w="3863953">
                  <a:extLst>
                    <a:ext uri="{9D8B030D-6E8A-4147-A177-3AD203B41FA5}">
                      <a16:colId xmlns:a16="http://schemas.microsoft.com/office/drawing/2014/main" val="34057713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오버로딩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오버라이딩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75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관계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같은 범위의 함수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들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클래스와 파생 클래스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5639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매개변수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서로 달라야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함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같아야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함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236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virtual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 없음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함수에 필요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172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선택 시점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주로 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</a:t>
                      </a:r>
                      <a:r>
                        <a:rPr lang="ko-KR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포인터·참조에서는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05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A0B2496-55DD-3E33-9448-FB29FDCF4BE0}"/>
              </a:ext>
            </a:extLst>
          </p:cNvPr>
          <p:cNvSpPr txBox="1"/>
          <p:nvPr/>
        </p:nvSpPr>
        <p:spPr>
          <a:xfrm>
            <a:off x="395536" y="4077072"/>
            <a:ext cx="4176464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"GameObject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99647-4110-6246-C38F-631D6849D8FD}"/>
              </a:ext>
            </a:extLst>
          </p:cNvPr>
          <p:cNvSpPr txBox="1"/>
          <p:nvPr/>
        </p:nvSpPr>
        <p:spPr>
          <a:xfrm>
            <a:off x="4716016" y="4077072"/>
            <a:ext cx="4176464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AI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0944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0428-EA59-0E70-1F61-36A118F1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83248-3162-D6BD-0735-FFE10EA4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8.4.2 </a:t>
            </a:r>
            <a:r>
              <a:rPr lang="ko-KR" altLang="en-US" dirty="0"/>
              <a:t>이름 숨김과 </a:t>
            </a:r>
            <a:r>
              <a:rPr lang="en-US" altLang="ko-KR" dirty="0"/>
              <a:t>using </a:t>
            </a:r>
            <a:r>
              <a:rPr lang="ko-KR" altLang="en-US" dirty="0"/>
              <a:t>선언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2680EE-F429-4739-B16C-A7A9B1C40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7803D9-5B55-F80D-6A00-5C6F80D685C2}"/>
              </a:ext>
            </a:extLst>
          </p:cNvPr>
          <p:cNvSpPr txBox="1"/>
          <p:nvPr/>
        </p:nvSpPr>
        <p:spPr>
          <a:xfrm>
            <a:off x="450599" y="821779"/>
            <a:ext cx="4041803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x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float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y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F3767-7303-2DE7-9AC5-521505A75939}"/>
              </a:ext>
            </a:extLst>
          </p:cNvPr>
          <p:cNvSpPr txBox="1"/>
          <p:nvPr/>
        </p:nvSpPr>
        <p:spPr>
          <a:xfrm>
            <a:off x="539750" y="3717032"/>
            <a:ext cx="3456186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기반 함수 다시 노출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582A5C-4F86-BA4F-A537-DF2824FB13A9}"/>
              </a:ext>
            </a:extLst>
          </p:cNvPr>
          <p:cNvSpPr txBox="1"/>
          <p:nvPr/>
        </p:nvSpPr>
        <p:spPr>
          <a:xfrm>
            <a:off x="4499992" y="823506"/>
            <a:ext cx="4392486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input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direction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184B18-6B5D-2B66-49BA-36424ADDB231}"/>
              </a:ext>
            </a:extLst>
          </p:cNvPr>
          <p:cNvSpPr txBox="1"/>
          <p:nvPr/>
        </p:nvSpPr>
        <p:spPr>
          <a:xfrm>
            <a:off x="2727604" y="2890140"/>
            <a:ext cx="3715534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player.Move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(10.0f, 20.0f);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553AB0-D4B8-312D-6111-720155931ACB}"/>
              </a:ext>
            </a:extLst>
          </p:cNvPr>
          <p:cNvSpPr txBox="1"/>
          <p:nvPr/>
        </p:nvSpPr>
        <p:spPr>
          <a:xfrm>
            <a:off x="3779912" y="5194360"/>
            <a:ext cx="4968552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using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Move;는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기반 클래스의 오버로드 집합을 다시 보이게 함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6999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F319-53B2-8F7B-EC1B-87FE1C246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07E52-A308-631E-DB32-ED35BD51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8.4.4 </a:t>
            </a:r>
            <a:r>
              <a:rPr lang="ko-KR" altLang="en-US" dirty="0"/>
              <a:t>기반 클래스 함수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D96FA7-A5A5-37AA-5AB9-6643D7C01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클래스가 기반 클래스 구현을 확장할 때 범위 지정 연산자 사용</a:t>
            </a:r>
          </a:p>
          <a:p>
            <a:pPr lvl="0"/>
            <a:r>
              <a:rPr lang="ko-KR" altLang="ko-KR" sz="2400" dirty="0"/>
              <a:t>범위를 명시한 호출은 해당 클래스의 구현을 직접 호출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7496E-E9F9-06F3-88CA-6797CEDBA0C1}"/>
              </a:ext>
            </a:extLst>
          </p:cNvPr>
          <p:cNvSpPr txBox="1"/>
          <p:nvPr/>
        </p:nvSpPr>
        <p:spPr>
          <a:xfrm>
            <a:off x="557287" y="1774701"/>
            <a:ext cx="5022826" cy="477053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GameObject::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status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animation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861B26-3BC1-6CDC-BD18-526FAEB257F3}"/>
              </a:ext>
            </a:extLst>
          </p:cNvPr>
          <p:cNvSpPr txBox="1"/>
          <p:nvPr/>
        </p:nvSpPr>
        <p:spPr>
          <a:xfrm>
            <a:off x="4860032" y="4005064"/>
            <a:ext cx="3793059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status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animation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763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E469D-B052-9FAA-2182-2DA42BC4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8FA62-AABA-8244-CBC2-A8A7A8AAA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8.4.5 </a:t>
            </a:r>
            <a:r>
              <a:rPr lang="ko-KR" altLang="en-US" dirty="0"/>
              <a:t>재정의 </a:t>
            </a:r>
            <a:r>
              <a:rPr lang="ko-KR" altLang="en-US" dirty="0" err="1"/>
              <a:t>시그니처와</a:t>
            </a:r>
            <a:r>
              <a:rPr lang="ko-KR" altLang="en-US" dirty="0"/>
              <a:t> </a:t>
            </a:r>
            <a:r>
              <a:rPr lang="en-US" altLang="ko-KR" dirty="0"/>
              <a:t>override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37A50B-B887-C8D7-6DC3-13FAB2393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가상 함수</a:t>
            </a:r>
            <a:r>
              <a:rPr lang="en-US" altLang="ko-KR" sz="2400" dirty="0"/>
              <a:t> </a:t>
            </a:r>
            <a:r>
              <a:rPr lang="ko-KR" altLang="ko-KR" sz="2400" dirty="0"/>
              <a:t>재정의</a:t>
            </a:r>
            <a:r>
              <a:rPr lang="en-US" altLang="ko-KR" sz="2400" dirty="0"/>
              <a:t> </a:t>
            </a:r>
            <a:r>
              <a:rPr lang="ko-KR" altLang="en-US" sz="2400" dirty="0"/>
              <a:t>← </a:t>
            </a:r>
            <a:r>
              <a:rPr lang="ko-KR" altLang="ko-KR" sz="2400" dirty="0" err="1"/>
              <a:t>시그니처</a:t>
            </a:r>
            <a:r>
              <a:rPr lang="ko-KR" altLang="ko-KR" sz="2400" dirty="0"/>
              <a:t> 일치</a:t>
            </a:r>
          </a:p>
          <a:p>
            <a:pPr lvl="0"/>
            <a:r>
              <a:rPr lang="ko-KR" altLang="ko-KR" sz="2400" dirty="0"/>
              <a:t>이름, 매개변수 타입, 순서, </a:t>
            </a:r>
            <a:r>
              <a:rPr lang="ko-KR" altLang="ko-KR" sz="2400" dirty="0" err="1"/>
              <a:t>const</a:t>
            </a:r>
            <a:r>
              <a:rPr lang="ko-KR" altLang="ko-KR" sz="2400" dirty="0"/>
              <a:t>, 참조 한정자 등 재정의 조건에 영향</a:t>
            </a:r>
          </a:p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override</a:t>
            </a:r>
            <a:r>
              <a:rPr lang="en-US" altLang="ko-KR" sz="2400" dirty="0"/>
              <a:t> </a:t>
            </a:r>
            <a:r>
              <a:rPr lang="ko-KR" altLang="ko-KR" sz="2400" dirty="0"/>
              <a:t>는 재정의 여부를 컴파일러가 검사하게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8BF765-07CD-B87E-54F6-97AA72DB9B4B}"/>
              </a:ext>
            </a:extLst>
          </p:cNvPr>
          <p:cNvSpPr txBox="1"/>
          <p:nvPr/>
        </p:nvSpPr>
        <p:spPr>
          <a:xfrm>
            <a:off x="539552" y="2237718"/>
            <a:ext cx="4464496" cy="1815882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4F87D1-2286-9463-1A0A-CDEA191F2099}"/>
              </a:ext>
            </a:extLst>
          </p:cNvPr>
          <p:cNvSpPr txBox="1"/>
          <p:nvPr/>
        </p:nvSpPr>
        <p:spPr>
          <a:xfrm>
            <a:off x="1547664" y="3593616"/>
            <a:ext cx="4680520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patrol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294CC-C634-C060-4A96-52B3E143D194}"/>
              </a:ext>
            </a:extLst>
          </p:cNvPr>
          <p:cNvSpPr txBox="1"/>
          <p:nvPr/>
        </p:nvSpPr>
        <p:spPr>
          <a:xfrm>
            <a:off x="2843808" y="5345921"/>
            <a:ext cx="5760640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오류: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const가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일치하지 않음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6116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5C8C-6438-D36A-CA35-ACFC7F062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1F81C-3AD2-D341-4522-BCD72C3E3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 </a:t>
            </a:r>
            <a:r>
              <a:rPr lang="ko-KR" altLang="en-US" dirty="0"/>
              <a:t>가상 함수와 동적 바인딩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8F8E82-B3B5-F487-1DC7-1D63687DA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기반 클래스 포인터나 참조가 실제로 가리키는 객체에 따라 다른 함수 호출</a:t>
            </a:r>
          </a:p>
          <a:p>
            <a:pPr lvl="0"/>
            <a:r>
              <a:rPr lang="ko-KR" altLang="ko-KR" sz="2400" dirty="0"/>
              <a:t>가상 함수는 실행 시점의 실제 객체 타입을 사용</a:t>
            </a:r>
          </a:p>
          <a:p>
            <a:pPr lvl="0"/>
            <a:r>
              <a:rPr lang="ko-KR" altLang="ko-KR" sz="2400" dirty="0"/>
              <a:t>다형성의 핵심 기능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066BB1-475E-E874-FF3B-40DD460D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444917"/>
              </p:ext>
            </p:extLst>
          </p:nvPr>
        </p:nvGraphicFramePr>
        <p:xfrm>
          <a:off x="553838" y="2636912"/>
          <a:ext cx="6682457" cy="2006600"/>
        </p:xfrm>
        <a:graphic>
          <a:graphicData uri="http://schemas.openxmlformats.org/drawingml/2006/table">
            <a:tbl>
              <a:tblPr/>
              <a:tblGrid>
                <a:gridCol w="1639388">
                  <a:extLst>
                    <a:ext uri="{9D8B030D-6E8A-4147-A177-3AD203B41FA5}">
                      <a16:colId xmlns:a16="http://schemas.microsoft.com/office/drawing/2014/main" val="1990535996"/>
                    </a:ext>
                  </a:extLst>
                </a:gridCol>
                <a:gridCol w="5043069">
                  <a:extLst>
                    <a:ext uri="{9D8B030D-6E8A-4147-A177-3AD203B41FA5}">
                      <a16:colId xmlns:a16="http://schemas.microsoft.com/office/drawing/2014/main" val="14905478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97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정적 타입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변수나 표현식 선언에서 결정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되는 타입</a:t>
                      </a:r>
                      <a:endParaRPr lang="ko-KR" sz="32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44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타입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중 실제로 존재하는 객체의 타입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568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정적 바인딩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컴파일 시점</a:t>
                      </a:r>
                      <a:r>
                        <a:rPr lang="ko-KR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에 호출 함수 결정</a:t>
                      </a:r>
                      <a:endParaRPr lang="ko-KR" sz="3200" dirty="0">
                        <a:solidFill>
                          <a:schemeClr val="tx1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92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바인딩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시점의 동적 타입에 따라 호출 함수 결정</a:t>
                      </a:r>
                      <a:endParaRPr lang="ko-KR" sz="32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1056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9CB0E89-15E5-6934-8616-B7D4ABAE1072}"/>
              </a:ext>
            </a:extLst>
          </p:cNvPr>
          <p:cNvSpPr txBox="1"/>
          <p:nvPr/>
        </p:nvSpPr>
        <p:spPr>
          <a:xfrm>
            <a:off x="1368152" y="5085184"/>
            <a:ext cx="4572000" cy="40011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GameObject&amp;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20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20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4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DE12E-D659-4537-6963-D24BA8690E2F}"/>
              </a:ext>
            </a:extLst>
          </p:cNvPr>
          <p:cNvSpPr txBox="1"/>
          <p:nvPr/>
        </p:nvSpPr>
        <p:spPr>
          <a:xfrm>
            <a:off x="1368152" y="5597766"/>
            <a:ext cx="4572000" cy="707886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정적 타입: GameObject&amp;</a:t>
            </a:r>
            <a:br>
              <a:rPr lang="ko-KR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2000" b="0" i="0" u="none" strike="noStrike" dirty="0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동적 타입: </a:t>
            </a:r>
            <a:r>
              <a:rPr lang="ko-KR" altLang="ko-KR" sz="20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endParaRPr lang="ko-KR" altLang="en-US" sz="4400" dirty="0">
              <a:solidFill>
                <a:srgbClr val="0000FF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79443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4EC3A-702E-8A37-E5BF-5AB4B60F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2FFA1D-4966-C949-0C3C-2232D0902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8.5.1 </a:t>
            </a:r>
            <a:r>
              <a:rPr lang="ko-KR" altLang="en-US" dirty="0"/>
              <a:t>정적 바인딩과 동적 바인딩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8C0A15-D685-A6B0-7F46-3E52CB27A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ko-KR" sz="2400" dirty="0"/>
              <a:t>비가상 함수</a:t>
            </a:r>
          </a:p>
          <a:p>
            <a:endParaRPr lang="en-US" altLang="ko-KR" sz="2400" dirty="0"/>
          </a:p>
          <a:p>
            <a:endParaRPr lang="en-US" altLang="ko-KR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가상 함수</a:t>
            </a:r>
            <a:endParaRPr lang="en-US" altLang="ko-KR" sz="2400" dirty="0"/>
          </a:p>
          <a:p>
            <a:pPr lvl="1"/>
            <a:r>
              <a:rPr lang="ko-KR" altLang="ko-KR" sz="2000" dirty="0"/>
              <a:t>가상 함수 호출은 실제 객체의 동적 타입을 반영</a:t>
            </a:r>
            <a:br>
              <a:rPr lang="ko-KR" altLang="ko-KR" sz="2000" dirty="0"/>
            </a:br>
            <a:endParaRPr lang="ko-KR" alt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B32C3-CB7B-1D22-EDED-6E1D91E3F976}"/>
              </a:ext>
            </a:extLst>
          </p:cNvPr>
          <p:cNvSpPr txBox="1"/>
          <p:nvPr/>
        </p:nvSpPr>
        <p:spPr>
          <a:xfrm>
            <a:off x="539552" y="1150873"/>
            <a:ext cx="3555392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"GameObject\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F2B0C-7C73-D88D-41FD-104B097D8940}"/>
              </a:ext>
            </a:extLst>
          </p:cNvPr>
          <p:cNvSpPr txBox="1"/>
          <p:nvPr/>
        </p:nvSpPr>
        <p:spPr>
          <a:xfrm>
            <a:off x="4094944" y="1150873"/>
            <a:ext cx="3555392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0B309-95E0-58D8-F7AA-A9B19472AA7E}"/>
              </a:ext>
            </a:extLst>
          </p:cNvPr>
          <p:cNvSpPr txBox="1"/>
          <p:nvPr/>
        </p:nvSpPr>
        <p:spPr>
          <a:xfrm>
            <a:off x="5465600" y="2996952"/>
            <a:ext cx="3555393" cy="83099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GameObject&amp; </a:t>
            </a:r>
            <a:r>
              <a:rPr lang="ko-KR" altLang="ko-KR" sz="16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object.PrintType</a:t>
            </a:r>
            <a:r>
              <a:rPr lang="ko-KR" altLang="ko-KR" sz="16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GameObject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1E6ECF-848A-01F5-4AAB-47191DDE4EFA}"/>
              </a:ext>
            </a:extLst>
          </p:cNvPr>
          <p:cNvSpPr txBox="1"/>
          <p:nvPr/>
        </p:nvSpPr>
        <p:spPr>
          <a:xfrm>
            <a:off x="539553" y="4841865"/>
            <a:ext cx="3555392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010367-016D-2CEC-A0BD-E519C8DC9C88}"/>
              </a:ext>
            </a:extLst>
          </p:cNvPr>
          <p:cNvSpPr txBox="1"/>
          <p:nvPr/>
        </p:nvSpPr>
        <p:spPr>
          <a:xfrm>
            <a:off x="4094945" y="4841865"/>
            <a:ext cx="3555392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9706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C46F-0EB8-74D2-B002-C62C84D66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F1B1E8-A059-DC6E-D942-73295D6D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8.5.2 </a:t>
            </a:r>
            <a:r>
              <a:rPr lang="ko-KR" altLang="en-US" dirty="0"/>
              <a:t>가상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07C6B-0E9F-0F7A-04D5-B03CC4479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같은 형식으로 호출</a:t>
            </a:r>
            <a:r>
              <a:rPr lang="en-US" altLang="ko-KR" dirty="0"/>
              <a:t>, </a:t>
            </a:r>
            <a:r>
              <a:rPr lang="ko-KR" altLang="en-US" dirty="0"/>
              <a:t> </a:t>
            </a:r>
            <a:r>
              <a:rPr lang="ko-KR" altLang="ko-KR" dirty="0"/>
              <a:t>실행</a:t>
            </a:r>
            <a:r>
              <a:rPr lang="ko-KR" altLang="en-US" dirty="0"/>
              <a:t>은 </a:t>
            </a:r>
            <a:r>
              <a:rPr lang="ko-KR" altLang="ko-KR" dirty="0"/>
              <a:t>동적 타입에 따라 </a:t>
            </a:r>
            <a:r>
              <a:rPr lang="ko-KR" altLang="en-US" dirty="0"/>
              <a:t>달라짐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99CEA3-3108-CD49-F6E9-22E75FCB6712}"/>
              </a:ext>
            </a:extLst>
          </p:cNvPr>
          <p:cNvSpPr txBox="1"/>
          <p:nvPr/>
        </p:nvSpPr>
        <p:spPr>
          <a:xfrm>
            <a:off x="323528" y="1340768"/>
            <a:ext cx="4320480" cy="329320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"GameObject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"GameObject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0CE18-0F06-713A-5520-5DA6B4E0E3F3}"/>
              </a:ext>
            </a:extLst>
          </p:cNvPr>
          <p:cNvSpPr txBox="1"/>
          <p:nvPr/>
        </p:nvSpPr>
        <p:spPr>
          <a:xfrm>
            <a:off x="4644008" y="1340768"/>
            <a:ext cx="3816424" cy="329320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en-US" altLang="ko-KR" sz="1600" b="0" i="0" u="none" strike="noStrike" dirty="0">
              <a:solidFill>
                <a:srgbClr val="383A42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endParaRPr lang="ko-KR" altLang="en-US" sz="1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844AB7-8523-1953-394D-1B813D1C5254}"/>
              </a:ext>
            </a:extLst>
          </p:cNvPr>
          <p:cNvSpPr txBox="1"/>
          <p:nvPr/>
        </p:nvSpPr>
        <p:spPr>
          <a:xfrm>
            <a:off x="2483768" y="4930132"/>
            <a:ext cx="3816424" cy="132343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(GameObject&amp;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7597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3A873-B970-0072-3482-9E96D02AF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656EC-2939-A7C9-03A1-AE3C714F6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8.5.3 override</a:t>
            </a:r>
            <a:r>
              <a:rPr lang="ko-KR" altLang="en-US" dirty="0"/>
              <a:t>와 </a:t>
            </a:r>
            <a:r>
              <a:rPr lang="en-US" altLang="ko-KR" dirty="0"/>
              <a:t>final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31B6F9-84B8-75CD-39BF-70625AED0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>
                <a:solidFill>
                  <a:srgbClr val="0000FF"/>
                </a:solidFill>
              </a:rPr>
              <a:t>override</a:t>
            </a:r>
            <a:r>
              <a:rPr lang="en-US" altLang="ko-KR" dirty="0"/>
              <a:t> </a:t>
            </a:r>
            <a:r>
              <a:rPr lang="ko-KR" altLang="ko-KR" dirty="0"/>
              <a:t>: 기반 가상 함수를 재정의한다는 의도 명시</a:t>
            </a:r>
          </a:p>
          <a:p>
            <a:pPr lvl="0"/>
            <a:r>
              <a:rPr lang="ko-KR" altLang="ko-KR" dirty="0" err="1">
                <a:solidFill>
                  <a:srgbClr val="0000FF"/>
                </a:solidFill>
              </a:rPr>
              <a:t>final</a:t>
            </a:r>
            <a:endParaRPr lang="en-US" altLang="ko-KR" dirty="0">
              <a:solidFill>
                <a:srgbClr val="0000FF"/>
              </a:solidFill>
            </a:endParaRPr>
          </a:p>
          <a:p>
            <a:pPr lvl="1"/>
            <a:r>
              <a:rPr lang="ko-KR" altLang="ko-KR" dirty="0"/>
              <a:t>더 이상 재정의하거나 상속하지 못하게 제한</a:t>
            </a:r>
            <a:endParaRPr lang="en-US" altLang="ko-KR" dirty="0"/>
          </a:p>
          <a:p>
            <a:pPr lvl="1"/>
            <a:r>
              <a:rPr lang="ko-KR" altLang="ko-KR" dirty="0" err="1"/>
              <a:t>final은</a:t>
            </a:r>
            <a:r>
              <a:rPr lang="ko-KR" altLang="ko-KR" dirty="0"/>
              <a:t> 확장을 막는 강한 제약</a:t>
            </a:r>
            <a:endParaRPr lang="ko-KR" altLang="ko-KR" sz="2800" dirty="0"/>
          </a:p>
          <a:p>
            <a:pPr lvl="1"/>
            <a:r>
              <a:rPr lang="ko-KR" altLang="ko-KR" dirty="0"/>
              <a:t>명확한 이유가 있을 때 사용</a:t>
            </a:r>
            <a:endParaRPr lang="ko-KR" altLang="ko-KR" sz="2800" dirty="0"/>
          </a:p>
          <a:p>
            <a:pPr lvl="1"/>
            <a:endParaRPr lang="ko-KR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F27D2-2FB7-7B96-2C23-0825F8C16240}"/>
              </a:ext>
            </a:extLst>
          </p:cNvPr>
          <p:cNvSpPr txBox="1"/>
          <p:nvPr/>
        </p:nvSpPr>
        <p:spPr>
          <a:xfrm>
            <a:off x="395536" y="3284984"/>
            <a:ext cx="3240360" cy="160043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43F42D-7A76-3AD7-8CEA-5646BE10D6DA}"/>
              </a:ext>
            </a:extLst>
          </p:cNvPr>
          <p:cNvSpPr txBox="1"/>
          <p:nvPr/>
        </p:nvSpPr>
        <p:spPr>
          <a:xfrm>
            <a:off x="3635898" y="3282205"/>
            <a:ext cx="3744416" cy="1815882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EnterRageMode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final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rage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mode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77C529-CA7C-C459-FCFC-7A679913967C}"/>
              </a:ext>
            </a:extLst>
          </p:cNvPr>
          <p:cNvSpPr txBox="1"/>
          <p:nvPr/>
        </p:nvSpPr>
        <p:spPr>
          <a:xfrm>
            <a:off x="3635896" y="5226580"/>
            <a:ext cx="4824536" cy="116955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FinalBossMonster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HiddenBoss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FinalBossMonster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// 오류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9814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66A7-8ABB-AFD2-BF2C-8F302B613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44AF4-0CC8-AD5A-B26A-8C54A96F9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8.5.4 </a:t>
            </a:r>
            <a:r>
              <a:rPr lang="ko-KR" altLang="en-US" dirty="0"/>
              <a:t>가상 함수 테이블의 개념적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4AE8CC-8D32-DE07-03CC-122BE9E9A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C++ 표준은 구현 방식으로 </a:t>
            </a:r>
            <a:r>
              <a:rPr lang="ko-KR" altLang="ko-KR" dirty="0" err="1"/>
              <a:t>vtable을</a:t>
            </a:r>
            <a:r>
              <a:rPr lang="ko-KR" altLang="ko-KR" dirty="0"/>
              <a:t> 요구하지 않음</a:t>
            </a:r>
          </a:p>
          <a:p>
            <a:pPr lvl="0"/>
            <a:r>
              <a:rPr lang="ko-KR" altLang="ko-KR" dirty="0"/>
              <a:t>대부분의 구현은 </a:t>
            </a:r>
            <a:r>
              <a:rPr lang="ko-KR" altLang="ko-KR" dirty="0" err="1"/>
              <a:t>vtable과</a:t>
            </a:r>
            <a:r>
              <a:rPr lang="ko-KR" altLang="ko-KR" dirty="0"/>
              <a:t> </a:t>
            </a:r>
            <a:r>
              <a:rPr lang="ko-KR" altLang="ko-KR" dirty="0" err="1"/>
              <a:t>vptr에</a:t>
            </a:r>
            <a:r>
              <a:rPr lang="ko-KR" altLang="ko-KR" dirty="0"/>
              <a:t> 가까운 구조 사용</a:t>
            </a:r>
          </a:p>
          <a:p>
            <a:pPr lvl="0"/>
            <a:r>
              <a:rPr lang="ko-KR" altLang="ko-KR" dirty="0"/>
              <a:t>개념 이해용 모델로 활용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6C4BA5-D806-C39E-85C9-EB49CB10EB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488879"/>
              </p:ext>
            </p:extLst>
          </p:nvPr>
        </p:nvGraphicFramePr>
        <p:xfrm>
          <a:off x="611560" y="2492896"/>
          <a:ext cx="4536504" cy="1029208"/>
        </p:xfrm>
        <a:graphic>
          <a:graphicData uri="http://schemas.openxmlformats.org/drawingml/2006/table">
            <a:tbl>
              <a:tblPr/>
              <a:tblGrid>
                <a:gridCol w="4536504">
                  <a:extLst>
                    <a:ext uri="{9D8B030D-6E8A-4147-A177-3AD203B41FA5}">
                      <a16:colId xmlns:a16="http://schemas.microsoft.com/office/drawing/2014/main" val="13621560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GameObject 가상 함수 테이블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Update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→ GameObject::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Update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Render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→ GameObject::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Render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소멸자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→ GameObject::~GameObject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8443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BD6C630-361B-5247-7702-C766E7B18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2055944"/>
              </p:ext>
            </p:extLst>
          </p:nvPr>
        </p:nvGraphicFramePr>
        <p:xfrm>
          <a:off x="1547664" y="3717032"/>
          <a:ext cx="4536504" cy="1029208"/>
        </p:xfrm>
        <a:graphic>
          <a:graphicData uri="http://schemas.openxmlformats.org/drawingml/2006/table">
            <a:tbl>
              <a:tblPr/>
              <a:tblGrid>
                <a:gridCol w="4536504">
                  <a:extLst>
                    <a:ext uri="{9D8B030D-6E8A-4147-A177-3AD203B41FA5}">
                      <a16:colId xmlns:a16="http://schemas.microsoft.com/office/drawing/2014/main" val="3659800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가상 함수 테이블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Update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→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::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Update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Render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→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::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Render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소멸자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→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::~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23316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FC77A31-350B-ADA1-018E-53E925F32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04846"/>
              </p:ext>
            </p:extLst>
          </p:nvPr>
        </p:nvGraphicFramePr>
        <p:xfrm>
          <a:off x="2627784" y="4979848"/>
          <a:ext cx="4536503" cy="1477899"/>
        </p:xfrm>
        <a:graphic>
          <a:graphicData uri="http://schemas.openxmlformats.org/drawingml/2006/table">
            <a:tbl>
              <a:tblPr/>
              <a:tblGrid>
                <a:gridCol w="4536503">
                  <a:extLst>
                    <a:ext uri="{9D8B030D-6E8A-4147-A177-3AD203B41FA5}">
                      <a16:colId xmlns:a16="http://schemas.microsoft.com/office/drawing/2014/main" val="22841794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객체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vptr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─────▶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가상 함수 테이블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GameObject 부분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PlayerBase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Player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635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305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20230-5F90-870B-4800-7E4D1C7E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E170C-7891-D9C8-E793-6415E953E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8.5.5 </a:t>
            </a:r>
            <a:r>
              <a:rPr lang="ko-KR" altLang="en-US" dirty="0" err="1"/>
              <a:t>공변</a:t>
            </a:r>
            <a:r>
              <a:rPr lang="ko-KR" altLang="en-US" dirty="0"/>
              <a:t> 반환형 </a:t>
            </a:r>
            <a:r>
              <a:rPr lang="en-US" altLang="ko-KR" dirty="0"/>
              <a:t>(</a:t>
            </a:r>
            <a:r>
              <a:rPr lang="ko-KR" altLang="ko-KR" dirty="0" err="1"/>
              <a:t>covariant</a:t>
            </a:r>
            <a:r>
              <a:rPr lang="ko-KR" altLang="ko-KR" dirty="0"/>
              <a:t> </a:t>
            </a:r>
            <a:r>
              <a:rPr lang="ko-KR" altLang="ko-KR" dirty="0" err="1"/>
              <a:t>return</a:t>
            </a:r>
            <a:r>
              <a:rPr lang="ko-KR" altLang="ko-KR" dirty="0"/>
              <a:t> </a:t>
            </a:r>
            <a:r>
              <a:rPr lang="ko-KR" altLang="ko-KR" dirty="0" err="1"/>
              <a:t>type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8ACEF5-F64B-50AB-6A8D-A48A6A152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기반 클래스의 포인터나 참조를 반환하는 가상 함수</a:t>
            </a:r>
          </a:p>
          <a:p>
            <a:pPr lvl="0"/>
            <a:r>
              <a:rPr lang="ko-KR" altLang="ko-KR" dirty="0" err="1"/>
              <a:t>공변</a:t>
            </a:r>
            <a:r>
              <a:rPr lang="ko-KR" altLang="ko-KR" dirty="0"/>
              <a:t> 반환형</a:t>
            </a:r>
            <a:endParaRPr lang="en-US" altLang="ko-KR" dirty="0"/>
          </a:p>
          <a:p>
            <a:pPr lvl="1"/>
            <a:r>
              <a:rPr lang="ko-KR" altLang="ko-KR" dirty="0"/>
              <a:t>파생 클래스 재정의 함수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ko-KR" altLang="ko-KR" dirty="0"/>
              <a:t>더 구체적인 포인터나 참조를 반환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C93BCE-F35C-3C11-3F09-9E22670F81E3}"/>
              </a:ext>
            </a:extLst>
          </p:cNvPr>
          <p:cNvSpPr txBox="1"/>
          <p:nvPr/>
        </p:nvSpPr>
        <p:spPr>
          <a:xfrm>
            <a:off x="467544" y="2406751"/>
            <a:ext cx="4248472" cy="230832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GameObject*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GameObject(*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6C1D13-C514-5A0E-5EA4-ACAEC9F18AE6}"/>
              </a:ext>
            </a:extLst>
          </p:cNvPr>
          <p:cNvSpPr txBox="1"/>
          <p:nvPr/>
        </p:nvSpPr>
        <p:spPr>
          <a:xfrm>
            <a:off x="4716016" y="2397948"/>
            <a:ext cx="3888432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0000F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(*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892CEE-8586-9149-381D-5BF84C174ADE}"/>
              </a:ext>
            </a:extLst>
          </p:cNvPr>
          <p:cNvSpPr txBox="1"/>
          <p:nvPr/>
        </p:nvSpPr>
        <p:spPr>
          <a:xfrm>
            <a:off x="1398637" y="5438417"/>
            <a:ext cx="5598368" cy="338554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스마트 포인터 템플릿 타입에는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공변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반환형 규칙이 적용되지 않음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BD4380-9A50-361B-B585-404665614D77}"/>
              </a:ext>
            </a:extLst>
          </p:cNvPr>
          <p:cNvSpPr txBox="1"/>
          <p:nvPr/>
        </p:nvSpPr>
        <p:spPr>
          <a:xfrm>
            <a:off x="1410097" y="5770522"/>
            <a:ext cx="5598368" cy="58477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&gt;는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&lt;GameObject&gt;의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공변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반환형이 아님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43086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36D0-2D1F-5745-7C50-2628689E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59C22-E421-23FD-92A2-9F4A78641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8.5.6 </a:t>
            </a:r>
            <a:r>
              <a:rPr lang="ko-KR" altLang="en-US" dirty="0"/>
              <a:t>생성자와 소멸자에서의 가상 함수 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F706C8-5F7E-A8CB-6E58-91CE83174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생성자와 </a:t>
            </a:r>
            <a:r>
              <a:rPr lang="ko-KR" altLang="ko-KR" sz="2400" dirty="0" err="1"/>
              <a:t>소멸자</a:t>
            </a:r>
            <a:r>
              <a:rPr lang="ko-KR" altLang="ko-KR" sz="2400" dirty="0"/>
              <a:t> 안의 가상 호출은 현재 생성 또는 소멸 중인 클래스 범위를 기준으로 처리</a:t>
            </a:r>
          </a:p>
          <a:p>
            <a:pPr lvl="0"/>
            <a:r>
              <a:rPr lang="ko-KR" altLang="ko-KR" sz="2400" dirty="0"/>
              <a:t>아직 생성되지 않은 파생 부분을 사용하지 않도록 하기 위한 규칙</a:t>
            </a:r>
          </a:p>
          <a:p>
            <a:pPr lvl="0"/>
            <a:r>
              <a:rPr lang="ko-KR" altLang="ko-KR" sz="2400" dirty="0"/>
              <a:t>이미 소멸한 파생 부분을 사용하지 않도록 하기 위한 규칙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C942C-7EB6-9E65-A723-DC66E6C3736D}"/>
              </a:ext>
            </a:extLst>
          </p:cNvPr>
          <p:cNvSpPr txBox="1"/>
          <p:nvPr/>
        </p:nvSpPr>
        <p:spPr>
          <a:xfrm>
            <a:off x="539750" y="2456795"/>
            <a:ext cx="3816226" cy="440120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GameObject()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Shutdown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Shutdown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Shutdown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11B767-D87E-70C8-2547-72BB679EC875}"/>
              </a:ext>
            </a:extLst>
          </p:cNvPr>
          <p:cNvSpPr txBox="1"/>
          <p:nvPr/>
        </p:nvSpPr>
        <p:spPr>
          <a:xfrm>
            <a:off x="3924225" y="4509120"/>
            <a:ext cx="4968354" cy="92333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생성 중 GameObject 생성자에서는 GameObject::</a:t>
            </a:r>
            <a:r>
              <a:rPr lang="ko-KR" altLang="ko-KR" sz="18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Initialize</a:t>
            </a: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호출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파생 초기화는 객체 생성 완료 뒤 별도 단계로 처리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1528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E8E5-16F4-A0AF-1CFA-EC23AF185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4AD6D-DA3A-31A0-FC5C-9C89E02E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8.5.7 </a:t>
            </a:r>
            <a:r>
              <a:rPr lang="ko-KR" altLang="en-US" dirty="0"/>
              <a:t>가상 함수와 기본 인수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C2E67B-042B-D3CE-4608-A4E2B61EB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가상 함수 구현은 동적 타입에 따라 선택</a:t>
            </a:r>
          </a:p>
          <a:p>
            <a:pPr lvl="0"/>
            <a:r>
              <a:rPr lang="ko-KR" altLang="ko-KR" dirty="0"/>
              <a:t>기본 인수는 호출 표현식의 정적 타입에서 선택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72526-0EDA-24F1-47D6-98F652FB3DDB}"/>
              </a:ext>
            </a:extLst>
          </p:cNvPr>
          <p:cNvSpPr txBox="1"/>
          <p:nvPr/>
        </p:nvSpPr>
        <p:spPr>
          <a:xfrm>
            <a:off x="395536" y="1916832"/>
            <a:ext cx="4536504" cy="280076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E1745-5BC3-F87F-8B9E-A2A24EB3E563}"/>
              </a:ext>
            </a:extLst>
          </p:cNvPr>
          <p:cNvSpPr txBox="1"/>
          <p:nvPr/>
        </p:nvSpPr>
        <p:spPr>
          <a:xfrm>
            <a:off x="4932040" y="2564904"/>
            <a:ext cx="3744416" cy="1323439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player.Draw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object.Draw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D3A42-9E64-0710-CEBA-046BCFB39385}"/>
              </a:ext>
            </a:extLst>
          </p:cNvPr>
          <p:cNvSpPr txBox="1"/>
          <p:nvPr/>
        </p:nvSpPr>
        <p:spPr>
          <a:xfrm>
            <a:off x="4932040" y="3888343"/>
            <a:ext cx="3744416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 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F6D187-D6D8-33E2-1ABF-E06D06C3CE66}"/>
              </a:ext>
            </a:extLst>
          </p:cNvPr>
          <p:cNvSpPr txBox="1"/>
          <p:nvPr/>
        </p:nvSpPr>
        <p:spPr>
          <a:xfrm>
            <a:off x="1259632" y="5021977"/>
            <a:ext cx="6624736" cy="9233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두 호출 모두 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Draw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실행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object.Draw</a:t>
            </a: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()의 기본 인수는 GameObject 선언에서 가져옴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가상 함수마다 다른 기본 인수를 두지 않는 편이 좋음</a:t>
            </a:r>
          </a:p>
        </p:txBody>
      </p:sp>
    </p:spTree>
    <p:extLst>
      <p:ext uri="{BB962C8B-B14F-4D97-AF65-F5344CB8AC3E}">
        <p14:creationId xmlns:p14="http://schemas.microsoft.com/office/powerpoint/2010/main" val="19365486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3840D-2800-1E72-031B-CF8A2855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BA5FA5-6A31-F7B5-6DA6-F0752B23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 </a:t>
            </a:r>
            <a:r>
              <a:rPr lang="ko-KR" altLang="en-US" dirty="0"/>
              <a:t>추상 클래스와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392405-A60F-FFAB-F0EC-064FA256C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공통 계약만 선언하고 실제 동작은 파생 클래스에 맡길 수 있음</a:t>
            </a:r>
          </a:p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순수 가상 함수는 = 0</a:t>
            </a:r>
            <a:r>
              <a:rPr lang="ko-KR" altLang="ko-KR" sz="2400" dirty="0"/>
              <a:t>으로 선언</a:t>
            </a:r>
          </a:p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순수 가상 함수가 하나 이상 </a:t>
            </a:r>
            <a:r>
              <a:rPr lang="ko-KR" altLang="ko-KR" sz="2400" dirty="0"/>
              <a:t>있으면 </a:t>
            </a:r>
            <a:r>
              <a:rPr lang="ko-KR" altLang="ko-KR" sz="2400" dirty="0">
                <a:solidFill>
                  <a:srgbClr val="0000FF"/>
                </a:solidFill>
              </a:rPr>
              <a:t>추상 클래스</a:t>
            </a:r>
          </a:p>
          <a:p>
            <a:pPr lvl="0"/>
            <a:r>
              <a:rPr lang="ko-KR" altLang="ko-KR" sz="2400" dirty="0"/>
              <a:t>추상 클래스는 직접 객체 생성 불가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7B080-7407-C2F7-5D08-FB8FBCB53A30}"/>
              </a:ext>
            </a:extLst>
          </p:cNvPr>
          <p:cNvSpPr txBox="1"/>
          <p:nvPr/>
        </p:nvSpPr>
        <p:spPr>
          <a:xfrm>
            <a:off x="395536" y="2924944"/>
            <a:ext cx="3888234" cy="255454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GameObject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D779588-1031-5414-0DF8-61CF676C9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36140"/>
              </p:ext>
            </p:extLst>
          </p:nvPr>
        </p:nvGraphicFramePr>
        <p:xfrm>
          <a:off x="4283770" y="3212976"/>
          <a:ext cx="4464694" cy="1551328"/>
        </p:xfrm>
        <a:graphic>
          <a:graphicData uri="http://schemas.openxmlformats.org/drawingml/2006/table">
            <a:tbl>
              <a:tblPr/>
              <a:tblGrid>
                <a:gridCol w="1414435">
                  <a:extLst>
                    <a:ext uri="{9D8B030D-6E8A-4147-A177-3AD203B41FA5}">
                      <a16:colId xmlns:a16="http://schemas.microsoft.com/office/drawing/2014/main" val="2002012305"/>
                    </a:ext>
                  </a:extLst>
                </a:gridCol>
                <a:gridCol w="3050259">
                  <a:extLst>
                    <a:ext uri="{9D8B030D-6E8A-4147-A177-3AD203B41FA5}">
                      <a16:colId xmlns:a16="http://schemas.microsoft.com/office/drawing/2014/main" val="372244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28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55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순수 가상 함수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클래스가 구현해야 하는 계약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23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추상 클래스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직접 객체를 만들 수 없는 공통 기반</a:t>
                      </a:r>
                      <a:endParaRPr lang="ko-KR" sz="28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397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구체 클래스</a:t>
                      </a:r>
                      <a:endParaRPr lang="ko-KR" sz="28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순수 가상 함수를 구현한 클래스</a:t>
                      </a:r>
                      <a:endParaRPr lang="ko-KR" sz="28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53899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549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6D1D5-83AA-2160-E4D3-4F03F0E64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97ECC-ED61-8E96-FE5B-B593014F1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8.6.2 </a:t>
            </a:r>
            <a:r>
              <a:rPr lang="ko-KR" altLang="en-US" dirty="0"/>
              <a:t>추상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E2E0AF-C0DE-47AA-626D-FB1E2089B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추상 클래스는 공통 상태와 일부 구현을 가질 수 있음</a:t>
            </a:r>
          </a:p>
          <a:p>
            <a:pPr lvl="0"/>
            <a:r>
              <a:rPr lang="ko-KR" altLang="ko-KR" sz="2400" dirty="0"/>
              <a:t>생성자, 데이터 멤버, 일반 멤버 함수 포함 가능</a:t>
            </a:r>
          </a:p>
          <a:p>
            <a:pPr lvl="0"/>
            <a:r>
              <a:rPr lang="ko-KR" altLang="ko-KR" sz="2400" dirty="0"/>
              <a:t>순수 가상 함수를 구현하지 않으면 계속 추상 클래스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86B94-97C0-D3E0-AAF8-0CADF67159A0}"/>
              </a:ext>
            </a:extLst>
          </p:cNvPr>
          <p:cNvSpPr txBox="1"/>
          <p:nvPr/>
        </p:nvSpPr>
        <p:spPr>
          <a:xfrm>
            <a:off x="395536" y="2196902"/>
            <a:ext cx="4572000" cy="461664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: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){}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&gt;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1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-= </a:t>
            </a:r>
            <a:r>
              <a:rPr lang="ko-KR" altLang="ko-KR" sz="1400" b="1" dirty="0" err="1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dirty="0">
                <a:solidFill>
                  <a:srgbClr val="383A4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35889A-021E-9A9C-19EA-730B6B00DC39}"/>
              </a:ext>
            </a:extLst>
          </p:cNvPr>
          <p:cNvSpPr txBox="1"/>
          <p:nvPr/>
        </p:nvSpPr>
        <p:spPr>
          <a:xfrm>
            <a:off x="4452664" y="4505226"/>
            <a:ext cx="4572000" cy="58477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를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구현하지 않았다면 </a:t>
            </a:r>
            <a:r>
              <a:rPr lang="ko-KR" altLang="ko-KR" sz="16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Character도</a:t>
            </a:r>
            <a:r>
              <a:rPr lang="ko-KR" altLang="ko-KR" sz="16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추상 클래스</a:t>
            </a:r>
            <a:endParaRPr lang="ko-KR" altLang="ko-KR" sz="1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90366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A9B2-2EAF-BE48-0F67-D40E9C61B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AAD61-49DE-4433-084D-F4007A6D8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8.6.3 </a:t>
            </a:r>
            <a:r>
              <a:rPr lang="ko-KR" altLang="en-US" dirty="0"/>
              <a:t>인터페이스 역할의 클래스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F46AE-A150-AFA3-E030-3D786DBE1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C++에는 별도 </a:t>
            </a:r>
            <a:r>
              <a:rPr lang="ko-KR" altLang="ko-KR" sz="2400" dirty="0" err="1"/>
              <a:t>interface</a:t>
            </a:r>
            <a:r>
              <a:rPr lang="ko-KR" altLang="ko-KR" sz="2400" dirty="0"/>
              <a:t> 키워드가 없음</a:t>
            </a:r>
            <a:endParaRPr lang="en-US" altLang="ko-KR" sz="2400" dirty="0"/>
          </a:p>
          <a:p>
            <a:pPr lvl="1"/>
            <a:r>
              <a:rPr lang="en-US" altLang="ko-KR" sz="2000" dirty="0"/>
              <a:t>※</a:t>
            </a:r>
            <a:r>
              <a:rPr lang="ko-KR" altLang="en-US" sz="2000" dirty="0"/>
              <a:t>일부에서 순수 가상함수로 구성된 클래스를 </a:t>
            </a:r>
            <a:r>
              <a:rPr lang="en-US" altLang="ko-KR" sz="2000" dirty="0"/>
              <a:t>interface </a:t>
            </a:r>
            <a:r>
              <a:rPr lang="ko-KR" altLang="en-US" sz="2000" dirty="0"/>
              <a:t>로 부르기도 함</a:t>
            </a:r>
            <a:endParaRPr lang="ko-KR" altLang="ko-KR" sz="2000" dirty="0"/>
          </a:p>
          <a:p>
            <a:pPr lvl="0"/>
            <a:r>
              <a:rPr lang="ko-KR" altLang="ko-KR" sz="2400" dirty="0"/>
              <a:t>순수 가상 함수와 가상 소멸자로 인터페이스 역할의 클래스 구성 가능</a:t>
            </a:r>
          </a:p>
          <a:p>
            <a:pPr lvl="0"/>
            <a:r>
              <a:rPr lang="ko-KR" altLang="ko-KR" sz="2400" dirty="0"/>
              <a:t>데이터 멤버 없이 작은 계약으로 유지하는 편이 좋음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A4FC1-5D55-EB28-34E9-EB6564713C95}"/>
              </a:ext>
            </a:extLst>
          </p:cNvPr>
          <p:cNvSpPr txBox="1"/>
          <p:nvPr/>
        </p:nvSpPr>
        <p:spPr>
          <a:xfrm>
            <a:off x="545877" y="2644170"/>
            <a:ext cx="4572000" cy="138499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11062-7060-73B9-447D-C6B247B75C7C}"/>
              </a:ext>
            </a:extLst>
          </p:cNvPr>
          <p:cNvSpPr txBox="1"/>
          <p:nvPr/>
        </p:nvSpPr>
        <p:spPr>
          <a:xfrm>
            <a:off x="1619672" y="3933056"/>
            <a:ext cx="5256584" cy="116955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CF91A8-591C-AAE6-0E75-B73C9D3A6612}"/>
              </a:ext>
            </a:extLst>
          </p:cNvPr>
          <p:cNvSpPr txBox="1"/>
          <p:nvPr/>
        </p:nvSpPr>
        <p:spPr>
          <a:xfrm>
            <a:off x="2983532" y="5140349"/>
            <a:ext cx="5256584" cy="138499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IDamageable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ko-KR" sz="14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   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66400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1B60E-9980-8AE2-3F7F-840A71FE1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07820-425A-74BA-25BD-6006F90DA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8.6.4 </a:t>
            </a:r>
            <a:r>
              <a:rPr lang="ko-KR" altLang="en-US" dirty="0"/>
              <a:t>구현 상속과 인터페이스 상속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4849A273-9A17-0C26-AE50-0CBBB2EAB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03518"/>
              </p:ext>
            </p:extLst>
          </p:nvPr>
        </p:nvGraphicFramePr>
        <p:xfrm>
          <a:off x="529878" y="719037"/>
          <a:ext cx="7642522" cy="2243960"/>
        </p:xfrm>
        <a:graphic>
          <a:graphicData uri="http://schemas.openxmlformats.org/drawingml/2006/table">
            <a:tbl>
              <a:tblPr/>
              <a:tblGrid>
                <a:gridCol w="1531421">
                  <a:extLst>
                    <a:ext uri="{9D8B030D-6E8A-4147-A177-3AD203B41FA5}">
                      <a16:colId xmlns:a16="http://schemas.microsoft.com/office/drawing/2014/main" val="2634987729"/>
                    </a:ext>
                  </a:extLst>
                </a:gridCol>
                <a:gridCol w="2727389">
                  <a:extLst>
                    <a:ext uri="{9D8B030D-6E8A-4147-A177-3AD203B41FA5}">
                      <a16:colId xmlns:a16="http://schemas.microsoft.com/office/drawing/2014/main" val="92419301"/>
                    </a:ext>
                  </a:extLst>
                </a:gridCol>
                <a:gridCol w="3383712">
                  <a:extLst>
                    <a:ext uri="{9D8B030D-6E8A-4147-A177-3AD203B41FA5}">
                      <a16:colId xmlns:a16="http://schemas.microsoft.com/office/drawing/2014/main" val="30653896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구분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 상속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인터페이스 상속</a:t>
                      </a:r>
                      <a:endParaRPr lang="ko-KR" sz="3600" b="1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018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목적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상태와 구현 재사용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공통 호출 계약 제공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44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데이터 멤버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가질 수 있음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보통 두지 않음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0175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 함수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포함 가능</a:t>
                      </a:r>
                      <a:endParaRPr lang="ko-KR" sz="36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순수 가상 함수 중심</a:t>
                      </a:r>
                      <a:endParaRPr lang="ko-KR" sz="36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837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결합도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구현에 강하게 결합</a:t>
                      </a:r>
                      <a:endParaRPr lang="ko-KR" sz="36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399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계약에 상대적으로 약하게 결합</a:t>
                      </a:r>
                      <a:endParaRPr lang="ko-KR" sz="3600" dirty="0">
                        <a:solidFill>
                          <a:srgbClr val="3399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7894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97833A-930B-A549-F4E7-225E106221A2}"/>
              </a:ext>
            </a:extLst>
          </p:cNvPr>
          <p:cNvSpPr txBox="1"/>
          <p:nvPr/>
        </p:nvSpPr>
        <p:spPr>
          <a:xfrm>
            <a:off x="529581" y="3122848"/>
            <a:ext cx="5040560" cy="116955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attackPower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1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66839-C981-A8E5-C0E5-5C7DB4D678F0}"/>
              </a:ext>
            </a:extLst>
          </p:cNvPr>
          <p:cNvSpPr txBox="1"/>
          <p:nvPr/>
        </p:nvSpPr>
        <p:spPr>
          <a:xfrm>
            <a:off x="529581" y="4375615"/>
            <a:ext cx="5040560" cy="2031325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1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1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C8EA5-699C-A7F8-E70D-D3F4062FB166}"/>
              </a:ext>
            </a:extLst>
          </p:cNvPr>
          <p:cNvSpPr txBox="1"/>
          <p:nvPr/>
        </p:nvSpPr>
        <p:spPr>
          <a:xfrm>
            <a:off x="5028406" y="5724579"/>
            <a:ext cx="4032448" cy="64633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1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하나의 주 구현 계층 + 여러 작은 인터페이스 구조가 관리하기 쉬움</a:t>
            </a:r>
            <a:endParaRPr lang="ko-KR" altLang="ko-KR" sz="1800" b="1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5279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A2CA1-3317-9A7F-AD2F-922E08B9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B85F1-1AA9-2040-5883-8F66E9CB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8.6.5 </a:t>
            </a:r>
            <a:r>
              <a:rPr lang="ko-KR" altLang="en-US" dirty="0"/>
              <a:t>최소 인터페이스와 계약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12799F-4D71-99B8-3B57-FA16F35E0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기반 클래스 </a:t>
            </a:r>
            <a:r>
              <a:rPr lang="ko-KR" altLang="ko-KR" sz="2400" dirty="0">
                <a:solidFill>
                  <a:srgbClr val="0070C0"/>
                </a:solidFill>
              </a:rPr>
              <a:t>공개 인터페이스</a:t>
            </a:r>
            <a:r>
              <a:rPr lang="ko-KR" altLang="ko-KR" sz="2400" dirty="0"/>
              <a:t>는 </a:t>
            </a:r>
            <a:r>
              <a:rPr lang="ko-KR" altLang="ko-KR" sz="2400" dirty="0">
                <a:solidFill>
                  <a:srgbClr val="0070C0"/>
                </a:solidFill>
              </a:rPr>
              <a:t>모든 파생 클래스에 의미가 있어야</a:t>
            </a:r>
          </a:p>
          <a:p>
            <a:pPr lvl="0"/>
            <a:r>
              <a:rPr lang="ko-KR" altLang="ko-KR" sz="2400" dirty="0"/>
              <a:t>특정 파생 클래스에서만 필요한 기능을 최상위 기반에 넣지 않음</a:t>
            </a:r>
          </a:p>
          <a:p>
            <a:pPr lvl="0"/>
            <a:r>
              <a:rPr lang="ko-KR" altLang="ko-KR" sz="2400" dirty="0"/>
              <a:t>서로 독립적인 역할은 작은 인터페이스로 분리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CEBF15-864E-F6F1-D0C9-5F4632AA2F16}"/>
              </a:ext>
            </a:extLst>
          </p:cNvPr>
          <p:cNvSpPr txBox="1"/>
          <p:nvPr/>
        </p:nvSpPr>
        <p:spPr>
          <a:xfrm>
            <a:off x="467544" y="2204864"/>
            <a:ext cx="3904258" cy="452431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 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ProcessInput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0;</a:t>
            </a:r>
            <a:b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en-US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Monster에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부적절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ProcessInput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EFB9CC7-E2F6-1B79-CF82-E05645CC4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175185"/>
              </p:ext>
            </p:extLst>
          </p:nvPr>
        </p:nvGraphicFramePr>
        <p:xfrm>
          <a:off x="4372918" y="3501008"/>
          <a:ext cx="4438201" cy="2280920"/>
        </p:xfrm>
        <a:graphic>
          <a:graphicData uri="http://schemas.openxmlformats.org/drawingml/2006/table">
            <a:tbl>
              <a:tblPr/>
              <a:tblGrid>
                <a:gridCol w="909809">
                  <a:extLst>
                    <a:ext uri="{9D8B030D-6E8A-4147-A177-3AD203B41FA5}">
                      <a16:colId xmlns:a16="http://schemas.microsoft.com/office/drawing/2014/main" val="1209161623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3861601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기준</a:t>
                      </a:r>
                      <a:endParaRPr lang="ko-KR" sz="3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설명</a:t>
                      </a:r>
                      <a:endParaRPr lang="ko-KR" sz="3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092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모든 파생 클래스에 의미 있는가</a:t>
                      </a:r>
                      <a:endParaRPr lang="ko-KR" sz="32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299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계약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사전 조건과 사후 조건을</a:t>
                      </a:r>
                      <a:b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유지할 수 있는가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678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안정성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자주 바뀌지 않는가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933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크기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필요한 연산만 포함하는가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94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017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D23F5-F862-0473-9EE2-2839B600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6EC54B-E493-718A-2BE1-87EB6F91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8.6.6 </a:t>
            </a:r>
            <a:r>
              <a:rPr lang="ko-KR" altLang="en-US" dirty="0"/>
              <a:t>비가상 인터페이스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71752D-4E44-D8C4-8E09-6AE8C4E43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공개 함수는 비가상으로 유지</a:t>
            </a:r>
          </a:p>
          <a:p>
            <a:pPr lvl="0"/>
            <a:r>
              <a:rPr lang="ko-KR" altLang="ko-KR" sz="2400" dirty="0"/>
              <a:t>내부에서 보호 가상 함수를 호출</a:t>
            </a:r>
          </a:p>
          <a:p>
            <a:pPr lvl="0"/>
            <a:r>
              <a:rPr lang="ko-KR" altLang="ko-KR" sz="2400" dirty="0"/>
              <a:t>공통 규칙을 기반 클래스가 보장</a:t>
            </a:r>
          </a:p>
          <a:p>
            <a:pPr lvl="0"/>
            <a:r>
              <a:rPr lang="ko-KR" altLang="ko-KR" sz="2400" dirty="0"/>
              <a:t>파생 클래스는 확장 지점만 구현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79CA3-D2EB-B40F-C147-74E16C4C4C24}"/>
              </a:ext>
            </a:extLst>
          </p:cNvPr>
          <p:cNvSpPr txBox="1"/>
          <p:nvPr/>
        </p:nvSpPr>
        <p:spPr>
          <a:xfrm>
            <a:off x="323528" y="2535282"/>
            <a:ext cx="4248472" cy="403187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(!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6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49B68-2E8C-ED31-BD9C-D0C449B107DF}"/>
              </a:ext>
            </a:extLst>
          </p:cNvPr>
          <p:cNvSpPr txBox="1"/>
          <p:nvPr/>
        </p:nvSpPr>
        <p:spPr>
          <a:xfrm>
            <a:off x="4572000" y="2535282"/>
            <a:ext cx="4032448" cy="20621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OnUpdate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F8ED10-FCE9-7B29-2D8D-AD81E5385E78}"/>
              </a:ext>
            </a:extLst>
          </p:cNvPr>
          <p:cNvSpPr txBox="1"/>
          <p:nvPr/>
        </p:nvSpPr>
        <p:spPr>
          <a:xfrm>
            <a:off x="4572000" y="5179117"/>
            <a:ext cx="4032448" cy="64633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파생 클래스가 공통 검사를</a:t>
            </a:r>
            <a:b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빠뜨릴 가능성을 줄임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61896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841D8-D37D-2473-277A-1DF77ECD4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FE51B-28EA-96B0-FF07-5037641CC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8.7 </a:t>
            </a:r>
            <a:r>
              <a:rPr lang="ko-KR" altLang="en-US" dirty="0"/>
              <a:t>다형 객체의 수명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F88756-862A-AA49-22F1-DB18FF4D1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z="2400" dirty="0"/>
              <a:t>다형 객체 →파생 클래스 객체를 </a:t>
            </a:r>
            <a:r>
              <a:rPr lang="ko-KR" altLang="ko-KR" sz="2400" dirty="0"/>
              <a:t>기반 클래스 포인터</a:t>
            </a:r>
            <a:r>
              <a:rPr lang="en-US" altLang="ko-KR" sz="2400" dirty="0"/>
              <a:t>,</a:t>
            </a:r>
            <a:r>
              <a:rPr lang="ko-KR" altLang="ko-KR" sz="2400" dirty="0"/>
              <a:t> 참조</a:t>
            </a:r>
            <a:r>
              <a:rPr lang="ko-KR" altLang="en-US" sz="2400" dirty="0"/>
              <a:t>로 활용</a:t>
            </a:r>
            <a:endParaRPr lang="en-US" altLang="ko-KR" sz="2400" dirty="0"/>
          </a:p>
          <a:p>
            <a:pPr lvl="0"/>
            <a:r>
              <a:rPr lang="ko-KR" altLang="ko-KR" sz="2400" dirty="0"/>
              <a:t>다형 객체를 기반 클래스 포인터로 관리할 때 수명 설계가 중요</a:t>
            </a:r>
          </a:p>
          <a:p>
            <a:pPr lvl="0"/>
            <a:r>
              <a:rPr lang="ko-KR" altLang="ko-KR" sz="2400" dirty="0"/>
              <a:t>기반 클래스 소멸자는 가상이어야 함</a:t>
            </a:r>
          </a:p>
          <a:p>
            <a:pPr lvl="0"/>
            <a:r>
              <a:rPr lang="ko-KR" altLang="ko-KR" sz="2400" dirty="0"/>
              <a:t>객체 잘림 방지 필요</a:t>
            </a:r>
          </a:p>
          <a:p>
            <a:pPr lvl="0"/>
            <a:r>
              <a:rPr lang="ko-KR" altLang="ko-KR" sz="2400" dirty="0"/>
              <a:t>다형 복사는 </a:t>
            </a:r>
            <a:r>
              <a:rPr lang="ko-KR" altLang="ko-KR" sz="2400" dirty="0" err="1"/>
              <a:t>Clone</a:t>
            </a:r>
            <a:r>
              <a:rPr lang="ko-KR" altLang="ko-KR" sz="2400" dirty="0"/>
              <a:t> 패턴으로 처리 가능</a:t>
            </a:r>
          </a:p>
          <a:p>
            <a:pPr lvl="0"/>
            <a:r>
              <a:rPr lang="ko-KR" altLang="ko-KR" sz="2400" dirty="0"/>
              <a:t>스마트 포인터 컨테이너로 소유권을 표현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64986B4-7932-B151-AAB0-EBD50DCF7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31162"/>
              </p:ext>
            </p:extLst>
          </p:nvPr>
        </p:nvGraphicFramePr>
        <p:xfrm>
          <a:off x="611560" y="3608387"/>
          <a:ext cx="6018014" cy="2692752"/>
        </p:xfrm>
        <a:graphic>
          <a:graphicData uri="http://schemas.openxmlformats.org/drawingml/2006/table">
            <a:tbl>
              <a:tblPr/>
              <a:tblGrid>
                <a:gridCol w="2780252">
                  <a:extLst>
                    <a:ext uri="{9D8B030D-6E8A-4147-A177-3AD203B41FA5}">
                      <a16:colId xmlns:a16="http://schemas.microsoft.com/office/drawing/2014/main" val="3456453394"/>
                    </a:ext>
                  </a:extLst>
                </a:gridCol>
                <a:gridCol w="3237762">
                  <a:extLst>
                    <a:ext uri="{9D8B030D-6E8A-4147-A177-3AD203B41FA5}">
                      <a16:colId xmlns:a16="http://schemas.microsoft.com/office/drawing/2014/main" val="39785079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문제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대응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683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포인터 삭제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가상 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소멸자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6695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값 복사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참조·포인터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전달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028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컨테이너 저장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std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::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&lt;</a:t>
                      </a: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Base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&gt;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249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타입 유지 복사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가상 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Clone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()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895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원시 포인터 소유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스마트 포인터 사용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3377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3437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C5717-320E-4047-B1BE-7D7FF830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545E0-41D2-C49A-D2DF-91F4FBC9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8.7.1 </a:t>
            </a:r>
            <a:r>
              <a:rPr lang="ko-KR" altLang="en-US" dirty="0"/>
              <a:t>가상 </a:t>
            </a:r>
            <a:r>
              <a:rPr lang="ko-KR" altLang="en-US" dirty="0" err="1"/>
              <a:t>소멸자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FEA2B8-3B44-04C6-3C08-0AE4EACFF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기반 클래스 포인터를 통해 파생 객체를 삭제할 가능성이 있으면 기반 클래스 소멸자는 가상</a:t>
            </a:r>
          </a:p>
          <a:p>
            <a:pPr lvl="0"/>
            <a:r>
              <a:rPr lang="ko-KR" altLang="ko-KR" dirty="0"/>
              <a:t>파생 클래스 소멸자는 자동으로 가상 함수</a:t>
            </a:r>
          </a:p>
          <a:p>
            <a:pPr lvl="0"/>
            <a:r>
              <a:rPr lang="ko-KR" altLang="ko-KR" dirty="0" err="1"/>
              <a:t>override</a:t>
            </a:r>
            <a:r>
              <a:rPr lang="en-US" altLang="ko-KR" dirty="0"/>
              <a:t> </a:t>
            </a:r>
            <a:r>
              <a:rPr lang="ko-KR" altLang="ko-KR" dirty="0"/>
              <a:t>를 소멸자에도 사용할 수 있음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A2A52C-0309-99E1-5478-4B79C2C09338}"/>
              </a:ext>
            </a:extLst>
          </p:cNvPr>
          <p:cNvSpPr txBox="1"/>
          <p:nvPr/>
        </p:nvSpPr>
        <p:spPr>
          <a:xfrm>
            <a:off x="532532" y="2852936"/>
            <a:ext cx="4039468" cy="2246769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8EBEF8-3C9D-1B8D-5D07-FC6A006B5C98}"/>
              </a:ext>
            </a:extLst>
          </p:cNvPr>
          <p:cNvSpPr txBox="1"/>
          <p:nvPr/>
        </p:nvSpPr>
        <p:spPr>
          <a:xfrm>
            <a:off x="539750" y="5288945"/>
            <a:ext cx="4039468" cy="52322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new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delete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B41D534-E4EC-3585-52EC-D64460AE46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761682"/>
              </p:ext>
            </p:extLst>
          </p:nvPr>
        </p:nvGraphicFramePr>
        <p:xfrm>
          <a:off x="4788123" y="4587885"/>
          <a:ext cx="2664296" cy="1224280"/>
        </p:xfrm>
        <a:graphic>
          <a:graphicData uri="http://schemas.openxmlformats.org/drawingml/2006/table">
            <a:tbl>
              <a:tblPr/>
              <a:tblGrid>
                <a:gridCol w="2664296">
                  <a:extLst>
                    <a:ext uri="{9D8B030D-6E8A-4147-A177-3AD203B41FA5}">
                      <a16:colId xmlns:a16="http://schemas.microsoft.com/office/drawing/2014/main" val="2258129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BossMonster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MobBase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소멸</a:t>
                      </a:r>
                      <a:b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8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GameObject 소멸</a:t>
                      </a:r>
                      <a:endParaRPr lang="ko-KR" sz="32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3323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3A6528EF-12F1-896A-A294-E729D4743344}"/>
              </a:ext>
            </a:extLst>
          </p:cNvPr>
          <p:cNvSpPr txBox="1"/>
          <p:nvPr/>
        </p:nvSpPr>
        <p:spPr>
          <a:xfrm>
            <a:off x="539749" y="6093738"/>
            <a:ext cx="6912669" cy="36933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8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기반 소멸자가 비가상이면 기반 포인터 삭제는 정의되지 않은 동작</a:t>
            </a:r>
            <a:endParaRPr lang="ko-KR" altLang="ko-KR" sz="20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309005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DA2D8-2708-B1AD-0237-A27AF7C7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3A0FB5-9726-3D46-0B75-7A7A15DF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8.7.3 </a:t>
            </a:r>
            <a:r>
              <a:rPr lang="ko-KR" altLang="en-US" dirty="0"/>
              <a:t>객체 잘림</a:t>
            </a:r>
            <a:r>
              <a:rPr lang="ko-KR" altLang="ko-KR" dirty="0"/>
              <a:t>(</a:t>
            </a:r>
            <a:r>
              <a:rPr lang="en-US" altLang="ko-KR" dirty="0"/>
              <a:t>O</a:t>
            </a:r>
            <a:r>
              <a:rPr lang="ko-KR" altLang="ko-KR" dirty="0"/>
              <a:t>bject </a:t>
            </a:r>
            <a:r>
              <a:rPr lang="ko-KR" altLang="ko-KR" dirty="0" err="1"/>
              <a:t>slicing</a:t>
            </a:r>
            <a:r>
              <a:rPr lang="ko-KR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8318EE-EB79-1B6F-39A7-9D53DFF3C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객체를 기반 클래스 값으로 복사하면 기반 클래스 부분만 복사됨</a:t>
            </a:r>
          </a:p>
          <a:p>
            <a:pPr lvl="0"/>
            <a:r>
              <a:rPr lang="ko-KR" altLang="ko-KR" sz="2400" dirty="0"/>
              <a:t>파생 클래스 부분은 사라짐</a:t>
            </a:r>
          </a:p>
          <a:p>
            <a:pPr lvl="0"/>
            <a:r>
              <a:rPr lang="ko-KR" altLang="ko-KR" sz="2400" dirty="0"/>
              <a:t>이를 객체 잘림이라고 함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3585E-CAAB-A32F-0DA8-FB44308754E6}"/>
              </a:ext>
            </a:extLst>
          </p:cNvPr>
          <p:cNvSpPr txBox="1"/>
          <p:nvPr/>
        </p:nvSpPr>
        <p:spPr>
          <a:xfrm>
            <a:off x="539750" y="2204864"/>
            <a:ext cx="3816226" cy="4185761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PrintType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971F7C-31E3-7721-1C7D-FABBF7799332}"/>
              </a:ext>
            </a:extLst>
          </p:cNvPr>
          <p:cNvSpPr txBox="1"/>
          <p:nvPr/>
        </p:nvSpPr>
        <p:spPr>
          <a:xfrm>
            <a:off x="4355976" y="3759135"/>
            <a:ext cx="4050196" cy="1077218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copied.PrintType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3F494-E9EE-A3F2-349C-973B0A088995}"/>
              </a:ext>
            </a:extLst>
          </p:cNvPr>
          <p:cNvSpPr txBox="1"/>
          <p:nvPr/>
        </p:nvSpPr>
        <p:spPr>
          <a:xfrm>
            <a:off x="4355976" y="5085184"/>
            <a:ext cx="4050196" cy="830997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다형 객체는 값이 아니라 참조나 포인터로 전달</a:t>
            </a:r>
            <a:endParaRPr lang="ko-KR" altLang="ko-KR" sz="2800" b="0" i="0" u="none" strike="noStrike" dirty="0">
              <a:solidFill>
                <a:srgbClr val="333333"/>
              </a:solidFill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9310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CAB9-F221-4DAE-F64F-6497F1095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F1B19B-E89B-FCFE-6A74-A2B356536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8.7.4 </a:t>
            </a:r>
            <a:r>
              <a:rPr lang="ko-KR" altLang="en-US" dirty="0"/>
              <a:t>다형 객체의 복사와 </a:t>
            </a:r>
            <a:r>
              <a:rPr lang="en-US" altLang="ko-KR" dirty="0"/>
              <a:t>Clone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13966B-7919-E888-5C5C-FED08B71AE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기반 클래스 포인터가 가리키는 구체 타입을 유지하며 복사하려면 가상 복제 함수 제공</a:t>
            </a:r>
          </a:p>
          <a:p>
            <a:pPr lvl="0"/>
            <a:r>
              <a:rPr lang="ko-KR" altLang="ko-KR" dirty="0">
                <a:solidFill>
                  <a:srgbClr val="0070C0"/>
                </a:solidFill>
              </a:rPr>
              <a:t>반환 타입은 기반 스마트 포인터</a:t>
            </a:r>
            <a:r>
              <a:rPr lang="ko-KR" altLang="ko-KR" dirty="0"/>
              <a:t>로 통일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9F8CE-46C1-59FE-9D7A-0449594456F4}"/>
              </a:ext>
            </a:extLst>
          </p:cNvPr>
          <p:cNvSpPr txBox="1"/>
          <p:nvPr/>
        </p:nvSpPr>
        <p:spPr>
          <a:xfrm>
            <a:off x="539750" y="2270453"/>
            <a:ext cx="5184378" cy="95410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r>
              <a:rPr lang="en-US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~GameObject()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13BAE7-18A1-A6B0-23CC-358C75F0EBB8}"/>
              </a:ext>
            </a:extLst>
          </p:cNvPr>
          <p:cNvSpPr txBox="1"/>
          <p:nvPr/>
        </p:nvSpPr>
        <p:spPr>
          <a:xfrm>
            <a:off x="971600" y="3232393"/>
            <a:ext cx="5286946" cy="116955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5BE6E7-08CD-05D8-A082-AE155E525BEA}"/>
              </a:ext>
            </a:extLst>
          </p:cNvPr>
          <p:cNvSpPr txBox="1"/>
          <p:nvPr/>
        </p:nvSpPr>
        <p:spPr>
          <a:xfrm>
            <a:off x="1470695" y="4402356"/>
            <a:ext cx="5646986" cy="1169551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en-US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&gt;(*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5838D-2A18-56CB-22A5-01F4C202D721}"/>
              </a:ext>
            </a:extLst>
          </p:cNvPr>
          <p:cNvSpPr txBox="1"/>
          <p:nvPr/>
        </p:nvSpPr>
        <p:spPr>
          <a:xfrm>
            <a:off x="2329080" y="5579601"/>
            <a:ext cx="5987336" cy="338554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copied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original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6654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916D6-BDE2-09F4-883E-37BDD4F0D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62F501-4DC2-269F-F445-CE44102D3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8.7.5 </a:t>
            </a:r>
            <a:r>
              <a:rPr lang="ko-KR" altLang="en-US" dirty="0"/>
              <a:t>스마트 포인터와 다형 객체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74CF5-3B52-9A03-C8A8-260684059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고유 소유권을 가진 다형 객체는 </a:t>
            </a:r>
            <a:r>
              <a:rPr lang="ko-KR" altLang="ko-KR" sz="2400" dirty="0" err="1">
                <a:solidFill>
                  <a:srgbClr val="0000FF"/>
                </a:solidFill>
              </a:rPr>
              <a:t>std</a:t>
            </a:r>
            <a:r>
              <a:rPr lang="ko-KR" altLang="ko-KR" sz="2400" dirty="0">
                <a:solidFill>
                  <a:srgbClr val="0000FF"/>
                </a:solidFill>
              </a:rPr>
              <a:t>::</a:t>
            </a:r>
            <a:r>
              <a:rPr lang="ko-KR" altLang="ko-KR" sz="2400" dirty="0" err="1">
                <a:solidFill>
                  <a:srgbClr val="0000FF"/>
                </a:solidFill>
              </a:rPr>
              <a:t>unique_ptr</a:t>
            </a:r>
            <a:r>
              <a:rPr lang="ko-KR" altLang="ko-KR" sz="2400" dirty="0">
                <a:solidFill>
                  <a:srgbClr val="0000FF"/>
                </a:solidFill>
              </a:rPr>
              <a:t>&lt;</a:t>
            </a:r>
            <a:r>
              <a:rPr lang="ko-KR" altLang="ko-KR" sz="2400" dirty="0" err="1">
                <a:solidFill>
                  <a:srgbClr val="0000FF"/>
                </a:solidFill>
              </a:rPr>
              <a:t>Base</a:t>
            </a:r>
            <a:r>
              <a:rPr lang="ko-KR" altLang="ko-KR" sz="2400" dirty="0">
                <a:solidFill>
                  <a:srgbClr val="0000FF"/>
                </a:solidFill>
              </a:rPr>
              <a:t>&gt;</a:t>
            </a:r>
            <a:r>
              <a:rPr lang="ko-KR" altLang="ko-KR" sz="2400" dirty="0"/>
              <a:t>로 관리</a:t>
            </a:r>
          </a:p>
          <a:p>
            <a:pPr lvl="0"/>
            <a:r>
              <a:rPr lang="ko-KR" altLang="ko-KR" sz="2400" dirty="0"/>
              <a:t>컨테이너에 기반 클래스 값을 직접 저장하지 않음</a:t>
            </a:r>
          </a:p>
          <a:p>
            <a:pPr lvl="0"/>
            <a:r>
              <a:rPr lang="ko-KR" altLang="ko-KR" sz="2400" dirty="0"/>
              <a:t>객체 잘림 없이 동적 타입 유지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86804-ADFF-1959-3EAC-BBE7A2487BCD}"/>
              </a:ext>
            </a:extLst>
          </p:cNvPr>
          <p:cNvSpPr txBox="1"/>
          <p:nvPr/>
        </p:nvSpPr>
        <p:spPr>
          <a:xfrm>
            <a:off x="534392" y="2292642"/>
            <a:ext cx="7710016" cy="353943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objects.push_back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for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concrete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concrete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0114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8D88-A1C7-3B6F-EEA0-1BC8117B0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DA59F-4097-2B0C-8CFE-17A9FF750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8.8 </a:t>
            </a:r>
            <a:r>
              <a:rPr lang="ko-KR" altLang="en-US" dirty="0"/>
              <a:t>형 변환과 </a:t>
            </a:r>
            <a:r>
              <a:rPr lang="en-US" altLang="ko-KR" dirty="0"/>
              <a:t>RTTI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EC6F2F-D0B6-CC3E-0709-595F8112F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상속 계층의 포인터와 참조는 업캐스팅과 다운캐스팅을 지원</a:t>
            </a:r>
          </a:p>
          <a:p>
            <a:pPr lvl="0"/>
            <a:r>
              <a:rPr lang="ko-KR" altLang="ko-KR" sz="2400" dirty="0" err="1"/>
              <a:t>RTTI는</a:t>
            </a:r>
            <a:r>
              <a:rPr lang="ko-KR" altLang="ko-KR" sz="2400" dirty="0"/>
              <a:t> 실행 중 실제 타입을 확인하는 기능</a:t>
            </a:r>
          </a:p>
          <a:p>
            <a:endParaRPr lang="ko-KR" altLang="en-US" sz="24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C24B601-15A0-DEAA-69E0-54C9A3AFB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098350"/>
              </p:ext>
            </p:extLst>
          </p:nvPr>
        </p:nvGraphicFramePr>
        <p:xfrm>
          <a:off x="539750" y="1844824"/>
          <a:ext cx="7776665" cy="2692752"/>
        </p:xfrm>
        <a:graphic>
          <a:graphicData uri="http://schemas.openxmlformats.org/drawingml/2006/table">
            <a:tbl>
              <a:tblPr/>
              <a:tblGrid>
                <a:gridCol w="2016026">
                  <a:extLst>
                    <a:ext uri="{9D8B030D-6E8A-4147-A177-3AD203B41FA5}">
                      <a16:colId xmlns:a16="http://schemas.microsoft.com/office/drawing/2014/main" val="916906923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928385086"/>
                    </a:ext>
                  </a:extLst>
                </a:gridCol>
                <a:gridCol w="3744415">
                  <a:extLst>
                    <a:ext uri="{9D8B030D-6E8A-4147-A177-3AD203B41FA5}">
                      <a16:colId xmlns:a16="http://schemas.microsoft.com/office/drawing/2014/main" val="5791483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변환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의미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안전성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582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업캐스팅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→ 기반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공개 상속에서는 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일반적으로 안전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58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다운캐스팅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→ 파생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실제 타입 확인 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1351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static_cast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중 검사 없음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보장 없으면 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위험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98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dynamic_cast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실행 중 타입 검사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다형 기반 클래스 </a:t>
                      </a: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필요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851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typeid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정보 확인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문자열 형식은 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구현 의존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9692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0708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53405-DBBF-7B0E-BD40-A2C24345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8F580-0E38-23E6-DE2A-F628F8CB6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8.8.1 </a:t>
            </a:r>
            <a:r>
              <a:rPr lang="ko-KR" altLang="en-US" dirty="0"/>
              <a:t>업캐스팅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706A81-3AFD-F1D6-0BC8-7E978AD2B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클래스 포인터나 참조를 접근 가능한 기반 클래스 포인터나 참조로 변환</a:t>
            </a:r>
          </a:p>
          <a:p>
            <a:pPr lvl="0"/>
            <a:r>
              <a:rPr lang="ko-KR" altLang="ko-KR" sz="2400" dirty="0"/>
              <a:t>공개 상속에서는 일반적으로 암시적으로 수행 가능</a:t>
            </a:r>
          </a:p>
          <a:p>
            <a:pPr lvl="0"/>
            <a:r>
              <a:rPr lang="ko-KR" altLang="ko-KR" sz="2400" dirty="0"/>
              <a:t>업캐스팅 후에는 정적 타입이 제공하는 인터페이스만 사용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F2DB21-BA3C-A21C-4E9A-EBEB08F62328}"/>
              </a:ext>
            </a:extLst>
          </p:cNvPr>
          <p:cNvSpPr txBox="1"/>
          <p:nvPr/>
        </p:nvSpPr>
        <p:spPr>
          <a:xfrm>
            <a:off x="539750" y="2492752"/>
            <a:ext cx="7632650" cy="3785652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&amp;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object.Update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object.EnterRageMode</a:t>
            </a:r>
            <a:r>
              <a:rPr lang="ko-KR" altLang="ko-KR" sz="16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// 오류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0170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C1B6A-D70C-AF59-68FA-6B60EE0F0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C6815-4B2B-BD91-DB5A-889CAF9B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8.8.2 </a:t>
            </a:r>
            <a:r>
              <a:rPr lang="ko-KR" altLang="en-US" dirty="0"/>
              <a:t>다운캐스팅과 </a:t>
            </a:r>
            <a:r>
              <a:rPr lang="en-US" altLang="ko-KR" dirty="0" err="1"/>
              <a:t>dynamic_cast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9ED04-F2BC-F270-4DDE-C6ED51B50D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기반 클래스 포인터나 참조를 더 구체적인 파생 클래스 타입으로 변환</a:t>
            </a:r>
          </a:p>
          <a:p>
            <a:pPr lvl="0"/>
            <a:r>
              <a:rPr lang="ko-KR" altLang="ko-KR" sz="2400" dirty="0" err="1">
                <a:solidFill>
                  <a:srgbClr val="0070C0"/>
                </a:solidFill>
              </a:rPr>
              <a:t>static_cast</a:t>
            </a:r>
            <a:r>
              <a:rPr lang="en-US" altLang="ko-KR" sz="2400" dirty="0"/>
              <a:t>:</a:t>
            </a:r>
            <a:r>
              <a:rPr lang="ko-KR" altLang="ko-KR" sz="2400" dirty="0"/>
              <a:t> 실행 중 타입을 검사하지 않음</a:t>
            </a:r>
          </a:p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dynamic_cast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dirty="0"/>
              <a:t> </a:t>
            </a:r>
            <a:r>
              <a:rPr lang="ko-KR" altLang="ko-KR" sz="2000" dirty="0"/>
              <a:t>다형 기반 클래스의 </a:t>
            </a:r>
            <a:r>
              <a:rPr lang="ko-KR" altLang="ko-KR" sz="2000" dirty="0" err="1"/>
              <a:t>RTTI를</a:t>
            </a:r>
            <a:r>
              <a:rPr lang="ko-KR" altLang="ko-KR" sz="2000" dirty="0"/>
              <a:t> 사용하여 타입 검사</a:t>
            </a:r>
            <a:r>
              <a:rPr lang="en-US" altLang="ko-KR" sz="2000" dirty="0"/>
              <a:t> </a:t>
            </a:r>
            <a:r>
              <a:rPr lang="ko-KR" altLang="en-US" sz="2000" dirty="0"/>
              <a:t>→ 실패 시 </a:t>
            </a:r>
            <a:r>
              <a:rPr lang="en-US" altLang="ko-KR" sz="2000" dirty="0">
                <a:solidFill>
                  <a:srgbClr val="0070C0"/>
                </a:solidFill>
              </a:rPr>
              <a:t>nullptr</a:t>
            </a:r>
            <a:r>
              <a:rPr lang="en-US" altLang="ko-KR" sz="2000" dirty="0"/>
              <a:t> </a:t>
            </a:r>
            <a:r>
              <a:rPr lang="ko-KR" altLang="en-US" sz="2000" dirty="0"/>
              <a:t>반환</a:t>
            </a:r>
            <a:endParaRPr lang="ko-KR" altLang="ko-KR" sz="2000" dirty="0"/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013D1-9698-9AB6-B58F-5B81C96A7678}"/>
              </a:ext>
            </a:extLst>
          </p:cNvPr>
          <p:cNvSpPr txBox="1"/>
          <p:nvPr/>
        </p:nvSpPr>
        <p:spPr>
          <a:xfrm>
            <a:off x="545826" y="2493471"/>
            <a:ext cx="7986614" cy="403187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ActivateBossMode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(GameObject*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!= </a:t>
            </a:r>
            <a:r>
              <a:rPr lang="ko-KR" altLang="ko-KR" sz="1600" b="0" i="0" u="none" strike="noStrike" dirty="0">
                <a:solidFill>
                  <a:srgbClr val="0184BB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nullptr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EnterRageMode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try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</a:t>
            </a:r>
            <a:r>
              <a:rPr lang="en-US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&amp;&gt;(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boss.EnterRageMode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catch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6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bad_cast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6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error.what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&lt;&lt; 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'\</a:t>
            </a:r>
            <a:r>
              <a:rPr lang="ko-KR" altLang="ko-KR" sz="16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6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'</a:t>
            </a: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6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6502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DC058-C6B6-D4E9-92D3-20BAF9F25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2AE871-912B-7107-E7ED-D80FAFA7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8.8.5 </a:t>
            </a:r>
            <a:r>
              <a:rPr lang="ko-KR" altLang="en-US" dirty="0"/>
              <a:t>다운캐스팅을 줄이는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5ECE6-BED0-69D2-81B3-59D67A3D5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다운캐스팅이 반복되면 기반 인터페이스가 필요한 행동을 충분히 표현하지 못할 수 있음</a:t>
            </a:r>
          </a:p>
          <a:p>
            <a:pPr lvl="0"/>
            <a:r>
              <a:rPr lang="ko-KR" altLang="ko-KR" dirty="0"/>
              <a:t>타입 검사 분기보다 가상 함수나 작은 인터페이스로 표현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DDD81-1E53-F9E8-3AC4-8A05FFA1352A}"/>
              </a:ext>
            </a:extLst>
          </p:cNvPr>
          <p:cNvSpPr txBox="1"/>
          <p:nvPr/>
        </p:nvSpPr>
        <p:spPr>
          <a:xfrm>
            <a:off x="542776" y="2348880"/>
            <a:ext cx="6189464" cy="246221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ExecuteAction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(GameObject&amp;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dynamic_cast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else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if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auto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dynamic_cast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*&gt;(&amp;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7BD23-CE1D-7820-29F4-3AF971BB98F2}"/>
              </a:ext>
            </a:extLst>
          </p:cNvPr>
          <p:cNvSpPr txBox="1"/>
          <p:nvPr/>
        </p:nvSpPr>
        <p:spPr>
          <a:xfrm>
            <a:off x="2535248" y="4307175"/>
            <a:ext cx="5925183" cy="224676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ExecuteAttack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mob.Attack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8266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F3DC0-F2DE-B793-C01F-29974E346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8.9 다중 상속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8C5EB1-C146-5827-16D5-8DB57C341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한 파생 클래스가 둘 이상의 기반 클래스 상속</a:t>
            </a:r>
          </a:p>
          <a:p>
            <a:pPr lvl="0"/>
            <a:r>
              <a:rPr lang="ko-KR" altLang="ko-KR" sz="2400" dirty="0"/>
              <a:t>여러 역할을 하나의 타입에 결합 가능</a:t>
            </a:r>
          </a:p>
          <a:p>
            <a:pPr lvl="0"/>
            <a:r>
              <a:rPr lang="ko-KR" altLang="ko-KR" sz="2400" dirty="0"/>
              <a:t>상태 중복, 이름 충돌, 다이아몬드 상속 문제 발생 가능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645B9-3D81-6AD6-8692-7EEA720908C9}"/>
              </a:ext>
            </a:extLst>
          </p:cNvPr>
          <p:cNvSpPr txBox="1"/>
          <p:nvPr/>
        </p:nvSpPr>
        <p:spPr>
          <a:xfrm>
            <a:off x="323528" y="2204864"/>
            <a:ext cx="4776105" cy="3046988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2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2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2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2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2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2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2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2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2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2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28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00A6663-2E0A-20E1-DBF0-BAAC183B6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01667"/>
              </p:ext>
            </p:extLst>
          </p:nvPr>
        </p:nvGraphicFramePr>
        <p:xfrm>
          <a:off x="3203848" y="4739726"/>
          <a:ext cx="5760640" cy="1764688"/>
        </p:xfrm>
        <a:graphic>
          <a:graphicData uri="http://schemas.openxmlformats.org/drawingml/2006/table">
            <a:tbl>
              <a:tblPr/>
              <a:tblGrid>
                <a:gridCol w="2776212">
                  <a:extLst>
                    <a:ext uri="{9D8B030D-6E8A-4147-A177-3AD203B41FA5}">
                      <a16:colId xmlns:a16="http://schemas.microsoft.com/office/drawing/2014/main" val="2010867794"/>
                    </a:ext>
                  </a:extLst>
                </a:gridCol>
                <a:gridCol w="2984428">
                  <a:extLst>
                    <a:ext uri="{9D8B030D-6E8A-4147-A177-3AD203B41FA5}">
                      <a16:colId xmlns:a16="http://schemas.microsoft.com/office/drawing/2014/main" val="2922858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형태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위험</a:t>
                      </a:r>
                      <a:endParaRPr lang="ko-KR" sz="32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28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주 구현 계층 + 인터페이스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비교적 단순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3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상태 기반 클래스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이름 충돌, 상태 중복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076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다이아몬드 구조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부분 중복, 초기화 복잡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926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9508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F38A-3F7E-3961-DC2E-D3E5A687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64B2F-A474-5232-D6CD-9031F9B1E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8.9.2 </a:t>
            </a:r>
            <a:r>
              <a:rPr lang="ko-KR" altLang="en-US" dirty="0"/>
              <a:t>이름 충돌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F412C3-A431-2F58-5195-DFB65BC86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둘 이상의 기반 클래스에 같은 이름의 멤버가 있으면 모호성 발생</a:t>
            </a:r>
          </a:p>
          <a:p>
            <a:pPr lvl="0"/>
            <a:r>
              <a:rPr lang="ko-KR" altLang="ko-KR" sz="2400" dirty="0"/>
              <a:t>범위를 명시하거나 파생 클래스에서 의미를 통합</a:t>
            </a:r>
            <a:endParaRPr lang="en-US" altLang="ko-KR" sz="2400" dirty="0"/>
          </a:p>
          <a:p>
            <a:pPr lvl="0"/>
            <a:r>
              <a:rPr lang="ko-KR" altLang="ko-KR" sz="2400" dirty="0"/>
              <a:t>이름 충돌이 잦으면 인터페이스 책임이 겹치는지 검토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762E6-3A25-37A8-4C33-20D2FEAE0D13}"/>
              </a:ext>
            </a:extLst>
          </p:cNvPr>
          <p:cNvSpPr txBox="1"/>
          <p:nvPr/>
        </p:nvSpPr>
        <p:spPr>
          <a:xfrm>
            <a:off x="539750" y="2397948"/>
            <a:ext cx="6408514" cy="206210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IRenderable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</a:t>
            </a:r>
            <a:r>
              <a:rPr lang="ko-KR" altLang="ko-KR" sz="16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600" b="1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boss.Reset</a:t>
            </a:r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    // 오류: 어느 기반 함수인지 모호함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BFD414-7714-91C5-3F4A-474CCBBEB5CD}"/>
              </a:ext>
            </a:extLst>
          </p:cNvPr>
          <p:cNvSpPr txBox="1"/>
          <p:nvPr/>
        </p:nvSpPr>
        <p:spPr>
          <a:xfrm>
            <a:off x="530968" y="4631501"/>
            <a:ext cx="6420007" cy="830997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600" b="1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en-US" sz="1600" b="1" i="1" dirty="0">
                <a:solidFill>
                  <a:srgbClr val="A0A1A7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명시적 호출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boss.IRenderable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Reset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boss.ISavable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6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Reset</a:t>
            </a:r>
            <a:r>
              <a:rPr lang="ko-KR" altLang="ko-KR" sz="16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endParaRPr lang="ko-KR" altLang="en-US" sz="36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8188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A197-5A39-4179-F5CC-88DF401C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3EB5C-DFF8-F493-6DF2-4ABD89C39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8.9.3 </a:t>
            </a:r>
            <a:r>
              <a:rPr lang="ko-KR" altLang="en-US" dirty="0"/>
              <a:t>다이아몬드 상속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6C57C3-BE1E-722A-DD1D-4842BAC18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두 기반 클래스가 같은 상위 기반 클래스를 상속</a:t>
            </a:r>
          </a:p>
          <a:p>
            <a:pPr lvl="0"/>
            <a:r>
              <a:rPr lang="ko-KR" altLang="ko-KR" dirty="0"/>
              <a:t>하나의 파생 클래스가 두 기반 클래스를 모두 상속</a:t>
            </a:r>
          </a:p>
          <a:p>
            <a:pPr lvl="0"/>
            <a:r>
              <a:rPr lang="ko-KR" altLang="ko-KR" dirty="0"/>
              <a:t>최상위 기반 부분이 두 개 생길 수 있음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C885C-A4B4-2D39-0E3B-8C9A19D2415E}"/>
              </a:ext>
            </a:extLst>
          </p:cNvPr>
          <p:cNvSpPr txBox="1"/>
          <p:nvPr/>
        </p:nvSpPr>
        <p:spPr>
          <a:xfrm>
            <a:off x="539750" y="2420888"/>
            <a:ext cx="4572000" cy="332398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EF8A0DD-9BA0-E558-B045-F12238063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569867"/>
              </p:ext>
            </p:extLst>
          </p:nvPr>
        </p:nvGraphicFramePr>
        <p:xfrm>
          <a:off x="5122366" y="4869160"/>
          <a:ext cx="3050034" cy="1342554"/>
        </p:xfrm>
        <a:graphic>
          <a:graphicData uri="http://schemas.openxmlformats.org/drawingml/2006/table">
            <a:tbl>
              <a:tblPr/>
              <a:tblGrid>
                <a:gridCol w="3050034">
                  <a:extLst>
                    <a:ext uri="{9D8B030D-6E8A-4147-A177-3AD203B41FA5}">
                      <a16:colId xmlns:a16="http://schemas.microsoft.com/office/drawing/2014/main" val="199643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NetworkCharacter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객체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│  └─ GameObject 부분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NetworkObject</a:t>
                      </a: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 부분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</a:rPr>
                        <a:t>  └─ GameObject 부분</a:t>
                      </a:r>
                      <a:endParaRPr lang="ko-KR" sz="2800" b="1" dirty="0">
                        <a:effectLst/>
                        <a:latin typeface="Consolas" panose="020B0609020204030204" pitchFamily="49" charset="0"/>
                      </a:endParaRPr>
                    </a:p>
                  </a:txBody>
                  <a:tcPr marL="216000" marR="216000" marT="108000" marB="108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925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0DF490-2008-4D9F-AA6C-18F446DE643B}"/>
              </a:ext>
            </a:extLst>
          </p:cNvPr>
          <p:cNvSpPr txBox="1"/>
          <p:nvPr/>
        </p:nvSpPr>
        <p:spPr>
          <a:xfrm>
            <a:off x="539750" y="5858108"/>
            <a:ext cx="4572000" cy="523220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object.GetId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 // 오류: 모호함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60830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371F-247A-D427-7915-85F45A106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2C6797-0272-951A-89A0-18B200D75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8.9.4 </a:t>
            </a:r>
            <a:r>
              <a:rPr lang="ko-KR" altLang="en-US" dirty="0"/>
              <a:t>가상 상속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570AEE-B05C-1A59-3D94-84325FB10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다이아몬드 구조에서 최상위 기반 클래스 부분을 하나만 공유</a:t>
            </a:r>
          </a:p>
          <a:p>
            <a:pPr lvl="0"/>
            <a:r>
              <a:rPr lang="en-US" altLang="ko-KR" sz="2400" dirty="0">
                <a:solidFill>
                  <a:srgbClr val="0000FF"/>
                </a:solidFill>
              </a:rPr>
              <a:t>virtual</a:t>
            </a:r>
            <a:r>
              <a:rPr lang="en-US" altLang="ko-KR" sz="2400" dirty="0"/>
              <a:t> </a:t>
            </a:r>
            <a:r>
              <a:rPr lang="ko-KR" altLang="en-US" sz="2400" dirty="0"/>
              <a:t>을</a:t>
            </a:r>
            <a:r>
              <a:rPr lang="en-US" altLang="ko-KR" sz="2400" dirty="0"/>
              <a:t> </a:t>
            </a:r>
            <a:r>
              <a:rPr lang="ko-KR" altLang="en-US" sz="2400" dirty="0"/>
              <a:t>추가</a:t>
            </a:r>
            <a:r>
              <a:rPr lang="en-US" altLang="ko-KR" sz="2400" dirty="0"/>
              <a:t>, </a:t>
            </a:r>
            <a:r>
              <a:rPr lang="ko-KR" altLang="ko-KR" sz="2400" dirty="0"/>
              <a:t>기반 부분 중복을 해결</a:t>
            </a:r>
          </a:p>
          <a:p>
            <a:pPr lvl="0"/>
            <a:r>
              <a:rPr lang="ko-KR" altLang="ko-KR" sz="2400" dirty="0"/>
              <a:t>객체 배치, 초기화, 접근 비용은 더 복잡해질 수 있음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E5FBBD-0C63-01A1-F43A-5D90D159C137}"/>
              </a:ext>
            </a:extLst>
          </p:cNvPr>
          <p:cNvSpPr txBox="1"/>
          <p:nvPr/>
        </p:nvSpPr>
        <p:spPr>
          <a:xfrm>
            <a:off x="539750" y="2208346"/>
            <a:ext cx="6120482" cy="2585323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8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8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26421-CEEB-8BF6-2FCF-1127A30FF869}"/>
              </a:ext>
            </a:extLst>
          </p:cNvPr>
          <p:cNvSpPr txBox="1"/>
          <p:nvPr/>
        </p:nvSpPr>
        <p:spPr>
          <a:xfrm>
            <a:off x="568299" y="4996333"/>
            <a:ext cx="2563541" cy="1384995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구성으로 대체 가능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NetworkComponent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Replicate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966373-DD84-3712-C0AB-A0E17CD9F594}"/>
              </a:ext>
            </a:extLst>
          </p:cNvPr>
          <p:cNvSpPr txBox="1"/>
          <p:nvPr/>
        </p:nvSpPr>
        <p:spPr>
          <a:xfrm>
            <a:off x="3143250" y="5211777"/>
            <a:ext cx="3516982" cy="1169551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NetworkComponent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22552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EA975-3D89-BB3A-1E49-810FEEAA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6F39F-D6AB-F351-8AA9-BE66FF63E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8.9.5 </a:t>
            </a:r>
            <a:r>
              <a:rPr lang="ko-KR" altLang="en-US" dirty="0"/>
              <a:t>가상 기반 클래스 초기화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E24CDB-390C-BD23-FDEB-C69A39626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가상 기반 클래스는 가장 구체적인 파생 클래스가 직접 초기화</a:t>
            </a:r>
          </a:p>
          <a:p>
            <a:pPr lvl="0"/>
            <a:r>
              <a:rPr lang="ko-KR" altLang="ko-KR" sz="2400" dirty="0"/>
              <a:t>중간 클래스의 가상 기반 초기화 지정은 최종 객체 생성에서는 사용되지 않을 수 있음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0DDD670-EF2B-3FE3-64AE-0209980E8F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521951"/>
              </p:ext>
            </p:extLst>
          </p:nvPr>
        </p:nvGraphicFramePr>
        <p:xfrm>
          <a:off x="569838" y="2060848"/>
          <a:ext cx="7272808" cy="1795168"/>
        </p:xfrm>
        <a:graphic>
          <a:graphicData uri="http://schemas.openxmlformats.org/drawingml/2006/table">
            <a:tbl>
              <a:tblPr/>
              <a:tblGrid>
                <a:gridCol w="1960496">
                  <a:extLst>
                    <a:ext uri="{9D8B030D-6E8A-4147-A177-3AD203B41FA5}">
                      <a16:colId xmlns:a16="http://schemas.microsoft.com/office/drawing/2014/main" val="2291705448"/>
                    </a:ext>
                  </a:extLst>
                </a:gridCol>
                <a:gridCol w="5312312">
                  <a:extLst>
                    <a:ext uri="{9D8B030D-6E8A-4147-A177-3AD203B41FA5}">
                      <a16:colId xmlns:a16="http://schemas.microsoft.com/office/drawing/2014/main" val="88400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항목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Pretendard ExtraBold" panose="02000903000000020004" pitchFamily="50" charset="-127"/>
                        </a:rPr>
                        <a:t>규칙</a:t>
                      </a:r>
                      <a:endParaRPr lang="ko-KR" sz="3600" dirty="0">
                        <a:effectLst/>
                        <a:latin typeface="+mn-ea"/>
                        <a:ea typeface="+mn-ea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93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초기화 책임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가장 구체적인 파생 클래스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004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생성 순서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가상 기반 → 일반 기반 → 멤버 → 생성자 본문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9104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중복 기반 부분</a:t>
                      </a:r>
                      <a:endParaRPr lang="ko-KR" sz="360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하나만 존재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10721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3B82E68-B7A2-F45B-26C7-65EC25E0F0B2}"/>
              </a:ext>
            </a:extLst>
          </p:cNvPr>
          <p:cNvSpPr txBox="1"/>
          <p:nvPr/>
        </p:nvSpPr>
        <p:spPr>
          <a:xfrm>
            <a:off x="567184" y="4027466"/>
            <a:ext cx="4940920" cy="203132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GameObject(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(),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7CB7B0-5004-F181-22C0-86CDC60BBCEA}"/>
              </a:ext>
            </a:extLst>
          </p:cNvPr>
          <p:cNvSpPr txBox="1"/>
          <p:nvPr/>
        </p:nvSpPr>
        <p:spPr>
          <a:xfrm>
            <a:off x="3166852" y="5656243"/>
            <a:ext cx="5869644" cy="954107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NetworkCharacter가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가장 구체적인 파생 클래스이므로 가상 기반 클래스 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GameObject를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직접 초기화</a:t>
            </a:r>
          </a:p>
          <a:p>
            <a:pPr marL="342900" lvl="0" indent="-342900" rtl="0" fontAlgn="base">
              <a:buFont typeface="Arial" panose="020B0604020202020204" pitchFamily="34" charset="0"/>
              <a:buChar char="•"/>
            </a:pP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0" i="0" u="none" strike="noStrike" dirty="0" err="1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NetworkObject에서</a:t>
            </a:r>
            <a:r>
              <a:rPr lang="ko-KR" altLang="ko-KR" sz="1400" b="0" i="0" u="none" strike="noStrike" dirty="0">
                <a:solidFill>
                  <a:srgbClr val="000000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지정한 GameObject 초기화보다 GameObject(100)이 적용됨</a:t>
            </a:r>
          </a:p>
        </p:txBody>
      </p:sp>
    </p:spTree>
    <p:extLst>
      <p:ext uri="{BB962C8B-B14F-4D97-AF65-F5344CB8AC3E}">
        <p14:creationId xmlns:p14="http://schemas.microsoft.com/office/powerpoint/2010/main" val="938987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05D40-E852-292A-B6AC-02BE1D885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73CE9-80FB-618B-CB7C-08392540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8.9.6 </a:t>
            </a:r>
            <a:r>
              <a:rPr lang="ko-KR" altLang="en-US" dirty="0"/>
              <a:t>인터페이스 다중 상속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E401CC-7AEA-3EEA-AD75-1AC9B370F8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상태와 구현을 가진 여러 클래스를 상속하면 복잡도 증가</a:t>
            </a:r>
          </a:p>
          <a:p>
            <a:pPr lvl="0"/>
            <a:r>
              <a:rPr lang="ko-KR" altLang="ko-KR" sz="2400" dirty="0">
                <a:solidFill>
                  <a:srgbClr val="0000FF"/>
                </a:solidFill>
              </a:rPr>
              <a:t>작은 인터페이스 여러 개를 구현</a:t>
            </a:r>
            <a:r>
              <a:rPr lang="ko-KR" altLang="ko-KR" sz="2400" dirty="0"/>
              <a:t>하는 방식은 비교적 안전</a:t>
            </a:r>
          </a:p>
          <a:p>
            <a:pPr lvl="0"/>
            <a:r>
              <a:rPr lang="ko-KR" altLang="ko-KR" sz="2400" dirty="0">
                <a:solidFill>
                  <a:srgbClr val="0070C0"/>
                </a:solidFill>
              </a:rPr>
              <a:t>호출 코드는 필요한 역할에만 의존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10929-C1BC-E1DB-9FA4-706876E825A0}"/>
              </a:ext>
            </a:extLst>
          </p:cNvPr>
          <p:cNvSpPr txBox="1"/>
          <p:nvPr/>
        </p:nvSpPr>
        <p:spPr>
          <a:xfrm>
            <a:off x="323528" y="2361555"/>
            <a:ext cx="4824536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0CA9D-4CDE-5AE3-B5CD-9444FD376CB6}"/>
              </a:ext>
            </a:extLst>
          </p:cNvPr>
          <p:cNvSpPr txBox="1"/>
          <p:nvPr/>
        </p:nvSpPr>
        <p:spPr>
          <a:xfrm>
            <a:off x="323528" y="3945731"/>
            <a:ext cx="4824536" cy="1384995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ITargetable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ITargetable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CanBeTargeted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EB2813-7FEC-AA6D-58D1-627BCC46EF28}"/>
              </a:ext>
            </a:extLst>
          </p:cNvPr>
          <p:cNvSpPr txBox="1"/>
          <p:nvPr/>
        </p:nvSpPr>
        <p:spPr>
          <a:xfrm>
            <a:off x="4242023" y="4638228"/>
            <a:ext cx="4824536" cy="1815882"/>
          </a:xfrm>
          <a:prstGeom prst="rect">
            <a:avLst/>
          </a:prstGeom>
          <a:solidFill>
            <a:schemeClr val="bg1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ISavable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    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ITargetable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Save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ostream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output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bool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CanBeTargeted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39646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2DB92-CCD9-DEBD-BD66-3021E6F93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193FC-4327-0646-AA01-F00C15BD9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8.10 </a:t>
            </a:r>
            <a:r>
              <a:rPr lang="ko-KR" altLang="en-US" dirty="0"/>
              <a:t>상속과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265A4D-2BB8-3DC8-AB8D-59AC15D61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상속은 </a:t>
            </a:r>
            <a:r>
              <a:rPr lang="ko-KR" altLang="ko-KR" sz="2400" dirty="0" err="1"/>
              <a:t>is-a</a:t>
            </a:r>
            <a:r>
              <a:rPr lang="ko-KR" altLang="ko-KR" sz="2400" dirty="0"/>
              <a:t> 관계</a:t>
            </a:r>
          </a:p>
          <a:p>
            <a:pPr lvl="0"/>
            <a:r>
              <a:rPr lang="ko-KR" altLang="ko-KR" sz="2400" dirty="0"/>
              <a:t>구성은 </a:t>
            </a:r>
            <a:r>
              <a:rPr lang="ko-KR" altLang="ko-KR" sz="2400" dirty="0" err="1"/>
              <a:t>has-a</a:t>
            </a:r>
            <a:r>
              <a:rPr lang="ko-KR" altLang="ko-KR" sz="2400" dirty="0"/>
              <a:t> 관계</a:t>
            </a:r>
          </a:p>
          <a:p>
            <a:pPr lvl="0"/>
            <a:r>
              <a:rPr lang="ko-KR" altLang="ko-KR" sz="2400" dirty="0"/>
              <a:t>두 방식은 코드 재사용 수단이 아니라 객체 관계와 책임 설계의 선택</a:t>
            </a:r>
          </a:p>
          <a:p>
            <a:endParaRPr lang="ko-KR" altLang="en-US" sz="24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5A3371-DB82-2A3C-F254-013E8130E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09302"/>
              </p:ext>
            </p:extLst>
          </p:nvPr>
        </p:nvGraphicFramePr>
        <p:xfrm>
          <a:off x="611560" y="4797152"/>
          <a:ext cx="3096146" cy="1507200"/>
        </p:xfrm>
        <a:graphic>
          <a:graphicData uri="http://schemas.openxmlformats.org/drawingml/2006/table">
            <a:tbl>
              <a:tblPr/>
              <a:tblGrid>
                <a:gridCol w="3096146">
                  <a:extLst>
                    <a:ext uri="{9D8B030D-6E8A-4147-A177-3AD203B41FA5}">
                      <a16:colId xmlns:a16="http://schemas.microsoft.com/office/drawing/2014/main" val="1041707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상속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is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Monster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is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Character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</a:t>
                      </a:r>
                      <a:endParaRPr lang="ko-KR" sz="36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53145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3AF5AF7-1EC2-1AA0-6723-40524004F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94957"/>
              </p:ext>
            </p:extLst>
          </p:nvPr>
        </p:nvGraphicFramePr>
        <p:xfrm>
          <a:off x="3923928" y="4797152"/>
          <a:ext cx="4320480" cy="1812000"/>
        </p:xfrm>
        <a:graphic>
          <a:graphicData uri="http://schemas.openxmlformats.org/drawingml/2006/table">
            <a:tbl>
              <a:tblPr/>
              <a:tblGrid>
                <a:gridCol w="4320480">
                  <a:extLst>
                    <a:ext uri="{9D8B030D-6E8A-4147-A177-3AD203B41FA5}">
                      <a16:colId xmlns:a16="http://schemas.microsoft.com/office/drawing/2014/main" val="930393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구성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has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an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Inventory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Player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has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Weapon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</a:t>
                      </a:r>
                      <a:b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BossMonster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has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a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BossPhaseController</a:t>
                      </a:r>
                      <a:r>
                        <a:rPr lang="ko-KR" sz="2000" b="0" i="0" u="none" strike="noStrike" dirty="0">
                          <a:solidFill>
                            <a:srgbClr val="383A42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.</a:t>
                      </a:r>
                      <a:endParaRPr lang="ko-KR" sz="2000" dirty="0"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67730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921760B-8C50-0991-D122-42650D417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624981"/>
              </p:ext>
            </p:extLst>
          </p:nvPr>
        </p:nvGraphicFramePr>
        <p:xfrm>
          <a:off x="539750" y="2204864"/>
          <a:ext cx="7704658" cy="2243960"/>
        </p:xfrm>
        <a:graphic>
          <a:graphicData uri="http://schemas.openxmlformats.org/drawingml/2006/table">
            <a:tbl>
              <a:tblPr/>
              <a:tblGrid>
                <a:gridCol w="1073206">
                  <a:extLst>
                    <a:ext uri="{9D8B030D-6E8A-4147-A177-3AD203B41FA5}">
                      <a16:colId xmlns:a16="http://schemas.microsoft.com/office/drawing/2014/main" val="3272623606"/>
                    </a:ext>
                  </a:extLst>
                </a:gridCol>
                <a:gridCol w="3091474">
                  <a:extLst>
                    <a:ext uri="{9D8B030D-6E8A-4147-A177-3AD203B41FA5}">
                      <a16:colId xmlns:a16="http://schemas.microsoft.com/office/drawing/2014/main" val="1859468724"/>
                    </a:ext>
                  </a:extLst>
                </a:gridCol>
                <a:gridCol w="3539978">
                  <a:extLst>
                    <a:ext uri="{9D8B030D-6E8A-4147-A177-3AD203B41FA5}">
                      <a16:colId xmlns:a16="http://schemas.microsoft.com/office/drawing/2014/main" val="16871397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관계</a:t>
                      </a:r>
                      <a:endParaRPr lang="ko-KR" sz="3600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C++ 표현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의미</a:t>
                      </a:r>
                      <a:endParaRPr lang="ko-KR" sz="3600" b="1" dirty="0"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63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is-a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public</a:t>
                      </a: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상속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타입으로 대체 가능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161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has-a</a:t>
                      </a:r>
                      <a:endParaRPr lang="ko-KR" sz="360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00FF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멤버 객체</a:t>
                      </a:r>
                      <a:endParaRPr lang="ko-KR" sz="3600" dirty="0">
                        <a:solidFill>
                          <a:srgbClr val="0000FF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객체가 기능이나 상태를 가짐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6940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uses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참조, 포인터, 매개변수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일시적 사용 또는 비</a:t>
                      </a:r>
                      <a:r>
                        <a:rPr lang="en-US" alt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소유 접근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63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owns</a:t>
                      </a:r>
                      <a:endParaRPr lang="ko-KR" sz="360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값, </a:t>
                      </a:r>
                      <a:r>
                        <a:rPr lang="ko-KR" sz="2000" b="0" i="0" u="none" strike="noStrike" dirty="0" err="1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unique_ptr</a:t>
                      </a: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, 컨테이너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수명 책임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574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20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525C-3B74-3EDA-B6E8-A03C7FB79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A5CC4-1F72-C08C-27F8-8B9A5320C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8.10.1 has-a </a:t>
            </a:r>
            <a:r>
              <a:rPr lang="ko-KR" altLang="en-US" dirty="0"/>
              <a:t>관계와 구성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47C1B2-DF86-47F1-AEAA-3EBA99479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구성 객체는 자신의 상태와 규칙을 관리</a:t>
            </a:r>
          </a:p>
          <a:p>
            <a:pPr lvl="0"/>
            <a:r>
              <a:rPr lang="ko-KR" altLang="ko-KR" dirty="0"/>
              <a:t>필요한 기능만 외부에 제공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FCE96-9AA5-54EE-2758-4F22C6D825AB}"/>
              </a:ext>
            </a:extLst>
          </p:cNvPr>
          <p:cNvSpPr txBox="1"/>
          <p:nvPr/>
        </p:nvSpPr>
        <p:spPr>
          <a:xfrm>
            <a:off x="539750" y="1844824"/>
            <a:ext cx="3600202" cy="4401205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items.push_back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vector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cout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&lt;&lt; 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\</a:t>
            </a:r>
            <a:r>
              <a:rPr lang="ko-KR" altLang="ko-KR" sz="1400" b="0" i="0" u="none" strike="noStrike" dirty="0" err="1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</a:t>
            </a:r>
            <a:r>
              <a:rPr lang="ko-KR" altLang="ko-KR" sz="1400" b="0" i="0" u="none" strike="noStrike" dirty="0">
                <a:solidFill>
                  <a:srgbClr val="50A14F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"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D8382-6303-8466-01BB-21C2AD80C99F}"/>
              </a:ext>
            </a:extLst>
          </p:cNvPr>
          <p:cNvSpPr txBox="1"/>
          <p:nvPr/>
        </p:nvSpPr>
        <p:spPr>
          <a:xfrm>
            <a:off x="4430935" y="1832273"/>
            <a:ext cx="3957489" cy="3754874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AddItem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inventory.AddItem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itemId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weapon.Attack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inventory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weapon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3902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BD6CE-1062-953D-F524-7965A846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AC8F17-47F3-4155-DFC5-30600B260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8.10.2 </a:t>
            </a:r>
            <a:r>
              <a:rPr lang="ko-KR" altLang="en-US" dirty="0"/>
              <a:t>위임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FB5405-CDA3-49E3-BE9C-9DE5FEAD8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객체가 자신이 가진 다른 객체에 작업을 맡기는 것</a:t>
            </a:r>
          </a:p>
          <a:p>
            <a:pPr lvl="0"/>
            <a:r>
              <a:rPr lang="ko-KR" altLang="ko-KR" dirty="0"/>
              <a:t>기능을 독립된 구성 요소로 분리 가능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1DD56-3233-24DC-936A-D97169BA8C0E}"/>
              </a:ext>
            </a:extLst>
          </p:cNvPr>
          <p:cNvSpPr txBox="1"/>
          <p:nvPr/>
        </p:nvSpPr>
        <p:spPr>
          <a:xfrm>
            <a:off x="467544" y="1916832"/>
            <a:ext cx="3888432" cy="2462213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90B4E-012A-275A-90AE-E0C363AB7AD8}"/>
              </a:ext>
            </a:extLst>
          </p:cNvPr>
          <p:cNvSpPr txBox="1"/>
          <p:nvPr/>
        </p:nvSpPr>
        <p:spPr>
          <a:xfrm>
            <a:off x="4572000" y="1900759"/>
            <a:ext cx="3888432" cy="4616648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health.TakeDamage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health.GetHp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48914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4DD2E-05DE-E2AB-F302-7DF29BD8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2886F-5E79-2F57-FB59-695DE3459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8.10.3 </a:t>
            </a:r>
            <a:r>
              <a:rPr lang="ko-KR" altLang="en-US" dirty="0"/>
              <a:t>상속의 결합도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955C3-F265-FCB4-41CA-0071E934F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파생 클래스는 기반 클래스의 인터페이스, 초기화 규칙, 수명에 의존</a:t>
            </a:r>
          </a:p>
          <a:p>
            <a:pPr lvl="0"/>
            <a:r>
              <a:rPr lang="ko-KR" altLang="ko-KR" sz="2400" dirty="0" err="1">
                <a:solidFill>
                  <a:srgbClr val="0000FF"/>
                </a:solidFill>
              </a:rPr>
              <a:t>protected</a:t>
            </a:r>
            <a:r>
              <a:rPr lang="ko-KR" altLang="ko-KR" sz="2400" dirty="0"/>
              <a:t> 데이터에 직접 접근하면 내부 표현에도 의존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63D17A-E95E-F296-944D-23952A64A23E}"/>
              </a:ext>
            </a:extLst>
          </p:cNvPr>
          <p:cNvSpPr txBox="1"/>
          <p:nvPr/>
        </p:nvSpPr>
        <p:spPr>
          <a:xfrm>
            <a:off x="395536" y="1792505"/>
            <a:ext cx="4176464" cy="1815882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RecoverHalfHp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+=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 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Character의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저장 방식에 직접 의존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4EC7ED-D811-A99F-0FAB-93D7DEDBBCD2}"/>
              </a:ext>
            </a:extLst>
          </p:cNvPr>
          <p:cNvSpPr txBox="1"/>
          <p:nvPr/>
        </p:nvSpPr>
        <p:spPr>
          <a:xfrm>
            <a:off x="4752528" y="1792505"/>
            <a:ext cx="3995936" cy="4185761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// </a:t>
            </a:r>
            <a:r>
              <a:rPr lang="ko-KR" altLang="ko-KR" sz="1400" b="0" i="1" u="none" strike="noStrike" dirty="0" err="1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Character의</a:t>
            </a:r>
            <a:r>
              <a:rPr lang="ko-KR" altLang="ko-KR" sz="1400" b="0" i="1" u="none" strike="noStrike" dirty="0">
                <a:solidFill>
                  <a:srgbClr val="A0A1A7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저장 방식에 직접 의존</a:t>
            </a:r>
            <a:endParaRPr lang="ko-KR" altLang="ko-KR" sz="1400" b="0" dirty="0">
              <a:effectLst/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rtl="0">
              <a:buNone/>
            </a:pP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amount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RecoverHalfHp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Recover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50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14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83754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65BC6-0CD9-CACB-0C2E-7079D0E1C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003B4-D8B1-26D7-B4BF-6FDD774A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8.10.4 </a:t>
            </a:r>
            <a:r>
              <a:rPr lang="ko-KR" altLang="en-US" dirty="0"/>
              <a:t>상속보다 구성을 우선하는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3A1418-6AA0-6380-29B0-B50200B5A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실행 중 구성 요소 교체 가능</a:t>
            </a:r>
          </a:p>
          <a:p>
            <a:pPr lvl="0"/>
            <a:r>
              <a:rPr lang="ko-KR" altLang="ko-KR" sz="2400" dirty="0"/>
              <a:t>기능 조합 때문에 파생 클래스 수가 늘어나는 문제 감소</a:t>
            </a:r>
          </a:p>
          <a:p>
            <a:pPr lvl="0"/>
            <a:r>
              <a:rPr lang="ko-KR" altLang="ko-KR" sz="2400" dirty="0"/>
              <a:t>기반 구현 변경의 영향 제한</a:t>
            </a:r>
          </a:p>
          <a:p>
            <a:pPr lvl="0"/>
            <a:r>
              <a:rPr lang="ko-KR" altLang="ko-KR" sz="2400" dirty="0"/>
              <a:t>각 구성 요소를 독립적으로 테스트 가능</a:t>
            </a:r>
          </a:p>
          <a:p>
            <a:endParaRPr lang="ko-KR" alt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721644-7910-1228-3764-8038942ED5B3}"/>
              </a:ext>
            </a:extLst>
          </p:cNvPr>
          <p:cNvSpPr txBox="1"/>
          <p:nvPr/>
        </p:nvSpPr>
        <p:spPr>
          <a:xfrm>
            <a:off x="539750" y="2521029"/>
            <a:ext cx="5328394" cy="1384995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IMobBehavior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~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IMobBehavior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default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7D2AEA-9E08-74F0-9FD3-1CDC33F20D27}"/>
              </a:ext>
            </a:extLst>
          </p:cNvPr>
          <p:cNvSpPr txBox="1"/>
          <p:nvPr/>
        </p:nvSpPr>
        <p:spPr>
          <a:xfrm>
            <a:off x="539750" y="3904481"/>
            <a:ext cx="5328394" cy="2893100"/>
          </a:xfrm>
          <a:prstGeom prst="rect">
            <a:avLst/>
          </a:prstGeom>
          <a:solidFill>
            <a:srgbClr val="FAFAFA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explicit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IMobBehavior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)){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-&gt;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IMobBehavior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behavior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BB692EE-5C48-86A4-DE56-27BD65DBA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77307"/>
              </p:ext>
            </p:extLst>
          </p:nvPr>
        </p:nvGraphicFramePr>
        <p:xfrm>
          <a:off x="5652120" y="3390900"/>
          <a:ext cx="2808312" cy="2087590"/>
        </p:xfrm>
        <a:graphic>
          <a:graphicData uri="http://schemas.openxmlformats.org/drawingml/2006/table">
            <a:tbl>
              <a:tblPr/>
              <a:tblGrid>
                <a:gridCol w="2808312">
                  <a:extLst>
                    <a:ext uri="{9D8B030D-6E8A-4147-A177-3AD203B41FA5}">
                      <a16:colId xmlns:a16="http://schemas.microsoft.com/office/drawing/2014/main" val="1481852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상속으로 행동 분류</a:t>
                      </a:r>
                      <a:endParaRPr lang="ko-KR" sz="1600" b="1" dirty="0">
                        <a:effectLst/>
                        <a:latin typeface="Consolas" panose="020B0609020204030204" pitchFamily="49" charset="0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  <a:p>
                      <a:pPr rtl="0" fontAlgn="t">
                        <a:lnSpc>
                          <a:spcPct val="92000"/>
                        </a:lnSpc>
                        <a:buNone/>
                      </a:pP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MobBase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PatrolMonster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ChaseMonster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RangedMonster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├─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PatrolRangedMonster</a:t>
                      </a:r>
                      <a:b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</a:br>
                      <a:r>
                        <a:rPr lang="ko-KR" sz="1600" b="1" i="0" u="none" strike="noStrike" dirty="0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└─ </a:t>
                      </a:r>
                      <a:r>
                        <a:rPr lang="ko-KR" sz="1600" b="1" i="0" u="none" strike="noStrike" dirty="0" err="1">
                          <a:solidFill>
                            <a:srgbClr val="383A42"/>
                          </a:solidFill>
                          <a:effectLst/>
                          <a:latin typeface="Consolas" panose="020B0609020204030204" pitchFamily="49" charset="0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ChaseRangedMonster</a:t>
                      </a:r>
                      <a:endParaRPr lang="ko-KR" sz="1600" b="1" dirty="0">
                        <a:effectLst/>
                        <a:latin typeface="Consolas" panose="020B0609020204030204" pitchFamily="49" charset="0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216000" marR="216000" marT="144000" marB="144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705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2224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BC91C-109C-3CEC-4F5F-DFAF6A8DA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2123B6-761F-2C4E-9BC6-CF035AE29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8.10.5 </a:t>
            </a:r>
            <a:r>
              <a:rPr lang="ko-KR" altLang="en-US" dirty="0"/>
              <a:t>상속이 필요한 경우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83B093-9F4E-4130-8440-F1279DEEE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공개적인 타입 관계와 동적 대체가 필요하면 상속이 적합</a:t>
            </a:r>
          </a:p>
          <a:p>
            <a:pPr lvl="0"/>
            <a:r>
              <a:rPr lang="ko-KR" altLang="ko-KR" dirty="0"/>
              <a:t>구체 타입을 몰라도 공통 인터페이스로 처리해야 하는 구조</a:t>
            </a:r>
          </a:p>
          <a:p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DB7A0E8-1F3D-E946-969E-76622C74C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854712"/>
              </p:ext>
            </p:extLst>
          </p:nvPr>
        </p:nvGraphicFramePr>
        <p:xfrm>
          <a:off x="539750" y="1988840"/>
          <a:ext cx="7488634" cy="3744414"/>
        </p:xfrm>
        <a:graphic>
          <a:graphicData uri="http://schemas.openxmlformats.org/drawingml/2006/table">
            <a:tbl>
              <a:tblPr/>
              <a:tblGrid>
                <a:gridCol w="3998692">
                  <a:extLst>
                    <a:ext uri="{9D8B030D-6E8A-4147-A177-3AD203B41FA5}">
                      <a16:colId xmlns:a16="http://schemas.microsoft.com/office/drawing/2014/main" val="3661130507"/>
                    </a:ext>
                  </a:extLst>
                </a:gridCol>
                <a:gridCol w="3489942">
                  <a:extLst>
                    <a:ext uri="{9D8B030D-6E8A-4147-A177-3AD203B41FA5}">
                      <a16:colId xmlns:a16="http://schemas.microsoft.com/office/drawing/2014/main" val="2346904258"/>
                    </a:ext>
                  </a:extLst>
                </a:gridCol>
              </a:tblGrid>
              <a:tr h="6240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70C0"/>
                          </a:solidFill>
                          <a:effectLst/>
                          <a:latin typeface="Arial" panose="020B0604020202020204" pitchFamily="34" charset="0"/>
                        </a:rPr>
                        <a:t>상속이 적합한 경우</a:t>
                      </a:r>
                      <a:endParaRPr lang="ko-KR" sz="3600" b="1" dirty="0">
                        <a:solidFill>
                          <a:srgbClr val="0070C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1" i="0" u="none" strike="noStrike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</a:rPr>
                        <a:t>구성이 적합한 경우</a:t>
                      </a:r>
                      <a:endParaRPr lang="ko-KR" sz="3600" b="1" dirty="0">
                        <a:solidFill>
                          <a:srgbClr val="002060"/>
                        </a:solidFill>
                        <a:effectLst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2992652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파생 객체가 기반 객체의 한 종류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객체가 다른 기능 객체를 소유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43709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공통 인터페이스로 여러 구체 타입 처리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기능을 실행 중 교체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88865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클래스 계약이 안정적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여러 기능의 조합 필요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963231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동적 바인딩 필요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타입 관계보다 구현 재사용이 목적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607330"/>
                  </a:ext>
                </a:extLst>
              </a:tr>
              <a:tr h="62406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프레임워크 확장 지점</a:t>
                      </a:r>
                      <a:endParaRPr lang="ko-KR" sz="3600" dirty="0">
                        <a:solidFill>
                          <a:srgbClr val="0070C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ko-KR" sz="2000" b="0" i="0" u="none" strike="noStrike" dirty="0">
                          <a:solidFill>
                            <a:srgbClr val="002060"/>
                          </a:solidFill>
                          <a:effectLst/>
                          <a:latin typeface="Pretendard ExtraBold" panose="02000903000000020004" pitchFamily="50" charset="-127"/>
                          <a:ea typeface="Pretendard ExtraBold" panose="02000903000000020004" pitchFamily="50" charset="-127"/>
                          <a:cs typeface="Pretendard ExtraBold" panose="02000903000000020004" pitchFamily="50" charset="-127"/>
                        </a:rPr>
                        <a:t>기반 변경과의 결합을 줄여야 함</a:t>
                      </a:r>
                      <a:endParaRPr lang="ko-KR" sz="3600" dirty="0">
                        <a:solidFill>
                          <a:srgbClr val="002060"/>
                        </a:solidFill>
                        <a:effectLst/>
                        <a:latin typeface="Pretendard ExtraBold" panose="02000903000000020004" pitchFamily="50" charset="-127"/>
                        <a:ea typeface="Pretendard ExtraBold" panose="02000903000000020004" pitchFamily="50" charset="-127"/>
                        <a:cs typeface="Pretendard ExtraBold" panose="02000903000000020004" pitchFamily="50" charset="-127"/>
                      </a:endParaRPr>
                    </a:p>
                  </a:txBody>
                  <a:tcPr marL="71996" marR="71996" marT="71996" marB="71996" anchor="ctr">
                    <a:lnL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761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825153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E2AB3-A7E7-DCA6-514D-6CFD34565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C41921-9F21-7D59-FA43-1DE41AEA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8.11 </a:t>
            </a:r>
            <a:r>
              <a:rPr lang="ko-KR" altLang="en-US" dirty="0"/>
              <a:t>종합 예제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25257-ACC3-15F0-7925-AE5EEFDE9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 err="1"/>
              <a:t>GameScene은</a:t>
            </a:r>
            <a:r>
              <a:rPr lang="ko-KR" altLang="ko-KR" dirty="0"/>
              <a:t> 서로 다른 게임 객체를 고유 소유</a:t>
            </a:r>
          </a:p>
          <a:p>
            <a:pPr lvl="0"/>
            <a:r>
              <a:rPr lang="ko-KR" altLang="ko-KR" dirty="0"/>
              <a:t>컨테이너에는 </a:t>
            </a:r>
            <a:r>
              <a:rPr lang="ko-KR" altLang="ko-KR" dirty="0" err="1"/>
              <a:t>std</a:t>
            </a:r>
            <a:r>
              <a:rPr lang="ko-KR" altLang="ko-KR" dirty="0"/>
              <a:t>::</a:t>
            </a:r>
            <a:r>
              <a:rPr lang="ko-KR" altLang="ko-KR" dirty="0" err="1"/>
              <a:t>unique_ptr</a:t>
            </a:r>
            <a:r>
              <a:rPr lang="ko-KR" altLang="ko-KR" dirty="0"/>
              <a:t>&lt;GameObject&gt; 저장</a:t>
            </a:r>
          </a:p>
          <a:p>
            <a:pPr lvl="0"/>
            <a:r>
              <a:rPr lang="ko-KR" altLang="ko-KR" dirty="0" err="1"/>
              <a:t>GameObject는</a:t>
            </a:r>
            <a:r>
              <a:rPr lang="ko-KR" altLang="ko-KR" dirty="0"/>
              <a:t> 추상 기반 클래스</a:t>
            </a:r>
          </a:p>
          <a:p>
            <a:pPr lvl="0"/>
            <a:r>
              <a:rPr lang="ko-KR" altLang="ko-KR" dirty="0"/>
              <a:t>구체 클래스는 </a:t>
            </a:r>
            <a:r>
              <a:rPr lang="ko-KR" altLang="ko-KR" dirty="0" err="1"/>
              <a:t>Update</a:t>
            </a:r>
            <a:r>
              <a:rPr lang="ko-KR" altLang="ko-KR" dirty="0"/>
              <a:t>(), </a:t>
            </a:r>
            <a:r>
              <a:rPr lang="ko-KR" altLang="ko-KR" dirty="0" err="1"/>
              <a:t>Render</a:t>
            </a:r>
            <a:r>
              <a:rPr lang="ko-KR" altLang="ko-KR" dirty="0"/>
              <a:t>(), </a:t>
            </a:r>
            <a:r>
              <a:rPr lang="ko-KR" altLang="ko-KR" dirty="0" err="1"/>
              <a:t>Clone</a:t>
            </a:r>
            <a:r>
              <a:rPr lang="ko-KR" altLang="ko-KR" dirty="0"/>
              <a:t>() 구현</a:t>
            </a:r>
          </a:p>
          <a:p>
            <a:pPr lvl="0"/>
            <a:r>
              <a:rPr lang="ko-KR" altLang="ko-KR" dirty="0"/>
              <a:t>체력은 </a:t>
            </a:r>
            <a:r>
              <a:rPr lang="ko-KR" altLang="ko-KR" dirty="0" err="1"/>
              <a:t>HealthComponent가</a:t>
            </a:r>
            <a:r>
              <a:rPr lang="ko-KR" altLang="ko-KR" dirty="0"/>
              <a:t> 관리</a:t>
            </a:r>
          </a:p>
          <a:p>
            <a:pPr lvl="0"/>
            <a:r>
              <a:rPr lang="ko-KR" altLang="ko-KR" dirty="0"/>
              <a:t>프레임 시간은 </a:t>
            </a:r>
            <a:r>
              <a:rPr lang="ko-KR" altLang="ko-KR" dirty="0" err="1"/>
              <a:t>GameSystem에서</a:t>
            </a:r>
            <a:r>
              <a:rPr lang="ko-KR" altLang="ko-KR" dirty="0"/>
              <a:t> 조회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11453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D4AA-39B0-4EBB-A3EB-4103132F4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3A7DB-DDE1-6F0A-C0E4-DC442AC9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8.11.2 GameObject </a:t>
            </a:r>
            <a:r>
              <a:rPr lang="ko-KR" altLang="en-US" dirty="0"/>
              <a:t>핵심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8AAE31-1B2B-F73E-453C-7C5F64B5F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dirty="0"/>
              <a:t>직접 객체를 만들 수 없는 추상 클래스</a:t>
            </a:r>
          </a:p>
          <a:p>
            <a:pPr lvl="0"/>
            <a:r>
              <a:rPr lang="ko-KR" altLang="ko-KR" dirty="0"/>
              <a:t>다형 소멸을 위한 가상 </a:t>
            </a:r>
            <a:r>
              <a:rPr lang="ko-KR" altLang="ko-KR" dirty="0" err="1"/>
              <a:t>소멸자</a:t>
            </a:r>
            <a:r>
              <a:rPr lang="ko-KR" altLang="ko-KR" dirty="0"/>
              <a:t> 제공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939126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65959-3A1E-0D28-72CB-7B8BAA4F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7339E-1E14-7D70-FD41-C677B69DB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8.11.3 Character</a:t>
            </a:r>
            <a:r>
              <a:rPr lang="ko-KR" altLang="en-US" dirty="0"/>
              <a:t>와 </a:t>
            </a:r>
            <a:r>
              <a:rPr lang="en-US" altLang="ko-KR" dirty="0"/>
              <a:t>Player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08594-AB1C-F720-F0B2-BB63CB44D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FB161-5121-DC9C-6751-EC272CB21F2C}"/>
              </a:ext>
            </a:extLst>
          </p:cNvPr>
          <p:cNvSpPr txBox="1"/>
          <p:nvPr/>
        </p:nvSpPr>
        <p:spPr>
          <a:xfrm>
            <a:off x="323528" y="692150"/>
            <a:ext cx="5904656" cy="461664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GameObject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string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: GameObject(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,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move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name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)),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maxHp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health.TakeDamage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damage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health.GetHp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HealthComponent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health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BF905B-2996-0C90-971A-36F1AF88CBC1}"/>
              </a:ext>
            </a:extLst>
          </p:cNvPr>
          <p:cNvSpPr txBox="1"/>
          <p:nvPr/>
        </p:nvSpPr>
        <p:spPr>
          <a:xfrm>
            <a:off x="3707904" y="3933056"/>
            <a:ext cx="5220072" cy="2462213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PlayerBase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1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make_unique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</a:t>
            </a:r>
            <a:r>
              <a:rPr lang="ko-KR" altLang="ko-KR" sz="1400" b="1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Player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&gt;(*</a:t>
            </a:r>
            <a:r>
              <a:rPr lang="ko-KR" altLang="ko-KR" sz="1400" b="1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this</a:t>
            </a: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);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1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b="1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70408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E59A2-8E1B-DCAB-C612-483267F83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F8B7A-99C9-5B32-3503-960A99E99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 dirty="0"/>
              <a:t>8.11.4 </a:t>
            </a:r>
            <a:r>
              <a:rPr lang="ko-KR" altLang="ko-KR" dirty="0" err="1"/>
              <a:t>MobBase</a:t>
            </a:r>
            <a:r>
              <a:rPr lang="ko-KR" altLang="ko-KR" dirty="0"/>
              <a:t>, </a:t>
            </a:r>
            <a:r>
              <a:rPr lang="ko-KR" altLang="ko-KR" dirty="0" err="1"/>
              <a:t>Monster</a:t>
            </a:r>
            <a:r>
              <a:rPr lang="ko-KR" altLang="ko-KR" dirty="0"/>
              <a:t>, </a:t>
            </a:r>
            <a:r>
              <a:rPr lang="ko-KR" altLang="ko-KR" dirty="0" err="1"/>
              <a:t>BossMonster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C20CDE-6051-310B-E59E-001F20EEE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ko-KR" sz="2400" dirty="0"/>
              <a:t>몹 계열의 공통 계약은 </a:t>
            </a:r>
            <a:r>
              <a:rPr lang="ko-KR" altLang="ko-KR" sz="2400" dirty="0" err="1"/>
              <a:t>MobBase에</a:t>
            </a:r>
            <a:r>
              <a:rPr lang="ko-KR" altLang="ko-KR" sz="2400" dirty="0"/>
              <a:t> 위치</a:t>
            </a:r>
          </a:p>
          <a:p>
            <a:pPr lvl="0"/>
            <a:r>
              <a:rPr lang="ko-KR" altLang="ko-KR" sz="2400" dirty="0"/>
              <a:t>구체 몬스터는 각자의 판단과 공격 구현</a:t>
            </a:r>
          </a:p>
          <a:p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8FB08E-CF4A-4C94-5297-062C4F0371EC}"/>
              </a:ext>
            </a:extLst>
          </p:cNvPr>
          <p:cNvSpPr txBox="1"/>
          <p:nvPr/>
        </p:nvSpPr>
        <p:spPr>
          <a:xfrm>
            <a:off x="323528" y="1772816"/>
            <a:ext cx="4140968" cy="3323987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virtual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protected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GetAttackPower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return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attackPower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}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private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int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attackPower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= </a:t>
            </a:r>
            <a:r>
              <a:rPr lang="ko-KR" altLang="ko-KR" sz="1400" b="0" i="0" u="none" strike="noStrike" dirty="0">
                <a:solidFill>
                  <a:srgbClr val="9868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10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4F70A3-6E30-4055-2608-3E04A4C95372}"/>
              </a:ext>
            </a:extLst>
          </p:cNvPr>
          <p:cNvSpPr txBox="1"/>
          <p:nvPr/>
        </p:nvSpPr>
        <p:spPr>
          <a:xfrm>
            <a:off x="4464496" y="1772816"/>
            <a:ext cx="4067944" cy="2246769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Update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Render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std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::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unique_ptr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&lt;GameObject&gt;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Clone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const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F0481-EFAF-7ECA-39B2-61A510677FC6}"/>
              </a:ext>
            </a:extLst>
          </p:cNvPr>
          <p:cNvSpPr txBox="1"/>
          <p:nvPr/>
        </p:nvSpPr>
        <p:spPr>
          <a:xfrm>
            <a:off x="4464496" y="4457923"/>
            <a:ext cx="4067944" cy="1600438"/>
          </a:xfrm>
          <a:prstGeom prst="rect">
            <a:avLst/>
          </a:prstGeom>
          <a:solidFill>
            <a:srgbClr val="FFFFFF"/>
          </a:solidFill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class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C18401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BossMonster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: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MobBase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{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public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: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Think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Attack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Character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&amp;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target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) </a:t>
            </a:r>
            <a:r>
              <a:rPr lang="ko-KR" altLang="ko-KR" sz="1400" b="0" i="0" u="none" strike="noStrike" dirty="0" err="1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override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    </a:t>
            </a:r>
            <a:r>
              <a:rPr lang="ko-KR" altLang="ko-KR" sz="1400" b="0" i="0" u="none" strike="noStrike" dirty="0" err="1">
                <a:solidFill>
                  <a:srgbClr val="A626A4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void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</a:t>
            </a:r>
            <a:r>
              <a:rPr lang="ko-KR" altLang="ko-KR" sz="1400" b="0" i="0" u="none" strike="noStrike" dirty="0" err="1">
                <a:solidFill>
                  <a:srgbClr val="4078F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EnterRageMode</a:t>
            </a: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();</a:t>
            </a:r>
            <a:b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</a:br>
            <a:r>
              <a:rPr lang="ko-KR" altLang="ko-KR" sz="1400" b="0" i="0" u="none" strike="noStrike" dirty="0">
                <a:solidFill>
                  <a:srgbClr val="383A42"/>
                </a:solidFill>
                <a:effectLst/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};</a:t>
            </a:r>
            <a:endParaRPr lang="ko-KR" altLang="en-US" sz="3200" dirty="0"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92457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DADB8-1607-F37E-AD45-DC4170F4A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8.11.5 </a:t>
            </a:r>
            <a:r>
              <a:rPr lang="en-US" altLang="ko-KR" dirty="0" err="1"/>
              <a:t>GameScene</a:t>
            </a:r>
            <a:r>
              <a:rPr lang="ko-KR" altLang="en-US" dirty="0"/>
              <a:t>의 다형 객체 소유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B45905-D01C-384A-47C5-784F020F3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203FD7-55F3-6317-CDF3-C36206C09833}"/>
              </a:ext>
            </a:extLst>
          </p:cNvPr>
          <p:cNvSpPr txBox="1"/>
          <p:nvPr/>
        </p:nvSpPr>
        <p:spPr>
          <a:xfrm>
            <a:off x="535211" y="692150"/>
            <a:ext cx="4572000" cy="5847755"/>
          </a:xfrm>
          <a:prstGeom prst="rect">
            <a:avLst/>
          </a:prstGeom>
          <a:noFill/>
          <a:ln w="25400">
            <a:solidFill>
              <a:schemeClr val="bg1">
                <a:lumMod val="75000"/>
              </a:schemeClr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GameScene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&lt;GameObject&gt;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ko-KR" altLang="ko-KR" sz="1100" b="1" i="0" u="none" strike="noStrike" dirty="0">
                <a:solidFill>
                  <a:srgbClr val="0184BB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objects.push_back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4078F2"/>
                </a:solidFill>
                <a:effectLst/>
                <a:latin typeface="Consolas" panose="020B0609020204030204" pitchFamily="49" charset="0"/>
              </a:rPr>
              <a:t>CloneObject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1" i="0" u="none" strike="noStrike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size_t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objects.size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{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objects.push_back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]-&gt;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Clone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}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std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ko-KR" altLang="ko-KR" sz="1100" b="1" i="0" u="none" strike="noStrike" dirty="0" err="1">
                <a:solidFill>
                  <a:srgbClr val="C18401"/>
                </a:solidFill>
                <a:effectLst/>
                <a:latin typeface="Consolas" panose="020B0609020204030204" pitchFamily="49" charset="0"/>
              </a:rPr>
              <a:t>unique_ptr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&lt;GameObject&gt;&gt; </a:t>
            </a:r>
            <a:r>
              <a:rPr lang="ko-KR" altLang="ko-KR" sz="1100" b="1" i="0" u="none" strike="noStrike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objects</a:t>
            </a: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ko-KR" altLang="ko-KR" sz="1100" b="1" i="0" u="none" strike="noStrike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};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561399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F89D32-32CD-292D-436C-3ED2BA97F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8.12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ECC53-59A3-DABE-12C6-7B232D951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상속은 일반화 관계와 대체 가능성 표현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public </a:t>
            </a:r>
            <a:r>
              <a:rPr lang="ko-KR" altLang="en-US" sz="2400" dirty="0"/>
              <a:t>상속은 </a:t>
            </a:r>
            <a:r>
              <a:rPr lang="en-US" altLang="ko-KR" sz="2400" dirty="0"/>
              <a:t>is-a </a:t>
            </a:r>
            <a:r>
              <a:rPr lang="ko-KR" altLang="en-US" sz="2400" dirty="0"/>
              <a:t>관계에 사용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기반 클래스의 공개 인터페이스와 의미를 파생 클래스도 유지해야 함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파생 클래스는 직접 기반 클래스 생성자를 초기화 리스트에서 선택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생성은 기반 클래스에서 파생 클래스로 진행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소멸은 파생 클래스에서 기반 클래스로 진행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초기화 순서는 초기화 리스트의 작성 순서가 아니라 선언 구조로 결정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같은 이름의 함수 선언은 기반 클래스의 오버로드 집합을 숨길 수 있음</a:t>
            </a:r>
          </a:p>
          <a:p>
            <a:pPr>
              <a:lnSpc>
                <a:spcPct val="120000"/>
              </a:lnSpc>
            </a:pPr>
            <a:r>
              <a:rPr lang="en-US" altLang="ko-KR" sz="2400" dirty="0"/>
              <a:t>using </a:t>
            </a:r>
            <a:r>
              <a:rPr lang="ko-KR" altLang="en-US" sz="2400" dirty="0"/>
              <a:t>선언으로 기반 함수들을 다시 노출 가능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재정의 함수에는 </a:t>
            </a:r>
            <a:r>
              <a:rPr lang="en-US" altLang="ko-KR" sz="2400" dirty="0"/>
              <a:t>override</a:t>
            </a:r>
            <a:r>
              <a:rPr lang="ko-KR" altLang="en-US" sz="2400" dirty="0"/>
              <a:t>를 일관되게 사용</a:t>
            </a:r>
          </a:p>
        </p:txBody>
      </p:sp>
    </p:spTree>
    <p:extLst>
      <p:ext uri="{BB962C8B-B14F-4D97-AF65-F5344CB8AC3E}">
        <p14:creationId xmlns:p14="http://schemas.microsoft.com/office/powerpoint/2010/main" val="514405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8992C-B1A3-5825-1014-9B84C9505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8.12 </a:t>
            </a:r>
            <a:r>
              <a:rPr lang="ko-KR" altLang="en-US" dirty="0"/>
              <a:t>학습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2FBB9-DB16-D722-DC40-81F6676A1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ko-KR" altLang="en-US" sz="2400" dirty="0"/>
              <a:t>가상 함수는 실제 객체의 동적 타입에 맞는 함수 호출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생성자</a:t>
            </a:r>
            <a:r>
              <a:rPr lang="en-US" altLang="ko-KR" sz="2400" dirty="0"/>
              <a:t>,</a:t>
            </a:r>
            <a:r>
              <a:rPr lang="ko-KR" altLang="en-US" sz="2400" dirty="0"/>
              <a:t> </a:t>
            </a:r>
            <a:r>
              <a:rPr lang="ko-KR" altLang="en-US" sz="2400" dirty="0" err="1"/>
              <a:t>소멸자</a:t>
            </a:r>
            <a:r>
              <a:rPr lang="ko-KR" altLang="en-US" sz="2400" dirty="0"/>
              <a:t> 안의 가상 호출은 현재 생성 또는 소멸 중인 클래스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가상 함수의 기본 인수는 정적 타입에서 선택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추상 클래스는 공통 상태와 일부 구현을 가지면서 계약을 정의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작은 인터페이스는 독립적인 역할을 표현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다형 기반 클래스는 가상 </a:t>
            </a:r>
            <a:r>
              <a:rPr lang="ko-KR" altLang="en-US" sz="2400" dirty="0" err="1"/>
              <a:t>소멸자</a:t>
            </a:r>
            <a:r>
              <a:rPr lang="ko-KR" altLang="en-US" sz="2400" dirty="0"/>
              <a:t> 제공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객체 잘림을 피하려면 다형 객체는 참조나 포인터로 전달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다형 객체 컨테이너는 스마트 포인터 사용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반복되는 다운캐스팅은 인터페이스 설계를 재검토해야 한다는 신호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다중 상속은 이름 충돌과 다이아몬드 구조에 주의</a:t>
            </a:r>
          </a:p>
          <a:p>
            <a:pPr>
              <a:lnSpc>
                <a:spcPct val="120000"/>
              </a:lnSpc>
            </a:pPr>
            <a:r>
              <a:rPr lang="ko-KR" altLang="en-US" sz="2400" dirty="0"/>
              <a:t>상속은 </a:t>
            </a:r>
            <a:r>
              <a:rPr lang="en-US" altLang="ko-KR" sz="2400" dirty="0"/>
              <a:t>is-a, </a:t>
            </a:r>
            <a:r>
              <a:rPr lang="ko-KR" altLang="en-US" sz="2400" dirty="0"/>
              <a:t>구성은 </a:t>
            </a:r>
            <a:r>
              <a:rPr lang="en-US" altLang="ko-KR" sz="2400" dirty="0"/>
              <a:t>has-a </a:t>
            </a:r>
            <a:r>
              <a:rPr lang="ko-KR" altLang="en-US" sz="2400" dirty="0"/>
              <a:t>관계에 사용</a:t>
            </a:r>
          </a:p>
          <a:p>
            <a:pPr>
              <a:lnSpc>
                <a:spcPct val="120000"/>
              </a:lnSpc>
            </a:pP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91726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1800" b="1" i="0" u="none" strike="noStrike" dirty="0">
            <a:solidFill>
              <a:srgbClr val="4078F2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12334</TotalTime>
  <Words>7562</Words>
  <Application>Microsoft Office PowerPoint</Application>
  <PresentationFormat>화면 슬라이드 쇼(4:3)</PresentationFormat>
  <Paragraphs>644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6" baseType="lpstr">
      <vt:lpstr>Wingdings</vt:lpstr>
      <vt:lpstr>나눔고딕 ExtraBold</vt:lpstr>
      <vt:lpstr>Consolas</vt:lpstr>
      <vt:lpstr>HY견고딕</vt:lpstr>
      <vt:lpstr>나눔바른고딕</vt:lpstr>
      <vt:lpstr>D2Coding</vt:lpstr>
      <vt:lpstr>굴림</vt:lpstr>
      <vt:lpstr>Pretendard ExtraBold</vt:lpstr>
      <vt:lpstr>가을체</vt:lpstr>
      <vt:lpstr>Arial</vt:lpstr>
      <vt:lpstr>기본 디자인</vt:lpstr>
      <vt:lpstr>08. 상속과 다형성</vt:lpstr>
      <vt:lpstr>08. 상속과 다형성</vt:lpstr>
      <vt:lpstr>8.1 일반화와 상속</vt:lpstr>
      <vt:lpstr>8.1 일반화와 상속 - 용어 정리</vt:lpstr>
      <vt:lpstr>8.1.1 기반 클래스와 파생 클래스</vt:lpstr>
      <vt:lpstr>8.1.1 다단계 상속 구조</vt:lpstr>
      <vt:lpstr>8.1.2 is-a 관계와 대체 가능성</vt:lpstr>
      <vt:lpstr>8.1.3 상속 사용 조건</vt:lpstr>
      <vt:lpstr>8.1.4 UML로 표현하는 일반화</vt:lpstr>
      <vt:lpstr>8.2 상속의 기본 구조</vt:lpstr>
      <vt:lpstr>8.2.1 public 상속</vt:lpstr>
      <vt:lpstr>8.2.2 protected 상속과 private 상속</vt:lpstr>
      <vt:lpstr>8.2.4 protected 멤버</vt:lpstr>
      <vt:lpstr>8.3 기반 클래스와 파생 클래스의 초기화</vt:lpstr>
      <vt:lpstr>8.3.1 기반 클래스 생성자 호출</vt:lpstr>
      <vt:lpstr>8.3.2 직접 기반 클래스 초기화</vt:lpstr>
      <vt:lpstr>8.3.3 초기화 순서</vt:lpstr>
      <vt:lpstr>8.3.4 생성과 소멸 순서 예</vt:lpstr>
      <vt:lpstr>8.4 함수 재정의와 이름 숨김</vt:lpstr>
      <vt:lpstr>8.4.1 오버로딩과 오버라이딩</vt:lpstr>
      <vt:lpstr>8.4.2 이름 숨김과 using 선언</vt:lpstr>
      <vt:lpstr>8.4.4 기반 클래스 함수 호출</vt:lpstr>
      <vt:lpstr>8.4.5 재정의 시그니처와 override</vt:lpstr>
      <vt:lpstr>8.5 가상 함수와 동적 바인딩</vt:lpstr>
      <vt:lpstr>8.5.1 정적 바인딩과 동적 바인딩</vt:lpstr>
      <vt:lpstr>8.5.2 가상 함수</vt:lpstr>
      <vt:lpstr>8.5.3 override와 final</vt:lpstr>
      <vt:lpstr>8.5.4 가상 함수 테이블의 개념적 모델</vt:lpstr>
      <vt:lpstr>8.5.5 공변 반환형 (covariant return type)</vt:lpstr>
      <vt:lpstr>8.5.6 생성자와 소멸자에서의 가상 함수 호출</vt:lpstr>
      <vt:lpstr>8.5.7 가상 함수와 기본 인수</vt:lpstr>
      <vt:lpstr>8.6 추상 클래스와 인터페이스</vt:lpstr>
      <vt:lpstr>8.6.2 추상 클래스</vt:lpstr>
      <vt:lpstr>8.6.3 인터페이스 역할의 클래스</vt:lpstr>
      <vt:lpstr>8.6.4 구현 상속과 인터페이스 상속</vt:lpstr>
      <vt:lpstr>8.6.5 최소 인터페이스와 계약</vt:lpstr>
      <vt:lpstr>8.6.6 비가상 인터페이스</vt:lpstr>
      <vt:lpstr>8.7 다형 객체의 수명</vt:lpstr>
      <vt:lpstr>8.7.1 가상 소멸자</vt:lpstr>
      <vt:lpstr>8.7.3 객체 잘림(Object slicing)</vt:lpstr>
      <vt:lpstr>8.7.4 다형 객체의 복사와 Clone</vt:lpstr>
      <vt:lpstr>8.7.5 스마트 포인터와 다형 객체</vt:lpstr>
      <vt:lpstr>8.8 형 변환과 RTTI</vt:lpstr>
      <vt:lpstr>8.8.1 업캐스팅</vt:lpstr>
      <vt:lpstr>8.8.2 다운캐스팅과 dynamic_cast</vt:lpstr>
      <vt:lpstr>8.8.5 다운캐스팅을 줄이는 설계</vt:lpstr>
      <vt:lpstr>8.9 다중 상속</vt:lpstr>
      <vt:lpstr>8.9.2 이름 충돌</vt:lpstr>
      <vt:lpstr>8.9.3 다이아몬드 상속</vt:lpstr>
      <vt:lpstr>8.9.4 가상 상속</vt:lpstr>
      <vt:lpstr>8.9.5 가상 기반 클래스 초기화</vt:lpstr>
      <vt:lpstr>8.9.6 인터페이스 다중 상속</vt:lpstr>
      <vt:lpstr>8.10 상속과 구성</vt:lpstr>
      <vt:lpstr>8.10.1 has-a 관계와 구성</vt:lpstr>
      <vt:lpstr>8.10.2 위임</vt:lpstr>
      <vt:lpstr>8.10.3 상속의 결합도</vt:lpstr>
      <vt:lpstr>8.10.4 상속보다 구성을 우선하는 이유</vt:lpstr>
      <vt:lpstr>8.10.5 상속이 필요한 경우</vt:lpstr>
      <vt:lpstr>8.11 종합 예제 구조</vt:lpstr>
      <vt:lpstr>8.11.2 GameObject 핵심 구조</vt:lpstr>
      <vt:lpstr>8.11.3 Character와 Player</vt:lpstr>
      <vt:lpstr>8.11.4 MobBase, Monster, BossMonster</vt:lpstr>
      <vt:lpstr>8.11.5 GameScene의 다형 객체 소유</vt:lpstr>
      <vt:lpstr>8.12 학습 정리</vt:lpstr>
      <vt:lpstr>8.12 학습 정리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433</cp:revision>
  <dcterms:created xsi:type="dcterms:W3CDTF">2003-11-30T16:03:20Z</dcterms:created>
  <dcterms:modified xsi:type="dcterms:W3CDTF">2026-10-27T22:11:39Z</dcterms:modified>
</cp:coreProperties>
</file>