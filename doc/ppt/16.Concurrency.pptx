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2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53"/>
      <p:bold r:id="rId54"/>
      <p:italic r:id="rId55"/>
      <p:boldItalic r:id="rId56"/>
    </p:embeddedFont>
    <p:embeddedFont>
      <p:font typeface="HY견고딕" panose="02030600000101010101" pitchFamily="18" charset="-127"/>
      <p:regular r:id="rId57"/>
    </p:embeddedFont>
    <p:embeddedFont>
      <p:font typeface="Pretendard ExtraBold" panose="02000903000000020004" pitchFamily="50" charset="-127"/>
      <p:bold r:id="rId58"/>
    </p:embeddedFont>
    <p:embeddedFont>
      <p:font typeface="가을체" panose="02030600000101010101" pitchFamily="18" charset="-127"/>
      <p:regular r:id="rId59"/>
    </p:embeddedFont>
    <p:embeddedFont>
      <p:font typeface="나눔고딕 ExtraBold" panose="020D0904000000000000" pitchFamily="50" charset="-127"/>
      <p:bold r:id="rId60"/>
    </p:embeddedFont>
    <p:embeddedFont>
      <p:font typeface="나눔바른고딕" panose="020B0603020101020101" pitchFamily="50" charset="-127"/>
      <p:regular r:id="rId61"/>
      <p:bold r:id="rId6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EFEFED"/>
    <a:srgbClr val="CC00CC"/>
    <a:srgbClr val="CC00FF"/>
    <a:srgbClr val="C18401"/>
    <a:srgbClr val="FF9900"/>
    <a:srgbClr val="FF00FF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582" autoAdjust="0"/>
  </p:normalViewPr>
  <p:slideViewPr>
    <p:cSldViewPr>
      <p:cViewPr>
        <p:scale>
          <a:sx n="100" d="100"/>
          <a:sy n="100" d="100"/>
        </p:scale>
        <p:origin x="1608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16. 동시성 프로그래밍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E050F-B3AE-4C0D-DDB6-D84586A8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 </a:t>
            </a:r>
            <a:r>
              <a:rPr lang="ko-KR" altLang="en-US" dirty="0"/>
              <a:t>동시성 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8C10B4-F2FB-0376-1BFA-30DF8EC92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sz="2000" dirty="0"/>
              <a:t>동시성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병렬성</a:t>
            </a:r>
            <a:endParaRPr lang="ko-KR" altLang="en-US" sz="2000" dirty="0"/>
          </a:p>
          <a:p>
            <a:pPr>
              <a:lnSpc>
                <a:spcPct val="130000"/>
              </a:lnSpc>
            </a:pPr>
            <a:r>
              <a:rPr lang="ko-KR" altLang="en-US" sz="2000" dirty="0"/>
              <a:t>프로세스와 스레드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공유 상태와 데이터 경쟁</a:t>
            </a:r>
          </a:p>
          <a:p>
            <a:pPr>
              <a:lnSpc>
                <a:spcPct val="130000"/>
              </a:lnSpc>
            </a:pPr>
            <a:r>
              <a:rPr lang="en-US" altLang="ko-KR" sz="2000" dirty="0"/>
              <a:t>std::thread, std::</a:t>
            </a:r>
            <a:r>
              <a:rPr lang="en-US" altLang="ko-KR" sz="2000" dirty="0" err="1"/>
              <a:t>jthread</a:t>
            </a:r>
            <a:endParaRPr lang="en-US" altLang="ko-KR" sz="2000" dirty="0"/>
          </a:p>
          <a:p>
            <a:pPr>
              <a:lnSpc>
                <a:spcPct val="130000"/>
              </a:lnSpc>
            </a:pPr>
            <a:r>
              <a:rPr lang="ko-KR" altLang="en-US" sz="2000" dirty="0" err="1"/>
              <a:t>뮤텍스와</a:t>
            </a:r>
            <a:r>
              <a:rPr lang="ko-KR" altLang="en-US" sz="2000" dirty="0"/>
              <a:t> </a:t>
            </a:r>
            <a:r>
              <a:rPr lang="en-US" altLang="ko-KR" sz="2000" dirty="0"/>
              <a:t>RAII </a:t>
            </a:r>
            <a:r>
              <a:rPr lang="ko-KR" altLang="en-US" sz="2000" dirty="0"/>
              <a:t>잠금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교착 상태와 잠금 순서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조건 변수와 작업 큐</a:t>
            </a:r>
          </a:p>
          <a:p>
            <a:pPr>
              <a:lnSpc>
                <a:spcPct val="130000"/>
              </a:lnSpc>
            </a:pPr>
            <a:r>
              <a:rPr lang="en-US" altLang="ko-KR" sz="2000" dirty="0"/>
              <a:t>std::future, std::promise, std::async</a:t>
            </a:r>
          </a:p>
          <a:p>
            <a:pPr>
              <a:lnSpc>
                <a:spcPct val="130000"/>
              </a:lnSpc>
            </a:pPr>
            <a:r>
              <a:rPr lang="en-US" altLang="ko-KR" sz="2000" dirty="0"/>
              <a:t>std::atomic</a:t>
            </a:r>
          </a:p>
          <a:p>
            <a:pPr>
              <a:lnSpc>
                <a:spcPct val="130000"/>
              </a:lnSpc>
            </a:pPr>
            <a:r>
              <a:rPr lang="en-US" altLang="ko-KR" sz="2000" dirty="0"/>
              <a:t>C++20 </a:t>
            </a:r>
            <a:r>
              <a:rPr lang="ko-KR" altLang="en-US" sz="2000" dirty="0"/>
              <a:t>동기화 도구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병렬 알고리즘 개요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동시성 설계 기준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742FC99-260D-7634-E251-981CDA882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537410"/>
              </p:ext>
            </p:extLst>
          </p:nvPr>
        </p:nvGraphicFramePr>
        <p:xfrm>
          <a:off x="5220072" y="1700808"/>
          <a:ext cx="3600400" cy="3616416"/>
        </p:xfrm>
        <a:graphic>
          <a:graphicData uri="http://schemas.openxmlformats.org/drawingml/2006/table">
            <a:tbl>
              <a:tblPr/>
              <a:tblGrid>
                <a:gridCol w="3600400">
                  <a:extLst>
                    <a:ext uri="{9D8B030D-6E8A-4147-A177-3AD203B41FA5}">
                      <a16:colId xmlns:a16="http://schemas.microsoft.com/office/drawing/2014/main" val="49117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30000"/>
                        </a:lnSpc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작업 분리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데이터 소유권 결정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공유 상태 동기화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종료와 취소 규칙 설계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699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60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3E12-0507-E0CF-96FE-BDE99F2D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107EB-E66C-0BC7-744A-B69ABC1E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 </a:t>
            </a:r>
            <a:r>
              <a:rPr lang="ko-KR" altLang="en-US" dirty="0"/>
              <a:t>동시성과 </a:t>
            </a:r>
            <a:r>
              <a:rPr lang="ko-KR" altLang="en-US" dirty="0" err="1"/>
              <a:t>병렬성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FFD0EA-F574-9755-1ED5-295BF42A7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동시성</a:t>
            </a:r>
            <a:r>
              <a:rPr lang="en-US" altLang="ko-KR" sz="2400" dirty="0"/>
              <a:t>: </a:t>
            </a:r>
            <a:r>
              <a:rPr lang="ko-KR" altLang="en-US" sz="2400" dirty="0"/>
              <a:t>여러 작업의 실행 구간이 겹치도록 구성</a:t>
            </a:r>
          </a:p>
          <a:p>
            <a:r>
              <a:rPr lang="ko-KR" altLang="en-US" sz="2400" dirty="0" err="1"/>
              <a:t>병렬성</a:t>
            </a:r>
            <a:r>
              <a:rPr lang="en-US" altLang="ko-KR" sz="2400" dirty="0"/>
              <a:t>: </a:t>
            </a:r>
            <a:r>
              <a:rPr lang="ko-KR" altLang="en-US" sz="2400" dirty="0"/>
              <a:t>여러 작업이 실제로 같은 시간에 실행</a:t>
            </a:r>
          </a:p>
          <a:p>
            <a:r>
              <a:rPr lang="ko-KR" altLang="en-US" sz="2400" dirty="0"/>
              <a:t>한 처리 장치에서도 작업 전환으로 동시성 가능</a:t>
            </a:r>
          </a:p>
          <a:p>
            <a:r>
              <a:rPr lang="ko-KR" altLang="en-US" sz="2400" dirty="0"/>
              <a:t>실제 병렬 실행에는 둘 이상의 실행 자원 필요</a:t>
            </a:r>
          </a:p>
          <a:p>
            <a:r>
              <a:rPr lang="ko-KR" altLang="en-US" sz="2400" dirty="0"/>
              <a:t>스레드 수와 실제 병렬 실행 수는 같다고 보장되지 않음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85985D1-FFE6-DDC4-80D9-4C4F3FB31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369681"/>
              </p:ext>
            </p:extLst>
          </p:nvPr>
        </p:nvGraphicFramePr>
        <p:xfrm>
          <a:off x="365347" y="3429000"/>
          <a:ext cx="3672582" cy="1041400"/>
        </p:xfrm>
        <a:graphic>
          <a:graphicData uri="http://schemas.openxmlformats.org/drawingml/2006/table">
            <a:tbl>
              <a:tblPr/>
              <a:tblGrid>
                <a:gridCol w="3672582">
                  <a:extLst>
                    <a:ext uri="{9D8B030D-6E8A-4147-A177-3AD203B41FA5}">
                      <a16:colId xmlns:a16="http://schemas.microsoft.com/office/drawing/2014/main" val="2032172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동시성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작업 A ──</a:t>
                      </a:r>
                      <a:r>
                        <a:rPr lang="ko-KR" sz="20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■■■■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────</a:t>
                      </a:r>
                      <a:r>
                        <a:rPr lang="ko-KR" sz="20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■■■■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──</a:t>
                      </a:r>
                      <a:r>
                        <a:rPr lang="ko-KR" alt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──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작업 B ──</a:t>
                      </a:r>
                      <a:r>
                        <a:rPr lang="ko-KR" alt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────</a:t>
                      </a:r>
                      <a:r>
                        <a:rPr lang="ko-KR" sz="20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■■■■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────</a:t>
                      </a:r>
                      <a:r>
                        <a:rPr lang="ko-KR" sz="20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■■■</a:t>
                      </a:r>
                      <a:r>
                        <a:rPr lang="ko-KR" alt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─</a:t>
                      </a:r>
                      <a:endParaRPr lang="ko-KR" sz="2000" b="1" dirty="0">
                        <a:effectLst/>
                        <a:latin typeface="Consolas" panose="020B0609020204030204" pitchFamily="49" charset="0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37842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764D0CC-1A0A-91E6-C333-DB69FFAF4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58607"/>
              </p:ext>
            </p:extLst>
          </p:nvPr>
        </p:nvGraphicFramePr>
        <p:xfrm>
          <a:off x="365347" y="4564124"/>
          <a:ext cx="3672582" cy="1041400"/>
        </p:xfrm>
        <a:graphic>
          <a:graphicData uri="http://schemas.openxmlformats.org/drawingml/2006/table">
            <a:tbl>
              <a:tblPr/>
              <a:tblGrid>
                <a:gridCol w="3672582">
                  <a:extLst>
                    <a:ext uri="{9D8B030D-6E8A-4147-A177-3AD203B41FA5}">
                      <a16:colId xmlns:a16="http://schemas.microsoft.com/office/drawing/2014/main" val="3208567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  <a:t>병렬성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  <a:t>작업 A ──</a:t>
                      </a:r>
                      <a:r>
                        <a:rPr lang="ko-KR" sz="2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  <a:t>■■■■■■■■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  <a:t>──────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  <a:t>작업 B ──</a:t>
                      </a:r>
                      <a:r>
                        <a:rPr lang="ko-KR" sz="2000" b="0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  <a:t>■■■■■■■■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D2Coding" panose="020B0609020101020101" pitchFamily="49" charset="-127"/>
                        </a:rPr>
                        <a:t>──────</a:t>
                      </a:r>
                      <a:endParaRPr lang="ko-KR" sz="3600" dirty="0">
                        <a:effectLst/>
                        <a:latin typeface="Consolas" panose="020B0609020204030204" pitchFamily="49" charset="0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59304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F8D18A3-0199-F737-935D-F036BD517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87468"/>
              </p:ext>
            </p:extLst>
          </p:nvPr>
        </p:nvGraphicFramePr>
        <p:xfrm>
          <a:off x="4206652" y="4941168"/>
          <a:ext cx="4572001" cy="1315896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3649588565"/>
                    </a:ext>
                  </a:extLst>
                </a:gridCol>
                <a:gridCol w="3563889">
                  <a:extLst>
                    <a:ext uri="{9D8B030D-6E8A-4147-A177-3AD203B41FA5}">
                      <a16:colId xmlns:a16="http://schemas.microsoft.com/office/drawing/2014/main" val="1998781082"/>
                    </a:ext>
                  </a:extLst>
                </a:gridCol>
              </a:tblGrid>
              <a:tr h="267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831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동시성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작업을 겹쳐 진행하는 구조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429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병렬성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작업이 동시에 실행되는 상태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73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808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CFD3-0CF2-6964-F38D-B4EA551F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80D053-16EE-07F9-3A24-0927FCD2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16.1.1 </a:t>
            </a:r>
            <a:r>
              <a:rPr lang="ko-KR" altLang="en-US" dirty="0"/>
              <a:t>프로세스와 스레드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1B3E3AD-2A3D-F42A-96A3-08D131802E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775764"/>
              </p:ext>
            </p:extLst>
          </p:nvPr>
        </p:nvGraphicFramePr>
        <p:xfrm>
          <a:off x="553864" y="764704"/>
          <a:ext cx="7690545" cy="2213480"/>
        </p:xfrm>
        <a:graphic>
          <a:graphicData uri="http://schemas.openxmlformats.org/drawingml/2006/table">
            <a:tbl>
              <a:tblPr/>
              <a:tblGrid>
                <a:gridCol w="1738369">
                  <a:extLst>
                    <a:ext uri="{9D8B030D-6E8A-4147-A177-3AD203B41FA5}">
                      <a16:colId xmlns:a16="http://schemas.microsoft.com/office/drawing/2014/main" val="3714386340"/>
                    </a:ext>
                  </a:extLst>
                </a:gridCol>
                <a:gridCol w="2405903">
                  <a:extLst>
                    <a:ext uri="{9D8B030D-6E8A-4147-A177-3AD203B41FA5}">
                      <a16:colId xmlns:a16="http://schemas.microsoft.com/office/drawing/2014/main" val="112967843"/>
                    </a:ext>
                  </a:extLst>
                </a:gridCol>
                <a:gridCol w="3546273">
                  <a:extLst>
                    <a:ext uri="{9D8B030D-6E8A-4147-A177-3AD203B41FA5}">
                      <a16:colId xmlns:a16="http://schemas.microsoft.com/office/drawing/2014/main" val="3338142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프로세스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스레드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4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주소 공간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일반적으로 분리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프로세스 안에서 공유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685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데이터 교환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프로세스 간 통신 필요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메모리에 직접 접근 가능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63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격리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비교적 강함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한 스레드 오류가 전체에 영향 가능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222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생성·전환 비용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상대적으로 큼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상대적으로 작음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23948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C196AAA-1E5A-1D70-F37E-BA3D5E7E1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962550"/>
              </p:ext>
            </p:extLst>
          </p:nvPr>
        </p:nvGraphicFramePr>
        <p:xfrm>
          <a:off x="553864" y="3222188"/>
          <a:ext cx="3010024" cy="1772920"/>
        </p:xfrm>
        <a:graphic>
          <a:graphicData uri="http://schemas.openxmlformats.org/drawingml/2006/table">
            <a:tbl>
              <a:tblPr/>
              <a:tblGrid>
                <a:gridCol w="3010024">
                  <a:extLst>
                    <a:ext uri="{9D8B030D-6E8A-4147-A177-3AD203B41FA5}">
                      <a16:colId xmlns:a16="http://schemas.microsoft.com/office/drawing/2014/main" val="1824831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프로세스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코드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전역 데이터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힙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스레드 A ─ 호출 스택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스레드 B ─ 호출 스택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886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DEE05F-923C-BD25-EF39-5DFED1E48C87}"/>
              </a:ext>
            </a:extLst>
          </p:cNvPr>
          <p:cNvSpPr txBox="1"/>
          <p:nvPr/>
        </p:nvSpPr>
        <p:spPr>
          <a:xfrm>
            <a:off x="558402" y="5239112"/>
            <a:ext cx="7686007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프로세스의 스레드는 메모리를 쉽게 공유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공유가 쉬운 만큼 접근 규칙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동기화 없이 공유 가변 상태를 다루면 위험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092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EB75-CB7B-DE4E-A7EC-B7B05704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D87C9-7968-B758-9166-CFE1A731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16.1.3 </a:t>
            </a:r>
            <a:r>
              <a:rPr lang="ko-KR" altLang="en-US" dirty="0"/>
              <a:t>공유 상태와 데이터 경쟁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E15FB-141C-1A97-F9FC-3DF3F51EF220}"/>
              </a:ext>
            </a:extLst>
          </p:cNvPr>
          <p:cNvSpPr txBox="1"/>
          <p:nvPr/>
        </p:nvSpPr>
        <p:spPr>
          <a:xfrm>
            <a:off x="543967" y="692150"/>
            <a:ext cx="457200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100'000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F78A3-6DDD-4EF3-E450-B88C613391F5}"/>
              </a:ext>
            </a:extLst>
          </p:cNvPr>
          <p:cNvSpPr txBox="1"/>
          <p:nvPr/>
        </p:nvSpPr>
        <p:spPr>
          <a:xfrm>
            <a:off x="2200151" y="2564904"/>
            <a:ext cx="6692329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++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하나의 기계적 원자 연산이라고 보장되지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읽기, 증가, 기록 과정으로 나뉠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스레드가 같은 값을 읽으면 증가가 사라질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33AB8-9BAA-1B66-84BC-78078742133F}"/>
              </a:ext>
            </a:extLst>
          </p:cNvPr>
          <p:cNvSpPr txBox="1"/>
          <p:nvPr/>
        </p:nvSpPr>
        <p:spPr>
          <a:xfrm>
            <a:off x="539750" y="3580567"/>
            <a:ext cx="457200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A: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읽기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B: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읽기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A: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기록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B: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기록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6F515-A0C7-3BFA-A3DB-121A202FD700}"/>
              </a:ext>
            </a:extLst>
          </p:cNvPr>
          <p:cNvSpPr txBox="1"/>
          <p:nvPr/>
        </p:nvSpPr>
        <p:spPr>
          <a:xfrm>
            <a:off x="2194446" y="4904006"/>
            <a:ext cx="6698034" cy="163121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메모리 위치 접근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하나 이상이 쓰기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적절한 동기화 없음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데이터 경쟁 발생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C++ 프로그램 동작 보장 불가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836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74ACD-2F07-3A02-8F4F-7E2A9DB6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1AA3C-3760-FA3F-09CA-D344F81F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16.1.4 </a:t>
            </a:r>
            <a:r>
              <a:rPr lang="ko-KR" altLang="en-US" dirty="0"/>
              <a:t>메모리 가시성과 </a:t>
            </a:r>
            <a:r>
              <a:rPr lang="en-US" altLang="ko-KR" dirty="0"/>
              <a:t>happens-before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0473A-3AC8-76BD-749A-F883A1F8BA39}"/>
              </a:ext>
            </a:extLst>
          </p:cNvPr>
          <p:cNvSpPr txBox="1"/>
          <p:nvPr/>
        </p:nvSpPr>
        <p:spPr>
          <a:xfrm>
            <a:off x="462012" y="759346"/>
            <a:ext cx="3744416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Produce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Consume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275EA-D375-D84C-ADF0-FED20554293E}"/>
              </a:ext>
            </a:extLst>
          </p:cNvPr>
          <p:cNvSpPr txBox="1"/>
          <p:nvPr/>
        </p:nvSpPr>
        <p:spPr>
          <a:xfrm>
            <a:off x="4644008" y="759346"/>
            <a:ext cx="3744416" cy="501675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Produce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Consume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BCDC6-3343-D3C6-3C5B-E7EA9CE530F7}"/>
              </a:ext>
            </a:extLst>
          </p:cNvPr>
          <p:cNvSpPr txBox="1"/>
          <p:nvPr/>
        </p:nvSpPr>
        <p:spPr>
          <a:xfrm>
            <a:off x="462012" y="4794518"/>
            <a:ext cx="3744416" cy="9233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변수에 대한 동기화 없음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기록 순서와 관찰 시점 보장 없음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컴파일러와 처리 장치의 재배치 가능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0F0E6D-A7DA-0C80-1B1F-0D8C1B20213F}"/>
              </a:ext>
            </a:extLst>
          </p:cNvPr>
          <p:cNvSpPr txBox="1"/>
          <p:nvPr/>
        </p:nvSpPr>
        <p:spPr>
          <a:xfrm>
            <a:off x="4644008" y="5776104"/>
            <a:ext cx="3744416" cy="9233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뮤텍스의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잠금과 해제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접근 직렬화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메모리 가시성 연결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235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85B70-5AC2-AB5F-E764-48B254A5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71424-E4E5-3A36-04D5-D5FB7CC6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 std::thread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167818-DDF8-CE6F-8CC2-E18DFB38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&lt;thread&gt; </a:t>
            </a:r>
            <a:r>
              <a:rPr lang="ko-KR" altLang="en-US" sz="2400" dirty="0"/>
              <a:t>헤더</a:t>
            </a:r>
          </a:p>
          <a:p>
            <a:r>
              <a:rPr lang="ko-KR" altLang="en-US" sz="2400" dirty="0"/>
              <a:t>하나의 실행 스레드를 나타내는 이동 전용 객체</a:t>
            </a:r>
          </a:p>
          <a:p>
            <a:r>
              <a:rPr lang="ko-KR" altLang="en-US" sz="2400" dirty="0"/>
              <a:t>생성자에 호출 대상과 인수 전달</a:t>
            </a:r>
          </a:p>
          <a:p>
            <a:r>
              <a:rPr lang="ko-KR" altLang="en-US" sz="2400" dirty="0"/>
              <a:t>생성이 완료되면 새 실행 흐름 시작 가능</a:t>
            </a:r>
          </a:p>
          <a:p>
            <a:r>
              <a:rPr lang="ko-KR" altLang="en-US" sz="2400" dirty="0"/>
              <a:t>실행 순서는 정해져 있지 않음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F7D3F-D0BA-ED02-3387-7C863EE1204E}"/>
              </a:ext>
            </a:extLst>
          </p:cNvPr>
          <p:cNvSpPr txBox="1"/>
          <p:nvPr/>
        </p:nvSpPr>
        <p:spPr>
          <a:xfrm>
            <a:off x="591195" y="3284984"/>
            <a:ext cx="3692773" cy="2893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PrintMessage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dirty="0" err="1">
                <a:solidFill>
                  <a:srgbClr val="A626A4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dirty="0" err="1">
                <a:solidFill>
                  <a:srgbClr val="4078F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en-US" altLang="ko-KR" sz="1400" dirty="0">
              <a:solidFill>
                <a:srgbClr val="383A4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dirty="0" err="1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{PrintMessage};</a:t>
            </a:r>
            <a:b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worker.join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4CEFC-90E1-A54E-381D-036D33F9E0F3}"/>
              </a:ext>
            </a:extLst>
          </p:cNvPr>
          <p:cNvSpPr txBox="1"/>
          <p:nvPr/>
        </p:nvSpPr>
        <p:spPr>
          <a:xfrm>
            <a:off x="4499992" y="4146759"/>
            <a:ext cx="3744416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dirty="0" err="1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en-US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endParaRPr lang="en-US" altLang="ko-KR" sz="1400" dirty="0">
              <a:solidFill>
                <a:srgbClr val="383A4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{</a:t>
            </a:r>
            <a:b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400" dirty="0" err="1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dirty="0" err="1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dirty="0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dirty="0" err="1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lambda</a:t>
            </a:r>
            <a:r>
              <a:rPr lang="ko-KR" altLang="ko-KR" sz="1400" dirty="0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dirty="0" err="1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dirty="0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dirty="0" err="1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dirty="0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en-US" altLang="ko-KR" sz="1400" dirty="0">
              <a:solidFill>
                <a:srgbClr val="383A4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worker.join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085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6211B-5FA7-69A9-675C-C7CA9479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29883-84BE-A50A-3E34-D8B2E5D7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ko-KR" altLang="en-US" dirty="0"/>
              <a:t>인수 전달과 객체 수명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C76549-DBFC-EB34-3099-04E5D6DCD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std::thread</a:t>
            </a:r>
            <a:r>
              <a:rPr lang="ko-KR" altLang="en-US" sz="2000" dirty="0"/>
              <a:t>는 함수와 인수를 내부에 저장</a:t>
            </a:r>
          </a:p>
          <a:p>
            <a:r>
              <a:rPr lang="ko-KR" altLang="en-US" sz="2000" dirty="0"/>
              <a:t>일반 인수는 복사 또는 이동 저장</a:t>
            </a:r>
          </a:p>
          <a:p>
            <a:r>
              <a:rPr lang="ko-KR" altLang="en-US" sz="2000" dirty="0"/>
              <a:t>참조 전달은 </a:t>
            </a:r>
            <a:r>
              <a:rPr lang="en-US" altLang="ko-KR" sz="2000" dirty="0"/>
              <a:t>std::ref(), std::</a:t>
            </a:r>
            <a:r>
              <a:rPr lang="en-US" altLang="ko-KR" sz="2000" dirty="0" err="1"/>
              <a:t>cref</a:t>
            </a:r>
            <a:r>
              <a:rPr lang="en-US" altLang="ko-KR" sz="2000" dirty="0"/>
              <a:t>() </a:t>
            </a:r>
            <a:r>
              <a:rPr lang="ko-KR" altLang="en-US" sz="2000" dirty="0"/>
              <a:t>사용</a:t>
            </a:r>
          </a:p>
          <a:p>
            <a:r>
              <a:rPr lang="ko-KR" altLang="en-US" sz="2000" dirty="0"/>
              <a:t>참조 대상은 스레드가 끝날 때까지 살아 있어야 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85142-3920-EFBD-902F-46014EA72E5B}"/>
              </a:ext>
            </a:extLst>
          </p:cNvPr>
          <p:cNvSpPr txBox="1"/>
          <p:nvPr/>
        </p:nvSpPr>
        <p:spPr>
          <a:xfrm>
            <a:off x="543942" y="2390641"/>
            <a:ext cx="6764362" cy="310854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worker.join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message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loading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message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worker.join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C86F2-5B02-6FB5-1FC7-B7810E44A45D}"/>
              </a:ext>
            </a:extLst>
          </p:cNvPr>
          <p:cNvSpPr txBox="1"/>
          <p:nvPr/>
        </p:nvSpPr>
        <p:spPr>
          <a:xfrm>
            <a:off x="539750" y="5635585"/>
            <a:ext cx="676855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지역 객체 참조 캡처 후 스레드 반환 금지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 캡처 또는 소유 객체 이동으로 수명 분리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394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D3126-E72A-FB0B-4CD1-19D75938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0E5BB-C81D-71B4-9A7D-8000E111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16.2.3 join, joinable, detach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EBD330-243C-EEC3-954B-235F87566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join()</a:t>
            </a:r>
            <a:r>
              <a:rPr lang="ko-KR" altLang="en-US" sz="2400" dirty="0"/>
              <a:t>은 대상 스레드 종료까지 현재 스레드 대기</a:t>
            </a:r>
          </a:p>
          <a:p>
            <a:r>
              <a:rPr lang="en-US" altLang="ko-KR" sz="2400" dirty="0"/>
              <a:t>join() </a:t>
            </a:r>
            <a:r>
              <a:rPr lang="ko-KR" altLang="en-US" sz="2400" dirty="0"/>
              <a:t>후 </a:t>
            </a:r>
            <a:r>
              <a:rPr lang="en-US" altLang="ko-KR" sz="2400" dirty="0"/>
              <a:t>std::thread</a:t>
            </a:r>
            <a:r>
              <a:rPr lang="ko-KR" altLang="en-US" sz="2400" dirty="0"/>
              <a:t>는 실행 스레드를 나타내지 않음</a:t>
            </a:r>
          </a:p>
          <a:p>
            <a:r>
              <a:rPr lang="en-US" altLang="ko-KR" sz="2400" dirty="0"/>
              <a:t>joinable()</a:t>
            </a:r>
            <a:r>
              <a:rPr lang="ko-KR" altLang="en-US" sz="2400" dirty="0"/>
              <a:t>로 결합 가능한 상태 확인</a:t>
            </a:r>
          </a:p>
          <a:p>
            <a:r>
              <a:rPr lang="en-US" altLang="ko-KR" sz="2400" dirty="0"/>
              <a:t>detach()</a:t>
            </a:r>
            <a:r>
              <a:rPr lang="ko-KR" altLang="en-US" sz="2400" dirty="0"/>
              <a:t>는 스레드 객체와 실행 스레드 연결 해제</a:t>
            </a:r>
          </a:p>
          <a:p>
            <a:r>
              <a:rPr lang="ko-KR" altLang="en-US" sz="2400" dirty="0"/>
              <a:t>분리된 스레드는 다시 </a:t>
            </a:r>
            <a:r>
              <a:rPr lang="en-US" altLang="ko-KR" sz="2400" dirty="0"/>
              <a:t>join() </a:t>
            </a:r>
            <a:r>
              <a:rPr lang="ko-KR" altLang="en-US" sz="2400" dirty="0"/>
              <a:t>불가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CA4AE-5355-7802-91F1-2E43B7BDBD87}"/>
              </a:ext>
            </a:extLst>
          </p:cNvPr>
          <p:cNvSpPr txBox="1"/>
          <p:nvPr/>
        </p:nvSpPr>
        <p:spPr>
          <a:xfrm>
            <a:off x="539750" y="3140968"/>
            <a:ext cx="6048474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worker.joinable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worker.join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first.joinable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empty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second.join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91578-628E-CF83-E22F-2D2DF7E0A635}"/>
              </a:ext>
            </a:extLst>
          </p:cNvPr>
          <p:cNvSpPr txBox="1"/>
          <p:nvPr/>
        </p:nvSpPr>
        <p:spPr>
          <a:xfrm>
            <a:off x="4302224" y="5229200"/>
            <a:ext cx="4302026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종료 시점과 참조 대상 수명을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보장하기 어렵다면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detach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지양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6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904F-687F-936B-F804-118748C1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01E9A-F623-8419-4F91-1371918B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16.2.4 </a:t>
            </a:r>
            <a:r>
              <a:rPr lang="ko-KR" altLang="en-US" dirty="0"/>
              <a:t>예외 경로와 스레드 수명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0BBA21-F4EA-968C-53C9-007FACBEE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결합 가능한 </a:t>
            </a:r>
            <a:r>
              <a:rPr lang="en-US" altLang="ko-KR" sz="2400" dirty="0"/>
              <a:t>std::thread </a:t>
            </a:r>
            <a:r>
              <a:rPr lang="ko-KR" altLang="en-US" sz="2400" dirty="0"/>
              <a:t>객체가 소멸하면 </a:t>
            </a:r>
            <a:r>
              <a:rPr lang="en-US" altLang="ko-KR" sz="2400" dirty="0"/>
              <a:t>std::terminate() </a:t>
            </a:r>
            <a:r>
              <a:rPr lang="ko-KR" altLang="en-US" sz="2400" dirty="0"/>
              <a:t>호출</a:t>
            </a:r>
          </a:p>
          <a:p>
            <a:r>
              <a:rPr lang="ko-KR" altLang="en-US" sz="2400" dirty="0"/>
              <a:t>예외가 발생해 </a:t>
            </a:r>
            <a:r>
              <a:rPr lang="en-US" altLang="ko-KR" sz="2400" dirty="0"/>
              <a:t>join()</a:t>
            </a:r>
            <a:r>
              <a:rPr lang="ko-KR" altLang="en-US" sz="2400" dirty="0"/>
              <a:t>을 건너뛰어도 같은 문제</a:t>
            </a:r>
          </a:p>
          <a:p>
            <a:r>
              <a:rPr lang="ko-KR" altLang="en-US" sz="2400" dirty="0"/>
              <a:t>스레드 함수 밖으로 예외가 빠져나와도 </a:t>
            </a:r>
            <a:r>
              <a:rPr lang="en-US" altLang="ko-KR" sz="2400" dirty="0"/>
              <a:t>std::terminate() </a:t>
            </a:r>
            <a:r>
              <a:rPr lang="ko-KR" altLang="en-US" sz="2400" dirty="0"/>
              <a:t>호출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68E10-85F5-D806-D26F-EA50327A3DF8}"/>
              </a:ext>
            </a:extLst>
          </p:cNvPr>
          <p:cNvSpPr txBox="1"/>
          <p:nvPr/>
        </p:nvSpPr>
        <p:spPr>
          <a:xfrm>
            <a:off x="539750" y="2596698"/>
            <a:ext cx="457200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RunTask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PerformOperation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worker.join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98CB7F-2A51-1363-8832-6CC96D58A01C}"/>
              </a:ext>
            </a:extLst>
          </p:cNvPr>
          <p:cNvSpPr txBox="1"/>
          <p:nvPr/>
        </p:nvSpPr>
        <p:spPr>
          <a:xfrm>
            <a:off x="5104085" y="2620568"/>
            <a:ext cx="2924299" cy="201436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216000" tIns="144000" rIns="216000" bIns="144000" anchor="ctr" anchorCtr="0">
            <a:spAutoFit/>
          </a:bodyPr>
          <a:lstStyle/>
          <a:p>
            <a:pPr algn="ctr"/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PerformOperation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예외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worker.join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건너뜀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결합 가능한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terminate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3075A-7956-9F8F-C95D-1488C2D3FB94}"/>
              </a:ext>
            </a:extLst>
          </p:cNvPr>
          <p:cNvSpPr txBox="1"/>
          <p:nvPr/>
        </p:nvSpPr>
        <p:spPr>
          <a:xfrm>
            <a:off x="539750" y="4830251"/>
            <a:ext cx="7488634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모든 정상 경로와 예외 경로에서 스레드 수명 정리 필요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C++20 </a:t>
            </a:r>
            <a:r>
              <a:rPr lang="ko-KR" altLang="ko-KR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jthread는</a:t>
            </a: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자동 결합 제공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82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2EE93-3DDC-069D-6430-A0F64E46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BBBEB-1A34-4C46-28D3-6E7D818C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16.2.5 std::</a:t>
            </a:r>
            <a:r>
              <a:rPr lang="en-US" altLang="ko-KR" dirty="0" err="1"/>
              <a:t>jthread</a:t>
            </a:r>
            <a:r>
              <a:rPr lang="en-US" altLang="ko-KR" dirty="0"/>
              <a:t> (C++20)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289BB-A59F-525A-D5AA-B22E0D195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std::thread</a:t>
            </a:r>
            <a:r>
              <a:rPr lang="ko-KR" altLang="en-US" sz="2400" dirty="0"/>
              <a:t>와 비슷하게 스레드 시작</a:t>
            </a:r>
          </a:p>
          <a:p>
            <a:r>
              <a:rPr lang="ko-KR" altLang="en-US" sz="2400" dirty="0"/>
              <a:t>소멸 시 결합 가능한 스레드에 중지 요청</a:t>
            </a:r>
          </a:p>
          <a:p>
            <a:r>
              <a:rPr lang="ko-KR" altLang="en-US" sz="2400" dirty="0"/>
              <a:t>이후 </a:t>
            </a:r>
            <a:r>
              <a:rPr lang="en-US" altLang="ko-KR" sz="2400" dirty="0"/>
              <a:t>join() </a:t>
            </a:r>
            <a:r>
              <a:rPr lang="ko-KR" altLang="en-US" sz="2400" dirty="0"/>
              <a:t>수행</a:t>
            </a:r>
          </a:p>
          <a:p>
            <a:r>
              <a:rPr lang="ko-KR" altLang="en-US" sz="2400" dirty="0"/>
              <a:t>범위 기반 스레드 수명 관리에 적합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A04A7-905C-81DB-DD4C-045CB053D8EF}"/>
              </a:ext>
            </a:extLst>
          </p:cNvPr>
          <p:cNvSpPr txBox="1"/>
          <p:nvPr/>
        </p:nvSpPr>
        <p:spPr>
          <a:xfrm>
            <a:off x="539750" y="2822739"/>
            <a:ext cx="4572000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PrintMessage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{PrintMessage};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5CC1B-3A6B-6BE2-1EA1-1649C62C70E5}"/>
              </a:ext>
            </a:extLst>
          </p:cNvPr>
          <p:cNvSpPr txBox="1"/>
          <p:nvPr/>
        </p:nvSpPr>
        <p:spPr>
          <a:xfrm>
            <a:off x="4788123" y="3309944"/>
            <a:ext cx="2160141" cy="222980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216000" tIns="144000" rIns="216000" bIns="144000" anchor="ctr" anchorCtr="0">
            <a:spAutoFit/>
          </a:bodyPr>
          <a:lstStyle/>
          <a:p>
            <a:pPr algn="ctr"/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종료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중지 요청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join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819103-5CAF-248F-3D90-2BCB2FEB12CF}"/>
              </a:ext>
            </a:extLst>
          </p:cNvPr>
          <p:cNvSpPr txBox="1"/>
          <p:nvPr/>
        </p:nvSpPr>
        <p:spPr>
          <a:xfrm>
            <a:off x="539750" y="5953681"/>
            <a:ext cx="7344816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자동 결합은 작업을 강제로 중단하지 않음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작업 함수가 반환해야 소멸 완료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587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D8A1F-C5F9-13E4-EF2B-50C18242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5CB96-0B30-F6B5-1B20-1F4D0B17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16.2.6 </a:t>
            </a:r>
            <a:r>
              <a:rPr lang="en-US" altLang="ko-KR" dirty="0" err="1"/>
              <a:t>stop_token</a:t>
            </a:r>
            <a:r>
              <a:rPr lang="ko-KR" altLang="en-US" dirty="0"/>
              <a:t>을 이용한 협력적 중지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C65C9-ED8E-04DA-F14C-031B4AE32FB6}"/>
              </a:ext>
            </a:extLst>
          </p:cNvPr>
          <p:cNvSpPr txBox="1"/>
          <p:nvPr/>
        </p:nvSpPr>
        <p:spPr>
          <a:xfrm>
            <a:off x="323528" y="692150"/>
            <a:ext cx="4475286" cy="427809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stop_token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namespace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chrono_literals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stop_token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stopToken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stopToken.stop_requested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working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this_thread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sleep_for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ms);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stopped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18F8BB-1498-D15F-9923-B0D61FE1D8EF}"/>
              </a:ext>
            </a:extLst>
          </p:cNvPr>
          <p:cNvSpPr txBox="1"/>
          <p:nvPr/>
        </p:nvSpPr>
        <p:spPr>
          <a:xfrm>
            <a:off x="323627" y="5111318"/>
            <a:ext cx="849674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request_stop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()은 중지 상태 설정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실행 중인 코드를 강제 중단하지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작업 함수가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stop_requested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확인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처리 중 작업을 완료할지 폐기할지 정책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A6B5D-2987-8EA6-F3B3-02BCF7A48DFE}"/>
              </a:ext>
            </a:extLst>
          </p:cNvPr>
          <p:cNvSpPr txBox="1"/>
          <p:nvPr/>
        </p:nvSpPr>
        <p:spPr>
          <a:xfrm>
            <a:off x="4798814" y="3154362"/>
            <a:ext cx="3949650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this_thread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sleep_for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ms);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worker.request_stop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4856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514D-E498-7355-5CE9-FEF2B138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31D6E-F7E8-CA34-8DA5-967FD417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 </a:t>
            </a:r>
            <a:r>
              <a:rPr lang="ko-KR" altLang="en-US" dirty="0" err="1"/>
              <a:t>뮤텍스와</a:t>
            </a:r>
            <a:r>
              <a:rPr lang="ko-KR" altLang="en-US" dirty="0"/>
              <a:t> 잠금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74C758-ED8B-FEDB-57EC-CF6AA7F13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뮤텍스는</a:t>
            </a:r>
            <a:r>
              <a:rPr lang="ko-KR" altLang="en-US" sz="2400" dirty="0"/>
              <a:t> 상호 배제 제공</a:t>
            </a:r>
          </a:p>
          <a:p>
            <a:r>
              <a:rPr lang="ko-KR" altLang="en-US" sz="2400" dirty="0"/>
              <a:t>같은 임계 구역을 여러 스레드가 동시에 실행하지 못하게 함</a:t>
            </a:r>
          </a:p>
          <a:p>
            <a:r>
              <a:rPr lang="ko-KR" altLang="en-US" sz="2400" dirty="0"/>
              <a:t>공유 데이터에 접근하는 모든 코드가 같은 </a:t>
            </a:r>
            <a:r>
              <a:rPr lang="ko-KR" altLang="en-US" sz="2400" dirty="0" err="1"/>
              <a:t>뮤텍스</a:t>
            </a:r>
            <a:r>
              <a:rPr lang="ko-KR" altLang="en-US" sz="2400" dirty="0"/>
              <a:t> 사용 필요</a:t>
            </a:r>
          </a:p>
          <a:p>
            <a:r>
              <a:rPr lang="ko-KR" altLang="en-US" sz="2400" dirty="0"/>
              <a:t>수동 </a:t>
            </a:r>
            <a:r>
              <a:rPr lang="en-US" altLang="ko-KR" sz="2400" dirty="0"/>
              <a:t>lock()/unlock()</a:t>
            </a:r>
            <a:r>
              <a:rPr lang="ko-KR" altLang="en-US" sz="2400" dirty="0"/>
              <a:t>은 조기 반환과 예외에 취약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54015-431A-24C1-5B6C-3E5B84C4B506}"/>
              </a:ext>
            </a:extLst>
          </p:cNvPr>
          <p:cNvSpPr txBox="1"/>
          <p:nvPr/>
        </p:nvSpPr>
        <p:spPr>
          <a:xfrm>
            <a:off x="550069" y="2769890"/>
            <a:ext cx="3805907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100'000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counterMutex.lock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counterMutex.unlock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8B772-FA6E-0E7B-701B-EC5018FE4064}"/>
              </a:ext>
            </a:extLst>
          </p:cNvPr>
          <p:cNvSpPr txBox="1"/>
          <p:nvPr/>
        </p:nvSpPr>
        <p:spPr>
          <a:xfrm>
            <a:off x="4665067" y="3608387"/>
            <a:ext cx="3805907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counterMutex.lock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CanUpdate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unlock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누락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counterMutex.unlock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377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E21C-73AD-F93F-B9A8-8B3EBCD6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52199-3C04-9F19-363A-3FC7EE3A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16.3.2 std::</a:t>
            </a:r>
            <a:r>
              <a:rPr lang="en-US" altLang="ko-KR" dirty="0" err="1"/>
              <a:t>lock_guard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39EB6D-ECCD-9C5E-B94A-2213AD028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생성 시 </a:t>
            </a:r>
            <a:r>
              <a:rPr lang="ko-KR" altLang="en-US" sz="2400" dirty="0" err="1"/>
              <a:t>뮤텍스</a:t>
            </a:r>
            <a:r>
              <a:rPr lang="ko-KR" altLang="en-US" sz="2400" dirty="0"/>
              <a:t> 잠금</a:t>
            </a:r>
          </a:p>
          <a:p>
            <a:r>
              <a:rPr lang="ko-KR" altLang="en-US" sz="2400" dirty="0"/>
              <a:t>소멸 시 </a:t>
            </a:r>
            <a:r>
              <a:rPr lang="ko-KR" altLang="en-US" sz="2400" dirty="0" err="1"/>
              <a:t>뮤텍스</a:t>
            </a:r>
            <a:r>
              <a:rPr lang="ko-KR" altLang="en-US" sz="2400" dirty="0"/>
              <a:t> 해제</a:t>
            </a:r>
          </a:p>
          <a:p>
            <a:r>
              <a:rPr lang="ko-KR" altLang="en-US" sz="2400" dirty="0"/>
              <a:t>범위 종료</a:t>
            </a:r>
            <a:r>
              <a:rPr lang="en-US" altLang="ko-KR" sz="2400" dirty="0"/>
              <a:t>, </a:t>
            </a:r>
            <a:r>
              <a:rPr lang="ko-KR" altLang="en-US" sz="2400" dirty="0"/>
              <a:t>조기 반환</a:t>
            </a:r>
            <a:r>
              <a:rPr lang="en-US" altLang="ko-KR" sz="2400" dirty="0"/>
              <a:t>, </a:t>
            </a:r>
            <a:r>
              <a:rPr lang="ko-KR" altLang="en-US" sz="2400" dirty="0"/>
              <a:t>예외 경로에서 해제 보장</a:t>
            </a:r>
          </a:p>
          <a:p>
            <a:r>
              <a:rPr lang="ko-KR" altLang="en-US" sz="2400" dirty="0"/>
              <a:t>단순한 한 범위 잠금에 적합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4327B-FFD1-32FD-3C04-E4307BCBCFB7}"/>
              </a:ext>
            </a:extLst>
          </p:cNvPr>
          <p:cNvSpPr txBox="1"/>
          <p:nvPr/>
        </p:nvSpPr>
        <p:spPr>
          <a:xfrm>
            <a:off x="539750" y="2636912"/>
            <a:ext cx="4176266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100'000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D9E05-67DD-7251-E22C-A77D573A34B8}"/>
              </a:ext>
            </a:extLst>
          </p:cNvPr>
          <p:cNvSpPr txBox="1"/>
          <p:nvPr/>
        </p:nvSpPr>
        <p:spPr>
          <a:xfrm>
            <a:off x="5075858" y="2636912"/>
            <a:ext cx="3528392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Account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Deposit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balance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transactionCount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mutable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balance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transactionCount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AC3E5-DDA3-064A-0BE4-2113D01F50DA}"/>
              </a:ext>
            </a:extLst>
          </p:cNvPr>
          <p:cNvSpPr txBox="1"/>
          <p:nvPr/>
        </p:nvSpPr>
        <p:spPr>
          <a:xfrm>
            <a:off x="539750" y="6182112"/>
            <a:ext cx="8064500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여러 값을 하나의 불변식으로 관리하면 같은 잠금 범위에서 변경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799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9F85-3499-F86C-DD00-D19519FB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2A272-5D69-3AF0-1BD1-83D60B2F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16.3.3 std::</a:t>
            </a:r>
            <a:r>
              <a:rPr lang="en-US" altLang="ko-KR" dirty="0" err="1"/>
              <a:t>scoped_lock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99EAE2-D6F0-A02A-AFE8-D021C51F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하나 이상의 </a:t>
            </a:r>
            <a:r>
              <a:rPr lang="ko-KR" altLang="en-US" sz="2400" dirty="0" err="1"/>
              <a:t>뮤텍스를</a:t>
            </a:r>
            <a:r>
              <a:rPr lang="ko-KR" altLang="en-US" sz="2400" dirty="0"/>
              <a:t> 잠금</a:t>
            </a:r>
          </a:p>
          <a:p>
            <a:r>
              <a:rPr lang="ko-KR" altLang="en-US" sz="2400" dirty="0"/>
              <a:t>여러 </a:t>
            </a:r>
            <a:r>
              <a:rPr lang="ko-KR" altLang="en-US" sz="2400" dirty="0" err="1"/>
              <a:t>뮤텍스를</a:t>
            </a:r>
            <a:r>
              <a:rPr lang="ko-KR" altLang="en-US" sz="2400" dirty="0"/>
              <a:t> 교착 상태를 피하는 방식으로 잠금</a:t>
            </a:r>
          </a:p>
          <a:p>
            <a:r>
              <a:rPr lang="ko-KR" altLang="en-US" sz="2400" dirty="0"/>
              <a:t>잠금 객체 소멸 시 모두 해제</a:t>
            </a:r>
          </a:p>
          <a:p>
            <a:r>
              <a:rPr lang="ko-KR" altLang="en-US" sz="2400" dirty="0"/>
              <a:t>계좌 이체처럼 두 객체를 함께 보호할 때 유용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E25D2C-7F0B-3CDC-317E-ED9A7502D8FC}"/>
              </a:ext>
            </a:extLst>
          </p:cNvPr>
          <p:cNvSpPr txBox="1"/>
          <p:nvPr/>
        </p:nvSpPr>
        <p:spPr>
          <a:xfrm>
            <a:off x="474644" y="2708920"/>
            <a:ext cx="5825548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Account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friend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balance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8E554-340D-A057-D008-37CF3B7C121D}"/>
              </a:ext>
            </a:extLst>
          </p:cNvPr>
          <p:cNvSpPr txBox="1"/>
          <p:nvPr/>
        </p:nvSpPr>
        <p:spPr>
          <a:xfrm>
            <a:off x="3491880" y="4018419"/>
            <a:ext cx="5318273" cy="267765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scoped_lock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from.mutex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to.mutex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from.balance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from.balance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to.balance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2469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56FE-6056-B0C7-8547-159E353A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121EF-3DD3-75CF-C1F7-674A808F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std::</a:t>
            </a:r>
            <a:r>
              <a:rPr lang="en-US" altLang="ko-KR" dirty="0" err="1"/>
              <a:t>unique_lock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EC897-4B3B-723C-EEA7-F6D2F04D5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잠금 소유 여부를 상태로 보관</a:t>
            </a:r>
          </a:p>
          <a:p>
            <a:r>
              <a:rPr lang="ko-KR" altLang="en-US" sz="2400" dirty="0"/>
              <a:t>이동 가능</a:t>
            </a:r>
          </a:p>
          <a:p>
            <a:r>
              <a:rPr lang="ko-KR" altLang="en-US" sz="2400" dirty="0"/>
              <a:t>지연 잠금 가능</a:t>
            </a:r>
          </a:p>
          <a:p>
            <a:r>
              <a:rPr lang="ko-KR" altLang="en-US" sz="2400" dirty="0"/>
              <a:t>명시적 해제와 재 잠금 가능</a:t>
            </a:r>
          </a:p>
          <a:p>
            <a:r>
              <a:rPr lang="ko-KR" altLang="en-US" sz="2400" dirty="0"/>
              <a:t>조건 변수 대기에 필요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5EAF2-6F1C-0714-04D8-56EBAF152312}"/>
              </a:ext>
            </a:extLst>
          </p:cNvPr>
          <p:cNvSpPr txBox="1"/>
          <p:nvPr/>
        </p:nvSpPr>
        <p:spPr>
          <a:xfrm>
            <a:off x="5004048" y="976897"/>
            <a:ext cx="3888432" cy="526297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lock.unlock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PerformLongOperation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lock.lock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defer_lock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PrepareLocalData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lock.lock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UpdateSharedData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0E9BAF-39EA-AC43-4A33-987B04DDB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310554"/>
              </p:ext>
            </p:extLst>
          </p:nvPr>
        </p:nvGraphicFramePr>
        <p:xfrm>
          <a:off x="359532" y="3429000"/>
          <a:ext cx="4500500" cy="1950089"/>
        </p:xfrm>
        <a:graphic>
          <a:graphicData uri="http://schemas.openxmlformats.org/drawingml/2006/table">
            <a:tbl>
              <a:tblPr/>
              <a:tblGrid>
                <a:gridCol w="1733799">
                  <a:extLst>
                    <a:ext uri="{9D8B030D-6E8A-4147-A177-3AD203B41FA5}">
                      <a16:colId xmlns:a16="http://schemas.microsoft.com/office/drawing/2014/main" val="49446521"/>
                    </a:ext>
                  </a:extLst>
                </a:gridCol>
                <a:gridCol w="2766701">
                  <a:extLst>
                    <a:ext uri="{9D8B030D-6E8A-4147-A177-3AD203B41FA5}">
                      <a16:colId xmlns:a16="http://schemas.microsoft.com/office/drawing/2014/main" val="1315586401"/>
                    </a:ext>
                  </a:extLst>
                </a:gridCol>
              </a:tblGrid>
              <a:tr h="38769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잠금 도구</a:t>
                      </a:r>
                      <a:endParaRPr lang="ko-KR" sz="3200" b="1" dirty="0">
                        <a:effectLst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적합한 상황</a:t>
                      </a:r>
                      <a:endParaRPr lang="ko-KR" sz="3200" b="1" dirty="0">
                        <a:effectLst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0565"/>
                  </a:ext>
                </a:extLst>
              </a:tr>
              <a:tr h="40665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lock_guard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단순한 한 범위 잠금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05519"/>
                  </a:ext>
                </a:extLst>
              </a:tr>
              <a:tr h="63416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scoped_lock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뮤텍스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함께 잠금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43664"/>
                  </a:ext>
                </a:extLst>
              </a:tr>
              <a:tr h="40665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unique_lock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잠금 상태 제어, 조건 변수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901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278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2DC4-98AB-438F-2CE5-04DE47B4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6D22-F705-6F62-C1CD-1D5FCFAF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16.3.5 RAII</a:t>
            </a:r>
            <a:r>
              <a:rPr lang="ko-KR" altLang="en-US" dirty="0"/>
              <a:t>와 잠금 범위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D5115-93C7-4CA3-A0EF-175D67B34639}"/>
              </a:ext>
            </a:extLst>
          </p:cNvPr>
          <p:cNvSpPr txBox="1"/>
          <p:nvPr/>
        </p:nvSpPr>
        <p:spPr>
          <a:xfrm>
            <a:off x="467544" y="764704"/>
            <a:ext cx="3600400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IsValid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ModifyState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E4B59-1B4B-396B-5C51-5EC04C3E4A3D}"/>
              </a:ext>
            </a:extLst>
          </p:cNvPr>
          <p:cNvSpPr txBox="1"/>
          <p:nvPr/>
        </p:nvSpPr>
        <p:spPr>
          <a:xfrm>
            <a:off x="3752403" y="2242032"/>
            <a:ext cx="493204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함수가 정상 종료되어도 잠금 해제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조기 반환되어도 잠금 해제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예외로 빠져나가도 잠금 해제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잠금 해제 보장은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RAII가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담당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C7EFE-148B-C81E-DFAE-8900BAE73AF1}"/>
              </a:ext>
            </a:extLst>
          </p:cNvPr>
          <p:cNvSpPr txBox="1"/>
          <p:nvPr/>
        </p:nvSpPr>
        <p:spPr>
          <a:xfrm>
            <a:off x="467544" y="4100299"/>
            <a:ext cx="360040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snapshot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snapshot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SaveToFile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snapshot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65DE7-3F94-4512-A529-9C82A801A9C1}"/>
              </a:ext>
            </a:extLst>
          </p:cNvPr>
          <p:cNvSpPr txBox="1"/>
          <p:nvPr/>
        </p:nvSpPr>
        <p:spPr>
          <a:xfrm>
            <a:off x="3752403" y="4838963"/>
            <a:ext cx="493204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공유 데이터 복사는 잠금 안에서 수행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파일 입출력 같은 긴 작업은 잠금 밖에서 수행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잠금 범위는 짧게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상태 변경 원자성은 깨지지 않게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3563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D5AC-5AD7-DFB9-EE97-BED337D8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D7F13-804A-13AC-E2F2-994675EB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교착 상태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F5E3BE-F50E-9625-3732-89200F195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둘 이상의 실행 흐름이 서로가 가진 자원을 기다림</a:t>
            </a:r>
          </a:p>
          <a:p>
            <a:r>
              <a:rPr lang="ko-KR" altLang="en-US" sz="2400" dirty="0"/>
              <a:t>어느 쪽도 진행하지 못함</a:t>
            </a:r>
          </a:p>
          <a:p>
            <a:r>
              <a:rPr lang="ko-KR" altLang="en-US" sz="2400" dirty="0"/>
              <a:t>프로그램이 종료되지 않고 멈춘 것처럼 보일 수 있음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E1B7FA9-7C83-4A06-331D-64B92A30D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024543"/>
              </p:ext>
            </p:extLst>
          </p:nvPr>
        </p:nvGraphicFramePr>
        <p:xfrm>
          <a:off x="534417" y="2204864"/>
          <a:ext cx="5909791" cy="2128520"/>
        </p:xfrm>
        <a:graphic>
          <a:graphicData uri="http://schemas.openxmlformats.org/drawingml/2006/table">
            <a:tbl>
              <a:tblPr/>
              <a:tblGrid>
                <a:gridCol w="1517303">
                  <a:extLst>
                    <a:ext uri="{9D8B030D-6E8A-4147-A177-3AD203B41FA5}">
                      <a16:colId xmlns:a16="http://schemas.microsoft.com/office/drawing/2014/main" val="4203569585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6870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조건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197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상호 배제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한 자원을 한 스레드만 사용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713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점유와 대기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자원을 가진 채 다른 자원 대기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57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</a:t>
                      </a:r>
                      <a:r>
                        <a:rPr lang="en-US" alt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선점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다른 스레드 자원을 강제로 빼앗을 수 없음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28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순환 대기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원형으로 서로의 자원 대기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791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6EEDB4-B8FA-1AFE-33B8-60FAC029DFEF}"/>
              </a:ext>
            </a:extLst>
          </p:cNvPr>
          <p:cNvSpPr txBox="1"/>
          <p:nvPr/>
        </p:nvSpPr>
        <p:spPr>
          <a:xfrm>
            <a:off x="534417" y="4485253"/>
            <a:ext cx="5909791" cy="224676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041C2-F600-7F4E-C0B1-938D1F523153}"/>
              </a:ext>
            </a:extLst>
          </p:cNvPr>
          <p:cNvSpPr txBox="1"/>
          <p:nvPr/>
        </p:nvSpPr>
        <p:spPr>
          <a:xfrm>
            <a:off x="5076056" y="5980886"/>
            <a:ext cx="374441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반대 순서 잠금은 순환 대기 가능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7812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564F-317E-3B04-8B17-9590F872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A9C2D-DFBC-47BF-30E2-232A2271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16.4.2 </a:t>
            </a:r>
            <a:r>
              <a:rPr lang="ko-KR" altLang="en-US" dirty="0"/>
              <a:t>잠금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834CE8-D21A-36D7-EF2A-776C53D99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모든 코드에서 </a:t>
            </a:r>
            <a:r>
              <a:rPr lang="ko-KR" altLang="en-US" sz="2400" dirty="0" err="1"/>
              <a:t>뮤텍스를</a:t>
            </a:r>
            <a:r>
              <a:rPr lang="ko-KR" altLang="en-US" sz="2400" dirty="0"/>
              <a:t> 같은 순서로 잠금</a:t>
            </a:r>
          </a:p>
          <a:p>
            <a:r>
              <a:rPr lang="ko-KR" altLang="en-US" sz="2400" dirty="0"/>
              <a:t>순환 대기 제거</a:t>
            </a:r>
          </a:p>
          <a:p>
            <a:r>
              <a:rPr lang="ko-KR" altLang="en-US" sz="2400" dirty="0"/>
              <a:t>대규모 코드에서는 잠금 계층과 순서 문서화</a:t>
            </a:r>
          </a:p>
          <a:p>
            <a:r>
              <a:rPr lang="ko-KR" altLang="en-US" sz="2400" dirty="0"/>
              <a:t>직접 순서 관리가 어렵다면 표준 도구 사용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42B75-ED90-3465-25B1-5E127F30B648}"/>
              </a:ext>
            </a:extLst>
          </p:cNvPr>
          <p:cNvSpPr txBox="1"/>
          <p:nvPr/>
        </p:nvSpPr>
        <p:spPr>
          <a:xfrm>
            <a:off x="528314" y="2780928"/>
            <a:ext cx="5483845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여러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뮤텍스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안전 잠금</a:t>
            </a:r>
            <a:endParaRPr lang="ko-KR" altLang="ko-KR" sz="16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Exchange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(Data&amp;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Data&amp;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scoped_lock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swap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ko-KR" sz="16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buNone/>
            </a:pPr>
            <a:br>
              <a:rPr lang="ko-KR" altLang="ko-KR" sz="16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9544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08E8-3E42-1AE8-A550-FCB5C23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57922-9E9F-83F5-4E33-B5AB5E71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16.4.4 </a:t>
            </a:r>
            <a:r>
              <a:rPr lang="ko-KR" altLang="en-US" dirty="0"/>
              <a:t>잠금 범위와 외부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27B183-AE03-7547-8721-83CAF0E08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잠금을 오래 보유하면 경합 증가</a:t>
            </a:r>
          </a:p>
          <a:p>
            <a:r>
              <a:rPr lang="ko-KR" altLang="en-US" sz="2400" dirty="0"/>
              <a:t>공유 상태 접근에 필요한 범위만 보호</a:t>
            </a:r>
          </a:p>
          <a:p>
            <a:r>
              <a:rPr lang="ko-KR" altLang="en-US" sz="2400" dirty="0"/>
              <a:t>잠금 안에서 외부 콜백이나 가상 함수 호출 지양</a:t>
            </a:r>
          </a:p>
          <a:p>
            <a:r>
              <a:rPr lang="ko-KR" altLang="en-US" sz="2400" dirty="0"/>
              <a:t>호출 대상이 어떤 잠금을 획득할지 알기 어려움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632C0-937E-139C-54F5-F6099AEAB1A3}"/>
              </a:ext>
            </a:extLst>
          </p:cNvPr>
          <p:cNvSpPr txBox="1"/>
          <p:nvPr/>
        </p:nvSpPr>
        <p:spPr>
          <a:xfrm>
            <a:off x="549476" y="3284984"/>
            <a:ext cx="3827177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tasks.front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tasks.pop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BE043-AFD4-3875-1C5F-A62B51970D90}"/>
              </a:ext>
            </a:extLst>
          </p:cNvPr>
          <p:cNvSpPr txBox="1"/>
          <p:nvPr/>
        </p:nvSpPr>
        <p:spPr>
          <a:xfrm>
            <a:off x="4591794" y="3284984"/>
            <a:ext cx="4002730" cy="24622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localCallback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localCallback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localCallback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localCallback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799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5E6B-C946-536D-E1D8-3176D2EA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4512C-E433-EF31-3CDC-F5A1CF37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 </a:t>
            </a:r>
            <a:r>
              <a:rPr lang="ko-KR" altLang="en-US" dirty="0"/>
              <a:t>조건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27EF82-3DB5-190B-5C77-C2515C19E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공유 상태가 특정 조건을 만족할 때까지 스레드 대기</a:t>
            </a:r>
          </a:p>
          <a:p>
            <a:r>
              <a:rPr lang="ko-KR" altLang="en-US" sz="2400" dirty="0"/>
              <a:t>바쁜 대기 방지</a:t>
            </a:r>
          </a:p>
          <a:p>
            <a:r>
              <a:rPr lang="en-US" altLang="ko-KR" sz="2400" dirty="0"/>
              <a:t>&lt;</a:t>
            </a:r>
            <a:r>
              <a:rPr lang="en-US" altLang="ko-KR" sz="2400" dirty="0" err="1"/>
              <a:t>condition_variable</a:t>
            </a:r>
            <a:r>
              <a:rPr lang="en-US" altLang="ko-KR" sz="2400" dirty="0"/>
              <a:t>&gt; </a:t>
            </a:r>
            <a:r>
              <a:rPr lang="ko-KR" altLang="en-US" sz="2400" dirty="0"/>
              <a:t>헤더</a:t>
            </a:r>
          </a:p>
          <a:p>
            <a:r>
              <a:rPr lang="ko-KR" altLang="en-US" sz="2400" dirty="0"/>
              <a:t>대기에는 </a:t>
            </a:r>
            <a:r>
              <a:rPr lang="en-US" altLang="ko-KR" sz="2400" dirty="0"/>
              <a:t>std::</a:t>
            </a:r>
            <a:r>
              <a:rPr lang="en-US" altLang="ko-KR" sz="2400" dirty="0" err="1"/>
              <a:t>unique_lock</a:t>
            </a:r>
            <a:r>
              <a:rPr lang="en-US" altLang="ko-KR" sz="2400" dirty="0"/>
              <a:t>&lt;std::mutex&gt; </a:t>
            </a:r>
            <a:r>
              <a:rPr lang="ko-KR" altLang="en-US" sz="2400" dirty="0"/>
              <a:t>필요</a:t>
            </a:r>
          </a:p>
          <a:p>
            <a:r>
              <a:rPr lang="ko-KR" altLang="en-US" sz="2400" dirty="0"/>
              <a:t>조건 변수의 핵심은 통지가 아니라 공유 상태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18E37-AB8D-14BE-3FEE-8B7D9F05F950}"/>
              </a:ext>
            </a:extLst>
          </p:cNvPr>
          <p:cNvSpPr txBox="1"/>
          <p:nvPr/>
        </p:nvSpPr>
        <p:spPr>
          <a:xfrm>
            <a:off x="539750" y="3429000"/>
            <a:ext cx="4176266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condition_variable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queue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stopped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condition.wait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[&amp;]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||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stopped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2DEE2-374B-D84D-C964-9BE6924BF4A9}"/>
              </a:ext>
            </a:extLst>
          </p:cNvPr>
          <p:cNvSpPr txBox="1"/>
          <p:nvPr/>
        </p:nvSpPr>
        <p:spPr>
          <a:xfrm>
            <a:off x="5004048" y="3445964"/>
            <a:ext cx="2736304" cy="278380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216000" tIns="144000" rIns="216000" bIns="144000" anchor="ctr" anchorCtr="0">
            <a:spAutoFit/>
          </a:bodyPr>
          <a:lstStyle/>
          <a:p>
            <a:pPr algn="ctr"/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조건 거짓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wait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()가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뮤텍스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해제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대기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깨어나면 다시 잠금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조건 재검사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1852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507E-056A-9FFC-E057-62B703832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A0EA5-35C5-3113-A786-FF120194E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16.5.3 </a:t>
            </a:r>
            <a:r>
              <a:rPr lang="ko-KR" altLang="en-US" dirty="0"/>
              <a:t>대기</a:t>
            </a:r>
            <a:r>
              <a:rPr lang="en-US" altLang="ko-KR" dirty="0"/>
              <a:t>, </a:t>
            </a:r>
            <a:r>
              <a:rPr lang="ko-KR" altLang="en-US" dirty="0"/>
              <a:t>통지와 가짜 깨어남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7CEE0-CD2D-A2FA-1593-0A0C321BA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wait()</a:t>
            </a:r>
            <a:r>
              <a:rPr lang="ko-KR" altLang="en-US" sz="2400" dirty="0"/>
              <a:t>는 통지 없이 반환할 수 있음</a:t>
            </a:r>
          </a:p>
          <a:p>
            <a:r>
              <a:rPr lang="ko-KR" altLang="en-US" sz="2400" dirty="0"/>
              <a:t>가짜 깨어남 가능</a:t>
            </a:r>
          </a:p>
          <a:p>
            <a:r>
              <a:rPr lang="ko-KR" altLang="en-US" sz="2400" dirty="0"/>
              <a:t>통지를 받았어도 다른 소비자가 먼저 작업을 가져갈 수 있음</a:t>
            </a:r>
          </a:p>
          <a:p>
            <a:r>
              <a:rPr lang="ko-KR" altLang="en-US" sz="2400" dirty="0"/>
              <a:t>조건식은 반복해서 검사해야 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4C23D-9BE7-17E0-F5D0-501D113A3D8B}"/>
              </a:ext>
            </a:extLst>
          </p:cNvPr>
          <p:cNvSpPr txBox="1"/>
          <p:nvPr/>
        </p:nvSpPr>
        <p:spPr>
          <a:xfrm>
            <a:off x="529109" y="2800473"/>
            <a:ext cx="3898875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condition.wait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[&amp;]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||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stopped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&amp;&amp; 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stopped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condition.wait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C616639-8C33-42A5-D1B7-6B1A5510F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433653"/>
              </p:ext>
            </p:extLst>
          </p:nvPr>
        </p:nvGraphicFramePr>
        <p:xfrm>
          <a:off x="4680682" y="3429000"/>
          <a:ext cx="4042890" cy="1315896"/>
        </p:xfrm>
        <a:graphic>
          <a:graphicData uri="http://schemas.openxmlformats.org/drawingml/2006/table">
            <a:tbl>
              <a:tblPr/>
              <a:tblGrid>
                <a:gridCol w="1631097">
                  <a:extLst>
                    <a:ext uri="{9D8B030D-6E8A-4147-A177-3AD203B41FA5}">
                      <a16:colId xmlns:a16="http://schemas.microsoft.com/office/drawing/2014/main" val="3436786200"/>
                    </a:ext>
                  </a:extLst>
                </a:gridCol>
                <a:gridCol w="2411793">
                  <a:extLst>
                    <a:ext uri="{9D8B030D-6E8A-4147-A177-3AD203B41FA5}">
                      <a16:colId xmlns:a16="http://schemas.microsoft.com/office/drawing/2014/main" val="1734854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33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notify_one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대기 스레드 하나 깨움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77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notify_all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대기 스레드 모두 깨움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8451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9AAD28B-6037-6FFF-B394-B9FD2EA87696}"/>
              </a:ext>
            </a:extLst>
          </p:cNvPr>
          <p:cNvSpPr txBox="1"/>
          <p:nvPr/>
        </p:nvSpPr>
        <p:spPr>
          <a:xfrm>
            <a:off x="539750" y="5370682"/>
            <a:ext cx="8183822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작업 하나 추가 → 보통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notify_one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종료 상태 변경 → 보통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notify_all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공유 상태를 먼저 변경하고 통지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234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B4FE-BFB8-BBF9-A888-8F8E0F93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05473-B522-154F-4CD8-13C239EA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16.5.4 </a:t>
            </a:r>
            <a:r>
              <a:rPr lang="ko-KR" altLang="ko-KR" dirty="0"/>
              <a:t>생산자-소비자(</a:t>
            </a:r>
            <a:r>
              <a:rPr lang="ko-KR" altLang="ko-KR" dirty="0" err="1"/>
              <a:t>Producer-Consumer</a:t>
            </a:r>
            <a:r>
              <a:rPr lang="ko-KR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8EEEE7-18EE-FC7F-3920-CCE20902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작업을 만드는 스레드와 처리하는 스레드를 분리</a:t>
            </a:r>
            <a:endParaRPr lang="en-US" altLang="ko-KR" sz="2400" dirty="0"/>
          </a:p>
          <a:p>
            <a:pPr lvl="1"/>
            <a:r>
              <a:rPr lang="ko-KR" altLang="en-US" sz="2000" dirty="0"/>
              <a:t>생산자 </a:t>
            </a:r>
            <a:r>
              <a:rPr lang="en-US" altLang="ko-KR" sz="2000" dirty="0"/>
              <a:t>: [</a:t>
            </a:r>
            <a:r>
              <a:rPr lang="ko-KR" altLang="en-US" sz="2000" dirty="0"/>
              <a:t>작업 생성</a:t>
            </a:r>
            <a:r>
              <a:rPr lang="en-US" altLang="ko-KR" sz="2000" dirty="0"/>
              <a:t>] ──▶ [</a:t>
            </a:r>
            <a:r>
              <a:rPr lang="ko-KR" altLang="en-US" sz="2000" dirty="0"/>
              <a:t>공유 작업 큐에 저장</a:t>
            </a:r>
            <a:r>
              <a:rPr lang="en-US" altLang="ko-KR" sz="2000" dirty="0"/>
              <a:t>]</a:t>
            </a:r>
          </a:p>
          <a:p>
            <a:pPr lvl="1"/>
            <a:r>
              <a:rPr lang="ko-KR" altLang="en-US" sz="2000" dirty="0"/>
              <a:t>소비자 </a:t>
            </a:r>
            <a:r>
              <a:rPr lang="en-US" altLang="ko-KR" sz="2000" dirty="0"/>
              <a:t>: [</a:t>
            </a:r>
            <a:r>
              <a:rPr lang="ko-KR" altLang="en-US" sz="2000" dirty="0"/>
              <a:t>공유 작업 큐 확인</a:t>
            </a:r>
            <a:r>
              <a:rPr lang="en-US" altLang="ko-KR" sz="2000" dirty="0"/>
              <a:t>] ──▶ [</a:t>
            </a:r>
            <a:r>
              <a:rPr lang="ko-KR" altLang="en-US" sz="2000" dirty="0"/>
              <a:t>작업 꺼내기</a:t>
            </a:r>
            <a:r>
              <a:rPr lang="en-US" altLang="ko-KR" sz="2000" dirty="0"/>
              <a:t>] ──▶ [</a:t>
            </a:r>
            <a:r>
              <a:rPr lang="ko-KR" altLang="en-US" sz="2000" dirty="0"/>
              <a:t>작업 처리</a:t>
            </a:r>
            <a:r>
              <a:rPr lang="en-US" altLang="ko-KR" sz="2000" dirty="0"/>
              <a:t>]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306D2-184D-C2F8-4904-F5906A85F1BF}"/>
              </a:ext>
            </a:extLst>
          </p:cNvPr>
          <p:cNvSpPr txBox="1"/>
          <p:nvPr/>
        </p:nvSpPr>
        <p:spPr>
          <a:xfrm>
            <a:off x="683555" y="2197893"/>
            <a:ext cx="3544753" cy="24622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생산자, 소비자 태스크.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dirty="0" err="1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TaskQueue</a:t>
            </a:r>
            <a:r>
              <a:rPr lang="en-US" altLang="ko-KR" sz="1400" b="1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Push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tasks.push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대기 중인 스레드에 큐 상태 변경을 통지.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condition.notify_one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758779-3519-06D8-5F3E-E1AE86898C3F}"/>
              </a:ext>
            </a:extLst>
          </p:cNvPr>
          <p:cNvSpPr txBox="1"/>
          <p:nvPr/>
        </p:nvSpPr>
        <p:spPr>
          <a:xfrm>
            <a:off x="4335152" y="2197893"/>
            <a:ext cx="3981264" cy="375487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WaitPop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unique_lock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작업이 들어오거나 종료 상태가 될 때까지 대기.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condition.wait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[&amp;]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tasks.empty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||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stopped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en-US" altLang="ko-KR" sz="1400" b="1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tasks.empty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tasks.front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tasks.pop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0684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1619-2CB8-02C0-F3A0-735FF1ED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4B0F3-E5A0-7642-BB8F-D7F4CD28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16.5.5 </a:t>
            </a:r>
            <a:r>
              <a:rPr lang="ko-KR" altLang="en-US" dirty="0"/>
              <a:t>시간 제한 대기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DE1AD3-3C68-EAFA-32F1-8C003383E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err="1"/>
              <a:t>wait_for</a:t>
            </a:r>
            <a:r>
              <a:rPr lang="en-US" altLang="ko-KR" sz="2400" dirty="0"/>
              <a:t>()</a:t>
            </a:r>
            <a:r>
              <a:rPr lang="ko-KR" altLang="en-US" sz="2400" dirty="0"/>
              <a:t>는 상대 시간까지 대기</a:t>
            </a:r>
          </a:p>
          <a:p>
            <a:r>
              <a:rPr lang="en-US" altLang="ko-KR" sz="2400" dirty="0" err="1"/>
              <a:t>wait_until</a:t>
            </a:r>
            <a:r>
              <a:rPr lang="en-US" altLang="ko-KR" sz="2400" dirty="0"/>
              <a:t>()</a:t>
            </a:r>
            <a:r>
              <a:rPr lang="ko-KR" altLang="en-US" sz="2400" dirty="0"/>
              <a:t>은 절대 시점까지 대기</a:t>
            </a:r>
          </a:p>
          <a:p>
            <a:r>
              <a:rPr lang="ko-KR" altLang="en-US" sz="2400" dirty="0"/>
              <a:t>조건식 오버로드의 </a:t>
            </a:r>
            <a:r>
              <a:rPr lang="ko-KR" altLang="en-US" sz="2400" dirty="0" err="1"/>
              <a:t>반환값은</a:t>
            </a:r>
            <a:r>
              <a:rPr lang="ko-KR" altLang="en-US" sz="2400" dirty="0"/>
              <a:t> 조건 만족 여부</a:t>
            </a:r>
          </a:p>
          <a:p>
            <a:r>
              <a:rPr lang="ko-KR" altLang="en-US" sz="2400" dirty="0"/>
              <a:t>시간 초과와 상태 변경이 거의 동시에 발생할 수 있음</a:t>
            </a:r>
          </a:p>
          <a:p>
            <a:r>
              <a:rPr lang="ko-KR" altLang="en-US" sz="2400" dirty="0"/>
              <a:t>최종 판단은 잠금 안에서 공유 상태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1E1F57-F508-AEC7-20AA-671BE13FCFD4}"/>
              </a:ext>
            </a:extLst>
          </p:cNvPr>
          <p:cNvSpPr txBox="1"/>
          <p:nvPr/>
        </p:nvSpPr>
        <p:spPr>
          <a:xfrm>
            <a:off x="539750" y="3212976"/>
            <a:ext cx="6912570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namespace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chrono_literals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condition.wait_for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ms, [&amp;]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||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stopped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timeout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E3314-21BB-3598-4062-A09472044941}"/>
              </a:ext>
            </a:extLst>
          </p:cNvPr>
          <p:cNvSpPr txBox="1"/>
          <p:nvPr/>
        </p:nvSpPr>
        <p:spPr>
          <a:xfrm>
            <a:off x="539700" y="5841348"/>
            <a:ext cx="784872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조건식 없는 상대 시간 반복 대기는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가짜 깨어남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마다 제한 시간이 다시 시작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절대 종료 시점 또는 조건식 오버로드 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052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D0818-8550-40CD-2412-B364A6A2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BCF4C-016E-FD57-4B3F-C2586A2B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 </a:t>
            </a:r>
            <a:r>
              <a:rPr lang="ko-KR" altLang="en-US" dirty="0"/>
              <a:t>비동기 작업과 결과 전달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E3FD2-236D-8E17-2580-6D2AA5F64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000" dirty="0"/>
              <a:t>스레드의 계산 결과를 호출한 쪽으로 전달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결과와 예외를 공유 상태로 전달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std::future&lt;T&gt;</a:t>
            </a:r>
            <a:r>
              <a:rPr lang="ko-KR" altLang="en-US" sz="2000" dirty="0"/>
              <a:t>는 나중에 준비될 결과 참조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r>
              <a:rPr lang="ko-KR" altLang="ko-KR" sz="1800" dirty="0"/>
              <a:t>여러 곳에서 같은 결과를 읽</a:t>
            </a:r>
            <a:r>
              <a:rPr lang="ko-KR" altLang="en-US" sz="1800" dirty="0"/>
              <a:t>을 때 사용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get()</a:t>
            </a:r>
            <a:r>
              <a:rPr lang="ko-KR" altLang="en-US" sz="2000" dirty="0"/>
              <a:t>은 결과 준비까지 대기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작업 예외는 </a:t>
            </a:r>
            <a:r>
              <a:rPr lang="en-US" altLang="ko-KR" sz="2000" dirty="0"/>
              <a:t>get()</a:t>
            </a:r>
            <a:r>
              <a:rPr lang="ko-KR" altLang="en-US" sz="2000" dirty="0"/>
              <a:t>에서 다시 발생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get()</a:t>
            </a:r>
            <a:r>
              <a:rPr lang="ko-KR" altLang="en-US" sz="2000" dirty="0"/>
              <a:t>은 보통 한 번만 호출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D0E36-C6DE-0CED-E763-DEEE2BD22429}"/>
              </a:ext>
            </a:extLst>
          </p:cNvPr>
          <p:cNvSpPr txBox="1"/>
          <p:nvPr/>
        </p:nvSpPr>
        <p:spPr>
          <a:xfrm>
            <a:off x="5076056" y="2246531"/>
            <a:ext cx="3816424" cy="427809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future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launch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result.get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81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15C54-6482-F695-7905-53DBB89D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DA189-BFE5-77A7-EB1E-BB67974D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16.6.2 std::promise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80D1A-928F-20C3-E2BC-F806B2E92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생산자가 공유 상태에 값 또는 예외 설정</a:t>
            </a:r>
          </a:p>
          <a:p>
            <a:r>
              <a:rPr lang="ko-KR" altLang="en-US" sz="2400" dirty="0"/>
              <a:t>소비자는 </a:t>
            </a:r>
            <a:r>
              <a:rPr lang="en-US" altLang="ko-KR" sz="2400" dirty="0" err="1"/>
              <a:t>get_future</a:t>
            </a:r>
            <a:r>
              <a:rPr lang="en-US" altLang="ko-KR" sz="2400" dirty="0"/>
              <a:t>()</a:t>
            </a:r>
            <a:r>
              <a:rPr lang="ko-KR" altLang="en-US" sz="2400" dirty="0"/>
              <a:t>로 연결된 </a:t>
            </a:r>
            <a:r>
              <a:rPr lang="en-US" altLang="ko-KR" sz="2400" dirty="0"/>
              <a:t>future </a:t>
            </a:r>
            <a:r>
              <a:rPr lang="ko-KR" altLang="en-US" sz="2400" dirty="0"/>
              <a:t>획득</a:t>
            </a:r>
          </a:p>
          <a:p>
            <a:r>
              <a:rPr lang="en-US" altLang="ko-KR" sz="2400" dirty="0">
                <a:solidFill>
                  <a:srgbClr val="7030A0"/>
                </a:solidFill>
              </a:rPr>
              <a:t>std::promise</a:t>
            </a:r>
            <a:r>
              <a:rPr lang="ko-KR" altLang="en-US" sz="2400" dirty="0">
                <a:solidFill>
                  <a:srgbClr val="7030A0"/>
                </a:solidFill>
              </a:rPr>
              <a:t>는 이동 전용</a:t>
            </a:r>
          </a:p>
          <a:p>
            <a:r>
              <a:rPr lang="ko-KR" altLang="en-US" sz="2400" dirty="0"/>
              <a:t>값을 설정하지 않고 소멸하면 </a:t>
            </a:r>
            <a:r>
              <a:rPr lang="en-US" altLang="ko-KR" sz="2400" dirty="0"/>
              <a:t>broken promise </a:t>
            </a:r>
            <a:r>
              <a:rPr lang="ko-KR" altLang="en-US" sz="2400" dirty="0"/>
              <a:t>오류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DCC7B-6449-5A6B-FA2F-9C24BD246475}"/>
              </a:ext>
            </a:extLst>
          </p:cNvPr>
          <p:cNvSpPr txBox="1"/>
          <p:nvPr/>
        </p:nvSpPr>
        <p:spPr>
          <a:xfrm>
            <a:off x="179512" y="2636912"/>
            <a:ext cx="4752528" cy="39703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future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Produce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promise.set_value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future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promise.get_future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Produce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result.get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6E229-7E97-1405-F1D5-CBA91B2DEFFF}"/>
              </a:ext>
            </a:extLst>
          </p:cNvPr>
          <p:cNvSpPr txBox="1"/>
          <p:nvPr/>
        </p:nvSpPr>
        <p:spPr>
          <a:xfrm>
            <a:off x="4211910" y="2996952"/>
            <a:ext cx="475252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Produce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promise.set_value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catch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(...)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promise.set_exception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current_exception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4798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8D3F9-825F-250B-A961-F17F03C6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DF6B5-B4AA-E8AA-4A95-FA616E90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16.6.3 std::</a:t>
            </a:r>
            <a:r>
              <a:rPr lang="en-US" altLang="ko-KR" dirty="0" err="1"/>
              <a:t>packaged_task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878F57-5632-6AD0-24C7-343786B6F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호출 가능한 객체와 </a:t>
            </a:r>
            <a:r>
              <a:rPr lang="en-US" altLang="ko-KR" dirty="0"/>
              <a:t>future </a:t>
            </a:r>
            <a:r>
              <a:rPr lang="ko-KR" altLang="en-US" dirty="0"/>
              <a:t>공유 상태 연결</a:t>
            </a:r>
          </a:p>
          <a:p>
            <a:r>
              <a:rPr lang="en-US" altLang="ko-KR" dirty="0"/>
              <a:t>task</a:t>
            </a:r>
            <a:r>
              <a:rPr lang="ko-KR" altLang="en-US" dirty="0"/>
              <a:t>를 호출하면 반환값 또는 예외가 공유 상태에 저장</a:t>
            </a:r>
          </a:p>
          <a:p>
            <a:r>
              <a:rPr lang="ko-KR" altLang="en-US" dirty="0"/>
              <a:t>스레드를 직접 만들지 않음</a:t>
            </a:r>
          </a:p>
          <a:p>
            <a:r>
              <a:rPr lang="ko-KR" altLang="en-US" dirty="0"/>
              <a:t>어느 스레드에서 언제 호출할지는 프로그램이 결정</a:t>
            </a:r>
          </a:p>
        </p:txBody>
      </p:sp>
    </p:spTree>
    <p:extLst>
      <p:ext uri="{BB962C8B-B14F-4D97-AF65-F5344CB8AC3E}">
        <p14:creationId xmlns:p14="http://schemas.microsoft.com/office/powerpoint/2010/main" val="1727828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24D93-7C9A-A3A6-17ED-769AEFA0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3DED3-6A7D-C66B-A272-A40F4D8F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16.6.4 std::async</a:t>
            </a:r>
            <a:r>
              <a:rPr lang="ko-KR" altLang="en-US" dirty="0"/>
              <a:t>와 실행 정책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371366D-FD87-997C-0A24-F5BB3B3FBE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655863"/>
              </p:ext>
            </p:extLst>
          </p:nvPr>
        </p:nvGraphicFramePr>
        <p:xfrm>
          <a:off x="611560" y="764704"/>
          <a:ext cx="7128792" cy="1764688"/>
        </p:xfrm>
        <a:graphic>
          <a:graphicData uri="http://schemas.openxmlformats.org/drawingml/2006/table">
            <a:tbl>
              <a:tblPr/>
              <a:tblGrid>
                <a:gridCol w="2805443">
                  <a:extLst>
                    <a:ext uri="{9D8B030D-6E8A-4147-A177-3AD203B41FA5}">
                      <a16:colId xmlns:a16="http://schemas.microsoft.com/office/drawing/2014/main" val="606450856"/>
                    </a:ext>
                  </a:extLst>
                </a:gridCol>
                <a:gridCol w="4323349">
                  <a:extLst>
                    <a:ext uri="{9D8B030D-6E8A-4147-A177-3AD203B41FA5}">
                      <a16:colId xmlns:a16="http://schemas.microsoft.com/office/drawing/2014/main" val="3610309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정책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13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launch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async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별도 실행 스레드에서 작업 요구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494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launch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deferred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 또는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wait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 호출 스레드에서 실행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66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정책 생략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구현이 실행 방식 선택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32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4E7A3E-3958-EDCE-3704-CD9514477231}"/>
              </a:ext>
            </a:extLst>
          </p:cNvPr>
          <p:cNvSpPr txBox="1"/>
          <p:nvPr/>
        </p:nvSpPr>
        <p:spPr>
          <a:xfrm>
            <a:off x="611560" y="2771883"/>
            <a:ext cx="7128792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launch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deferred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launch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deferred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1E641-65F9-F03E-46AB-2E2D1A5493CF}"/>
              </a:ext>
            </a:extLst>
          </p:cNvPr>
          <p:cNvSpPr txBox="1"/>
          <p:nvPr/>
        </p:nvSpPr>
        <p:spPr>
          <a:xfrm>
            <a:off x="4121342" y="3743834"/>
            <a:ext cx="4883478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lvl="0" rtl="0" fontAlgn="base"/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동시 실행이 의미에 필요하면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launch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명시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 rtl="0" fontAlgn="base"/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반환된 임시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future는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문장 끝에서 대기할 수 있음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73C681-87EB-6801-9266-47491B9735AD}"/>
              </a:ext>
            </a:extLst>
          </p:cNvPr>
          <p:cNvSpPr txBox="1"/>
          <p:nvPr/>
        </p:nvSpPr>
        <p:spPr>
          <a:xfrm>
            <a:off x="606624" y="5229200"/>
            <a:ext cx="712879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launch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FirstTask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launch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SecondTask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second.get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2952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3730-9E4B-9E31-FCC1-034276D4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55CC9-8DB5-D459-FFF4-60283012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16.6.5 </a:t>
            </a:r>
            <a:r>
              <a:rPr lang="ko-KR" altLang="en-US" dirty="0"/>
              <a:t>결과와 예외 전달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2924A-E2BA-0C76-2EEC-83CF2315211A}"/>
              </a:ext>
            </a:extLst>
          </p:cNvPr>
          <p:cNvSpPr txBox="1"/>
          <p:nvPr/>
        </p:nvSpPr>
        <p:spPr>
          <a:xfrm>
            <a:off x="323528" y="713506"/>
            <a:ext cx="5112568" cy="332398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launch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async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[]() -&gt;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calculation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failed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result.get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catch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exception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exception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exception.what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76260-334F-F0FD-5EE9-7B2B936609CE}"/>
              </a:ext>
            </a:extLst>
          </p:cNvPr>
          <p:cNvSpPr txBox="1"/>
          <p:nvPr/>
        </p:nvSpPr>
        <p:spPr>
          <a:xfrm>
            <a:off x="341462" y="4365104"/>
            <a:ext cx="5108748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namespace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chrono_literals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result.wait_for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ms) ==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future_status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result.get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6528B5C-70C3-6C39-BA24-6274099E89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8862910"/>
              </p:ext>
            </p:extLst>
          </p:nvPr>
        </p:nvGraphicFramePr>
        <p:xfrm>
          <a:off x="4753793" y="2506241"/>
          <a:ext cx="4176464" cy="2061080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1988526339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836732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53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결과 또는 예외 획득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68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wait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준비될 때까지 대기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015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wait_for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상대 시간 동안 준비 상태 확인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7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wait_until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절대 시점까지 준비 상태 확인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27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775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503C-2D86-E14D-2163-C7E50502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1AB7B-825D-58EE-7A1D-9C16D4EE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 std::atomic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585FED-921E-0A00-F820-C78AF4297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한 객체에 대한 읽기와 쓰기를 원자적으로 수행</a:t>
            </a:r>
          </a:p>
          <a:p>
            <a:r>
              <a:rPr lang="ko-KR" altLang="en-US" sz="2400" dirty="0"/>
              <a:t>다른 스레드가 연산 중간 상태를 관찰하지 못함</a:t>
            </a:r>
          </a:p>
          <a:p>
            <a:r>
              <a:rPr lang="ko-KR" altLang="en-US" sz="2400" dirty="0"/>
              <a:t>단일 값의 독립적인 상태 변화에 적합</a:t>
            </a:r>
          </a:p>
          <a:p>
            <a:r>
              <a:rPr lang="en-US" altLang="ko-KR" sz="2400" dirty="0"/>
              <a:t>&lt;atomic&gt; </a:t>
            </a:r>
            <a:r>
              <a:rPr lang="ko-KR" altLang="en-US" sz="2400" dirty="0"/>
              <a:t>헤더</a:t>
            </a:r>
          </a:p>
          <a:p>
            <a:r>
              <a:rPr lang="en-US" altLang="ko-KR" sz="2400" dirty="0"/>
              <a:t>std::atomic</a:t>
            </a:r>
            <a:r>
              <a:rPr lang="ko-KR" altLang="en-US" sz="2400" dirty="0"/>
              <a:t>은 복사 불가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7848E-A189-6FB2-0512-798E26D96F80}"/>
              </a:ext>
            </a:extLst>
          </p:cNvPr>
          <p:cNvSpPr txBox="1"/>
          <p:nvPr/>
        </p:nvSpPr>
        <p:spPr>
          <a:xfrm>
            <a:off x="539750" y="3221891"/>
            <a:ext cx="3816226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100'000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E224F-5915-7C9A-6716-F40483DD5689}"/>
              </a:ext>
            </a:extLst>
          </p:cNvPr>
          <p:cNvSpPr txBox="1"/>
          <p:nvPr/>
        </p:nvSpPr>
        <p:spPr>
          <a:xfrm>
            <a:off x="4355976" y="3221891"/>
            <a:ext cx="4248274" cy="286232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first.join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second.join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counter.load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7536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0F56-DE8E-E1E2-F421-5BDE6E021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467B6-37FA-D45C-6E5D-CD39C241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16.7.2 </a:t>
            </a:r>
            <a:r>
              <a:rPr lang="ko-KR" altLang="en-US" dirty="0"/>
              <a:t>원자적 읽기</a:t>
            </a:r>
            <a:r>
              <a:rPr lang="en-US" altLang="ko-KR" dirty="0"/>
              <a:t>, </a:t>
            </a:r>
            <a:r>
              <a:rPr lang="ko-KR" altLang="en-US" dirty="0"/>
              <a:t>쓰기와 </a:t>
            </a:r>
            <a:r>
              <a:rPr lang="en-US" altLang="ko-KR" dirty="0"/>
              <a:t>RMW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5B0DE-2015-4948-B35C-23EF34A74369}"/>
              </a:ext>
            </a:extLst>
          </p:cNvPr>
          <p:cNvSpPr txBox="1"/>
          <p:nvPr/>
        </p:nvSpPr>
        <p:spPr>
          <a:xfrm>
            <a:off x="414734" y="836712"/>
            <a:ext cx="4572000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ready.store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ready.load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wasReady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ready.exchange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oldValue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count.fetch_add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2012E-58C0-E7CD-C992-5AC4BE869C73}"/>
              </a:ext>
            </a:extLst>
          </p:cNvPr>
          <p:cNvSpPr txBox="1"/>
          <p:nvPr/>
        </p:nvSpPr>
        <p:spPr>
          <a:xfrm>
            <a:off x="4572001" y="2621816"/>
            <a:ext cx="3888432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fetch_add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(1)은 증가 전 값 반환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전위 ++은 증가 후 값 반환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읽기-수정-쓰기 연산 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955C7-6154-E2AF-4989-5D1D293A4002}"/>
              </a:ext>
            </a:extLst>
          </p:cNvPr>
          <p:cNvSpPr txBox="1"/>
          <p:nvPr/>
        </p:nvSpPr>
        <p:spPr>
          <a:xfrm>
            <a:off x="401439" y="4797152"/>
            <a:ext cx="457200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C1A4F-9BB8-C50F-5B2A-46982C49F104}"/>
              </a:ext>
            </a:extLst>
          </p:cNvPr>
          <p:cNvSpPr txBox="1"/>
          <p:nvPr/>
        </p:nvSpPr>
        <p:spPr>
          <a:xfrm>
            <a:off x="3203848" y="5230763"/>
            <a:ext cx="5624339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읽기와 쓰기는 각각 원자적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전체 식이 하나의 원자적 증가가 되지는 않을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여러 값의 관계에는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뮤텍스가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더 적합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4501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3BD5-4D91-FCCF-CB09-11084335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692CE-8D98-759B-4799-68D0D70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16.7.3 </a:t>
            </a:r>
            <a:r>
              <a:rPr lang="ko-KR" altLang="en-US" dirty="0"/>
              <a:t>비교와 교환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AE0A8-8865-6A94-1137-577CAB7AF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현재 값이 </a:t>
            </a:r>
            <a:r>
              <a:rPr lang="ko-KR" altLang="en-US" sz="2400" dirty="0" err="1"/>
              <a:t>기대값과</a:t>
            </a:r>
            <a:r>
              <a:rPr lang="ko-KR" altLang="en-US" sz="2400" dirty="0"/>
              <a:t> 같을 때 새 값으로 변경</a:t>
            </a:r>
          </a:p>
          <a:p>
            <a:pPr lvl="1"/>
            <a:r>
              <a:rPr lang="ko-KR" altLang="en-US" sz="2000" dirty="0"/>
              <a:t>성공 → </a:t>
            </a:r>
            <a:r>
              <a:rPr lang="en-US" altLang="ko-KR" sz="2000" dirty="0"/>
              <a:t>true</a:t>
            </a:r>
          </a:p>
          <a:p>
            <a:pPr lvl="1"/>
            <a:r>
              <a:rPr lang="ko-KR" altLang="en-US" sz="2000" dirty="0"/>
              <a:t>실패 → </a:t>
            </a:r>
            <a:r>
              <a:rPr lang="en-US" altLang="ko-KR" sz="2000" dirty="0"/>
              <a:t>expected</a:t>
            </a:r>
            <a:r>
              <a:rPr lang="ko-KR" altLang="en-US" sz="2000" dirty="0"/>
              <a:t>에 실제 </a:t>
            </a:r>
            <a:r>
              <a:rPr lang="ko-KR" altLang="en-US" sz="2000" dirty="0" err="1"/>
              <a:t>현재값</a:t>
            </a:r>
            <a:r>
              <a:rPr lang="ko-KR" altLang="en-US" sz="2000" dirty="0"/>
              <a:t> 기록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29464-930A-A2F9-D2E4-5062D38A6B64}"/>
              </a:ext>
            </a:extLst>
          </p:cNvPr>
          <p:cNvSpPr txBox="1"/>
          <p:nvPr/>
        </p:nvSpPr>
        <p:spPr>
          <a:xfrm>
            <a:off x="467544" y="2204864"/>
            <a:ext cx="8280920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changed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state.compare_exchange_strong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UpdateMaximum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current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maximum.load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current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&amp;&amp; 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maximum.compare_exchange_weak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current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FFA6E-2087-76C8-D999-D89A206B741D}"/>
              </a:ext>
            </a:extLst>
          </p:cNvPr>
          <p:cNvSpPr txBox="1"/>
          <p:nvPr/>
        </p:nvSpPr>
        <p:spPr>
          <a:xfrm>
            <a:off x="467544" y="5177068"/>
            <a:ext cx="828092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compare_exchange_weak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값이 같아도 실패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반복문에서 사용하기 적합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잠금 없는 자료구조는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CAS만으로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끝나지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메모리 회수와 ABA 문제까지 고려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3952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5642-61E4-77EE-6213-42785DC0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CAFBC-ACE4-D7FE-6B1F-0C503414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16.7.4 atomic wait</a:t>
            </a:r>
            <a:r>
              <a:rPr lang="ko-KR" altLang="en-US" dirty="0"/>
              <a:t>와 </a:t>
            </a:r>
            <a:r>
              <a:rPr lang="en-US" altLang="ko-KR" dirty="0"/>
              <a:t>notify (C++20)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0F61B4-BAE1-16DF-DD98-3B2AB6699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원자값이</a:t>
            </a:r>
            <a:r>
              <a:rPr lang="ko-KR" altLang="en-US" dirty="0"/>
              <a:t> 특정 값과 같은 동안 대기</a:t>
            </a:r>
          </a:p>
          <a:p>
            <a:r>
              <a:rPr lang="ko-KR" altLang="en-US" dirty="0"/>
              <a:t>값 변경 후 </a:t>
            </a:r>
            <a:r>
              <a:rPr lang="en-US" altLang="ko-KR" dirty="0" err="1"/>
              <a:t>notify_one</a:t>
            </a:r>
            <a:r>
              <a:rPr lang="en-US" altLang="ko-KR" dirty="0"/>
              <a:t>() </a:t>
            </a:r>
            <a:r>
              <a:rPr lang="ko-KR" altLang="en-US" dirty="0"/>
              <a:t>또는 </a:t>
            </a:r>
            <a:r>
              <a:rPr lang="en-US" altLang="ko-KR" dirty="0" err="1"/>
              <a:t>notify_all</a:t>
            </a:r>
            <a:r>
              <a:rPr lang="en-US" altLang="ko-KR" dirty="0"/>
              <a:t>()</a:t>
            </a:r>
            <a:r>
              <a:rPr lang="ko-KR" altLang="en-US" dirty="0"/>
              <a:t>로 깨움</a:t>
            </a:r>
          </a:p>
          <a:p>
            <a:r>
              <a:rPr lang="ko-KR" altLang="en-US" dirty="0"/>
              <a:t>값 하나의 변화 대기에 간결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28C6C-411F-DB85-CB76-3A79B5ABD37E}"/>
              </a:ext>
            </a:extLst>
          </p:cNvPr>
          <p:cNvSpPr txBox="1"/>
          <p:nvPr/>
        </p:nvSpPr>
        <p:spPr>
          <a:xfrm>
            <a:off x="539749" y="2420888"/>
            <a:ext cx="4752331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Consumer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state.wait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state.load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D6391-37C2-DC08-D03C-85E6DCC44BE6}"/>
              </a:ext>
            </a:extLst>
          </p:cNvPr>
          <p:cNvSpPr txBox="1"/>
          <p:nvPr/>
        </p:nvSpPr>
        <p:spPr>
          <a:xfrm>
            <a:off x="5056137" y="2420888"/>
            <a:ext cx="3548114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Consumer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state.store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state.notify_one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0A02FB-CE65-15A1-FF23-19E71661E018}"/>
              </a:ext>
            </a:extLst>
          </p:cNvPr>
          <p:cNvSpPr txBox="1"/>
          <p:nvPr/>
        </p:nvSpPr>
        <p:spPr>
          <a:xfrm>
            <a:off x="501301" y="5565686"/>
            <a:ext cx="8102949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여러 조건과 복합 상태에는 조건 변수와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뮤텍스가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더 분명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큐 상태, 종료 플래그, 오류 상태를 함께 검사할 때 조건 변수 우선 검토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014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5799-7CEA-C942-8967-22699409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B2887-043E-4E46-EA94-52D9D055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16.7.5 </a:t>
            </a:r>
            <a:r>
              <a:rPr lang="ko-KR" altLang="en-US" dirty="0"/>
              <a:t>메모리 순서 개요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492542B-0E14-804D-6117-428DFB71A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589908"/>
              </p:ext>
            </p:extLst>
          </p:nvPr>
        </p:nvGraphicFramePr>
        <p:xfrm>
          <a:off x="467544" y="692696"/>
          <a:ext cx="7992888" cy="2509872"/>
        </p:xfrm>
        <a:graphic>
          <a:graphicData uri="http://schemas.openxmlformats.org/drawingml/2006/table">
            <a:tbl>
              <a:tblPr/>
              <a:tblGrid>
                <a:gridCol w="2585934">
                  <a:extLst>
                    <a:ext uri="{9D8B030D-6E8A-4147-A177-3AD203B41FA5}">
                      <a16:colId xmlns:a16="http://schemas.microsoft.com/office/drawing/2014/main" val="2103036345"/>
                    </a:ext>
                  </a:extLst>
                </a:gridCol>
                <a:gridCol w="5406954">
                  <a:extLst>
                    <a:ext uri="{9D8B030D-6E8A-4147-A177-3AD203B41FA5}">
                      <a16:colId xmlns:a16="http://schemas.microsoft.com/office/drawing/2014/main" val="572911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메모리 순서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중심 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077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ko-KR" sz="1600" b="0" i="0" u="none" strike="noStrike" kern="1200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memory_order_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seq_cst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가장 강한 전역 순서 제공, 기본값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88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ko-KR" sz="1600" b="0" i="0" u="none" strike="noStrike" kern="1200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memory_order_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release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앞선 쓰기를 다른 스레드에 게시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209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ko-KR" sz="1600" b="0" i="0" u="none" strike="noStrike" kern="1200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memory_order_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acquire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release로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게시된 쓰기 관찰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2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ko-KR" sz="1600" b="0" i="0" u="none" strike="noStrike" kern="1200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memory_order_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acq_rel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읽기-수정-쓰기에서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acquire와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release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함께 적용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161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ko-KR" sz="1600" b="0" i="0" u="none" strike="noStrike" kern="1200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memory_order_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relaxed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원자성은 유지, 다른 메모리 접근 순서 연결 없음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645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E711DC-C46F-CB2F-826C-D9A21A10BA86}"/>
              </a:ext>
            </a:extLst>
          </p:cNvPr>
          <p:cNvSpPr txBox="1"/>
          <p:nvPr/>
        </p:nvSpPr>
        <p:spPr>
          <a:xfrm>
            <a:off x="467544" y="3393207"/>
            <a:ext cx="4572000" cy="310854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Produce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ready.store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memory_order_release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Consume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ready.load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memory_order_acquire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629914-1C02-CF12-79AD-C9351F50F7E2}"/>
              </a:ext>
            </a:extLst>
          </p:cNvPr>
          <p:cNvSpPr txBox="1"/>
          <p:nvPr/>
        </p:nvSpPr>
        <p:spPr>
          <a:xfrm>
            <a:off x="4932040" y="5301421"/>
            <a:ext cx="3960440" cy="120032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acquire가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release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쓰기를 관찰하면 앞선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100도 관찰 가능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약한 메모리 순서는 정확성 증명 후 제한적으로 사용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8487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85F9-6318-B614-6B43-A1F45EA2C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1F1D2-3063-794A-F0AD-A99EEB9A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16.7.6 </a:t>
            </a:r>
            <a:r>
              <a:rPr lang="ko-KR" altLang="en-US" dirty="0" err="1"/>
              <a:t>뮤텍스와</a:t>
            </a:r>
            <a:r>
              <a:rPr lang="ko-KR" altLang="en-US" dirty="0"/>
              <a:t> 원자적 연산의 선택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4FADAF1-5668-227D-1599-33F2A84F1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767715"/>
              </p:ext>
            </p:extLst>
          </p:nvPr>
        </p:nvGraphicFramePr>
        <p:xfrm>
          <a:off x="551582" y="620688"/>
          <a:ext cx="7764834" cy="3316016"/>
        </p:xfrm>
        <a:graphic>
          <a:graphicData uri="http://schemas.openxmlformats.org/drawingml/2006/table">
            <a:tbl>
              <a:tblPr/>
              <a:tblGrid>
                <a:gridCol w="3559539">
                  <a:extLst>
                    <a:ext uri="{9D8B030D-6E8A-4147-A177-3AD203B41FA5}">
                      <a16:colId xmlns:a16="http://schemas.microsoft.com/office/drawing/2014/main" val="1664746168"/>
                    </a:ext>
                  </a:extLst>
                </a:gridCol>
                <a:gridCol w="4205295">
                  <a:extLst>
                    <a:ext uri="{9D8B030D-6E8A-4147-A177-3AD203B41FA5}">
                      <a16:colId xmlns:a16="http://schemas.microsoft.com/office/drawing/2014/main" val="1300970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요구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적합한 도구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691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단일 카운터 증가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atomic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070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중지 플래그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atomic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bool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또는 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stop_token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81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간단한 상태 전환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atomic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613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삽입·제거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뮤텍스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66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값의 일관된 변경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뮤텍스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84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검사 후 변경을 한 단위로 처리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뮤텍스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12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긴 상태 전이와 예외 처리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뮤텍스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2909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29C4DB-3BCF-C2C8-ED2A-2BBE5E042515}"/>
              </a:ext>
            </a:extLst>
          </p:cNvPr>
          <p:cNvSpPr txBox="1"/>
          <p:nvPr/>
        </p:nvSpPr>
        <p:spPr>
          <a:xfrm>
            <a:off x="585887" y="4036692"/>
            <a:ext cx="4572000" cy="267765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BoundedValue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322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6B6AE-7C59-6A4E-17AC-7A9C0FD96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819DB-17AE-6D32-8C3E-6E2097A5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 C++20 </a:t>
            </a:r>
            <a:r>
              <a:rPr lang="ko-KR" altLang="en-US" dirty="0"/>
              <a:t>동기화 도구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F30EE1-570C-290E-E3EF-07254459B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뮤텍스와</a:t>
            </a:r>
            <a:r>
              <a:rPr lang="ko-KR" altLang="en-US" sz="2400" dirty="0"/>
              <a:t> 목적이 다름</a:t>
            </a:r>
          </a:p>
          <a:p>
            <a:r>
              <a:rPr lang="ko-KR" altLang="en-US" sz="2400" dirty="0"/>
              <a:t>공유 데이터 임계 구역 보호보다 작업 진행 시점 조정에 초점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1DA1C8D-D504-B5AB-26CD-F390EF8A0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065236"/>
              </p:ext>
            </p:extLst>
          </p:nvPr>
        </p:nvGraphicFramePr>
        <p:xfrm>
          <a:off x="539750" y="1935139"/>
          <a:ext cx="7604820" cy="1642768"/>
        </p:xfrm>
        <a:graphic>
          <a:graphicData uri="http://schemas.openxmlformats.org/drawingml/2006/table">
            <a:tbl>
              <a:tblPr/>
              <a:tblGrid>
                <a:gridCol w="2996751">
                  <a:extLst>
                    <a:ext uri="{9D8B030D-6E8A-4147-A177-3AD203B41FA5}">
                      <a16:colId xmlns:a16="http://schemas.microsoft.com/office/drawing/2014/main" val="4049669964"/>
                    </a:ext>
                  </a:extLst>
                </a:gridCol>
                <a:gridCol w="3538877">
                  <a:extLst>
                    <a:ext uri="{9D8B030D-6E8A-4147-A177-3AD203B41FA5}">
                      <a16:colId xmlns:a16="http://schemas.microsoft.com/office/drawing/2014/main" val="723029341"/>
                    </a:ext>
                  </a:extLst>
                </a:gridCol>
                <a:gridCol w="1069192">
                  <a:extLst>
                    <a:ext uri="{9D8B030D-6E8A-4147-A177-3AD203B41FA5}">
                      <a16:colId xmlns:a16="http://schemas.microsoft.com/office/drawing/2014/main" val="2203688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도구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용도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재사용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51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latch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정해진 작업 수의 1회 완료 대기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127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barrier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단계의 동기화 지점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151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counting_semaphore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동시 사용 가능한 자원 수 제한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2022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269EE6-9342-1418-1661-63460776CC42}"/>
              </a:ext>
            </a:extLst>
          </p:cNvPr>
          <p:cNvSpPr txBox="1"/>
          <p:nvPr/>
        </p:nvSpPr>
        <p:spPr>
          <a:xfrm>
            <a:off x="539750" y="3873937"/>
            <a:ext cx="3238252" cy="139880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216000" tIns="144000" rIns="216000" bIns="144000" anchor="ctr" anchorCtr="0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latch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준비 A ┐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준비 B ├─ 모두 준비 → 시작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준비 C ┘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43E6C5-4C45-E616-B339-A3BF70A54D3D}"/>
              </a:ext>
            </a:extLst>
          </p:cNvPr>
          <p:cNvSpPr txBox="1"/>
          <p:nvPr/>
        </p:nvSpPr>
        <p:spPr>
          <a:xfrm>
            <a:off x="3995936" y="3873937"/>
            <a:ext cx="3024336" cy="11218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216000" tIns="144000" rIns="216000" bIns="144000" anchor="ctr" anchorCtr="0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barrier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단계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모두 도착 → 단계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단계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모두 도착 → 단계 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9175C-0AB9-68F6-404E-AC3C2A975A4F}"/>
              </a:ext>
            </a:extLst>
          </p:cNvPr>
          <p:cNvSpPr txBox="1"/>
          <p:nvPr/>
        </p:nvSpPr>
        <p:spPr>
          <a:xfrm>
            <a:off x="539750" y="5568775"/>
            <a:ext cx="3238252" cy="8448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216000" tIns="144000" rIns="216000" bIns="144000" anchor="ctr" anchorCtr="0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semaphore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허가 수만큼만 통과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8656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D9DC0-73D7-39CA-712E-4EB5E51D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8D018-C16C-C74C-4726-E9906BA7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16.8.1 std::latch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98388F-5815-9588-BC9A-82FFD36B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내부 카운터가 </a:t>
            </a:r>
            <a:r>
              <a:rPr lang="en-US" altLang="ko-KR" sz="2400" dirty="0"/>
              <a:t>0</a:t>
            </a:r>
            <a:r>
              <a:rPr lang="ko-KR" altLang="en-US" sz="2400" dirty="0"/>
              <a:t>이 될 때까지 대기</a:t>
            </a:r>
          </a:p>
          <a:p>
            <a:r>
              <a:rPr lang="ko-KR" altLang="en-US" sz="2400" dirty="0"/>
              <a:t>카운터가 </a:t>
            </a:r>
            <a:r>
              <a:rPr lang="en-US" altLang="ko-KR" sz="2400" dirty="0"/>
              <a:t>0</a:t>
            </a:r>
            <a:r>
              <a:rPr lang="ko-KR" altLang="en-US" sz="2400" dirty="0"/>
              <a:t>이 된 뒤 다시 초기화 불가</a:t>
            </a:r>
          </a:p>
          <a:p>
            <a:r>
              <a:rPr lang="ko-KR" altLang="en-US" sz="2400" dirty="0"/>
              <a:t>초기화 완료</a:t>
            </a:r>
            <a:r>
              <a:rPr lang="en-US" altLang="ko-KR" sz="2400" dirty="0"/>
              <a:t>, </a:t>
            </a:r>
            <a:r>
              <a:rPr lang="ko-KR" altLang="en-US" sz="2400" dirty="0"/>
              <a:t>여러 작업 시작선에 적합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98CF8-350F-E6CF-D1F8-C08BDFDEC6FA}"/>
              </a:ext>
            </a:extLst>
          </p:cNvPr>
          <p:cNvSpPr txBox="1"/>
          <p:nvPr/>
        </p:nvSpPr>
        <p:spPr>
          <a:xfrm>
            <a:off x="548928" y="2204864"/>
            <a:ext cx="4599136" cy="452431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latch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latch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[&amp;](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prepare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ready.count_down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ready.wait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C4BFE-B428-A4A7-69C7-C496AABDF624}"/>
              </a:ext>
            </a:extLst>
          </p:cNvPr>
          <p:cNvSpPr txBox="1"/>
          <p:nvPr/>
        </p:nvSpPr>
        <p:spPr>
          <a:xfrm>
            <a:off x="4705548" y="4797152"/>
            <a:ext cx="4176464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count_down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()과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wait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한 번에 수행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ready.arrive_and_wait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7777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5736-41F1-E208-8FD9-2C77CDB4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BBB7E-092A-977F-0400-3400070A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16.8.2 std::barrier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0E89EF-13BA-BBE8-95D2-8B7431639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정해진 수의 참여자가 도착할 때까지 대기</a:t>
            </a:r>
          </a:p>
          <a:p>
            <a:r>
              <a:rPr lang="ko-KR" altLang="en-US" sz="2000" dirty="0"/>
              <a:t>모두 도착하면 다음 단계로 진행</a:t>
            </a:r>
          </a:p>
          <a:p>
            <a:r>
              <a:rPr lang="ko-KR" altLang="en-US" sz="2000" dirty="0"/>
              <a:t>단계마다 재사용 가능</a:t>
            </a:r>
          </a:p>
          <a:p>
            <a:r>
              <a:rPr lang="ko-KR" altLang="en-US" sz="2000" dirty="0"/>
              <a:t>단계 완료 함수 지정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4A8F2-39B4-3A67-099A-4C0D507A2A8D}"/>
              </a:ext>
            </a:extLst>
          </p:cNvPr>
          <p:cNvSpPr txBox="1"/>
          <p:nvPr/>
        </p:nvSpPr>
        <p:spPr>
          <a:xfrm>
            <a:off x="539750" y="2257872"/>
            <a:ext cx="4680322" cy="39703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barrier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barrier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syncPoint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[&amp;](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":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syncPoint.arrive_and_wait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A3BB2-71CE-1E44-34C6-309F02ED1896}"/>
              </a:ext>
            </a:extLst>
          </p:cNvPr>
          <p:cNvSpPr txBox="1"/>
          <p:nvPr/>
        </p:nvSpPr>
        <p:spPr>
          <a:xfrm>
            <a:off x="5191472" y="4843195"/>
            <a:ext cx="3510756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barrier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syncPoint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completed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80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6DFAE-B6B4-8DA9-69C7-8DDA07EDE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7E3A7-5F70-2B55-F32D-F2D3FDC3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16.8.3 std::</a:t>
            </a:r>
            <a:r>
              <a:rPr lang="en-US" altLang="ko-KR" dirty="0" err="1"/>
              <a:t>counting_semaphore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E20A9-A18D-6AFF-6222-768BDE797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동시에 통과할 수 있는 실행 흐름 수 제한</a:t>
            </a:r>
          </a:p>
          <a:p>
            <a:r>
              <a:rPr lang="en-US" altLang="ko-KR" sz="2000" dirty="0"/>
              <a:t>acquire()</a:t>
            </a:r>
            <a:r>
              <a:rPr lang="ko-KR" altLang="en-US" sz="2000" dirty="0"/>
              <a:t>는 허가를 얻을 때까지 대기</a:t>
            </a:r>
          </a:p>
          <a:p>
            <a:r>
              <a:rPr lang="en-US" altLang="ko-KR" sz="2000" dirty="0"/>
              <a:t>release()</a:t>
            </a:r>
            <a:r>
              <a:rPr lang="ko-KR" altLang="en-US" sz="2000" dirty="0"/>
              <a:t>는 허가 수 증가</a:t>
            </a:r>
          </a:p>
          <a:p>
            <a:r>
              <a:rPr lang="ko-KR" altLang="en-US" sz="2000" dirty="0"/>
              <a:t>소유 스레드 개념 없음</a:t>
            </a:r>
          </a:p>
          <a:p>
            <a:r>
              <a:rPr lang="en-US" altLang="ko-KR" sz="2000" dirty="0"/>
              <a:t>std::</a:t>
            </a:r>
            <a:r>
              <a:rPr lang="en-US" altLang="ko-KR" sz="2000" dirty="0" err="1"/>
              <a:t>binary_semaphore</a:t>
            </a:r>
            <a:r>
              <a:rPr lang="ko-KR" altLang="en-US" sz="2000" dirty="0"/>
              <a:t> 최대 카운트 </a:t>
            </a:r>
            <a:r>
              <a:rPr lang="en-US" altLang="ko-KR" sz="2000" dirty="0"/>
              <a:t>1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12C0B-D16A-4D5A-0931-B7D4617DCEC7}"/>
              </a:ext>
            </a:extLst>
          </p:cNvPr>
          <p:cNvSpPr txBox="1"/>
          <p:nvPr/>
        </p:nvSpPr>
        <p:spPr>
          <a:xfrm>
            <a:off x="323528" y="2627789"/>
            <a:ext cx="4572000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semaphore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namespace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chrono_literals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counting_semaphore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slots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slots.acquire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this_thread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sleep_for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ms);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leave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slots.release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9703C-57C1-BAB9-7599-8EB311DADA67}"/>
              </a:ext>
            </a:extLst>
          </p:cNvPr>
          <p:cNvSpPr txBox="1"/>
          <p:nvPr/>
        </p:nvSpPr>
        <p:spPr>
          <a:xfrm>
            <a:off x="4355976" y="4869160"/>
            <a:ext cx="45720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최대 두 스레드가 자원 구역에 진입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뮤텍스는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잠근 스레드가 해제해야 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145A8-FF27-7A4B-539B-84BD1822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31C55-5C41-FB57-7A99-7319EF8A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16.9 </a:t>
            </a:r>
            <a:r>
              <a:rPr lang="ko-KR" altLang="en-US" dirty="0"/>
              <a:t>병렬 알고리즘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2EF46-F022-2ABE-07A7-82ECC656F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일부 표준 알고리즘은 실행 정책 오버로드 제공</a:t>
            </a:r>
          </a:p>
          <a:p>
            <a:r>
              <a:rPr lang="en-US" altLang="ko-KR" sz="2000" dirty="0"/>
              <a:t>&lt;execution&gt; </a:t>
            </a:r>
            <a:r>
              <a:rPr lang="ko-KR" altLang="en-US" sz="2000" dirty="0"/>
              <a:t>헤더</a:t>
            </a:r>
          </a:p>
          <a:p>
            <a:r>
              <a:rPr lang="ko-KR" altLang="en-US" sz="2000" dirty="0"/>
              <a:t>실행 정책은 허용 범위를 지정</a:t>
            </a:r>
          </a:p>
          <a:p>
            <a:r>
              <a:rPr lang="ko-KR" altLang="en-US" sz="2000" dirty="0"/>
              <a:t>실제 병렬 실행 여부와 스레드 수는 구현에 의존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00856A-52E5-98BF-2FA9-48C067F60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635565"/>
              </p:ext>
            </p:extLst>
          </p:nvPr>
        </p:nvGraphicFramePr>
        <p:xfrm>
          <a:off x="539750" y="2369176"/>
          <a:ext cx="5904458" cy="2030600"/>
        </p:xfrm>
        <a:graphic>
          <a:graphicData uri="http://schemas.openxmlformats.org/drawingml/2006/table">
            <a:tbl>
              <a:tblPr/>
              <a:tblGrid>
                <a:gridCol w="3096146">
                  <a:extLst>
                    <a:ext uri="{9D8B030D-6E8A-4147-A177-3AD203B41FA5}">
                      <a16:colId xmlns:a16="http://schemas.microsoft.com/office/drawing/2014/main" val="189109919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587426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정책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51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execution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seq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순차 실행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278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execution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par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병렬 실행 허용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354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execution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par_unseq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병렬 실행과 벡터화 허용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48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execution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unseq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C++20,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비순차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벡터화 허용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9381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B8B413-BED2-F835-E02B-60B5C5A6508D}"/>
              </a:ext>
            </a:extLst>
          </p:cNvPr>
          <p:cNvSpPr txBox="1"/>
          <p:nvPr/>
        </p:nvSpPr>
        <p:spPr>
          <a:xfrm>
            <a:off x="539750" y="4449306"/>
            <a:ext cx="5904458" cy="224676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algorithm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execution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554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39E4-306C-B4E4-65B2-20FDD492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7E95F-E589-AF58-F2D6-147FA4DD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16.9.2 </a:t>
            </a:r>
            <a:r>
              <a:rPr lang="ko-KR" altLang="en-US" dirty="0"/>
              <a:t>병렬 실행의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B3CB8-EAD7-3A9B-CF20-617DD7C28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각 원소 작업이 서로 독립적일 때 적합</a:t>
            </a:r>
          </a:p>
          <a:p>
            <a:r>
              <a:rPr lang="ko-KR" altLang="en-US" sz="2400" dirty="0"/>
              <a:t>작업량이 충분히 커야 이점 가능</a:t>
            </a:r>
          </a:p>
          <a:p>
            <a:r>
              <a:rPr lang="ko-KR" altLang="en-US" sz="2400" dirty="0"/>
              <a:t>분할</a:t>
            </a:r>
            <a:r>
              <a:rPr lang="en-US" altLang="ko-KR" sz="2400" dirty="0"/>
              <a:t>, </a:t>
            </a:r>
            <a:r>
              <a:rPr lang="ko-KR" altLang="en-US" sz="2400" dirty="0"/>
              <a:t>동기화</a:t>
            </a:r>
            <a:r>
              <a:rPr lang="en-US" altLang="ko-KR" sz="2400" dirty="0"/>
              <a:t>, </a:t>
            </a:r>
            <a:r>
              <a:rPr lang="ko-KR" altLang="en-US" sz="2400" dirty="0"/>
              <a:t>캐시 이동 비용 존재</a:t>
            </a:r>
          </a:p>
          <a:p>
            <a:r>
              <a:rPr lang="ko-KR" altLang="en-US" sz="2400" dirty="0"/>
              <a:t>메모리 대역폭 병목이면 효과 제한</a:t>
            </a:r>
          </a:p>
          <a:p>
            <a:r>
              <a:rPr lang="ko-KR" altLang="en-US" sz="2400" dirty="0"/>
              <a:t>구현과 빌드 환경의 병렬 알고리즘 지원 확인 필요</a:t>
            </a:r>
            <a:endParaRPr lang="en-US" altLang="ko-KR" sz="2400" dirty="0"/>
          </a:p>
          <a:p>
            <a:r>
              <a:rPr lang="ko-KR" altLang="ko-KR" sz="2400" dirty="0"/>
              <a:t>함수 객체가 공유 상태를 변경하지 않는 구조가 안전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B99FF-FD75-5A47-9BC5-5C2C838D9DE2}"/>
              </a:ext>
            </a:extLst>
          </p:cNvPr>
          <p:cNvSpPr txBox="1"/>
          <p:nvPr/>
        </p:nvSpPr>
        <p:spPr>
          <a:xfrm>
            <a:off x="539750" y="3848199"/>
            <a:ext cx="457200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transform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51EC4-410A-6813-4042-165D0190CD3B}"/>
              </a:ext>
            </a:extLst>
          </p:cNvPr>
          <p:cNvSpPr txBox="1"/>
          <p:nvPr/>
        </p:nvSpPr>
        <p:spPr>
          <a:xfrm>
            <a:off x="4544913" y="4725144"/>
            <a:ext cx="2907407" cy="102947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lIns="216000" tIns="144000" rIns="216000" bIns="144000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독립 계산 → 결과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독립 계산 → 결과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독립 계산 → 결과 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695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2E54-DA86-BB67-14F1-CFC000FA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F4ADF-45DB-E738-1EA3-E7E3BBF0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16.9.3 </a:t>
            </a:r>
            <a:r>
              <a:rPr lang="ko-KR" altLang="en-US" dirty="0"/>
              <a:t>부작용</a:t>
            </a:r>
            <a:r>
              <a:rPr lang="en-US" altLang="ko-KR" dirty="0"/>
              <a:t>, </a:t>
            </a:r>
            <a:r>
              <a:rPr lang="ko-KR" altLang="en-US" dirty="0"/>
              <a:t>데이터 경쟁과 예외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2D364-BE0B-C036-AD46-104ABB23FAED}"/>
              </a:ext>
            </a:extLst>
          </p:cNvPr>
          <p:cNvSpPr txBox="1"/>
          <p:nvPr/>
        </p:nvSpPr>
        <p:spPr>
          <a:xfrm>
            <a:off x="539750" y="842367"/>
            <a:ext cx="3528194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for_each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[&amp;](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안전하지 않음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26820-5587-09B1-389F-680762F22095}"/>
              </a:ext>
            </a:extLst>
          </p:cNvPr>
          <p:cNvSpPr txBox="1"/>
          <p:nvPr/>
        </p:nvSpPr>
        <p:spPr>
          <a:xfrm>
            <a:off x="4067944" y="1484784"/>
            <a:ext cx="4572000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공유 변수 동기화 없는 쓰기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데이터 경쟁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병렬 알고리즘에 맞지 않는 부작용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83CFB-9E45-2041-59BF-23370F96DD58}"/>
              </a:ext>
            </a:extLst>
          </p:cNvPr>
          <p:cNvSpPr txBox="1"/>
          <p:nvPr/>
        </p:nvSpPr>
        <p:spPr>
          <a:xfrm>
            <a:off x="510431" y="3989382"/>
            <a:ext cx="3528194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numeric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reduce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B489C1-7E6F-5139-23CE-D94EE2EC0B9A}"/>
              </a:ext>
            </a:extLst>
          </p:cNvPr>
          <p:cNvSpPr txBox="1"/>
          <p:nvPr/>
        </p:nvSpPr>
        <p:spPr>
          <a:xfrm>
            <a:off x="4038625" y="4158421"/>
            <a:ext cx="4572000" cy="163121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합계에는 병렬 축약 알고리즘 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reduce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연산 순서를 바꿀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부동소수점 결과 재현성 주의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표준 실행 정책에서 사용자 함수 예외가 빠져나오면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terminate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04544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AD849-02B8-AB04-C98D-2D515FF7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9351B-A275-C0E6-9FE9-3AFB605F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16.9.4 </a:t>
            </a:r>
            <a:r>
              <a:rPr lang="ko-KR" altLang="en-US" dirty="0"/>
              <a:t>지원 범위와 성능 측정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3A9F5-8BD5-AC30-0524-3CED6305D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병렬화 전 순차 구현 측정</a:t>
            </a:r>
          </a:p>
          <a:p>
            <a:r>
              <a:rPr lang="ko-KR" altLang="en-US" sz="2400" dirty="0"/>
              <a:t>같은 입력과 빌드 설정으로 반복 측정</a:t>
            </a:r>
          </a:p>
          <a:p>
            <a:r>
              <a:rPr lang="ko-KR" altLang="en-US" sz="2400" dirty="0"/>
              <a:t>한 번의 측정만으로 결론 금지</a:t>
            </a:r>
          </a:p>
          <a:p>
            <a:r>
              <a:rPr lang="ko-KR" altLang="en-US" sz="2400" dirty="0"/>
              <a:t>중앙값이나 분포 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E300A-A05F-99EC-AF8B-997E0AD5EB55}"/>
              </a:ext>
            </a:extLst>
          </p:cNvPr>
          <p:cNvSpPr txBox="1"/>
          <p:nvPr/>
        </p:nvSpPr>
        <p:spPr>
          <a:xfrm>
            <a:off x="539750" y="2577335"/>
            <a:ext cx="727261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RunAlgorithm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elapsed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microseconds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3C5C9-4278-A32C-E593-9BA06E9332EE}"/>
              </a:ext>
            </a:extLst>
          </p:cNvPr>
          <p:cNvSpPr txBox="1"/>
          <p:nvPr/>
        </p:nvSpPr>
        <p:spPr>
          <a:xfrm>
            <a:off x="539750" y="4920312"/>
            <a:ext cx="7272610" cy="16312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확인 항목</a:t>
            </a:r>
            <a:endParaRPr lang="ko-KR" altLang="ko-KR" sz="20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작업 크기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                   </a:t>
            </a:r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 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생성과 분할 비용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</a:t>
            </a:r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메모리 접근 패턴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캐시 적중률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               </a:t>
            </a:r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잠금 경합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처리 장치 사용률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41710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3C543-39CF-317D-6B9F-C5528D1B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D528B-F073-29EE-B4C4-C3FD7506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16.10 </a:t>
            </a:r>
            <a:r>
              <a:rPr lang="ko-KR" altLang="en-US" dirty="0"/>
              <a:t>동시성 설계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7B7A5-728C-D554-67AF-B9F094CE9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잠금을 나중에 덧붙이기보다 데이터 소유권과 작업 경계 먼저 설계</a:t>
            </a:r>
          </a:p>
          <a:p>
            <a:r>
              <a:rPr lang="ko-KR" altLang="en-US" sz="2000" dirty="0"/>
              <a:t>공유되지 않은 데이터에는 동기화 불필요</a:t>
            </a:r>
          </a:p>
          <a:p>
            <a:r>
              <a:rPr lang="ko-KR" altLang="en-US" sz="2000" dirty="0"/>
              <a:t>각 스레드가 지역 결과 계산</a:t>
            </a:r>
          </a:p>
          <a:p>
            <a:r>
              <a:rPr lang="ko-KR" altLang="en-US" sz="2000" dirty="0"/>
              <a:t>마지막에 결과 결합</a:t>
            </a:r>
          </a:p>
          <a:p>
            <a:r>
              <a:rPr lang="ko-KR" altLang="en-US" sz="2000" dirty="0"/>
              <a:t>불변 객체</a:t>
            </a:r>
            <a:r>
              <a:rPr lang="en-US" altLang="ko-KR" sz="2000" dirty="0"/>
              <a:t>, </a:t>
            </a:r>
            <a:r>
              <a:rPr lang="ko-KR" altLang="en-US" sz="2000" dirty="0"/>
              <a:t>값 복사</a:t>
            </a:r>
            <a:r>
              <a:rPr lang="en-US" altLang="ko-KR" sz="2000" dirty="0"/>
              <a:t>, </a:t>
            </a:r>
            <a:r>
              <a:rPr lang="ko-KR" altLang="en-US" sz="2000" dirty="0"/>
              <a:t>메시지 큐</a:t>
            </a:r>
            <a:r>
              <a:rPr lang="en-US" altLang="ko-KR" sz="2000" dirty="0"/>
              <a:t>, </a:t>
            </a:r>
            <a:r>
              <a:rPr lang="ko-KR" altLang="en-US" sz="2000" dirty="0"/>
              <a:t>소유권 이동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712E1-BC2C-9A3B-63E2-5E3FA0BD64C8}"/>
              </a:ext>
            </a:extLst>
          </p:cNvPr>
          <p:cNvSpPr txBox="1"/>
          <p:nvPr/>
        </p:nvSpPr>
        <p:spPr>
          <a:xfrm>
            <a:off x="484237" y="2780928"/>
            <a:ext cx="4320282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SumRange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[i];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28B42-67E6-BDBD-C0FF-A166DE1B73A5}"/>
              </a:ext>
            </a:extLst>
          </p:cNvPr>
          <p:cNvSpPr txBox="1"/>
          <p:nvPr/>
        </p:nvSpPr>
        <p:spPr>
          <a:xfrm>
            <a:off x="4273946" y="5129783"/>
            <a:ext cx="4572000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queue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.Push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B9B30A-B5B4-91F2-239B-D572395AFC89}"/>
              </a:ext>
            </a:extLst>
          </p:cNvPr>
          <p:cNvSpPr txBox="1"/>
          <p:nvPr/>
        </p:nvSpPr>
        <p:spPr>
          <a:xfrm>
            <a:off x="4273946" y="5468337"/>
            <a:ext cx="4572000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작업 소유권을 큐로 이동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생산자가 같은 작업 객체를 계속 변경하지 않도록 규칙 설정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46363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544-A1CD-B765-DA65-14B0F25F6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47AC-77B2-9CDB-796D-FE77F5DF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16.10.2 </a:t>
            </a:r>
            <a:r>
              <a:rPr lang="ko-KR" altLang="en-US" dirty="0"/>
              <a:t>작업 단위와 소유권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3CBBB-0227-8456-3393-22A6EE07F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스레드보다 작업을 먼저 정의</a:t>
            </a:r>
          </a:p>
          <a:p>
            <a:r>
              <a:rPr lang="ko-KR" altLang="en-US" sz="2000" dirty="0"/>
              <a:t>작업 입력 데이터</a:t>
            </a:r>
          </a:p>
          <a:p>
            <a:r>
              <a:rPr lang="ko-KR" altLang="en-US" sz="2000" dirty="0"/>
              <a:t>출력 위치</a:t>
            </a:r>
          </a:p>
          <a:p>
            <a:r>
              <a:rPr lang="ko-KR" altLang="en-US" sz="2000" dirty="0"/>
              <a:t>취소 규칙</a:t>
            </a:r>
          </a:p>
          <a:p>
            <a:r>
              <a:rPr lang="ko-KR" altLang="en-US" sz="2000" dirty="0"/>
              <a:t>완료 통지</a:t>
            </a:r>
          </a:p>
          <a:p>
            <a:r>
              <a:rPr lang="ko-KR" altLang="en-US" sz="2000" dirty="0"/>
              <a:t>소유권 이동 여부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BBD24-DEF2-ADE1-C368-E7C0C3D29D5D}"/>
              </a:ext>
            </a:extLst>
          </p:cNvPr>
          <p:cNvSpPr txBox="1"/>
          <p:nvPr/>
        </p:nvSpPr>
        <p:spPr>
          <a:xfrm>
            <a:off x="2555776" y="1436379"/>
            <a:ext cx="5616624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LoadTask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filesystem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promise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&lt;Data&gt;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FC083-E4AA-5456-82E2-95DC1F0DD7EE}"/>
              </a:ext>
            </a:extLst>
          </p:cNvPr>
          <p:cNvSpPr txBox="1"/>
          <p:nvPr/>
        </p:nvSpPr>
        <p:spPr>
          <a:xfrm>
            <a:off x="2555776" y="4149080"/>
            <a:ext cx="5616624" cy="193899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이동으로 단일 소유권 유지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endParaRPr lang="en-US" altLang="ko-KR" sz="20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 수명 공유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대상 객체의 멤버 접근까지 보호하지는 않음</a:t>
            </a:r>
            <a:endParaRPr lang="en-US" altLang="ko-KR" sz="20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대상 객체의 가변 상태에는 별도 동기화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07205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25E3-329C-4241-9965-EE7602F7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B0A80-2263-08DD-2BA2-3DC498F0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16.10.3 </a:t>
            </a:r>
            <a:r>
              <a:rPr lang="ko-KR" altLang="en-US" dirty="0"/>
              <a:t>스레드 안전한 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E8562-57F8-587A-69E3-8166BDD42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각 멤버 함수가 잠금을 사용해도 여러 호출 조합은 안전 보장 안됨</a:t>
            </a:r>
          </a:p>
          <a:p>
            <a:r>
              <a:rPr lang="ko-KR" altLang="en-US" sz="2400" dirty="0"/>
              <a:t>검사와 사용 사이에 다른 스레드가 상태 변경 가능</a:t>
            </a:r>
          </a:p>
          <a:p>
            <a:r>
              <a:rPr lang="ko-KR" altLang="en-US" sz="2400" dirty="0"/>
              <a:t>복합 연산은 하나의 함수로 묶기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623DE-D8B9-0A39-BC4C-8267CA2EC379}"/>
              </a:ext>
            </a:extLst>
          </p:cNvPr>
          <p:cNvSpPr txBox="1"/>
          <p:nvPr/>
        </p:nvSpPr>
        <p:spPr>
          <a:xfrm>
            <a:off x="539750" y="2112446"/>
            <a:ext cx="4572000" cy="11695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queue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.Empty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queue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.Front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queue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.Pop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6C2ECB-693D-CFFF-3635-8A3E39C50E96}"/>
              </a:ext>
            </a:extLst>
          </p:cNvPr>
          <p:cNvSpPr txBox="1"/>
          <p:nvPr/>
        </p:nvSpPr>
        <p:spPr>
          <a:xfrm>
            <a:off x="539750" y="3933056"/>
            <a:ext cx="4572000" cy="24622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TryPop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lock_guard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tasks.empty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nullopt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tasks.front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tasks.pop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7A20A-B635-1CFF-0D84-AFEEFBC647B0}"/>
              </a:ext>
            </a:extLst>
          </p:cNvPr>
          <p:cNvSpPr txBox="1"/>
          <p:nvPr/>
        </p:nvSpPr>
        <p:spPr>
          <a:xfrm>
            <a:off x="4356694" y="5164162"/>
            <a:ext cx="4247555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lvl="0" rtl="0" fontAlgn="base"/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내부 포인터나 참조 반환은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잠금 종료 후 위험 가능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16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 복사 또는 소유권 이동 반환 검토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A69D0-621E-8BFE-2583-232D95708D13}"/>
              </a:ext>
            </a:extLst>
          </p:cNvPr>
          <p:cNvSpPr txBox="1"/>
          <p:nvPr/>
        </p:nvSpPr>
        <p:spPr>
          <a:xfrm>
            <a:off x="4356693" y="4097604"/>
            <a:ext cx="4247555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A: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확인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B: 마지막 원소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 A: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호출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2198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D3F0E-1766-C0B9-E9E8-D1946508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830E4-4325-2AD3-92C7-E7E18C66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16.10.4 </a:t>
            </a:r>
            <a:r>
              <a:rPr lang="ko-KR" altLang="en-US" dirty="0"/>
              <a:t>종료와 취소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48308-2FD5-E06B-B82B-CC407933A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작업 스레드를 가진 객체는 소멸 전에 중지와 결합 필요</a:t>
            </a:r>
          </a:p>
          <a:p>
            <a:r>
              <a:rPr lang="ko-KR" altLang="en-US" sz="2400" dirty="0"/>
              <a:t>새 작업 접수 중단</a:t>
            </a:r>
          </a:p>
          <a:p>
            <a:r>
              <a:rPr lang="ko-KR" altLang="en-US" sz="2400" dirty="0"/>
              <a:t>대기자 깨우기</a:t>
            </a:r>
          </a:p>
          <a:p>
            <a:r>
              <a:rPr lang="ko-KR" altLang="en-US" sz="2400" dirty="0"/>
              <a:t>처리 중 작업 정책</a:t>
            </a:r>
          </a:p>
          <a:p>
            <a:r>
              <a:rPr lang="ko-KR" altLang="en-US" sz="2400" dirty="0"/>
              <a:t>대기 중 작업 정책</a:t>
            </a:r>
          </a:p>
          <a:p>
            <a:r>
              <a:rPr lang="ko-KR" altLang="en-US" sz="2400" dirty="0"/>
              <a:t>스레드 종료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782EC-AFBB-8AB5-1B06-4CD76F7E648B}"/>
              </a:ext>
            </a:extLst>
          </p:cNvPr>
          <p:cNvSpPr txBox="1"/>
          <p:nvPr/>
        </p:nvSpPr>
        <p:spPr>
          <a:xfrm>
            <a:off x="539750" y="3501008"/>
            <a:ext cx="7272808" cy="332398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Worker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{[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stop_token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stopToken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stopToken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  }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stop_token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stopToken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condition_variable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condition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queue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tasks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BD9B5-A040-E65A-0781-65A10A6B346D}"/>
              </a:ext>
            </a:extLst>
          </p:cNvPr>
          <p:cNvSpPr txBox="1"/>
          <p:nvPr/>
        </p:nvSpPr>
        <p:spPr>
          <a:xfrm>
            <a:off x="4464496" y="5398904"/>
            <a:ext cx="457200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 소멸은 선언 역순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스레드가 접근하는 데이터는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jthread보다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먼저 선언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역순 소멸에서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en-US" sz="2000" dirty="0" err="1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먼저 정리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30934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8968-8276-4EDE-4D4D-FAA541D0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3A27E-05F7-3E1A-67FF-30944BE4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16.10.5 </a:t>
            </a:r>
            <a:r>
              <a:rPr lang="ko-KR" altLang="en-US" dirty="0"/>
              <a:t>과도한 병렬화 피하기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D52ED-777C-8739-6BD9-FFAA9B1D2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스레드 수 증가 → 작업 분배와 문맥 전환 비용 증가</a:t>
            </a:r>
          </a:p>
          <a:p>
            <a:r>
              <a:rPr lang="ko-KR" altLang="en-US" sz="2400" dirty="0"/>
              <a:t>실행 가능 스레드가 처리 장치 수보다 많으면 느려질 수 있음</a:t>
            </a:r>
          </a:p>
          <a:p>
            <a:r>
              <a:rPr lang="en-US" altLang="ko-KR" sz="2400" dirty="0" err="1"/>
              <a:t>hardware_concurrency</a:t>
            </a:r>
            <a:r>
              <a:rPr lang="en-US" altLang="ko-KR" sz="2400" dirty="0"/>
              <a:t>()</a:t>
            </a:r>
            <a:r>
              <a:rPr lang="ko-KR" altLang="en-US" sz="2400" dirty="0"/>
              <a:t>는 </a:t>
            </a:r>
            <a:r>
              <a:rPr lang="ko-KR" altLang="en-US" sz="2400" dirty="0" err="1"/>
              <a:t>참고값</a:t>
            </a:r>
            <a:endParaRPr lang="ko-KR" altLang="en-US" sz="2400" dirty="0"/>
          </a:p>
          <a:p>
            <a:r>
              <a:rPr lang="ko-KR" altLang="en-US" sz="2400" dirty="0" err="1"/>
              <a:t>반환값은</a:t>
            </a:r>
            <a:r>
              <a:rPr lang="ko-KR" altLang="en-US" sz="2400" dirty="0"/>
              <a:t> </a:t>
            </a:r>
            <a:r>
              <a:rPr lang="en-US" altLang="ko-KR" sz="2400" dirty="0"/>
              <a:t>0</a:t>
            </a:r>
            <a:r>
              <a:rPr lang="ko-KR" altLang="en-US" sz="2400" dirty="0"/>
              <a:t>일 수 있음</a:t>
            </a:r>
          </a:p>
          <a:p>
            <a:r>
              <a:rPr lang="ko-KR" altLang="en-US" sz="2400" dirty="0"/>
              <a:t>최적 스레드 수는 작업 특성과 환경에 따라 다름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EE382-EE0E-9C4E-4A17-68A1101D16B8}"/>
              </a:ext>
            </a:extLst>
          </p:cNvPr>
          <p:cNvSpPr txBox="1"/>
          <p:nvPr/>
        </p:nvSpPr>
        <p:spPr>
          <a:xfrm>
            <a:off x="539750" y="3212976"/>
            <a:ext cx="7978774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hardware_concurrency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alignas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atomic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F63B8-535B-D09A-67AD-9AEBA1D723CB}"/>
              </a:ext>
            </a:extLst>
          </p:cNvPr>
          <p:cNvSpPr txBox="1"/>
          <p:nvPr/>
        </p:nvSpPr>
        <p:spPr>
          <a:xfrm>
            <a:off x="539750" y="5784636"/>
            <a:ext cx="7978775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거짓 공유는 캐시 라인 경합으로 성능 저하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구조 변경 전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프로파일러로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확인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기준은 스레드 수가 아니라 전체 처리 시간, 응답 지연, 처리량, 자원 사용량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32030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9C05-D7DA-E9B4-3788-9E6445B7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46D4B-1BC5-CA5B-063B-04308EBA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16.11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377596-4E30-8D61-AB3B-F3020A2FB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sz="2400" dirty="0"/>
              <a:t>동시성은 여러 작업이 겹쳐 진행되는 구조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병렬성은 여러 작업이 실제로 같은 시간에 실행되는 상태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스레드는 같은 프로세스의 메모리를 공유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공유 가변 상태에는 동기화 필요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데이터 경쟁이 있는 </a:t>
            </a:r>
            <a:r>
              <a:rPr lang="en-US" altLang="ko-KR" sz="2400" dirty="0"/>
              <a:t>C++ </a:t>
            </a:r>
            <a:r>
              <a:rPr lang="ko-KR" altLang="en-US" sz="2400" dirty="0"/>
              <a:t>프로그램의 동작은 보장되지 않음</a:t>
            </a:r>
          </a:p>
          <a:p>
            <a:pPr>
              <a:lnSpc>
                <a:spcPct val="130000"/>
              </a:lnSpc>
            </a:pPr>
            <a:r>
              <a:rPr lang="en-US" altLang="ko-KR" sz="2400" dirty="0"/>
              <a:t>std::thread</a:t>
            </a:r>
            <a:r>
              <a:rPr lang="ko-KR" altLang="en-US" sz="2400" dirty="0"/>
              <a:t>는 결합 가능한 상태로 소멸하면 프로그램 종료</a:t>
            </a:r>
          </a:p>
          <a:p>
            <a:pPr>
              <a:lnSpc>
                <a:spcPct val="130000"/>
              </a:lnSpc>
            </a:pPr>
            <a:r>
              <a:rPr lang="en-US" altLang="ko-KR" sz="2400" dirty="0"/>
              <a:t>std::</a:t>
            </a:r>
            <a:r>
              <a:rPr lang="en-US" altLang="ko-KR" sz="2400" dirty="0" err="1"/>
              <a:t>jthread</a:t>
            </a:r>
            <a:r>
              <a:rPr lang="ko-KR" altLang="en-US" sz="2400" dirty="0"/>
              <a:t>는 자동 결합과 중지 요청 제공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중지 요청은 강제 중단이 아니며 작업 함수의 협력 필요</a:t>
            </a:r>
          </a:p>
          <a:p>
            <a:pPr>
              <a:lnSpc>
                <a:spcPct val="130000"/>
              </a:lnSpc>
            </a:pPr>
            <a:r>
              <a:rPr lang="en-US" altLang="ko-KR" sz="2400" dirty="0"/>
              <a:t>RAII </a:t>
            </a:r>
            <a:r>
              <a:rPr lang="ko-KR" altLang="en-US" sz="2400" dirty="0"/>
              <a:t>잠금 객체는 예외와 조기 반환에서도 잠금 해제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여러 </a:t>
            </a:r>
            <a:r>
              <a:rPr lang="ko-KR" altLang="en-US" sz="2400" dirty="0" err="1"/>
              <a:t>뮤텍스는</a:t>
            </a:r>
            <a:r>
              <a:rPr lang="ko-KR" altLang="en-US" sz="2400" dirty="0"/>
              <a:t> 잠금 순서 또는 </a:t>
            </a:r>
            <a:r>
              <a:rPr lang="en-US" altLang="ko-KR" sz="2400" dirty="0"/>
              <a:t>std::</a:t>
            </a:r>
            <a:r>
              <a:rPr lang="en-US" altLang="ko-KR" sz="2400" dirty="0" err="1"/>
              <a:t>scoped_lock</a:t>
            </a:r>
            <a:r>
              <a:rPr lang="ko-KR" altLang="en-US" sz="2400" dirty="0"/>
              <a:t>으로 관리</a:t>
            </a:r>
          </a:p>
        </p:txBody>
      </p:sp>
    </p:spTree>
    <p:extLst>
      <p:ext uri="{BB962C8B-B14F-4D97-AF65-F5344CB8AC3E}">
        <p14:creationId xmlns:p14="http://schemas.microsoft.com/office/powerpoint/2010/main" val="4246061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EEFD-AAE0-D6AA-4458-5187CFC4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FB761-4639-867E-18FA-3EA2FC7B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16.11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88E270-08E4-61A5-1E5A-8F51A5C0E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sz="2400" dirty="0"/>
              <a:t>조건 변수는 공유 상태의 조건이 만족될 때까지 대기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대기자는 조건식을 반복 확인</a:t>
            </a:r>
          </a:p>
          <a:p>
            <a:pPr>
              <a:lnSpc>
                <a:spcPct val="130000"/>
              </a:lnSpc>
            </a:pPr>
            <a:r>
              <a:rPr lang="en-US" altLang="ko-KR" sz="2400" dirty="0"/>
              <a:t>future, promise, </a:t>
            </a:r>
            <a:r>
              <a:rPr lang="en-US" altLang="ko-KR" sz="2400" dirty="0" err="1"/>
              <a:t>packaged_task</a:t>
            </a:r>
            <a:r>
              <a:rPr lang="en-US" altLang="ko-KR" sz="2400" dirty="0"/>
              <a:t>, async </a:t>
            </a:r>
            <a:r>
              <a:rPr lang="ko-KR" altLang="en-US" sz="2400" dirty="0"/>
              <a:t>→ 결과와 예외를 공유 상태로 전달</a:t>
            </a:r>
          </a:p>
          <a:p>
            <a:pPr>
              <a:lnSpc>
                <a:spcPct val="130000"/>
              </a:lnSpc>
            </a:pPr>
            <a:r>
              <a:rPr lang="en-US" altLang="ko-KR" sz="2400" dirty="0"/>
              <a:t>std::atomic</a:t>
            </a:r>
            <a:r>
              <a:rPr lang="ko-KR" altLang="en-US" sz="2400" dirty="0"/>
              <a:t>은 한 객체에 대한 원자적 연산 제공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여러 값의 관계와 복합 상태 전이에는 </a:t>
            </a:r>
            <a:r>
              <a:rPr lang="ko-KR" altLang="en-US" sz="2400" dirty="0" err="1"/>
              <a:t>뮤텍스가</a:t>
            </a:r>
            <a:r>
              <a:rPr lang="ko-KR" altLang="en-US" sz="2400" dirty="0"/>
              <a:t> 더 명확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약한 메모리 순서는 정확성 증명과 성능 측정 후 적용</a:t>
            </a:r>
          </a:p>
          <a:p>
            <a:pPr>
              <a:lnSpc>
                <a:spcPct val="130000"/>
              </a:lnSpc>
            </a:pPr>
            <a:r>
              <a:rPr lang="en-US" altLang="ko-KR" sz="2400" dirty="0"/>
              <a:t>latch, barrier, semaphore</a:t>
            </a:r>
            <a:r>
              <a:rPr lang="ko-KR" altLang="en-US" sz="2400" dirty="0"/>
              <a:t>는 작업 진행 시점과 자원 수 조정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병렬 알고리즘은 독립적인 원소 작업에 적합</a:t>
            </a:r>
          </a:p>
          <a:p>
            <a:pPr>
              <a:lnSpc>
                <a:spcPct val="130000"/>
              </a:lnSpc>
            </a:pPr>
            <a:r>
              <a:rPr lang="ko-KR" altLang="en-US" sz="2400" dirty="0"/>
              <a:t>안전한 동시성 설계 → 공유 상태 축소</a:t>
            </a:r>
            <a:r>
              <a:rPr lang="en-US" altLang="ko-KR" sz="2400" dirty="0"/>
              <a:t>, </a:t>
            </a:r>
            <a:r>
              <a:rPr lang="ko-KR" altLang="en-US" sz="2400" dirty="0"/>
              <a:t>소유권 분리</a:t>
            </a:r>
            <a:r>
              <a:rPr lang="en-US" altLang="ko-KR" sz="2400" dirty="0"/>
              <a:t>, </a:t>
            </a:r>
            <a:r>
              <a:rPr lang="ko-KR" altLang="en-US" sz="2400" dirty="0"/>
              <a:t>종료 정책 수립</a:t>
            </a:r>
          </a:p>
        </p:txBody>
      </p:sp>
    </p:spTree>
    <p:extLst>
      <p:ext uri="{BB962C8B-B14F-4D97-AF65-F5344CB8AC3E}">
        <p14:creationId xmlns:p14="http://schemas.microsoft.com/office/powerpoint/2010/main" val="191908057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solidFill>
          <a:schemeClr val="bg1"/>
        </a:solidFill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0" i="0" u="none" strike="noStrike" dirty="0">
            <a:solidFill>
              <a:srgbClr val="4078F2"/>
            </a:solidFill>
            <a:effectLst/>
            <a:latin typeface="Pretendard ExtraBold" panose="02000903000000020004" pitchFamily="50" charset="-127"/>
            <a:ea typeface="Pretendard ExtraBold" panose="02000903000000020004" pitchFamily="50" charset="-127"/>
            <a:cs typeface="Pretendard ExtraBold" panose="02000903000000020004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11275</TotalTime>
  <Words>6462</Words>
  <Application>Microsoft Office PowerPoint</Application>
  <PresentationFormat>화면 슬라이드 쇼(4:3)</PresentationFormat>
  <Paragraphs>523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나눔고딕 ExtraBold</vt:lpstr>
      <vt:lpstr>Wingdings</vt:lpstr>
      <vt:lpstr>HY견고딕</vt:lpstr>
      <vt:lpstr>나눔바른고딕</vt:lpstr>
      <vt:lpstr>굴림</vt:lpstr>
      <vt:lpstr>Pretendard ExtraBold</vt:lpstr>
      <vt:lpstr>가을체</vt:lpstr>
      <vt:lpstr>Arial</vt:lpstr>
      <vt:lpstr>Consolas</vt:lpstr>
      <vt:lpstr>기본 디자인</vt:lpstr>
      <vt:lpstr>16. 동시성 프로그래밍</vt:lpstr>
      <vt:lpstr>16. 동시성 프로그래밍</vt:lpstr>
      <vt:lpstr>16.1 동시성과 병렬성</vt:lpstr>
      <vt:lpstr>16.1.1 프로세스와 스레드</vt:lpstr>
      <vt:lpstr>16.1.3 공유 상태와 데이터 경쟁</vt:lpstr>
      <vt:lpstr>16.1.4 메모리 가시성과 happens-before</vt:lpstr>
      <vt:lpstr>16.2 std::thread</vt:lpstr>
      <vt:lpstr>16.2.2 인수 전달과 객체 수명</vt:lpstr>
      <vt:lpstr>16.2.3 join, joinable, detach</vt:lpstr>
      <vt:lpstr>16.2.4 예외 경로와 스레드 수명</vt:lpstr>
      <vt:lpstr>16.2.5 std::jthread (C++20)</vt:lpstr>
      <vt:lpstr>16.2.6 stop_token을 이용한 협력적 중지</vt:lpstr>
      <vt:lpstr>16.3 뮤텍스와 잠금</vt:lpstr>
      <vt:lpstr>16.3.2 std::lock_guard</vt:lpstr>
      <vt:lpstr>16.3.3 std::scoped_lock</vt:lpstr>
      <vt:lpstr>16.3.4 std::unique_lock</vt:lpstr>
      <vt:lpstr>16.3.5 RAII와 잠금 범위</vt:lpstr>
      <vt:lpstr>16.4 교착 상태</vt:lpstr>
      <vt:lpstr>16.4.2 잠금 순서</vt:lpstr>
      <vt:lpstr>16.4.4 잠금 범위와 외부 호출</vt:lpstr>
      <vt:lpstr>16.5 조건 변수</vt:lpstr>
      <vt:lpstr>16.5.3 대기, 통지와 가짜 깨어남</vt:lpstr>
      <vt:lpstr>16.5.4 생산자-소비자(Producer-Consumer)</vt:lpstr>
      <vt:lpstr>16.5.5 시간 제한 대기</vt:lpstr>
      <vt:lpstr>16.6 비동기 작업과 결과 전달</vt:lpstr>
      <vt:lpstr>16.6.2 std::promise</vt:lpstr>
      <vt:lpstr>16.6.3 std::packaged_task</vt:lpstr>
      <vt:lpstr>16.6.4 std::async와 실행 정책</vt:lpstr>
      <vt:lpstr>16.6.5 결과와 예외 전달</vt:lpstr>
      <vt:lpstr>16.7 std::atomic</vt:lpstr>
      <vt:lpstr>16.7.2 원자적 읽기, 쓰기와 RMW</vt:lpstr>
      <vt:lpstr>16.7.3 비교와 교환</vt:lpstr>
      <vt:lpstr>16.7.4 atomic wait와 notify (C++20)</vt:lpstr>
      <vt:lpstr>16.7.5 메모리 순서 개요</vt:lpstr>
      <vt:lpstr>16.7.6 뮤텍스와 원자적 연산의 선택</vt:lpstr>
      <vt:lpstr>16.8 C++20 동기화 도구</vt:lpstr>
      <vt:lpstr>16.8.1 std::latch</vt:lpstr>
      <vt:lpstr>16.8.2 std::barrier</vt:lpstr>
      <vt:lpstr>16.8.3 std::counting_semaphore</vt:lpstr>
      <vt:lpstr>16.9 병렬 알고리즘 개요</vt:lpstr>
      <vt:lpstr>16.9.2 병렬 실행의 조건</vt:lpstr>
      <vt:lpstr>16.9.3 부작용, 데이터 경쟁과 예외</vt:lpstr>
      <vt:lpstr>16.9.4 지원 범위와 성능 측정</vt:lpstr>
      <vt:lpstr>16.10 동시성 설계 기준</vt:lpstr>
      <vt:lpstr>16.10.2 작업 단위와 소유권</vt:lpstr>
      <vt:lpstr>16.10.3 스레드 안전한 인터페이스</vt:lpstr>
      <vt:lpstr>16.10.4 종료와 취소</vt:lpstr>
      <vt:lpstr>16.10.5 과도한 병렬화 피하기</vt:lpstr>
      <vt:lpstr>16.11 학습 정리</vt:lpstr>
      <vt:lpstr>16.11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416</cp:revision>
  <dcterms:created xsi:type="dcterms:W3CDTF">2003-11-30T16:03:20Z</dcterms:created>
  <dcterms:modified xsi:type="dcterms:W3CDTF">2026-09-12T05:30:54Z</dcterms:modified>
</cp:coreProperties>
</file>