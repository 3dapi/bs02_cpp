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328" r:id="rId2"/>
    <p:sldId id="377" r:id="rId3"/>
    <p:sldId id="368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414" r:id="rId41"/>
    <p:sldId id="415" r:id="rId42"/>
    <p:sldId id="416" r:id="rId43"/>
    <p:sldId id="417" r:id="rId44"/>
    <p:sldId id="418" r:id="rId45"/>
    <p:sldId id="419" r:id="rId46"/>
    <p:sldId id="420" r:id="rId47"/>
    <p:sldId id="421" r:id="rId48"/>
  </p:sldIdLst>
  <p:sldSz cx="9144000" cy="6858000" type="screen4x3"/>
  <p:notesSz cx="6858000" cy="9144000"/>
  <p:embeddedFontLst>
    <p:embeddedFont>
      <p:font typeface="Pretendard ExtraBold" panose="02000903000000020004" pitchFamily="50" charset="-127"/>
      <p:bold r:id="rId50"/>
    </p:embeddedFont>
    <p:embeddedFont>
      <p:font typeface="Cascadia Code" panose="020B0609020000020004" pitchFamily="49" charset="0"/>
      <p:regular r:id="rId51"/>
      <p:bold r:id="rId52"/>
      <p:italic r:id="rId53"/>
      <p:boldItalic r:id="rId54"/>
    </p:embeddedFont>
    <p:embeddedFont>
      <p:font typeface="Consolas" panose="020B0609020204030204" pitchFamily="49" charset="0"/>
      <p:regular r:id="rId55"/>
      <p:bold r:id="rId56"/>
      <p:italic r:id="rId57"/>
      <p:boldItalic r:id="rId58"/>
    </p:embeddedFont>
    <p:embeddedFont>
      <p:font typeface="D2Coding" panose="020B0609020101020101" pitchFamily="49" charset="-127"/>
      <p:regular r:id="rId59"/>
      <p:bold r:id="rId60"/>
    </p:embeddedFont>
    <p:embeddedFont>
      <p:font typeface="HY견고딕" panose="02030600000101010101" pitchFamily="18" charset="-127"/>
      <p:regular r:id="rId61"/>
    </p:embeddedFont>
    <p:embeddedFont>
      <p:font typeface="가을체" panose="02030600000101010101" pitchFamily="18" charset="-127"/>
      <p:regular r:id="rId62"/>
    </p:embeddedFont>
    <p:embeddedFont>
      <p:font typeface="나눔고딕 ExtraBold" panose="020D0904000000000000" pitchFamily="50" charset="-127"/>
      <p:bold r:id="rId63"/>
    </p:embeddedFont>
    <p:embeddedFont>
      <p:font typeface="나눔바른고딕" panose="020B0603020101020101" pitchFamily="50" charset="-127"/>
      <p:regular r:id="rId64"/>
      <p:bold r:id="rId6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CC00FF"/>
    <a:srgbClr val="CC00CC"/>
    <a:srgbClr val="C18401"/>
    <a:srgbClr val="FF9900"/>
    <a:srgbClr val="EFEFED"/>
    <a:srgbClr val="FF00FF"/>
    <a:srgbClr val="CC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4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572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05. 복사, 이동과 값 의미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1B35-596C-EE32-E25D-D9E1A527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FFFF0-6C08-9D11-722B-9F313334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05. 복사, 이동과 값 의미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16EFF-321C-9846-A9FB-F93B0DFC9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dirty="0"/>
              <a:t>값 의미와 객체 정체성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기본 복사와 복사 정책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얕은 복사, 깊은 복사, 이중 해제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복사 생성자와 복사 대입 연산자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Rule of Three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값 범주와 </a:t>
            </a:r>
            <a:r>
              <a:rPr lang="ko-KR" altLang="en-US" dirty="0" err="1"/>
              <a:t>우측</a:t>
            </a:r>
            <a:r>
              <a:rPr lang="ko-KR" altLang="ko-KR" dirty="0" err="1"/>
              <a:t>값</a:t>
            </a:r>
            <a:r>
              <a:rPr lang="ko-KR" altLang="ko-KR" dirty="0"/>
              <a:t> 참조</a:t>
            </a:r>
          </a:p>
          <a:p>
            <a:pPr lvl="0">
              <a:lnSpc>
                <a:spcPct val="120000"/>
              </a:lnSpc>
            </a:pPr>
            <a:r>
              <a:rPr lang="ko-KR" altLang="ko-KR" dirty="0"/>
              <a:t>이동 생성자와 이동 대입 연산자</a:t>
            </a:r>
          </a:p>
          <a:p>
            <a:pPr lvl="0">
              <a:lnSpc>
                <a:spcPct val="120000"/>
              </a:lnSpc>
            </a:pP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move</a:t>
            </a:r>
            <a:r>
              <a:rPr lang="ko-KR" altLang="ko-KR" dirty="0"/>
              <a:t>, </a:t>
            </a:r>
            <a:r>
              <a:rPr lang="ko-KR" altLang="ko-KR" dirty="0" err="1"/>
              <a:t>noexcept</a:t>
            </a:r>
            <a:endParaRPr lang="ko-KR" altLang="ko-KR" dirty="0"/>
          </a:p>
          <a:p>
            <a:pPr lvl="0">
              <a:lnSpc>
                <a:spcPct val="120000"/>
              </a:lnSpc>
            </a:pPr>
            <a:r>
              <a:rPr lang="ko-KR" altLang="ko-KR" dirty="0"/>
              <a:t>Rule of </a:t>
            </a:r>
            <a:r>
              <a:rPr lang="ko-KR" altLang="ko-KR" dirty="0" err="1"/>
              <a:t>Five</a:t>
            </a:r>
            <a:r>
              <a:rPr lang="ko-KR" altLang="ko-KR" dirty="0"/>
              <a:t>, Rule of </a:t>
            </a:r>
            <a:r>
              <a:rPr lang="ko-KR" altLang="ko-KR" dirty="0" err="1"/>
              <a:t>Zero</a:t>
            </a:r>
            <a:endParaRPr lang="ko-KR" altLang="ko-KR" dirty="0"/>
          </a:p>
          <a:p>
            <a:pPr lvl="0">
              <a:lnSpc>
                <a:spcPct val="120000"/>
              </a:lnSpc>
            </a:pPr>
            <a:r>
              <a:rPr lang="ko-KR" altLang="ko-KR" dirty="0"/>
              <a:t>복사 생략과 값 반환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69CFDF3-BA8F-E300-92B5-DE347F18C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187861"/>
              </p:ext>
            </p:extLst>
          </p:nvPr>
        </p:nvGraphicFramePr>
        <p:xfrm>
          <a:off x="5868144" y="2060848"/>
          <a:ext cx="2914253" cy="3391240"/>
        </p:xfrm>
        <a:graphic>
          <a:graphicData uri="http://schemas.openxmlformats.org/drawingml/2006/table">
            <a:tbl>
              <a:tblPr/>
              <a:tblGrid>
                <a:gridCol w="2914253">
                  <a:extLst>
                    <a:ext uri="{9D8B030D-6E8A-4147-A177-3AD203B41FA5}">
                      <a16:colId xmlns:a16="http://schemas.microsoft.com/office/drawing/2014/main" val="3222605495"/>
                    </a:ext>
                  </a:extLst>
                </a:gridCol>
              </a:tblGrid>
              <a:tr h="3391240">
                <a:tc>
                  <a:txBody>
                    <a:bodyPr/>
                    <a:lstStyle/>
                    <a:p>
                      <a:pPr algn="ctr" rtl="0" fontAlgn="t">
                        <a:lnSpc>
                          <a:spcPct val="150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복사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값을 복제할 것인가?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자원을 공유할 것인가?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소유권을 이전할 것인가?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복사를 금지할 것인가?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44000" marR="144000" marT="108000" marB="180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514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08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32735-E29C-5923-4303-BB25B674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74F83-004D-9ADA-09A1-F8639B76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 값 의미와 객체 정체성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6DD7A-90EB-BE55-3B47-82A7590B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값은 계산과 비교의 대상이 되는 내용</a:t>
            </a:r>
          </a:p>
          <a:p>
            <a:pPr lvl="0"/>
            <a:r>
              <a:rPr lang="ko-KR" altLang="ko-KR" dirty="0"/>
              <a:t>객체는 값을 저장하는 메모리 영역과 수명을 가진 실체</a:t>
            </a:r>
          </a:p>
          <a:p>
            <a:pPr lvl="0"/>
            <a:r>
              <a:rPr lang="ko-KR" altLang="ko-KR" dirty="0"/>
              <a:t>값이 같다는 사실과 같은 객체라는 사실은 다름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2CE9D-82BD-A83F-9C24-05876ECFC241}"/>
              </a:ext>
            </a:extLst>
          </p:cNvPr>
          <p:cNvSpPr txBox="1"/>
          <p:nvPr/>
        </p:nvSpPr>
        <p:spPr>
          <a:xfrm>
            <a:off x="539750" y="2564904"/>
            <a:ext cx="4752330" cy="25853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boolalpha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(&amp;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출력: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false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7ED4EB-F919-3E19-0D87-F98AAD14B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871121"/>
              </p:ext>
            </p:extLst>
          </p:nvPr>
        </p:nvGraphicFramePr>
        <p:xfrm>
          <a:off x="5292080" y="3068960"/>
          <a:ext cx="3528392" cy="1590216"/>
        </p:xfrm>
        <a:graphic>
          <a:graphicData uri="http://schemas.openxmlformats.org/drawingml/2006/table">
            <a:tbl>
              <a:tblPr/>
              <a:tblGrid>
                <a:gridCol w="1491943">
                  <a:extLst>
                    <a:ext uri="{9D8B030D-6E8A-4147-A177-3AD203B41FA5}">
                      <a16:colId xmlns:a16="http://schemas.microsoft.com/office/drawing/2014/main" val="2173269129"/>
                    </a:ext>
                  </a:extLst>
                </a:gridCol>
                <a:gridCol w="2036449">
                  <a:extLst>
                    <a:ext uri="{9D8B030D-6E8A-4147-A177-3AD203B41FA5}">
                      <a16:colId xmlns:a16="http://schemas.microsoft.com/office/drawing/2014/main" val="149817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9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== 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저장된 값 비교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501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== &amp;</a:t>
                      </a:r>
                      <a:r>
                        <a:rPr lang="ko-KR" sz="16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객체인지 주소 비교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1075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F36CA0-A3A3-BA1A-EDCC-EE25C4D6A422}"/>
              </a:ext>
            </a:extLst>
          </p:cNvPr>
          <p:cNvSpPr txBox="1"/>
          <p:nvPr/>
        </p:nvSpPr>
        <p:spPr>
          <a:xfrm>
            <a:off x="539750" y="5477162"/>
            <a:ext cx="7112620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객체가 같은 값을 저장해도 서로 다른 객체일 수 있음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09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C2B92-F23D-4E11-E9FB-B4274389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5.1.3 값 의미와 참조 의미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684309-7A29-6649-D7B5-2DCD4442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값 의미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참조 의미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57400-70BA-C9FE-2C4D-957D9D36E7B6}"/>
              </a:ext>
            </a:extLst>
          </p:cNvPr>
          <p:cNvSpPr txBox="1"/>
          <p:nvPr/>
        </p:nvSpPr>
        <p:spPr>
          <a:xfrm>
            <a:off x="611560" y="1268760"/>
            <a:ext cx="3168352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{10, 20};</a:t>
            </a:r>
            <a:b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copy.x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100;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FBFB0-DCC8-8B2F-4771-F3C973212119}"/>
              </a:ext>
            </a:extLst>
          </p:cNvPr>
          <p:cNvSpPr txBox="1"/>
          <p:nvPr/>
        </p:nvSpPr>
        <p:spPr>
          <a:xfrm>
            <a:off x="611560" y="3834914"/>
            <a:ext cx="3168352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2EEFF-A7F5-78EE-16A3-596524CB1353}"/>
              </a:ext>
            </a:extLst>
          </p:cNvPr>
          <p:cNvSpPr txBox="1"/>
          <p:nvPr/>
        </p:nvSpPr>
        <p:spPr>
          <a:xfrm>
            <a:off x="3779912" y="1628800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copy를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변경해도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유지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복사본은 원본과 독립된 객체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048D6-D44B-A5F5-7A9C-5628AE08FF3E}"/>
              </a:ext>
            </a:extLst>
          </p:cNvPr>
          <p:cNvSpPr txBox="1"/>
          <p:nvPr/>
        </p:nvSpPr>
        <p:spPr>
          <a:xfrm>
            <a:off x="3779912" y="4503808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second는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같은 객체를 가리킴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한쪽을 통해 변경하면 같은 대상에 반영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661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B759-E3B6-0CC9-2668-0325CA51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02325-A7C9-7E44-D737-87C15D9E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5.1.4 값 의미를 가지는 타입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2E4F4-9DE1-B689-BBA1-8FDA4EE3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복사본이 원본과 독립적으로 동작</a:t>
            </a:r>
          </a:p>
          <a:p>
            <a:pPr lvl="0"/>
            <a:r>
              <a:rPr lang="ko-KR" altLang="ko-KR" sz="2400" dirty="0"/>
              <a:t>객체의 값에 따라 동일성 판단 가능</a:t>
            </a:r>
          </a:p>
          <a:p>
            <a:pPr lvl="0"/>
            <a:r>
              <a:rPr lang="ko-KR" altLang="ko-KR" sz="2400" dirty="0"/>
              <a:t>함수 인수와 </a:t>
            </a:r>
            <a:r>
              <a:rPr lang="ko-KR" altLang="ko-KR" sz="2400" dirty="0" err="1"/>
              <a:t>반환값으로</a:t>
            </a:r>
            <a:r>
              <a:rPr lang="ko-KR" altLang="ko-KR" sz="2400" dirty="0"/>
              <a:t> 자연스럽게 사용 가능</a:t>
            </a:r>
          </a:p>
          <a:p>
            <a:pPr lvl="0"/>
            <a:r>
              <a:rPr lang="ko-KR" altLang="ko-KR" sz="2400" dirty="0"/>
              <a:t>객체가 자신의 자원을 스스로 관리</a:t>
            </a:r>
          </a:p>
          <a:p>
            <a:pPr lvl="0"/>
            <a:r>
              <a:rPr lang="ko-KR" altLang="ko-KR" sz="2400" dirty="0"/>
              <a:t>객체 수명이 끝나면 소유 자원도 정리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03AB8-C639-443E-3667-438524532AAC}"/>
              </a:ext>
            </a:extLst>
          </p:cNvPr>
          <p:cNvSpPr txBox="1"/>
          <p:nvPr/>
        </p:nvSpPr>
        <p:spPr>
          <a:xfrm>
            <a:off x="539750" y="3278374"/>
            <a:ext cx="4896346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second.append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"_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Two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→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Player_Two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291B4-2837-C9C2-C54E-E44DD30271EA}"/>
              </a:ext>
            </a:extLst>
          </p:cNvPr>
          <p:cNvSpPr txBox="1"/>
          <p:nvPr/>
        </p:nvSpPr>
        <p:spPr>
          <a:xfrm>
            <a:off x="539750" y="5590981"/>
            <a:ext cx="489634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내부적으로 동적 메모리를 사용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복사본 변경이 원본 문자열에 영향을 주지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A0DC7F0-E0D8-E045-081B-B2A26F274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235695"/>
              </p:ext>
            </p:extLst>
          </p:nvPr>
        </p:nvGraphicFramePr>
        <p:xfrm>
          <a:off x="5504829" y="3383459"/>
          <a:ext cx="3528194" cy="1926240"/>
        </p:xfrm>
        <a:graphic>
          <a:graphicData uri="http://schemas.openxmlformats.org/drawingml/2006/table">
            <a:tbl>
              <a:tblPr/>
              <a:tblGrid>
                <a:gridCol w="947501">
                  <a:extLst>
                    <a:ext uri="{9D8B030D-6E8A-4147-A177-3AD203B41FA5}">
                      <a16:colId xmlns:a16="http://schemas.microsoft.com/office/drawing/2014/main" val="1169638669"/>
                    </a:ext>
                  </a:extLst>
                </a:gridCol>
                <a:gridCol w="2580693">
                  <a:extLst>
                    <a:ext uri="{9D8B030D-6E8A-4147-A177-3AD203B41FA5}">
                      <a16:colId xmlns:a16="http://schemas.microsoft.com/office/drawing/2014/main" val="1528614997"/>
                    </a:ext>
                  </a:extLst>
                </a:gridCol>
              </a:tblGrid>
              <a:tr h="4815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예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의미</a:t>
                      </a:r>
                      <a:endParaRPr lang="ko-KR" sz="20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57788"/>
                  </a:ext>
                </a:extLst>
              </a:tr>
              <a:tr h="4815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좌표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좌표값이면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같은 값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70571"/>
                  </a:ext>
                </a:extLst>
              </a:tr>
              <a:tr h="4815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날짜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연월일이면 같은 값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379417"/>
                  </a:ext>
                </a:extLst>
              </a:tr>
              <a:tr h="4815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문자 내용이면 같은 값</a:t>
                      </a:r>
                      <a:endParaRPr lang="ko-KR" sz="28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654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8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9EC6-850A-DEDD-BDE0-A0FCC500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D8E96-6698-A108-9608-30D00995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5.1.5 자원을 소유하는 객체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A0E320-B3F5-3F33-405D-67EEDF796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객체가 자원의 사용과 해제를 책임지면</a:t>
            </a:r>
            <a:br>
              <a:rPr lang="en-US" altLang="ko-KR" sz="2400" dirty="0"/>
            </a:br>
            <a:r>
              <a:rPr lang="ko-KR" altLang="ko-KR" sz="2400" dirty="0"/>
              <a:t>자원을 소유한다고 표현</a:t>
            </a:r>
          </a:p>
          <a:p>
            <a:pPr lvl="0"/>
            <a:r>
              <a:rPr lang="ko-KR" altLang="ko-KR" sz="2400" dirty="0"/>
              <a:t>동적 메모리, 파일, 소켓, 운영체제 핸들 등이 대표적</a:t>
            </a:r>
          </a:p>
          <a:p>
            <a:pPr lvl="0"/>
            <a:r>
              <a:rPr lang="ko-KR" altLang="ko-KR" sz="2400" dirty="0"/>
              <a:t>포인터 값만 복사하면 자원 소유 규칙이 깨질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7B950-4D4C-8359-66F4-377E276D9931}"/>
              </a:ext>
            </a:extLst>
          </p:cNvPr>
          <p:cNvSpPr txBox="1"/>
          <p:nvPr/>
        </p:nvSpPr>
        <p:spPr>
          <a:xfrm>
            <a:off x="447725" y="2564904"/>
            <a:ext cx="4572000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 :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3A83A-141A-9F6C-89DA-07D500E740BE}"/>
              </a:ext>
            </a:extLst>
          </p:cNvPr>
          <p:cNvSpPr txBox="1"/>
          <p:nvPr/>
        </p:nvSpPr>
        <p:spPr>
          <a:xfrm>
            <a:off x="3446156" y="4644112"/>
            <a:ext cx="5590340" cy="9233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객체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───▶ 동적 배열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19120-B34E-E0EE-7319-D7D796CA6DDE}"/>
              </a:ext>
            </a:extLst>
          </p:cNvPr>
          <p:cNvSpPr txBox="1"/>
          <p:nvPr/>
        </p:nvSpPr>
        <p:spPr>
          <a:xfrm>
            <a:off x="3419872" y="5665500"/>
            <a:ext cx="5616624" cy="646331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data에는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주소값만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저장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의미에서는 동적 배열까지 객체가 관리해야 할 상태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123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343F-A4BA-D46E-D3C8-ABD896DC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6B8D0-940A-52D5-6C19-E258F1EF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 기본 복사와 복사 정책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18B371-7D52-5EDC-5763-9277A4BC9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명시적 </a:t>
            </a:r>
            <a:r>
              <a:rPr lang="ko-KR" altLang="ko-KR" dirty="0"/>
              <a:t>복사 선언</a:t>
            </a:r>
            <a:r>
              <a:rPr lang="en-US" altLang="ko-KR" dirty="0"/>
              <a:t> </a:t>
            </a:r>
            <a:r>
              <a:rPr lang="ko-KR" altLang="en-US" dirty="0"/>
              <a:t>없으면 </a:t>
            </a:r>
            <a:r>
              <a:rPr lang="ko-KR" altLang="ko-KR" dirty="0"/>
              <a:t>컴파일러가 멤버 단위 복사 제공</a:t>
            </a:r>
          </a:p>
          <a:p>
            <a:pPr lvl="0"/>
            <a:r>
              <a:rPr lang="ko-KR" altLang="ko-KR" dirty="0"/>
              <a:t>기본형과 값 의미 멤버에는 자연스러운 동작</a:t>
            </a:r>
          </a:p>
          <a:p>
            <a:pPr lvl="0"/>
            <a:r>
              <a:rPr lang="ko-KR" altLang="ko-KR" dirty="0"/>
              <a:t>자원을 가리키는 포인터 멤버에는 문제가 생길 수 있음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9C6A1-28DB-8F56-9CC0-C7A1FEE9DA10}"/>
              </a:ext>
            </a:extLst>
          </p:cNvPr>
          <p:cNvSpPr txBox="1"/>
          <p:nvPr/>
        </p:nvSpPr>
        <p:spPr>
          <a:xfrm>
            <a:off x="529598" y="2536448"/>
            <a:ext cx="457200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second.x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first.x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second.y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first.y</a:t>
            </a:r>
            <a:endParaRPr lang="ko-KR" altLang="en-US" sz="1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3C300-4E4C-D547-9D2D-C648F34F8A67}"/>
              </a:ext>
            </a:extLst>
          </p:cNvPr>
          <p:cNvSpPr txBox="1"/>
          <p:nvPr/>
        </p:nvSpPr>
        <p:spPr>
          <a:xfrm>
            <a:off x="529598" y="5373216"/>
            <a:ext cx="735477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name에는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string의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 동작 적용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position에는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Point의</a:t>
            </a: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복사 동작 적용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927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B78DB-0F8D-F676-5990-71F68EC2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946C3-D92F-AE9E-AAD0-AFF1ED98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5.2.2 포인터 멤버와 얕은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B3A5A-AD7C-556D-899B-91B35566E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포인터가 가리키는 자원의 내용은 복제</a:t>
            </a:r>
            <a:r>
              <a:rPr lang="en-US" altLang="ko-KR" dirty="0"/>
              <a:t> </a:t>
            </a:r>
            <a:r>
              <a:rPr lang="ko-KR" altLang="en-US" dirty="0"/>
              <a:t>안함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dirty="0"/>
              <a:t> </a:t>
            </a:r>
            <a:r>
              <a:rPr lang="ko-KR" altLang="ko-KR" dirty="0" err="1"/>
              <a:t>주소값만</a:t>
            </a:r>
            <a:r>
              <a:rPr lang="ko-KR" altLang="ko-KR" dirty="0"/>
              <a:t> 복사</a:t>
            </a:r>
          </a:p>
          <a:p>
            <a:pPr lvl="0"/>
            <a:r>
              <a:rPr lang="ko-KR" altLang="ko-KR" dirty="0"/>
              <a:t>두 객체가 같은 자원을 가리키는 상태</a:t>
            </a:r>
          </a:p>
          <a:p>
            <a:pPr lvl="0"/>
            <a:r>
              <a:rPr lang="ko-KR" altLang="ko-KR" dirty="0"/>
              <a:t>객체가 자원을 소유한다면 위험</a:t>
            </a:r>
          </a:p>
          <a:p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06B922C-258E-7F57-C6BC-F5419E8EC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536401"/>
              </p:ext>
            </p:extLst>
          </p:nvPr>
        </p:nvGraphicFramePr>
        <p:xfrm>
          <a:off x="2679652" y="2996952"/>
          <a:ext cx="3116484" cy="1620520"/>
        </p:xfrm>
        <a:graphic>
          <a:graphicData uri="http://schemas.openxmlformats.org/drawingml/2006/table">
            <a:tbl>
              <a:tblPr/>
              <a:tblGrid>
                <a:gridCol w="3116484">
                  <a:extLst>
                    <a:ext uri="{9D8B030D-6E8A-4147-A177-3AD203B41FA5}">
                      <a16:colId xmlns:a16="http://schemas.microsoft.com/office/drawing/2014/main" val="2302344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IntArray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4078F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first.Set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first.Set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first.Set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IntArray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second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=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;</a:t>
                      </a:r>
                      <a:endParaRPr lang="ko-KR" sz="2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1178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D8E866-E50A-F3A3-EACC-CB7CA9D19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13984"/>
              </p:ext>
            </p:extLst>
          </p:nvPr>
        </p:nvGraphicFramePr>
        <p:xfrm>
          <a:off x="6083574" y="3140968"/>
          <a:ext cx="2808312" cy="2001520"/>
        </p:xfrm>
        <a:graphic>
          <a:graphicData uri="http://schemas.openxmlformats.org/drawingml/2006/table">
            <a:tbl>
              <a:tblPr/>
              <a:tblGrid>
                <a:gridCol w="2808312">
                  <a:extLst>
                    <a:ext uri="{9D8B030D-6E8A-4147-A177-3AD203B41FA5}">
                      <a16:colId xmlns:a16="http://schemas.microsoft.com/office/drawing/2014/main" val="2302344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85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─────┐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]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</a:t>
                      </a:r>
                      <a:r>
                        <a:rPr lang="en-US" alt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 ↑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    │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│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─────┘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117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07857B1-7447-2FFA-4485-2B2FCCE16E7A}"/>
              </a:ext>
            </a:extLst>
          </p:cNvPr>
          <p:cNvSpPr txBox="1"/>
          <p:nvPr/>
        </p:nvSpPr>
        <p:spPr>
          <a:xfrm>
            <a:off x="395536" y="2996952"/>
            <a:ext cx="2087638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…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8F0B2B1-09B1-0E3A-E4DE-3EA6E91AD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350195"/>
              </p:ext>
            </p:extLst>
          </p:nvPr>
        </p:nvGraphicFramePr>
        <p:xfrm>
          <a:off x="2679652" y="4691614"/>
          <a:ext cx="3116484" cy="553720"/>
        </p:xfrm>
        <a:graphic>
          <a:graphicData uri="http://schemas.openxmlformats.org/drawingml/2006/table">
            <a:tbl>
              <a:tblPr/>
              <a:tblGrid>
                <a:gridCol w="3116484">
                  <a:extLst>
                    <a:ext uri="{9D8B030D-6E8A-4147-A177-3AD203B41FA5}">
                      <a16:colId xmlns:a16="http://schemas.microsoft.com/office/drawing/2014/main" val="1306401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second.Set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</a:t>
                      </a:r>
                      <a:b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4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std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::</a:t>
                      </a:r>
                      <a:r>
                        <a:rPr lang="ko-KR" sz="14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cout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&lt;&lt; </a:t>
                      </a:r>
                      <a:r>
                        <a:rPr lang="ko-KR" sz="1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first.Get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400" b="1" i="0" u="none" strike="noStrike" dirty="0">
                          <a:solidFill>
                            <a:srgbClr val="9868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&lt;&lt; </a:t>
                      </a:r>
                      <a:r>
                        <a:rPr lang="ko-KR" sz="1400" b="1" i="0" u="none" strike="noStrike" dirty="0">
                          <a:solidFill>
                            <a:srgbClr val="50A14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'\</a:t>
                      </a:r>
                      <a:r>
                        <a:rPr lang="ko-KR" sz="1400" b="1" i="0" u="none" strike="noStrike" dirty="0" err="1">
                          <a:solidFill>
                            <a:srgbClr val="50A14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</a:t>
                      </a:r>
                      <a:r>
                        <a:rPr lang="ko-KR" sz="1400" b="1" i="0" u="none" strike="noStrike" dirty="0">
                          <a:solidFill>
                            <a:srgbClr val="50A14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'</a:t>
                      </a:r>
                      <a:r>
                        <a:rPr lang="ko-KR" sz="14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;</a:t>
                      </a:r>
                      <a:endParaRPr lang="ko-KR" sz="2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9507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F305ABA-4F98-B0DA-6BE7-193CFC4F5217}"/>
              </a:ext>
            </a:extLst>
          </p:cNvPr>
          <p:cNvSpPr txBox="1"/>
          <p:nvPr/>
        </p:nvSpPr>
        <p:spPr>
          <a:xfrm>
            <a:off x="2679652" y="5394782"/>
            <a:ext cx="311648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출력값은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100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복사본 변경이 원본에도 나타남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609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98A4-2D45-3EDE-AAE5-CF701443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A7C3A-D3CF-B5CB-08D3-A5724FC7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5.2.3 깊은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98131-0079-E439-5F5D-43409B2FB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원본 객체가 소유한 자원의 내용을 새로운 자원에 복제</a:t>
            </a:r>
          </a:p>
          <a:p>
            <a:pPr lvl="0"/>
            <a:r>
              <a:rPr lang="ko-KR" altLang="ko-KR" sz="2400" dirty="0"/>
              <a:t>두 객체는 같은 값을 가지지만 서로 다른 자원을 소유</a:t>
            </a:r>
          </a:p>
          <a:p>
            <a:pPr lvl="0"/>
            <a:r>
              <a:rPr lang="ko-KR" altLang="ko-KR" sz="2400" dirty="0"/>
              <a:t>한 객체의 변경과 소멸이 다른 객체에 영향을 주지 않음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195B957-2296-FC8F-8CBC-B455A08E6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956"/>
              </p:ext>
            </p:extLst>
          </p:nvPr>
        </p:nvGraphicFramePr>
        <p:xfrm>
          <a:off x="467544" y="2276872"/>
          <a:ext cx="4572000" cy="1833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1646798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first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───▶ 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10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20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30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second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3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 ───▶ 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10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20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][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30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]</a:t>
                      </a:r>
                      <a:endParaRPr lang="ko-KR" sz="2800" b="1" dirty="0"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3996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AC4B6C9-58EB-FBE5-2C8C-485E450D4ECB}"/>
              </a:ext>
            </a:extLst>
          </p:cNvPr>
          <p:cNvSpPr txBox="1"/>
          <p:nvPr/>
        </p:nvSpPr>
        <p:spPr>
          <a:xfrm>
            <a:off x="467544" y="4365104"/>
            <a:ext cx="4572000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깊은 복사 작업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원본과 같은 크기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의 자원 준비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 자원의 내용을 </a:t>
            </a: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자원으로 복사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복사본이 새 자원을 소유하도록 설정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각 객체가 자신의 자원만 해제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하도록 유지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 생성자와 복사 대입 연산자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에서 구현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E4CCD45-9571-384A-B3AC-805D447E2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239636"/>
              </p:ext>
            </p:extLst>
          </p:nvPr>
        </p:nvGraphicFramePr>
        <p:xfrm>
          <a:off x="5198915" y="4472245"/>
          <a:ext cx="3672408" cy="1724710"/>
        </p:xfrm>
        <a:graphic>
          <a:graphicData uri="http://schemas.openxmlformats.org/drawingml/2006/table">
            <a:tbl>
              <a:tblPr/>
              <a:tblGrid>
                <a:gridCol w="1098062">
                  <a:extLst>
                    <a:ext uri="{9D8B030D-6E8A-4147-A177-3AD203B41FA5}">
                      <a16:colId xmlns:a16="http://schemas.microsoft.com/office/drawing/2014/main" val="2389835395"/>
                    </a:ext>
                  </a:extLst>
                </a:gridCol>
                <a:gridCol w="2574346">
                  <a:extLst>
                    <a:ext uri="{9D8B030D-6E8A-4147-A177-3AD203B41FA5}">
                      <a16:colId xmlns:a16="http://schemas.microsoft.com/office/drawing/2014/main" val="3960050227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복사 방식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sz="28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829470"/>
                  </a:ext>
                </a:extLst>
              </a:tr>
              <a:tr h="6463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얕은 복사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주소값 복사, 자원 공유 가능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476976"/>
                  </a:ext>
                </a:extLst>
              </a:tr>
              <a:tr h="6463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깊은 복사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새 자원 준비, 내용 복제</a:t>
                      </a:r>
                      <a:endParaRPr lang="ko-KR" sz="28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592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26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6203D-58EC-7B9A-0B3A-CDB8EBFA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497B1-B5FC-5C7C-CE43-C04BA0876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5.2.4 복사 정책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D28217F-3E83-6D09-0369-5BF4CF201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148026"/>
              </p:ext>
            </p:extLst>
          </p:nvPr>
        </p:nvGraphicFramePr>
        <p:xfrm>
          <a:off x="563364" y="692696"/>
          <a:ext cx="7825060" cy="2213480"/>
        </p:xfrm>
        <a:graphic>
          <a:graphicData uri="http://schemas.openxmlformats.org/drawingml/2006/table">
            <a:tbl>
              <a:tblPr/>
              <a:tblGrid>
                <a:gridCol w="1435516">
                  <a:extLst>
                    <a:ext uri="{9D8B030D-6E8A-4147-A177-3AD203B41FA5}">
                      <a16:colId xmlns:a16="http://schemas.microsoft.com/office/drawing/2014/main" val="1786461136"/>
                    </a:ext>
                  </a:extLst>
                </a:gridCol>
                <a:gridCol w="2847514">
                  <a:extLst>
                    <a:ext uri="{9D8B030D-6E8A-4147-A177-3AD203B41FA5}">
                      <a16:colId xmlns:a16="http://schemas.microsoft.com/office/drawing/2014/main" val="446761248"/>
                    </a:ext>
                  </a:extLst>
                </a:gridCol>
                <a:gridCol w="3542030">
                  <a:extLst>
                    <a:ext uri="{9D8B030D-6E8A-4147-A177-3AD203B41FA5}">
                      <a16:colId xmlns:a16="http://schemas.microsoft.com/office/drawing/2014/main" val="108751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복사 정책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복사 결과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대표 용도</a:t>
                      </a:r>
                      <a:endParaRPr lang="ko-KR" sz="320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34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깊은 복사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독립된 자원과 같은 내용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배열, 문자열, 이미지 버퍼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8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공유 소유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하나의 자원을 함께 소유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공유 데이터,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캐시된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리소스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095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비소유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참조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같은 대상을 참조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뷰, 관찰자, 임시 접근 객체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9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복사 금지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복사 시 컴파일 오류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고유 핸들, 잠금, 단일 연결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288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081581-EC68-7DD4-5853-862E9812E744}"/>
              </a:ext>
            </a:extLst>
          </p:cNvPr>
          <p:cNvSpPr txBox="1"/>
          <p:nvPr/>
        </p:nvSpPr>
        <p:spPr>
          <a:xfrm>
            <a:off x="563364" y="3060288"/>
            <a:ext cx="5952852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PlayerView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PlayerView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: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소유하지 않음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en-US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A16CB-806F-D607-D802-4BB273093241}"/>
              </a:ext>
            </a:extLst>
          </p:cNvPr>
          <p:cNvSpPr txBox="1"/>
          <p:nvPr/>
        </p:nvSpPr>
        <p:spPr>
          <a:xfrm>
            <a:off x="4067944" y="4722281"/>
            <a:ext cx="478802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포인터 멤버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는 </a:t>
            </a: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항상 깊은 복사를 해야 하는 것은 아님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포인터의 역할과 클래스의 의미에 따라 정책 결정</a:t>
            </a:r>
            <a:endParaRPr lang="ko-KR" altLang="ko-KR" sz="16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03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909CB-BDD8-E2F1-6B99-435029B6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8D632-596B-9976-6FC5-A49055B3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5.2.5 자명한 복사와 바이트 단위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F5F08-B418-0633-A2E3-00540EE4B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C++ 객체 복사에 무조건 memcpy()</a:t>
            </a:r>
            <a:r>
              <a:rPr lang="ko-KR" altLang="ko-KR" sz="2000" dirty="0" err="1"/>
              <a:t>를</a:t>
            </a:r>
            <a:r>
              <a:rPr lang="ko-KR" altLang="ko-KR" sz="2000" dirty="0"/>
              <a:t> 사용하면 안 됨</a:t>
            </a:r>
          </a:p>
          <a:p>
            <a:pPr lvl="0"/>
            <a:r>
              <a:rPr lang="ko-KR" altLang="ko-KR" sz="2000" dirty="0"/>
              <a:t>자명하게 복사 가능한 타입은 객체 표현을 바이트 단위로 복사 가능</a:t>
            </a:r>
          </a:p>
          <a:p>
            <a:pPr lvl="0"/>
            <a:r>
              <a:rPr lang="ko-KR" altLang="ko-KR" sz="2000" dirty="0"/>
              <a:t>C++ 객체는 각 멤버의 복사 생성자</a:t>
            </a:r>
            <a:r>
              <a:rPr lang="en-US" altLang="ko-KR" sz="2000" dirty="0"/>
              <a:t>, </a:t>
            </a:r>
            <a:r>
              <a:rPr lang="ko-KR" altLang="ko-KR" sz="2000" dirty="0"/>
              <a:t>복사 대입 연산자 사용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E3C03-1771-BBB8-A2E6-85835B0BE7A5}"/>
              </a:ext>
            </a:extLst>
          </p:cNvPr>
          <p:cNvSpPr txBox="1"/>
          <p:nvPr/>
        </p:nvSpPr>
        <p:spPr>
          <a:xfrm>
            <a:off x="506238" y="2212409"/>
            <a:ext cx="7666162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memcpy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sizeof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is_trivially_copyable_v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static_assert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(!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is_trivially_copyable_v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F25E1-7C2B-C6B0-1859-D5428B83BB89}"/>
              </a:ext>
            </a:extLst>
          </p:cNvPr>
          <p:cNvSpPr txBox="1"/>
          <p:nvPr/>
        </p:nvSpPr>
        <p:spPr>
          <a:xfrm>
            <a:off x="486816" y="5211743"/>
            <a:ext cx="7685584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내부 자원을 관리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바이트 단위 복사는 자원 관리 규칙을 깨뜨릴 수 있음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패딩 바이트 때문에 바이트 표현 비교가 값 비교와 같다고 볼 수도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651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460-77E9-8912-B1BB-293B82E5D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02BD5-3D84-EDF7-36E9-46F6054B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5.2.6 이중 해제와 메모리 오류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303AD-76A9-BCC3-D4F2-A3E4810D0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얕은 복사로 두 객체가 같은 동적 배열을 소유한다고 판단하면 소멸 과정에서 문제 발생</a:t>
            </a:r>
          </a:p>
          <a:p>
            <a:pPr lvl="0"/>
            <a:r>
              <a:rPr lang="ko-KR" altLang="ko-KR" dirty="0"/>
              <a:t>같은 동적 메모리를 두 번 해제하는 동작은 이중 해제</a:t>
            </a:r>
          </a:p>
          <a:p>
            <a:pPr lvl="0"/>
            <a:r>
              <a:rPr lang="ko-KR" altLang="ko-KR" dirty="0"/>
              <a:t>결과는 미정의 동작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F1200-FB2B-F7F3-FBA3-3C34A4F6EB08}"/>
              </a:ext>
            </a:extLst>
          </p:cNvPr>
          <p:cNvSpPr txBox="1"/>
          <p:nvPr/>
        </p:nvSpPr>
        <p:spPr>
          <a:xfrm>
            <a:off x="467544" y="2996952"/>
            <a:ext cx="3456384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FBC3D-7080-CED6-78A6-20CD80C4AE43}"/>
              </a:ext>
            </a:extLst>
          </p:cNvPr>
          <p:cNvSpPr txBox="1"/>
          <p:nvPr/>
        </p:nvSpPr>
        <p:spPr>
          <a:xfrm>
            <a:off x="469801" y="4019054"/>
            <a:ext cx="3456384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 → 배열 해제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  → 이미 해제된 배열 다시 해제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803A4-C4E6-E0BE-18A8-EB4B2C3071DD}"/>
              </a:ext>
            </a:extLst>
          </p:cNvPr>
          <p:cNvSpPr txBox="1"/>
          <p:nvPr/>
        </p:nvSpPr>
        <p:spPr>
          <a:xfrm>
            <a:off x="4033577" y="2996952"/>
            <a:ext cx="5004048" cy="332469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잘못된 복사와 소유권 처리의 결과</a:t>
            </a:r>
            <a:endParaRPr lang="ko-KR" altLang="ko-KR" sz="20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이중 해제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댕글링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메모리 누수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비소유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포인터의 잘못된 해제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delete의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잘못된 조합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단일 객체와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[]의 잘못된 조합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먼저 클래스가 자원을 소유하는지 판단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 정책에 맞는 특별 멤버 함수 구현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5027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99F88-081C-0AAE-7151-3DCB405C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E1C6D-1BCD-D80F-DBA6-E316791F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5.3 복사 생성자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A6AFE-7BF6-50BA-D162-63B5A1ED2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같은 타입의 다른 객체를 사용하여 새 객체를 초기화</a:t>
            </a:r>
          </a:p>
          <a:p>
            <a:pPr lvl="0"/>
            <a:r>
              <a:rPr lang="ko-KR" altLang="ko-KR" sz="2400" dirty="0"/>
              <a:t>일반적으로 같은 클래스 타입의 상수 참조를 매개변수로 받음</a:t>
            </a:r>
          </a:p>
          <a:p>
            <a:pPr lvl="0"/>
            <a:r>
              <a:rPr lang="ko-KR" altLang="ko-KR" sz="2400" dirty="0"/>
              <a:t>생성자이므로 반환 타입 없음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15C21-E228-F762-AF1A-0F718C2FF20C}"/>
              </a:ext>
            </a:extLst>
          </p:cNvPr>
          <p:cNvSpPr txBox="1"/>
          <p:nvPr/>
        </p:nvSpPr>
        <p:spPr>
          <a:xfrm>
            <a:off x="540147" y="2276872"/>
            <a:ext cx="3959845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8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800" dirty="0">
              <a:solidFill>
                <a:srgbClr val="383A4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D09B1C-141C-D3E0-2C6B-5508B6E79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22285"/>
              </p:ext>
            </p:extLst>
          </p:nvPr>
        </p:nvGraphicFramePr>
        <p:xfrm>
          <a:off x="3383360" y="3771976"/>
          <a:ext cx="5581128" cy="1673248"/>
        </p:xfrm>
        <a:graphic>
          <a:graphicData uri="http://schemas.openxmlformats.org/drawingml/2006/table">
            <a:tbl>
              <a:tblPr/>
              <a:tblGrid>
                <a:gridCol w="2092923">
                  <a:extLst>
                    <a:ext uri="{9D8B030D-6E8A-4147-A177-3AD203B41FA5}">
                      <a16:colId xmlns:a16="http://schemas.microsoft.com/office/drawing/2014/main" val="595304424"/>
                    </a:ext>
                  </a:extLst>
                </a:gridCol>
                <a:gridCol w="3488205">
                  <a:extLst>
                    <a:ext uri="{9D8B030D-6E8A-4147-A177-3AD203B41FA5}">
                      <a16:colId xmlns:a16="http://schemas.microsoft.com/office/drawing/2014/main" val="1463526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구성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68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IntArray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생성자 이름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277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 IntArray&amp;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객체를 읽기 전용 참조로 전달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36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other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객체를 나타내는 매개변수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7832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FC23D7-56B2-480D-652F-E448F2DB55E5}"/>
              </a:ext>
            </a:extLst>
          </p:cNvPr>
          <p:cNvSpPr txBox="1"/>
          <p:nvPr/>
        </p:nvSpPr>
        <p:spPr>
          <a:xfrm>
            <a:off x="539750" y="5807005"/>
            <a:ext cx="8280722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상수 참조를 사용하면 원본을 다시 복사하지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 과정에서 원본을 변경하지 않는다는 의도 표현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75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84AF-D74B-0CAD-FF25-CB543975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A6AB9-000B-7C5D-8920-26CBE6ED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5.3.4 사용자 정의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0D6FC-8B78-8729-40CF-28E8E579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자원을 직접 소유하는 객체는 복사 생성자에서 깊은 복사 구현</a:t>
            </a:r>
          </a:p>
          <a:p>
            <a:pPr lvl="0"/>
            <a:r>
              <a:rPr lang="ko-KR" altLang="ko-KR" sz="2400" dirty="0"/>
              <a:t>원본의 크기 복사</a:t>
            </a:r>
          </a:p>
          <a:p>
            <a:pPr lvl="0"/>
            <a:r>
              <a:rPr lang="ko-KR" altLang="ko-KR" sz="2400" dirty="0"/>
              <a:t>같은 크기의 새 배열 할당</a:t>
            </a:r>
          </a:p>
          <a:p>
            <a:pPr lvl="0"/>
            <a:r>
              <a:rPr lang="ko-KR" altLang="ko-KR" sz="2400" dirty="0"/>
              <a:t>원본 배열의 원소를 새 배열로 복사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5B447-33D4-1AFE-B092-A6DB2404254A}"/>
              </a:ext>
            </a:extLst>
          </p:cNvPr>
          <p:cNvSpPr txBox="1"/>
          <p:nvPr/>
        </p:nvSpPr>
        <p:spPr>
          <a:xfrm>
            <a:off x="538236" y="2715835"/>
            <a:ext cx="4897859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 :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i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i 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++i)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[i]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[i];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13F7C-5110-C6DB-EDA4-FC5D88C14F35}"/>
              </a:ext>
            </a:extLst>
          </p:cNvPr>
          <p:cNvSpPr txBox="1"/>
          <p:nvPr/>
        </p:nvSpPr>
        <p:spPr>
          <a:xfrm>
            <a:off x="538236" y="5355074"/>
            <a:ext cx="4897859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second.Set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first.Get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second.Get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3FB34A-68A6-9841-AFEE-D7013D044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53885"/>
              </p:ext>
            </p:extLst>
          </p:nvPr>
        </p:nvGraphicFramePr>
        <p:xfrm>
          <a:off x="5652120" y="4088130"/>
          <a:ext cx="2160240" cy="183388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68574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원본 크기 확인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배열 할당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원소 복사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복사본이 새 배열 소유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06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885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571C-B408-15EE-2393-B21E7115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6737C-DD35-2278-A2D5-3C2E30B9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5.3.5 복사 생성자의 매개변수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8A4A0-6EC4-DA4A-1192-85D56FC14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복사 생성자의 매개변수를 값으로 받을 수 없음</a:t>
            </a:r>
          </a:p>
          <a:p>
            <a:pPr lvl="0"/>
            <a:r>
              <a:rPr lang="ko-KR" altLang="ko-KR" sz="2400" dirty="0"/>
              <a:t>값 매개변수 자체를 만들기 위해 다시 복사 생성자가 필요</a:t>
            </a:r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en-US" altLang="ko-KR" sz="2400" dirty="0"/>
          </a:p>
          <a:p>
            <a:pPr lvl="0"/>
            <a:endParaRPr lang="ko-KR" altLang="ko-KR" sz="2400" dirty="0"/>
          </a:p>
          <a:p>
            <a:pPr lvl="0"/>
            <a:r>
              <a:rPr lang="ko-KR" altLang="ko-KR" sz="2400" dirty="0"/>
              <a:t>일반적인 복사 생성자는 </a:t>
            </a:r>
            <a:r>
              <a:rPr lang="en-US" altLang="ko-KR" sz="2400" dirty="0"/>
              <a:t>const </a:t>
            </a:r>
            <a:r>
              <a:rPr lang="ko-KR" altLang="ko-KR" sz="2400" dirty="0"/>
              <a:t>상수 참조 사용</a:t>
            </a:r>
          </a:p>
          <a:p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78E11-4432-57FF-BCA6-3D3CC0BC372E}"/>
              </a:ext>
            </a:extLst>
          </p:cNvPr>
          <p:cNvSpPr txBox="1"/>
          <p:nvPr/>
        </p:nvSpPr>
        <p:spPr>
          <a:xfrm>
            <a:off x="557312" y="1844824"/>
            <a:ext cx="4014688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올바른 복사 생성자가 될 수 없음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E49894-1533-1BD7-0A94-7AF8F7464000}"/>
              </a:ext>
            </a:extLst>
          </p:cNvPr>
          <p:cNvSpPr txBox="1"/>
          <p:nvPr/>
        </p:nvSpPr>
        <p:spPr>
          <a:xfrm>
            <a:off x="539750" y="3501008"/>
            <a:ext cx="4023639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579F22-4720-4CA7-40B4-316823B98B29}"/>
              </a:ext>
            </a:extLst>
          </p:cNvPr>
          <p:cNvSpPr txBox="1"/>
          <p:nvPr/>
        </p:nvSpPr>
        <p:spPr>
          <a:xfrm>
            <a:off x="5148064" y="3501008"/>
            <a:ext cx="2952328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normal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fixed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7D306-628E-A677-8F95-DA478BE0CA49}"/>
              </a:ext>
            </a:extLst>
          </p:cNvPr>
          <p:cNvSpPr txBox="1"/>
          <p:nvPr/>
        </p:nvSpPr>
        <p:spPr>
          <a:xfrm>
            <a:off x="539750" y="5004465"/>
            <a:ext cx="4023639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특별한 이유가 없다면 사용하지 않음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07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5F21-B316-7FA6-14BB-7E84779B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1504F-922E-3FF8-FDA4-01556463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5.4.2 기존 자원의 교체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E908BF-A3BB-CE34-9806-6CDF6575B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대입 대상 객체가 이미 자원을 소유하고 있을 수 있음</a:t>
            </a:r>
          </a:p>
          <a:p>
            <a:pPr lvl="0"/>
            <a:r>
              <a:rPr lang="ko-KR" altLang="ko-KR" sz="2400" dirty="0"/>
              <a:t>기존 주소를 잃으면 메모리 누수 발생</a:t>
            </a:r>
          </a:p>
          <a:p>
            <a:pPr lvl="0"/>
            <a:r>
              <a:rPr lang="ko-KR" altLang="ko-KR" sz="2400" dirty="0"/>
              <a:t>기존 자원을 너무 먼저 해제하면 예외와 자기 대입에서 문제 발생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6FAFD-6CED-6DF4-D1D4-9A86A283984B}"/>
              </a:ext>
            </a:extLst>
          </p:cNvPr>
          <p:cNvSpPr txBox="1"/>
          <p:nvPr/>
        </p:nvSpPr>
        <p:spPr>
          <a:xfrm>
            <a:off x="539750" y="2276872"/>
            <a:ext cx="3168154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6406A-39CC-38BC-9965-FAA28C42AA23}"/>
              </a:ext>
            </a:extLst>
          </p:cNvPr>
          <p:cNvSpPr txBox="1"/>
          <p:nvPr/>
        </p:nvSpPr>
        <p:spPr>
          <a:xfrm>
            <a:off x="539750" y="3774496"/>
            <a:ext cx="3168154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구현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B5565-D7BF-186C-6D35-A2FF2072B46C}"/>
              </a:ext>
            </a:extLst>
          </p:cNvPr>
          <p:cNvSpPr txBox="1"/>
          <p:nvPr/>
        </p:nvSpPr>
        <p:spPr>
          <a:xfrm>
            <a:off x="539751" y="4976008"/>
            <a:ext cx="3168154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아직 안전하지 않은 구현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8CA94-18ED-936E-4045-561AAC248A42}"/>
              </a:ext>
            </a:extLst>
          </p:cNvPr>
          <p:cNvSpPr txBox="1"/>
          <p:nvPr/>
        </p:nvSpPr>
        <p:spPr>
          <a:xfrm>
            <a:off x="4140150" y="4078813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이전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주소를 잃어버림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기존 배열에 다시 접근할 방법 없음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C358A-E4F9-1DC2-6D0C-D4488D8C5EFF}"/>
              </a:ext>
            </a:extLst>
          </p:cNvPr>
          <p:cNvSpPr txBox="1"/>
          <p:nvPr/>
        </p:nvSpPr>
        <p:spPr>
          <a:xfrm>
            <a:off x="4140150" y="5299173"/>
            <a:ext cx="4572000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배열 할당 실패 시 기존 값 손실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자기 대입이면 원본 데이터도 먼저 해제됨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3176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1C53-156E-19BD-EA9B-D20EB0FD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FE47C-1D47-12B3-712C-486035DF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5.4.3 자기 대입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436E6-91D4-87BD-8A4E-BAA96314D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객체가 자기 자신에게 대입될 수 있음</a:t>
            </a:r>
          </a:p>
          <a:p>
            <a:pPr lvl="0"/>
            <a:r>
              <a:rPr lang="ko-KR" altLang="ko-KR" sz="2400" dirty="0" err="1"/>
              <a:t>this와</a:t>
            </a:r>
            <a:r>
              <a:rPr lang="ko-KR" altLang="ko-KR" sz="2400" dirty="0"/>
              <a:t> &amp;</a:t>
            </a:r>
            <a:r>
              <a:rPr lang="ko-KR" altLang="ko-KR" sz="2400" dirty="0" err="1"/>
              <a:t>other가</a:t>
            </a:r>
            <a:r>
              <a:rPr lang="ko-KR" altLang="ko-KR" sz="2400" dirty="0"/>
              <a:t> 같은 주소이면 같은 객체</a:t>
            </a:r>
          </a:p>
          <a:p>
            <a:pPr lvl="0"/>
            <a:r>
              <a:rPr lang="ko-KR" altLang="ko-KR" sz="2400" dirty="0"/>
              <a:t>기존 자원을 먼저 해제하는 구현은 원본 데이터까지 해제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8A35D-5697-ACD0-DF4F-7B03ADB71688}"/>
              </a:ext>
            </a:extLst>
          </p:cNvPr>
          <p:cNvSpPr txBox="1"/>
          <p:nvPr/>
        </p:nvSpPr>
        <p:spPr>
          <a:xfrm>
            <a:off x="539749" y="2348880"/>
            <a:ext cx="6621811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3E769-715D-3C02-6A9B-7EA9A59B195C}"/>
              </a:ext>
            </a:extLst>
          </p:cNvPr>
          <p:cNvSpPr txBox="1"/>
          <p:nvPr/>
        </p:nvSpPr>
        <p:spPr>
          <a:xfrm>
            <a:off x="518342" y="4778245"/>
            <a:ext cx="6621811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29456-6786-D736-23D4-B8FEC6D0DF9C}"/>
              </a:ext>
            </a:extLst>
          </p:cNvPr>
          <p:cNvSpPr txBox="1"/>
          <p:nvPr/>
        </p:nvSpPr>
        <p:spPr>
          <a:xfrm>
            <a:off x="522906" y="3981906"/>
            <a:ext cx="664138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자기 대입 검사 필요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자원을 안전하게 준비한 뒤 기존 자원을 교체하도록 구성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326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56A4-D44F-90BB-6A1E-F86000AB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41605-25F6-5EED-2EEF-97884B0B9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5.4.5 복사-교환 기법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1B8B3-3C74-EF38-544B-4C7067A1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원본의 복사본을 먼저 만든 뒤 대상 객체의 상태와 교환</a:t>
            </a:r>
          </a:p>
          <a:p>
            <a:pPr lvl="0"/>
            <a:r>
              <a:rPr lang="ko-KR" altLang="ko-KR" sz="2400" dirty="0"/>
              <a:t>복사본 생성에 실패하면 대입 대상은 변경되지 않음</a:t>
            </a:r>
          </a:p>
          <a:p>
            <a:pPr lvl="0"/>
            <a:r>
              <a:rPr lang="ko-KR" altLang="ko-KR" sz="2400" dirty="0"/>
              <a:t>자기 대입에서도 별도 검사 없이 올바른 결과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68DA5-1E19-BEFE-E05E-C460C2A16BF2}"/>
              </a:ext>
            </a:extLst>
          </p:cNvPr>
          <p:cNvSpPr txBox="1"/>
          <p:nvPr/>
        </p:nvSpPr>
        <p:spPr>
          <a:xfrm>
            <a:off x="566043" y="2204864"/>
            <a:ext cx="4293990" cy="418576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utility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IntArray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noexcept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std</a:t>
            </a:r>
            <a:r>
              <a:rPr lang="ko-KR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400" b="1" dirty="0" err="1">
                <a:solidFill>
                  <a:srgbClr val="C18401"/>
                </a:solidFill>
                <a:latin typeface="Consolas" panose="020B0609020204030204" pitchFamily="49" charset="0"/>
              </a:rPr>
              <a:t>std</a:t>
            </a:r>
            <a:r>
              <a:rPr lang="ko-KR" altLang="ko-KR" sz="1400" b="1" dirty="0">
                <a:solidFill>
                  <a:srgbClr val="383A42"/>
                </a:solidFill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other.data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ko-KR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32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6DA9DD-0046-2ECE-8E67-1CC744E71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713352"/>
              </p:ext>
            </p:extLst>
          </p:nvPr>
        </p:nvGraphicFramePr>
        <p:xfrm>
          <a:off x="5025901" y="2204864"/>
          <a:ext cx="3528392" cy="4168299"/>
        </p:xfrm>
        <a:graphic>
          <a:graphicData uri="http://schemas.openxmlformats.org/drawingml/2006/table">
            <a:tbl>
              <a:tblPr/>
              <a:tblGrid>
                <a:gridCol w="3528392">
                  <a:extLst>
                    <a:ext uri="{9D8B030D-6E8A-4147-A177-3AD203B41FA5}">
                      <a16:colId xmlns:a16="http://schemas.microsoft.com/office/drawing/2014/main" val="234206179"/>
                    </a:ext>
                  </a:extLst>
                </a:gridCol>
              </a:tblGrid>
              <a:tr h="416829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원본 객체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  │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│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복사 생성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  </a:t>
                      </a:r>
                      <a: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other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  │</a:t>
                      </a:r>
                      <a:b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  </a:t>
                      </a:r>
                      <a:r>
                        <a:rPr lang="ko-KR" altLang="en-US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│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상태 교환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  </a:t>
                      </a:r>
                      <a: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대상 객체는 새 값을 소유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other는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대상의 이전 값을 소유</a:t>
                      </a: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    │</a:t>
                      </a:r>
                      <a:br>
                        <a:rPr lang="ko-KR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        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other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소멸자가 이전 자원 해제</a:t>
                      </a:r>
                      <a:endParaRPr lang="ko-KR" sz="32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55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6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4F99-B05D-42C2-2453-7E689961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D81BC-8EB2-28B3-AB72-36E4DE5D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5.5 Rule of Three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BCF77-57DB-A031-DED9-00E85A3C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소멸자</a:t>
            </a:r>
            <a:r>
              <a:rPr lang="ko-KR" altLang="ko-KR" sz="2000" dirty="0"/>
              <a:t>, 복사 생성자, 복사 대입 연산자 중 하나를</a:t>
            </a:r>
            <a:br>
              <a:rPr lang="en-US" altLang="ko-KR" sz="2000" dirty="0"/>
            </a:br>
            <a:r>
              <a:rPr lang="ko-KR" altLang="ko-KR" sz="2000" dirty="0"/>
              <a:t>직접 작성해야 한다면 나머지도 함께 검토</a:t>
            </a:r>
          </a:p>
          <a:p>
            <a:pPr lvl="0"/>
            <a:r>
              <a:rPr lang="ko-KR" altLang="ko-KR" sz="2000" dirty="0"/>
              <a:t>세 함수는 하나의 자원 소유 정책을 서로 다른 시점에 적용</a:t>
            </a:r>
          </a:p>
          <a:p>
            <a:pPr lvl="0"/>
            <a:r>
              <a:rPr lang="ko-KR" altLang="ko-KR" sz="2000" dirty="0"/>
              <a:t>무조건 세 함수를 모두 작성하라는 뜻은 아님</a:t>
            </a:r>
          </a:p>
          <a:p>
            <a:pPr lvl="0"/>
            <a:r>
              <a:rPr lang="ko-KR" altLang="ko-KR" sz="2000" dirty="0"/>
              <a:t>컴파일러 기본 동작으로 소유 규칙이 유지되는지 확인하는 원칙</a:t>
            </a:r>
          </a:p>
          <a:p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5FF7F-77E9-49EA-DE6C-86B7A29A200B}"/>
              </a:ext>
            </a:extLst>
          </p:cNvPr>
          <p:cNvSpPr txBox="1"/>
          <p:nvPr/>
        </p:nvSpPr>
        <p:spPr>
          <a:xfrm>
            <a:off x="539750" y="2694260"/>
            <a:ext cx="5904458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~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44BE3EC-438B-9166-88AC-3557E45AB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500203"/>
              </p:ext>
            </p:extLst>
          </p:nvPr>
        </p:nvGraphicFramePr>
        <p:xfrm>
          <a:off x="539750" y="3789040"/>
          <a:ext cx="8208714" cy="1734208"/>
        </p:xfrm>
        <a:graphic>
          <a:graphicData uri="http://schemas.openxmlformats.org/drawingml/2006/table">
            <a:tbl>
              <a:tblPr/>
              <a:tblGrid>
                <a:gridCol w="1872010">
                  <a:extLst>
                    <a:ext uri="{9D8B030D-6E8A-4147-A177-3AD203B41FA5}">
                      <a16:colId xmlns:a16="http://schemas.microsoft.com/office/drawing/2014/main" val="3082820402"/>
                    </a:ext>
                  </a:extLst>
                </a:gridCol>
                <a:gridCol w="3170886">
                  <a:extLst>
                    <a:ext uri="{9D8B030D-6E8A-4147-A177-3AD203B41FA5}">
                      <a16:colId xmlns:a16="http://schemas.microsoft.com/office/drawing/2014/main" val="10650332"/>
                    </a:ext>
                  </a:extLst>
                </a:gridCol>
                <a:gridCol w="3165818">
                  <a:extLst>
                    <a:ext uri="{9D8B030D-6E8A-4147-A177-3AD203B41FA5}">
                      <a16:colId xmlns:a16="http://schemas.microsoft.com/office/drawing/2014/main" val="1662372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특별 멤버 함수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호출 상황</a:t>
                      </a:r>
                      <a:endParaRPr lang="ko-KR" sz="28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자원 관리 역할</a:t>
                      </a:r>
                      <a:endParaRPr lang="ko-KR" sz="28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107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소멸자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객체 수명 종료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소유한 자원 해제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07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복사 생성자</a:t>
                      </a:r>
                      <a:endParaRPr lang="ko-KR" sz="3600" b="1" spc="-15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새 객체를 기존 객체로 초기화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독립된 자원 준비와 내용 복사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05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spc="-15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복사 대입 연산자</a:t>
                      </a:r>
                      <a:endParaRPr lang="ko-KR" sz="3600" b="1" spc="-15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객체의 값 교체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기존 자원 정리와 새 내용 복사</a:t>
                      </a:r>
                      <a:endParaRPr lang="ko-KR" sz="3600" b="1" spc="-15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04657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8577FDC-71EF-3B17-BF1D-CFAA4617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372607"/>
              </p:ext>
            </p:extLst>
          </p:nvPr>
        </p:nvGraphicFramePr>
        <p:xfrm>
          <a:off x="2267744" y="5666105"/>
          <a:ext cx="3312368" cy="858520"/>
        </p:xfrm>
        <a:graphic>
          <a:graphicData uri="http://schemas.openxmlformats.org/drawingml/2006/table">
            <a:tbl>
              <a:tblPr/>
              <a:tblGrid>
                <a:gridCol w="3312368">
                  <a:extLst>
                    <a:ext uri="{9D8B030D-6E8A-4147-A177-3AD203B41FA5}">
                      <a16:colId xmlns:a16="http://schemas.microsoft.com/office/drawing/2014/main" val="3350746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</a:t>
                      </a: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  → 현재 소유 자원 해제</a:t>
                      </a:r>
                      <a:endParaRPr lang="en-US" altLang="ko-KR" sz="1600" b="0" i="0" u="none" strike="noStrike" dirty="0">
                        <a:solidFill>
                          <a:srgbClr val="383A42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buNone/>
                      </a:pPr>
                      <a:r>
                        <a:rPr lang="ko-KR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생성자 → 새 객체의 자원 준비</a:t>
                      </a:r>
                      <a:br>
                        <a:rPr lang="ko-KR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대입  </a:t>
                      </a: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기존 객체의 자원 교체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94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902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A95C-92F9-E7DE-568B-98D27DB3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911CD-2BCF-11C6-E946-382F5754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5.5.3 직접 자원 관리의 부담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372A7A-63BF-B2F8-E559-4E092C28F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생성 과정에서 확보한 자원을 정확히 해제</a:t>
            </a:r>
          </a:p>
          <a:p>
            <a:pPr lvl="0"/>
            <a:r>
              <a:rPr lang="ko-KR" altLang="ko-KR" sz="2400" dirty="0"/>
              <a:t>복사본이 독립된 자원을 소유하도록 구성</a:t>
            </a:r>
          </a:p>
          <a:p>
            <a:pPr lvl="0"/>
            <a:r>
              <a:rPr lang="ko-KR" altLang="ko-KR" sz="2400" dirty="0"/>
              <a:t>대입 대상의 자원</a:t>
            </a:r>
            <a:r>
              <a:rPr lang="ko-KR" altLang="en-US" sz="2400" dirty="0"/>
              <a:t>은</a:t>
            </a:r>
            <a:r>
              <a:rPr lang="en-US" altLang="ko-KR" sz="2400" dirty="0"/>
              <a:t> </a:t>
            </a:r>
            <a:r>
              <a:rPr lang="ko-KR" altLang="en-US" sz="2400" dirty="0"/>
              <a:t>유지</a:t>
            </a:r>
            <a:endParaRPr lang="ko-KR" altLang="ko-KR" sz="2400" dirty="0"/>
          </a:p>
          <a:p>
            <a:pPr lvl="0"/>
            <a:r>
              <a:rPr lang="ko-KR" altLang="ko-KR" sz="2400" dirty="0"/>
              <a:t>자기 대입에서도 올바르게 동작</a:t>
            </a:r>
          </a:p>
          <a:p>
            <a:pPr lvl="0"/>
            <a:r>
              <a:rPr lang="ko-KR" altLang="ko-KR" sz="2400" dirty="0"/>
              <a:t>자원 준비 실패해도 기존 객체 사용</a:t>
            </a:r>
          </a:p>
          <a:p>
            <a:pPr lvl="0"/>
            <a:r>
              <a:rPr lang="ko-KR" altLang="ko-KR" sz="2400" dirty="0"/>
              <a:t>이동을 지원하려면 소유권 이전 규칙도 추가</a:t>
            </a:r>
          </a:p>
          <a:p>
            <a:pPr lvl="0"/>
            <a:r>
              <a:rPr lang="ko-KR" altLang="ko-KR" sz="2400" dirty="0"/>
              <a:t>특별 멤버 함수의 추가와 수정이 서로 일관</a:t>
            </a:r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5E95EA8-064A-8F21-2824-364B0D985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2637"/>
              </p:ext>
            </p:extLst>
          </p:nvPr>
        </p:nvGraphicFramePr>
        <p:xfrm>
          <a:off x="6444208" y="1107440"/>
          <a:ext cx="2160240" cy="2321560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3872008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직접 자원 관리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생성자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대입 연산자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생성자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대입 연산자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 안전성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3841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557CB0-4DB7-EE91-BCEE-422B1783F6C0}"/>
              </a:ext>
            </a:extLst>
          </p:cNvPr>
          <p:cNvSpPr txBox="1"/>
          <p:nvPr/>
        </p:nvSpPr>
        <p:spPr>
          <a:xfrm>
            <a:off x="539750" y="4365104"/>
            <a:ext cx="6768752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가능하면 </a:t>
            </a:r>
            <a:r>
              <a:rPr lang="ko-KR" altLang="ko-KR" b="0" i="0" u="none" strike="noStrike" dirty="0" err="1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b="0" i="0" u="none" strike="noStrike" dirty="0" err="1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b="0" i="0" u="none" strike="noStrike" dirty="0" err="1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b="0" i="0" u="none" strike="noStrike" dirty="0" err="1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vector처럼</a:t>
            </a:r>
            <a:br>
              <a:rPr lang="en-US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b="0" i="0" u="none" strike="noStrike" dirty="0">
                <a:solidFill>
                  <a:srgbClr val="7030A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자원 관리를 이미 구현한 타입을 멤버로 사용</a:t>
            </a:r>
          </a:p>
        </p:txBody>
      </p:sp>
    </p:spTree>
    <p:extLst>
      <p:ext uri="{BB962C8B-B14F-4D97-AF65-F5344CB8AC3E}">
        <p14:creationId xmlns:p14="http://schemas.microsoft.com/office/powerpoint/2010/main" val="555901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8AD7-69ED-EA4E-C4D8-230ABD76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8FAD6-DE94-70B2-A842-F46F127E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5.6.2 </a:t>
            </a:r>
            <a:r>
              <a:rPr lang="ko-KR" altLang="en-US" dirty="0" err="1"/>
              <a:t>좌측값</a:t>
            </a:r>
            <a:r>
              <a:rPr lang="en-US" altLang="ko-KR" dirty="0"/>
              <a:t>(</a:t>
            </a:r>
            <a:r>
              <a:rPr lang="ko-KR" altLang="ko-KR" dirty="0" err="1"/>
              <a:t>lvalue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52B64-7FAA-B5DB-7267-05D4344E2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객체나 함수의 정체성을 나타내는 표현식</a:t>
            </a:r>
          </a:p>
          <a:p>
            <a:pPr lvl="0"/>
            <a:r>
              <a:rPr lang="ko-KR" altLang="ko-KR" sz="2400" dirty="0"/>
              <a:t>이름을 가진 변수 표현식은 일반적으로 </a:t>
            </a:r>
            <a:r>
              <a:rPr lang="ko-KR" altLang="ko-KR" sz="2400" dirty="0" err="1"/>
              <a:t>lvalue</a:t>
            </a:r>
            <a:endParaRPr lang="ko-KR" altLang="ko-KR" sz="2400" dirty="0"/>
          </a:p>
          <a:p>
            <a:pPr lvl="0"/>
            <a:r>
              <a:rPr lang="ko-KR" altLang="ko-KR" sz="2400" dirty="0"/>
              <a:t>참조를 반환하는 함수 호출도 </a:t>
            </a:r>
            <a:r>
              <a:rPr lang="ko-KR" altLang="ko-KR" sz="2400" dirty="0" err="1"/>
              <a:t>lvalue가</a:t>
            </a:r>
            <a:r>
              <a:rPr lang="ko-KR" altLang="ko-KR" sz="2400" dirty="0"/>
              <a:t> 될 수 있음</a:t>
            </a:r>
          </a:p>
          <a:p>
            <a:pPr lvl="0"/>
            <a:r>
              <a:rPr lang="ko-KR" altLang="ko-KR" sz="2400" dirty="0"/>
              <a:t>수정 가능 여부와 값 범주는 별개의 성질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FE7ED-2904-BCEC-F550-6BCDF69772CB}"/>
              </a:ext>
            </a:extLst>
          </p:cNvPr>
          <p:cNvSpPr txBox="1"/>
          <p:nvPr/>
        </p:nvSpPr>
        <p:spPr>
          <a:xfrm>
            <a:off x="467544" y="2780928"/>
            <a:ext cx="3528392" cy="34163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8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8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number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maxCount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7AA8815-ED05-B85F-0D15-BCBE81765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327530"/>
              </p:ext>
            </p:extLst>
          </p:nvPr>
        </p:nvGraphicFramePr>
        <p:xfrm>
          <a:off x="3998193" y="3284984"/>
          <a:ext cx="4896545" cy="1734208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91723646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977529432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10956436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표현식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범주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수정 가능 여부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56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89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Select(number)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653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maxCount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불가능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173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885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6B57-628C-B028-9C94-74BA2E6F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FEE3C-3357-CA1C-5E04-51BD2C5E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5.6.3 </a:t>
            </a:r>
            <a:r>
              <a:rPr lang="ko-KR" altLang="ko-KR" dirty="0" err="1"/>
              <a:t>prvalue</a:t>
            </a:r>
            <a:r>
              <a:rPr lang="en-US" altLang="ko-KR" dirty="0"/>
              <a:t>(pure </a:t>
            </a:r>
            <a:r>
              <a:rPr lang="en-US" altLang="ko-KR" dirty="0" err="1"/>
              <a:t>rvalue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순수우측값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F1822-E5C6-13A6-004F-0028C710E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값을 계산하거나 결과 객체를 초기화하는 표현식</a:t>
            </a:r>
          </a:p>
          <a:p>
            <a:pPr lvl="0"/>
            <a:r>
              <a:rPr lang="ko-KR" altLang="ko-KR" dirty="0"/>
              <a:t>리터럴, 산술 결과, 값을 반환하는 함수 호출이 대표적</a:t>
            </a:r>
          </a:p>
          <a:p>
            <a:pPr lvl="0"/>
            <a:r>
              <a:rPr lang="ko-KR" altLang="ko-KR" dirty="0"/>
              <a:t>클래스 타입 </a:t>
            </a:r>
            <a:r>
              <a:rPr lang="ko-KR" altLang="ko-KR" dirty="0" err="1"/>
              <a:t>prvalue는</a:t>
            </a:r>
            <a:r>
              <a:rPr lang="ko-KR" altLang="ko-KR" dirty="0"/>
              <a:t> 결과 객체를 직접 초기화할 수 있음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0B944-8A35-40A7-9B70-147B92A1E6EC}"/>
              </a:ext>
            </a:extLst>
          </p:cNvPr>
          <p:cNvSpPr txBox="1"/>
          <p:nvPr/>
        </p:nvSpPr>
        <p:spPr>
          <a:xfrm>
            <a:off x="539750" y="2420888"/>
            <a:ext cx="8064698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iostream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#include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type_traits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boolalpha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3.14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prvalue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Example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"42 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decltype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"3.14 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decltype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3.14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double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is_same_v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decltype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8585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871EC-3869-2643-6693-7F2CB4FE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E317D-000C-7444-A02F-35069B6F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5.6.4 </a:t>
            </a:r>
            <a:r>
              <a:rPr lang="ko-KR" altLang="ko-KR" dirty="0" err="1"/>
              <a:t>xvalue와</a:t>
            </a:r>
            <a:r>
              <a:rPr lang="ko-KR" altLang="ko-KR" dirty="0"/>
              <a:t> </a:t>
            </a:r>
            <a:r>
              <a:rPr lang="ko-KR" altLang="ko-KR" dirty="0" err="1"/>
              <a:t>rvalue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F579A7-1858-802D-1356-2D2A0ACE7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move:</a:t>
            </a:r>
            <a:r>
              <a:rPr lang="ko-KR" altLang="en-US" dirty="0"/>
              <a:t> 자원의 소유권 이전</a:t>
            </a:r>
            <a:endParaRPr lang="en-US" altLang="ko-KR" dirty="0"/>
          </a:p>
          <a:p>
            <a:r>
              <a:rPr lang="en-US" altLang="ko-KR" dirty="0"/>
              <a:t>Identity:</a:t>
            </a:r>
            <a:r>
              <a:rPr lang="ko-KR" altLang="en-US" dirty="0"/>
              <a:t> 객체 식별</a:t>
            </a:r>
            <a:endParaRPr lang="en-US" altLang="ko-KR" dirty="0"/>
          </a:p>
          <a:p>
            <a:pPr lvl="0"/>
            <a:r>
              <a:rPr lang="ko-KR" altLang="ko-KR" dirty="0" err="1"/>
              <a:t>xvalue</a:t>
            </a:r>
            <a:r>
              <a:rPr lang="en-US" altLang="ko-KR" dirty="0"/>
              <a:t>: Identity </a:t>
            </a:r>
            <a:r>
              <a:rPr lang="ko-KR" altLang="en-US" dirty="0"/>
              <a:t>이 있고</a:t>
            </a:r>
            <a:r>
              <a:rPr lang="en-US" altLang="ko-KR" dirty="0"/>
              <a:t>, move </a:t>
            </a:r>
            <a:r>
              <a:rPr lang="ko-KR" altLang="en-US" dirty="0"/>
              <a:t>가능한 표현식</a:t>
            </a:r>
            <a:endParaRPr lang="ko-KR" altLang="ko-KR" dirty="0"/>
          </a:p>
          <a:p>
            <a:pPr lvl="0"/>
            <a:r>
              <a:rPr lang="ko-KR" altLang="ko-KR" dirty="0" err="1"/>
              <a:t>rvalue</a:t>
            </a:r>
            <a:r>
              <a:rPr lang="en-US" altLang="ko-KR" dirty="0"/>
              <a:t>: move</a:t>
            </a:r>
            <a:r>
              <a:rPr lang="ko-KR" altLang="en-US" dirty="0"/>
              <a:t> 가능한 표현식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D17F1-C5B4-F9A7-60FF-DD1DA5A9E473}"/>
              </a:ext>
            </a:extLst>
          </p:cNvPr>
          <p:cNvSpPr txBox="1"/>
          <p:nvPr/>
        </p:nvSpPr>
        <p:spPr>
          <a:xfrm>
            <a:off x="467544" y="3026529"/>
            <a:ext cx="3672408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3BEB5-2FFF-9A11-3BEA-9771C3291B40}"/>
              </a:ext>
            </a:extLst>
          </p:cNvPr>
          <p:cNvSpPr txBox="1"/>
          <p:nvPr/>
        </p:nvSpPr>
        <p:spPr>
          <a:xfrm>
            <a:off x="467544" y="3933056"/>
            <a:ext cx="5688632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source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├─ 객체의 정체성 있음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└─ 표현식은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lvalue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├─ 같은 객체의 정체성 있음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└─ 이동 대상으로 사용할 수 있는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xvalue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          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1" i="1" dirty="0" err="1">
                <a:solidFill>
                  <a:srgbClr val="A0A1A7"/>
                </a:solidFill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rvalue</a:t>
            </a:r>
            <a:r>
              <a:rPr lang="ko-KR" altLang="ko-KR" sz="1400" b="1" i="1" dirty="0">
                <a:solidFill>
                  <a:srgbClr val="A0A1A7"/>
                </a:solidFill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-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prvalue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1" i="1" dirty="0" err="1">
                <a:solidFill>
                  <a:srgbClr val="A0A1A7"/>
                </a:solidFill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rvalue</a:t>
            </a:r>
            <a:r>
              <a:rPr lang="en-US" altLang="ko-KR" sz="1400" b="1" i="1" dirty="0">
                <a:solidFill>
                  <a:srgbClr val="A0A1A7"/>
                </a:solidFill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4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  <a:ea typeface="D2Coding" panose="020B0609020101020101" pitchFamily="49" charset="-127"/>
                <a:cs typeface="Pretendard ExtraBold" panose="02000903000000020004" pitchFamily="50" charset="-127"/>
              </a:rPr>
              <a:t>xvalue</a:t>
            </a:r>
            <a:endParaRPr lang="ko-KR" altLang="en-US" sz="3200" b="1" dirty="0">
              <a:latin typeface="Consolas" panose="020B0609020204030204" pitchFamily="49" charset="0"/>
              <a:ea typeface="D2Coding" panose="020B0609020101020101" pitchFamily="49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239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52C3-5CB1-5CBE-BE6C-C878BBAF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CF40B-C318-B23C-C7D1-9ED1187F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5.6.6 </a:t>
            </a:r>
            <a:r>
              <a:rPr lang="en-US" altLang="ko-KR" dirty="0" err="1"/>
              <a:t>rvalue</a:t>
            </a:r>
            <a:r>
              <a:rPr lang="ko-KR" altLang="ko-KR" dirty="0"/>
              <a:t> 참조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1783A-FC6F-A903-42E0-8323CF14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z="2400" dirty="0" err="1"/>
              <a:t>rvalue</a:t>
            </a:r>
            <a:r>
              <a:rPr lang="ko-KR" altLang="ko-KR" sz="2400" dirty="0"/>
              <a:t> 참조는 &amp;&amp;로 선언</a:t>
            </a:r>
          </a:p>
          <a:p>
            <a:pPr lvl="0"/>
            <a:r>
              <a:rPr lang="ko-KR" altLang="ko-KR" sz="2400" dirty="0" err="1"/>
              <a:t>rvalue</a:t>
            </a:r>
            <a:r>
              <a:rPr lang="en-US" altLang="ko-KR" sz="2400" dirty="0"/>
              <a:t> </a:t>
            </a:r>
            <a:r>
              <a:rPr lang="ko-KR" altLang="ko-KR" sz="2400" dirty="0"/>
              <a:t>에 결합</a:t>
            </a:r>
          </a:p>
          <a:p>
            <a:pPr lvl="0"/>
            <a:r>
              <a:rPr lang="ko-KR" altLang="ko-KR" sz="2400" dirty="0"/>
              <a:t>이동 생성자와 이동 대입 연산자의 핵심 매개변수</a:t>
            </a:r>
            <a:endParaRPr lang="en-US" altLang="ko-KR" sz="2400" dirty="0"/>
          </a:p>
          <a:p>
            <a:r>
              <a:rPr lang="en-US" altLang="ko-KR" sz="2400" dirty="0" err="1"/>
              <a:t>rvalue</a:t>
            </a:r>
            <a:r>
              <a:rPr lang="ko-KR" altLang="ko-KR" sz="2400" dirty="0"/>
              <a:t> 참조</a:t>
            </a:r>
            <a:r>
              <a:rPr lang="ko-KR" altLang="en-US" sz="2400" dirty="0"/>
              <a:t>는</a:t>
            </a:r>
            <a:r>
              <a:rPr lang="ko-KR" altLang="ko-KR" sz="2400" dirty="0"/>
              <a:t> 복사</a:t>
            </a:r>
            <a:r>
              <a:rPr lang="ko-KR" altLang="en-US" sz="2400" dirty="0"/>
              <a:t>나 </a:t>
            </a:r>
            <a:r>
              <a:rPr lang="en-US" altLang="ko-KR" sz="2400" dirty="0"/>
              <a:t>move </a:t>
            </a:r>
            <a:r>
              <a:rPr lang="ko-KR" altLang="ko-KR" sz="2400" dirty="0"/>
              <a:t>할 수 있는 객체</a:t>
            </a:r>
            <a:r>
              <a:rPr lang="ko-KR" altLang="en-US" sz="2400" dirty="0"/>
              <a:t>로</a:t>
            </a:r>
            <a:r>
              <a:rPr lang="ko-KR" altLang="ko-KR" sz="2400" dirty="0"/>
              <a:t> 구분 가능</a:t>
            </a:r>
          </a:p>
          <a:p>
            <a:pPr lvl="0"/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97CC5-C567-3BAA-BA64-F13AE0549B5B}"/>
              </a:ext>
            </a:extLst>
          </p:cNvPr>
          <p:cNvSpPr txBox="1"/>
          <p:nvPr/>
        </p:nvSpPr>
        <p:spPr>
          <a:xfrm>
            <a:off x="755575" y="2819984"/>
            <a:ext cx="7328693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읽기 또는 복사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이동 가능한 객체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D191D86-704E-47DF-0E47-8C04591A7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93433"/>
              </p:ext>
            </p:extLst>
          </p:nvPr>
        </p:nvGraphicFramePr>
        <p:xfrm>
          <a:off x="755574" y="4574790"/>
          <a:ext cx="7321079" cy="1764688"/>
        </p:xfrm>
        <a:graphic>
          <a:graphicData uri="http://schemas.openxmlformats.org/drawingml/2006/table">
            <a:tbl>
              <a:tblPr/>
              <a:tblGrid>
                <a:gridCol w="1759485">
                  <a:extLst>
                    <a:ext uri="{9D8B030D-6E8A-4147-A177-3AD203B41FA5}">
                      <a16:colId xmlns:a16="http://schemas.microsoft.com/office/drawing/2014/main" val="3099005313"/>
                    </a:ext>
                  </a:extLst>
                </a:gridCol>
                <a:gridCol w="3053821">
                  <a:extLst>
                    <a:ext uri="{9D8B030D-6E8A-4147-A177-3AD203B41FA5}">
                      <a16:colId xmlns:a16="http://schemas.microsoft.com/office/drawing/2014/main" val="2013577133"/>
                    </a:ext>
                  </a:extLst>
                </a:gridCol>
                <a:gridCol w="2507773">
                  <a:extLst>
                    <a:ext uri="{9D8B030D-6E8A-4147-A177-3AD203B41FA5}">
                      <a16:colId xmlns:a16="http://schemas.microsoft.com/office/drawing/2014/main" val="1419595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매개변수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받는 표현식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종류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2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052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const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lvalue</a:t>
                      </a: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rvalue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읽기 또는 복사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5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&amp;&amp;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rvalue</a:t>
                      </a:r>
                      <a:endParaRPr lang="ko-KR" sz="3600" b="1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이동 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994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수정 가능한 </a:t>
                      </a:r>
                      <a:r>
                        <a:rPr lang="ko-KR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lvalue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원본 변경 가능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01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270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8EA6-5918-82A1-B395-3547C0FC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4659D-2867-6E41-E1CE-DBBDB07E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5.6.7 이름이 있는 </a:t>
            </a:r>
            <a:r>
              <a:rPr lang="ko-KR" altLang="ko-KR" dirty="0" err="1"/>
              <a:t>우측값</a:t>
            </a:r>
            <a:r>
              <a:rPr lang="ko-KR" altLang="ko-KR" dirty="0"/>
              <a:t> 참조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1F0C91-6ECE-A1A5-3F1D-9E7EFBBD4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우측값</a:t>
            </a:r>
            <a:r>
              <a:rPr lang="ko-KR" altLang="ko-KR" dirty="0"/>
              <a:t> 참조 타입으로 선언한 변수라도</a:t>
            </a:r>
            <a:br>
              <a:rPr lang="en-US" altLang="ko-KR" dirty="0"/>
            </a:br>
            <a:r>
              <a:rPr lang="ko-KR" altLang="ko-KR" dirty="0"/>
              <a:t>이름을 사용한 표현식은 </a:t>
            </a:r>
            <a:r>
              <a:rPr lang="ko-KR" altLang="ko-KR" dirty="0" err="1"/>
              <a:t>lvalue</a:t>
            </a:r>
            <a:endParaRPr lang="ko-KR" altLang="ko-KR" dirty="0"/>
          </a:p>
          <a:p>
            <a:pPr lvl="0"/>
            <a:r>
              <a:rPr lang="ko-KR" altLang="ko-KR" dirty="0"/>
              <a:t>같은 객체에 반복해서 접근할 수 있기 때문</a:t>
            </a:r>
          </a:p>
          <a:p>
            <a:pPr lvl="0"/>
            <a:r>
              <a:rPr lang="ko-KR" altLang="ko-KR" dirty="0"/>
              <a:t>이동 생성자 내부에서도 같은 규칙 적용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EED4D-46F8-B78C-7FF2-5134CE60C145}"/>
              </a:ext>
            </a:extLst>
          </p:cNvPr>
          <p:cNvSpPr txBox="1"/>
          <p:nvPr/>
        </p:nvSpPr>
        <p:spPr>
          <a:xfrm>
            <a:off x="413792" y="2847231"/>
            <a:ext cx="4086200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i="1" dirty="0" err="1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r>
              <a:rPr lang="en-US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</a:t>
            </a:r>
            <a:br>
              <a:rPr lang="ko-KR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en-US" altLang="ko-KR" sz="1400" i="1" dirty="0">
              <a:solidFill>
                <a:srgbClr val="A0A1A7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i="1" dirty="0" err="1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xvalue로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변환</a:t>
            </a:r>
            <a:r>
              <a:rPr lang="en-US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ko-KR" sz="14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이동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표현식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8D84B-74BD-62B3-1C93-30BFC1903FCA}"/>
              </a:ext>
            </a:extLst>
          </p:cNvPr>
          <p:cNvSpPr txBox="1"/>
          <p:nvPr/>
        </p:nvSpPr>
        <p:spPr>
          <a:xfrm>
            <a:off x="4499992" y="2974519"/>
            <a:ext cx="4230216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4711A-09A0-3BB6-375E-77BDD009B405}"/>
              </a:ext>
            </a:extLst>
          </p:cNvPr>
          <p:cNvSpPr txBox="1"/>
          <p:nvPr/>
        </p:nvSpPr>
        <p:spPr>
          <a:xfrm>
            <a:off x="413792" y="5518388"/>
            <a:ext cx="831641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other.name과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other.items도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이름을 통해 접근하므로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lvalue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멤버를 이동하려면 다시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필요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352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6567-8824-6ADA-9242-1D79826C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31C7D-C485-4F1F-A39C-86FF9F87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5.6.8 임시 객체와 수명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6FF38-834D-52A2-D5A1-D15CC892E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계산 결과</a:t>
            </a:r>
            <a:r>
              <a:rPr lang="en-US" altLang="ko-KR" sz="2400" dirty="0"/>
              <a:t>,</a:t>
            </a:r>
            <a:r>
              <a:rPr lang="ko-KR" altLang="ko-KR" sz="2400" dirty="0"/>
              <a:t> 함수 반환에서 이름 없는 임시 객체</a:t>
            </a:r>
            <a:r>
              <a:rPr lang="en-US" altLang="ko-KR" sz="2400" dirty="0"/>
              <a:t> </a:t>
            </a:r>
            <a:r>
              <a:rPr lang="ko-KR" altLang="en-US" sz="2400" dirty="0"/>
              <a:t>생성 가능</a:t>
            </a:r>
            <a:endParaRPr lang="ko-KR" altLang="ko-KR" sz="2400" dirty="0"/>
          </a:p>
          <a:p>
            <a:pPr lvl="0"/>
            <a:r>
              <a:rPr lang="ko-KR" altLang="ko-KR" sz="2400" dirty="0"/>
              <a:t>상수 </a:t>
            </a:r>
            <a:r>
              <a:rPr lang="ko-KR" altLang="ko-KR" sz="2400" dirty="0" err="1"/>
              <a:t>lvalue</a:t>
            </a:r>
            <a:r>
              <a:rPr lang="ko-KR" altLang="ko-KR" sz="2400" dirty="0"/>
              <a:t> 참조는 임시 객체에 결합하여 수명 연장 가능</a:t>
            </a:r>
          </a:p>
          <a:p>
            <a:pPr lvl="0"/>
            <a:r>
              <a:rPr lang="en-US" altLang="ko-KR" sz="2400" dirty="0" err="1"/>
              <a:t>rvalue</a:t>
            </a:r>
            <a:r>
              <a:rPr lang="ko-KR" altLang="ko-KR" sz="2400" dirty="0"/>
              <a:t> 참조도 직접 초기화한 임시 객체의 수명을 연장</a:t>
            </a:r>
            <a:r>
              <a:rPr lang="en-US" altLang="ko-KR" sz="2400" dirty="0"/>
              <a:t> </a:t>
            </a:r>
            <a:r>
              <a:rPr lang="ko-KR" altLang="en-US" sz="2400" dirty="0"/>
              <a:t>가능</a:t>
            </a:r>
            <a:endParaRPr lang="ko-KR" altLang="ko-KR" sz="2400" dirty="0"/>
          </a:p>
          <a:p>
            <a:pPr lvl="0"/>
            <a:r>
              <a:rPr lang="ko-KR" altLang="ko-KR" sz="2400" dirty="0"/>
              <a:t>지역 객체의 참조를 반환한다고 수명이 연장되지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D1215-AC86-26A3-F347-FC9557BB4245}"/>
              </a:ext>
            </a:extLst>
          </p:cNvPr>
          <p:cNvSpPr txBox="1"/>
          <p:nvPr/>
        </p:nvSpPr>
        <p:spPr>
          <a:xfrm>
            <a:off x="539750" y="2780928"/>
            <a:ext cx="6336506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reference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CreateInvalidReference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잘못된 참조 반환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DA6CD-DAB5-61CA-E24E-8A22C11BA55A}"/>
              </a:ext>
            </a:extLst>
          </p:cNvPr>
          <p:cNvSpPr txBox="1"/>
          <p:nvPr/>
        </p:nvSpPr>
        <p:spPr>
          <a:xfrm>
            <a:off x="539750" y="5376051"/>
            <a:ext cx="6336506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함수가 끝나면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local은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반환된 참조는 더 이상 유효하지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611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ED66-587E-4266-F89D-B94FACDA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45D60-9400-B799-2C78-8966096B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5.7.1 이동 생성자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C36E3C-308A-51DA-2DDD-A4619EAC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같은 타입의 </a:t>
            </a:r>
            <a:r>
              <a:rPr lang="ko-KR" altLang="ko-KR" dirty="0" err="1"/>
              <a:t>우측값</a:t>
            </a:r>
            <a:r>
              <a:rPr lang="ko-KR" altLang="ko-KR" dirty="0"/>
              <a:t> 참조를 받아 새 객체를 초기화</a:t>
            </a:r>
          </a:p>
          <a:p>
            <a:pPr lvl="0"/>
            <a:r>
              <a:rPr lang="ko-KR" altLang="ko-KR" dirty="0"/>
              <a:t>원본 객체의 자원 주소와 크기를 가져옴</a:t>
            </a:r>
          </a:p>
          <a:p>
            <a:pPr lvl="0"/>
            <a:r>
              <a:rPr lang="ko-KR" altLang="ko-KR" dirty="0"/>
              <a:t>원본 객체를 자원을 소유하지 않는 상태로 변경</a:t>
            </a:r>
          </a:p>
          <a:p>
            <a:pPr lvl="0"/>
            <a:r>
              <a:rPr lang="ko-KR" altLang="ko-KR" dirty="0"/>
              <a:t>보통 예외를 던지지 않으면 </a:t>
            </a:r>
            <a:r>
              <a:rPr lang="ko-KR" altLang="ko-KR" dirty="0" err="1"/>
              <a:t>noexcept</a:t>
            </a:r>
            <a:r>
              <a:rPr lang="ko-KR" altLang="ko-KR" dirty="0"/>
              <a:t> 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4F941-3D60-67A9-0246-E3B8B8853041}"/>
              </a:ext>
            </a:extLst>
          </p:cNvPr>
          <p:cNvSpPr txBox="1"/>
          <p:nvPr/>
        </p:nvSpPr>
        <p:spPr>
          <a:xfrm>
            <a:off x="539750" y="2996952"/>
            <a:ext cx="3816226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099F7C0-37C3-B8CE-DA65-1B0E90877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378046"/>
              </p:ext>
            </p:extLst>
          </p:nvPr>
        </p:nvGraphicFramePr>
        <p:xfrm>
          <a:off x="4355976" y="3645024"/>
          <a:ext cx="3024335" cy="1833880"/>
        </p:xfrm>
        <a:graphic>
          <a:graphicData uri="http://schemas.openxmlformats.org/drawingml/2006/table">
            <a:tbl>
              <a:tblPr/>
              <a:tblGrid>
                <a:gridCol w="3024335">
                  <a:extLst>
                    <a:ext uri="{9D8B030D-6E8A-4147-A177-3AD203B41FA5}">
                      <a16:colId xmlns:a16="http://schemas.microsoft.com/office/drawing/2014/main" val="30581747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target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1000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───▶ [동적 배열]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source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size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ko-KR" sz="1600" b="1" i="0" u="none" strike="noStrike" dirty="0">
                          <a:solidFill>
                            <a:srgbClr val="986801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data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nullptrptr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101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8E03EA-2BF1-1B32-88BB-EDBBAF4AC7A1}"/>
              </a:ext>
            </a:extLst>
          </p:cNvPr>
          <p:cNvSpPr txBox="1"/>
          <p:nvPr/>
        </p:nvSpPr>
        <p:spPr>
          <a:xfrm>
            <a:off x="539750" y="5918581"/>
            <a:ext cx="684056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배열 원소 1000개를 복사하지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size와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data의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소유권만 이전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055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95C1-0DFC-70BD-ED93-961E8F3F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63E39-3BF7-DF0C-0163-E43AAC27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5.7.2 이동 대입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52C98-989E-5FBD-FC09-91B941011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이미 존재하는 객체의 기존 자원을 정리</a:t>
            </a:r>
          </a:p>
          <a:p>
            <a:pPr lvl="0"/>
            <a:r>
              <a:rPr lang="ko-KR" altLang="ko-KR" dirty="0"/>
              <a:t>다른 객체의 자원을 넘겨받음</a:t>
            </a:r>
          </a:p>
          <a:p>
            <a:pPr lvl="0"/>
            <a:r>
              <a:rPr lang="ko-KR" altLang="ko-KR" dirty="0"/>
              <a:t>원본 객체를 유효한 빈 상태로 변경</a:t>
            </a:r>
          </a:p>
          <a:p>
            <a:pPr lvl="0"/>
            <a:r>
              <a:rPr lang="ko-KR" altLang="ko-KR" dirty="0"/>
              <a:t>현재 객체의 참조 반환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3634F-5098-BD7D-49B9-98AB1059EE12}"/>
              </a:ext>
            </a:extLst>
          </p:cNvPr>
          <p:cNvSpPr txBox="1"/>
          <p:nvPr/>
        </p:nvSpPr>
        <p:spPr>
          <a:xfrm>
            <a:off x="539750" y="2769751"/>
            <a:ext cx="5184378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916967E-EB93-B999-F2A5-AEF798674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218459"/>
              </p:ext>
            </p:extLst>
          </p:nvPr>
        </p:nvGraphicFramePr>
        <p:xfrm>
          <a:off x="5724128" y="3933056"/>
          <a:ext cx="2880122" cy="1933920"/>
        </p:xfrm>
        <a:graphic>
          <a:graphicData uri="http://schemas.openxmlformats.org/drawingml/2006/table">
            <a:tbl>
              <a:tblPr/>
              <a:tblGrid>
                <a:gridCol w="2880122">
                  <a:extLst>
                    <a:ext uri="{9D8B030D-6E8A-4147-A177-3AD203B41FA5}">
                      <a16:colId xmlns:a16="http://schemas.microsoft.com/office/drawing/2014/main" val="2569134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first의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기존 배열 해제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second의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size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data</a:t>
                      </a:r>
                      <a: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br>
                        <a:rPr lang="en-US" alt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first로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이전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second를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빈 상태로 변경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144000" marB="144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71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529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EB91-1F55-B1D8-AD64-6E4D7724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D3496-E0B0-3222-01A5-26A8EEAE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5.7.4 이동 후 객체의 상태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1AB62-E6C1-484A-5EB4-70956EF4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이동된 원본 객체는 수명이 끝난 객체가 아님</a:t>
            </a:r>
          </a:p>
          <a:p>
            <a:pPr lvl="0"/>
            <a:r>
              <a:rPr lang="ko-KR" altLang="ko-KR" dirty="0"/>
              <a:t>정상적으로 소멸할 수 있어야 함</a:t>
            </a:r>
          </a:p>
          <a:p>
            <a:pPr lvl="0"/>
            <a:r>
              <a:rPr lang="ko-KR" altLang="ko-KR" dirty="0"/>
              <a:t>새로운 값을 대입하여 다시 사용할 수 있어야 함</a:t>
            </a:r>
          </a:p>
          <a:p>
            <a:pPr lvl="0"/>
            <a:r>
              <a:rPr lang="ko-KR" altLang="ko-KR" dirty="0"/>
              <a:t>타입이 이동 후 상태를 명시할 수 있음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FEE05D-531F-0A26-E059-DDD27BFA0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914520"/>
              </p:ext>
            </p:extLst>
          </p:nvPr>
        </p:nvGraphicFramePr>
        <p:xfrm>
          <a:off x="683568" y="2996952"/>
          <a:ext cx="6696744" cy="2792600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1073520664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129867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 후 객체</a:t>
                      </a:r>
                      <a:endParaRPr lang="ko-KR" sz="4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sz="4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602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수명</a:t>
                      </a:r>
                      <a:endParaRPr lang="ko-KR" sz="44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계속 존재</a:t>
                      </a:r>
                      <a:endParaRPr lang="ko-KR" sz="4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4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소멸</a:t>
                      </a:r>
                      <a:endParaRPr lang="ko-KR" sz="44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정상적으로 가능해야 함</a:t>
                      </a:r>
                      <a:endParaRPr lang="ko-KR" sz="4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88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재사용</a:t>
                      </a:r>
                      <a:endParaRPr lang="ko-KR" sz="44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새 값 대입 가능해야 함</a:t>
                      </a:r>
                      <a:endParaRPr lang="ko-KR" sz="4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447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값</a:t>
                      </a:r>
                      <a:endParaRPr lang="ko-KR" sz="4400" b="1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타입의 보장에 따라 다름</a:t>
                      </a:r>
                      <a:endParaRPr lang="ko-KR" sz="4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43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206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F3F-EFBC-9547-77FF-5F074B14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44B72-FF4A-9972-8D68-AA99BBDC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5.7.5 복사와 이동의 선택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9E1B62-75C5-5BF3-C5E8-8EE8829E8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인수가 </a:t>
            </a:r>
            <a:r>
              <a:rPr lang="ko-KR" altLang="ko-KR" dirty="0" err="1"/>
              <a:t>lvalue이면</a:t>
            </a:r>
            <a:r>
              <a:rPr lang="ko-KR" altLang="ko-KR" dirty="0"/>
              <a:t> 복사 생성자 선택</a:t>
            </a:r>
          </a:p>
          <a:p>
            <a:pPr lvl="0"/>
            <a:r>
              <a:rPr lang="ko-KR" altLang="ko-KR" dirty="0"/>
              <a:t>인수가 </a:t>
            </a:r>
            <a:r>
              <a:rPr lang="ko-KR" altLang="ko-KR" dirty="0" err="1"/>
              <a:t>rvalue이면</a:t>
            </a:r>
            <a:r>
              <a:rPr lang="ko-KR" altLang="ko-KR" dirty="0"/>
              <a:t> 이동 생성자 선택 가능</a:t>
            </a:r>
          </a:p>
          <a:p>
            <a:pPr lvl="0"/>
            <a:r>
              <a:rPr lang="ko-KR" altLang="ko-KR" dirty="0"/>
              <a:t>대입에서도 같은 원리 적용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4FED9-0806-CB02-F892-107532FE0308}"/>
              </a:ext>
            </a:extLst>
          </p:cNvPr>
          <p:cNvSpPr txBox="1"/>
          <p:nvPr/>
        </p:nvSpPr>
        <p:spPr>
          <a:xfrm>
            <a:off x="323528" y="2481858"/>
            <a:ext cx="3686299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복사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이동 </a:t>
            </a:r>
            <a:r>
              <a:rPr lang="en-US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or</a:t>
            </a:r>
            <a:r>
              <a:rPr lang="ko-KR" altLang="en-US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이동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복사 대입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이동 대입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20CD658-6889-FA67-200F-40C55D727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134669"/>
              </p:ext>
            </p:extLst>
          </p:nvPr>
        </p:nvGraphicFramePr>
        <p:xfrm>
          <a:off x="3547120" y="4380513"/>
          <a:ext cx="5489376" cy="2144112"/>
        </p:xfrm>
        <a:graphic>
          <a:graphicData uri="http://schemas.openxmlformats.org/drawingml/2006/table">
            <a:tbl>
              <a:tblPr/>
              <a:tblGrid>
                <a:gridCol w="1009550">
                  <a:extLst>
                    <a:ext uri="{9D8B030D-6E8A-4147-A177-3AD203B41FA5}">
                      <a16:colId xmlns:a16="http://schemas.microsoft.com/office/drawing/2014/main" val="202726454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443802090"/>
                    </a:ext>
                  </a:extLst>
                </a:gridCol>
                <a:gridCol w="2607618">
                  <a:extLst>
                    <a:ext uri="{9D8B030D-6E8A-4147-A177-3AD203B41FA5}">
                      <a16:colId xmlns:a16="http://schemas.microsoft.com/office/drawing/2014/main" val="3848328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복사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이동</a:t>
                      </a:r>
                      <a:endParaRPr lang="ko-KR" sz="24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1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 표현식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주로 lvalue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rvalue 또는 std::move() 결과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2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자원 처리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자원</a:t>
                      </a:r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생성</a:t>
                      </a:r>
                      <a:r>
                        <a:rPr lang="en-US" alt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</a:t>
                      </a: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내용 복제</a:t>
                      </a:r>
                      <a:endParaRPr lang="ko-KR" sz="24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기존 자원의 소유권 이전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56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 상태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유지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유효하지만 값이 </a:t>
                      </a:r>
                      <a:r>
                        <a:rPr lang="ko-KR" altLang="en-US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변경될</a:t>
                      </a: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수 있음</a:t>
                      </a:r>
                      <a:endParaRPr lang="ko-KR" sz="24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00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비용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자원 크기에 비례 가능</a:t>
                      </a:r>
                      <a:endParaRPr lang="ko-KR" sz="24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포인터와 크기 이전 정도 가능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246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함수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복사 생성자, 복사 대입</a:t>
                      </a:r>
                      <a:endParaRPr lang="ko-KR" sz="2400" b="1" spc="-15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이동 생성자, 이동 대입</a:t>
                      </a:r>
                      <a:endParaRPr lang="ko-KR" sz="24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496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99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FC9C5-2C2E-35DF-195B-740325DC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CD49C-6E38-6962-C95D-E3E273E4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5.7.6 상수 객체와 이동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F7387-AE80-943D-2DD7-2A3DA4EA8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move</a:t>
            </a:r>
            <a:r>
              <a:rPr lang="ko-KR" altLang="ko-KR" sz="2400" dirty="0"/>
              <a:t>()는 객체의 </a:t>
            </a:r>
            <a:r>
              <a:rPr lang="ko-KR" altLang="ko-KR" sz="2400" dirty="0" err="1"/>
              <a:t>const를</a:t>
            </a:r>
            <a:r>
              <a:rPr lang="ko-KR" altLang="ko-KR" sz="2400" dirty="0"/>
              <a:t> 제거하지 않음</a:t>
            </a:r>
          </a:p>
          <a:p>
            <a:pPr lvl="0"/>
            <a:r>
              <a:rPr lang="ko-KR" altLang="ko-KR" sz="2400" dirty="0"/>
              <a:t>일반적인 이동 생성자는 비</a:t>
            </a:r>
            <a:r>
              <a:rPr lang="en-US" altLang="ko-KR" sz="2400" dirty="0"/>
              <a:t> </a:t>
            </a:r>
            <a:r>
              <a:rPr lang="ko-KR" altLang="ko-KR" sz="2400" dirty="0"/>
              <a:t>상수 </a:t>
            </a:r>
            <a:r>
              <a:rPr lang="ko-KR" altLang="ko-KR" sz="2400" dirty="0" err="1"/>
              <a:t>우측값</a:t>
            </a:r>
            <a:r>
              <a:rPr lang="ko-KR" altLang="ko-KR" sz="2400" dirty="0"/>
              <a:t> 참조를 받음</a:t>
            </a:r>
          </a:p>
          <a:p>
            <a:pPr lvl="0"/>
            <a:r>
              <a:rPr lang="ko-KR" altLang="ko-KR" sz="2400" dirty="0"/>
              <a:t>이동은 원본 객체를 빈 상태로 바꾸는 등 원본 변경이 필요할 수 있음</a:t>
            </a:r>
          </a:p>
          <a:p>
            <a:pPr lvl="0"/>
            <a:r>
              <a:rPr lang="ko-KR" altLang="ko-KR" sz="2400" dirty="0" err="1"/>
              <a:t>const</a:t>
            </a:r>
            <a:r>
              <a:rPr lang="ko-KR" altLang="ko-KR" sz="2400" dirty="0"/>
              <a:t> 객체는 보통 이동되지 않고 복사될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DBF5A-F2CF-C2F7-4A74-5CC75C919CC0}"/>
              </a:ext>
            </a:extLst>
          </p:cNvPr>
          <p:cNvSpPr txBox="1"/>
          <p:nvPr/>
        </p:nvSpPr>
        <p:spPr>
          <a:xfrm>
            <a:off x="611560" y="2621086"/>
            <a:ext cx="6552728" cy="25853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source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nonConstObject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→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      → 이동 가능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constObject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    →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→ 일반적으로 복사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98A27-945D-48C1-68AA-8E74BE25241B}"/>
              </a:ext>
            </a:extLst>
          </p:cNvPr>
          <p:cNvSpPr txBox="1"/>
          <p:nvPr/>
        </p:nvSpPr>
        <p:spPr>
          <a:xfrm>
            <a:off x="611560" y="5589240"/>
            <a:ext cx="6696744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받는 별도 함수를 만들 수는 있음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원본을 변경할 수 없어 자원 소유권 이전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불가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이동할 객체에는 불필요한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const를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붙이지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1063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3B382-614D-0DA9-A45E-B87C8334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FBEAA-B86B-EE82-2C24-B0BB2C06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5.8.2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move가</a:t>
            </a:r>
            <a:r>
              <a:rPr lang="ko-KR" altLang="ko-KR" dirty="0"/>
              <a:t> 이동을 보장하지 않는 이유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B56E54-5F53-561B-AC36-6FAC2A8E2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</a:t>
            </a:r>
            <a:r>
              <a:rPr lang="ko-KR" altLang="ko-KR" sz="2000" dirty="0" err="1"/>
              <a:t>를</a:t>
            </a:r>
            <a:r>
              <a:rPr lang="ko-KR" altLang="ko-KR" sz="2000" dirty="0"/>
              <a:t> 호출해도 이동 생성자나 이동 대입 연산자가 없으면</a:t>
            </a:r>
            <a:br>
              <a:rPr lang="en-US" altLang="ko-KR" sz="2000" dirty="0"/>
            </a:br>
            <a:r>
              <a:rPr lang="ko-KR" altLang="ko-KR" sz="2000" dirty="0"/>
              <a:t>복사가 선택될 수 있음</a:t>
            </a:r>
          </a:p>
          <a:p>
            <a:pPr lvl="0"/>
            <a:r>
              <a:rPr lang="ko-KR" altLang="ko-KR" sz="2000" dirty="0"/>
              <a:t>실제 호출은 오버로드 해석으로 결정</a:t>
            </a:r>
          </a:p>
          <a:p>
            <a:pPr lvl="0"/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()는 이동 함수가 선택될 기회를 제공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C022B-09C4-4889-71BE-017F66084FC2}"/>
              </a:ext>
            </a:extLst>
          </p:cNvPr>
          <p:cNvSpPr txBox="1"/>
          <p:nvPr/>
        </p:nvSpPr>
        <p:spPr>
          <a:xfrm>
            <a:off x="539750" y="2272804"/>
            <a:ext cx="457200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4B32C-96A9-1CDD-58CA-3D2A431CF739}"/>
              </a:ext>
            </a:extLst>
          </p:cNvPr>
          <p:cNvSpPr txBox="1"/>
          <p:nvPr/>
        </p:nvSpPr>
        <p:spPr>
          <a:xfrm>
            <a:off x="4572000" y="3750131"/>
            <a:ext cx="4248373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이동 생성자 없음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CopyOnly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</a:t>
            </a:r>
            <a: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rvalue에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결합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 생성자 사용 가능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D4935-5C46-DF72-D79B-912903947E81}"/>
              </a:ext>
            </a:extLst>
          </p:cNvPr>
          <p:cNvSpPr txBox="1"/>
          <p:nvPr/>
        </p:nvSpPr>
        <p:spPr>
          <a:xfrm>
            <a:off x="539750" y="4725144"/>
            <a:ext cx="547241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  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버전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버전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018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0724B-47F8-0182-FED1-4542FAF1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9A7A-B8C4-0A5E-7BF8-107B5880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5.8.3 </a:t>
            </a:r>
            <a:r>
              <a:rPr lang="ko-KR" altLang="ko-KR" dirty="0" err="1"/>
              <a:t>noexcept</a:t>
            </a:r>
            <a:r>
              <a:rPr lang="ko-KR" altLang="ko-KR" dirty="0"/>
              <a:t> 이동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259F6-ECDF-3333-D4A4-D647C54B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이동 생성자와 이동 대입 연산자가 예외를 밖으로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ko-KR" altLang="ko-KR" sz="2000" dirty="0"/>
              <a:t>전달하지 않으면 </a:t>
            </a:r>
            <a:r>
              <a:rPr lang="ko-KR" altLang="ko-KR" sz="2000" dirty="0" err="1"/>
              <a:t>noexcept</a:t>
            </a:r>
            <a:r>
              <a:rPr lang="ko-KR" altLang="ko-KR" sz="2000" dirty="0"/>
              <a:t> 지정 가능</a:t>
            </a:r>
          </a:p>
          <a:p>
            <a:pPr lvl="0"/>
            <a:r>
              <a:rPr lang="ko-KR" altLang="ko-KR" sz="2000" dirty="0" err="1"/>
              <a:t>noexcept는</a:t>
            </a:r>
            <a:r>
              <a:rPr lang="ko-KR" altLang="ko-KR" sz="2000" dirty="0"/>
              <a:t> 함수 계약의 일부</a:t>
            </a:r>
          </a:p>
          <a:p>
            <a:pPr lvl="0"/>
            <a:r>
              <a:rPr lang="ko-KR" altLang="ko-KR" sz="2000" dirty="0" err="1"/>
              <a:t>noexcept</a:t>
            </a:r>
            <a:r>
              <a:rPr lang="ko-KR" altLang="ko-KR" sz="2000" dirty="0"/>
              <a:t> 함수 밖으로 예외가 빠져나가면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terminate</a:t>
            </a:r>
            <a:r>
              <a:rPr lang="ko-KR" altLang="ko-KR" sz="2000" dirty="0"/>
              <a:t>() 호출</a:t>
            </a:r>
          </a:p>
          <a:p>
            <a:pPr lvl="0"/>
            <a:r>
              <a:rPr lang="ko-KR" altLang="ko-KR" sz="2000" dirty="0"/>
              <a:t>실제 예외 가능성이 있는 이동 함수에 무조건 붙이면 안 됨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6AEABB-2912-52E6-3214-EFBE655BB170}"/>
              </a:ext>
            </a:extLst>
          </p:cNvPr>
          <p:cNvSpPr txBox="1"/>
          <p:nvPr/>
        </p:nvSpPr>
        <p:spPr>
          <a:xfrm>
            <a:off x="504726" y="2672239"/>
            <a:ext cx="6011490" cy="375487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Wrapper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Wrapper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Wrapper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is_nothrow_move_constructible_v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0D7E9-232D-95A9-EA11-691CA073FEE9}"/>
              </a:ext>
            </a:extLst>
          </p:cNvPr>
          <p:cNvSpPr txBox="1"/>
          <p:nvPr/>
        </p:nvSpPr>
        <p:spPr>
          <a:xfrm>
            <a:off x="4230216" y="4365104"/>
            <a:ext cx="4572000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이동 중 메모리 할당이나</a:t>
            </a:r>
            <a:br>
              <a:rPr lang="en-US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실패 가능한 작업이 없다면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우선 검토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3875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8B83C-D3BB-B801-8FE4-BFE89C87C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302CB-65B8-EBA1-C0DD-8BE749F5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5.8.4 </a:t>
            </a:r>
            <a:r>
              <a:rPr lang="ko-KR" altLang="ko-KR" dirty="0" err="1"/>
              <a:t>move_if_noexcept와</a:t>
            </a:r>
            <a:r>
              <a:rPr lang="ko-KR" altLang="ko-KR" dirty="0"/>
              <a:t> 컨테이너 재배치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6690B-DE04-26EA-303E-87744FFD4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move_if_noexcept</a:t>
            </a:r>
            <a:r>
              <a:rPr lang="ko-KR" altLang="ko-KR" sz="2000" dirty="0"/>
              <a:t>()</a:t>
            </a:r>
            <a:br>
              <a:rPr lang="en-US" altLang="ko-KR" sz="2000" dirty="0"/>
            </a:br>
            <a:r>
              <a:rPr lang="ko-KR" altLang="ko-KR" sz="2000" dirty="0"/>
              <a:t>이동이 안전하면 이동 가능한 참조 제공</a:t>
            </a:r>
            <a:endParaRPr lang="en-US" altLang="ko-KR" sz="2000" dirty="0"/>
          </a:p>
          <a:p>
            <a:pPr lvl="2"/>
            <a:endParaRPr lang="ko-KR" altLang="ko-KR" sz="1200" dirty="0"/>
          </a:p>
          <a:p>
            <a:pPr lvl="0"/>
            <a:r>
              <a:rPr lang="ko-KR" altLang="ko-KR" sz="2000" dirty="0"/>
              <a:t>이동이 예외를 던질 수 있고 복사가 가능하면</a:t>
            </a:r>
            <a:br>
              <a:rPr lang="en-US" altLang="ko-KR" sz="2000" dirty="0"/>
            </a:br>
            <a:r>
              <a:rPr lang="ko-KR" altLang="ko-KR" sz="2000" dirty="0"/>
              <a:t>복사가 선택되도록 상수 참조 제공</a:t>
            </a:r>
            <a:endParaRPr lang="en-US" altLang="ko-KR" sz="2000" dirty="0"/>
          </a:p>
          <a:p>
            <a:pPr lvl="2"/>
            <a:endParaRPr lang="ko-KR" altLang="ko-KR" sz="1200" dirty="0"/>
          </a:p>
          <a:p>
            <a:pPr lvl="0"/>
            <a:r>
              <a:rPr lang="ko-KR" altLang="ko-KR" sz="2000" dirty="0"/>
              <a:t>표준 컨테이너의 원소 재배치 원리 이해에 중요</a:t>
            </a:r>
          </a:p>
          <a:p>
            <a:endParaRPr lang="ko-KR" altLang="en-US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4C2C8B2-7D5E-6A8D-3021-06D68B445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067607"/>
              </p:ext>
            </p:extLst>
          </p:nvPr>
        </p:nvGraphicFramePr>
        <p:xfrm>
          <a:off x="573286" y="3038696"/>
          <a:ext cx="5899522" cy="2766568"/>
        </p:xfrm>
        <a:graphic>
          <a:graphicData uri="http://schemas.openxmlformats.org/drawingml/2006/table">
            <a:tbl>
              <a:tblPr/>
              <a:tblGrid>
                <a:gridCol w="5899522">
                  <a:extLst>
                    <a:ext uri="{9D8B030D-6E8A-4147-A177-3AD203B41FA5}">
                      <a16:colId xmlns:a16="http://schemas.microsoft.com/office/drawing/2014/main" val="1772373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0000"/>
                        </a:lnSpc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600" b="0" i="0" u="none" strike="noStrike" dirty="0" err="1">
                          <a:solidFill>
                            <a:srgbClr val="4078F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target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move_if_noexcept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source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));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생성자가 </a:t>
                      </a: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noexcept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인가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?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예 → 이동 가능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아니오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├─ 복사 가능 → 복사 가능하도록 </a:t>
                      </a: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참조 제공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└─ 복사 불가 → 이동 사용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vector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재배치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저장 공간 [A][B][C]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  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더 큰 저장 공간 [A][B][C][ ][ ][ ]]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50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011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0E16-0766-C4DE-A411-F01D3E75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39F62-1B94-5DAE-A912-5FCE86B5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5.8.6 </a:t>
            </a:r>
            <a:r>
              <a:rPr lang="ko-KR" altLang="ko-KR" dirty="0" err="1"/>
              <a:t>반환값에</a:t>
            </a:r>
            <a:r>
              <a:rPr lang="ko-KR" altLang="ko-KR" dirty="0"/>
              <a:t>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move를</a:t>
            </a:r>
            <a:r>
              <a:rPr lang="ko-KR" altLang="ko-KR" dirty="0"/>
              <a:t> 사용할 때의 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8CFC8-4FF6-6034-2554-B2E862280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NRVO</a:t>
            </a:r>
            <a:r>
              <a:rPr lang="en-US" altLang="ko-KR" sz="2000" dirty="0"/>
              <a:t>: Named Return Value Optimization(</a:t>
            </a:r>
            <a:r>
              <a:rPr lang="ko-KR" altLang="en-US" sz="2000" dirty="0"/>
              <a:t>반환 값 최적화</a:t>
            </a:r>
            <a:r>
              <a:rPr lang="en-US" altLang="ko-KR" sz="2000" dirty="0"/>
              <a:t>)</a:t>
            </a:r>
          </a:p>
          <a:p>
            <a:pPr lvl="0"/>
            <a:r>
              <a:rPr lang="ko-KR" altLang="ko-KR" sz="2000" dirty="0"/>
              <a:t>지역 객체를 값으로 반환할 때</a:t>
            </a:r>
            <a:r>
              <a:rPr lang="en-US" altLang="ko-KR" sz="2000" dirty="0"/>
              <a:t> </a:t>
            </a:r>
            <a:r>
              <a:rPr lang="ko-KR" altLang="ko-KR" sz="2000" dirty="0"/>
              <a:t>일반적으로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()를 붙이지 않음</a:t>
            </a:r>
          </a:p>
          <a:p>
            <a:pPr lvl="0"/>
            <a:r>
              <a:rPr lang="ko-KR" altLang="ko-KR" sz="2000" dirty="0"/>
              <a:t>컴파일러는 </a:t>
            </a:r>
            <a:r>
              <a:rPr lang="ko-KR" altLang="ko-KR" sz="2000" dirty="0" err="1"/>
              <a:t>NRVO를</a:t>
            </a:r>
            <a:r>
              <a:rPr lang="ko-KR" altLang="ko-KR" sz="2000" dirty="0"/>
              <a:t> 적용해 결과 위치에 직접 생성할 수 있음</a:t>
            </a:r>
          </a:p>
          <a:p>
            <a:pPr lvl="0"/>
            <a:r>
              <a:rPr lang="ko-KR" altLang="ko-KR" sz="2000" dirty="0" err="1"/>
              <a:t>NRVO가</a:t>
            </a:r>
            <a:r>
              <a:rPr lang="ko-KR" altLang="ko-KR" sz="2000" dirty="0"/>
              <a:t> 적용되지 않아도 지역 객체는 이동 대상으로 처리될 수 있음</a:t>
            </a:r>
          </a:p>
          <a:p>
            <a:pPr lvl="0"/>
            <a:r>
              <a:rPr lang="ko-KR" altLang="ko-KR" sz="2000" dirty="0"/>
              <a:t>불필요한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()는 </a:t>
            </a:r>
            <a:r>
              <a:rPr lang="ko-KR" altLang="ko-KR" sz="2000" dirty="0" err="1"/>
              <a:t>NRVO를</a:t>
            </a:r>
            <a:r>
              <a:rPr lang="ko-KR" altLang="ko-KR" sz="2000" dirty="0"/>
              <a:t> 방해할 수 있음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87C6C-52EE-CB12-F6D6-945FDDDB5C25}"/>
              </a:ext>
            </a:extLst>
          </p:cNvPr>
          <p:cNvSpPr txBox="1"/>
          <p:nvPr/>
        </p:nvSpPr>
        <p:spPr>
          <a:xfrm>
            <a:off x="251520" y="3140968"/>
            <a:ext cx="4788024" cy="313932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비 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권장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A8AD89-D75B-FC8D-3E1C-CC7281023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655634"/>
              </p:ext>
            </p:extLst>
          </p:nvPr>
        </p:nvGraphicFramePr>
        <p:xfrm>
          <a:off x="5039544" y="3146301"/>
          <a:ext cx="3697412" cy="2870200"/>
        </p:xfrm>
        <a:graphic>
          <a:graphicData uri="http://schemas.openxmlformats.org/drawingml/2006/table">
            <a:tbl>
              <a:tblPr/>
              <a:tblGrid>
                <a:gridCol w="3697412">
                  <a:extLst>
                    <a:ext uri="{9D8B030D-6E8A-4147-A177-3AD203B41FA5}">
                      <a16:colId xmlns:a16="http://schemas.microsoft.com/office/drawing/2014/main" val="3173147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return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result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;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NRVO 가능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NRVO 미적용 시 이동 가능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endParaRPr lang="en-US" altLang="ko-KR" sz="1800" b="0" i="0" u="none" strike="noStrike" dirty="0">
                        <a:solidFill>
                          <a:srgbClr val="383A42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 rtl="0" fontAlgn="t">
                        <a:buNone/>
                      </a:pP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return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dirty="0" err="1">
                          <a:solidFill>
                            <a:srgbClr val="C184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result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);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NRVO 대상에서 제외될 수 있음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78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413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7797-7EFB-2823-5089-C16A5104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F0E3B-192E-FA5D-4304-6ED5A78C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 특별 멤버 함수의 설계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63EC6-42B5-025D-8142-F198A26D4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객체의 생성, 복사, 이동, 소멸을 담당하는 특별 멤버 함수</a:t>
            </a:r>
          </a:p>
          <a:p>
            <a:pPr lvl="0"/>
            <a:r>
              <a:rPr lang="ko-KR" altLang="ko-KR" sz="2400" dirty="0"/>
              <a:t>컴파일러 기본 동작을 사용할지, 직접 구현할지, 호출을 금지할지 결정</a:t>
            </a:r>
          </a:p>
          <a:p>
            <a:endParaRPr lang="ko-KR" altLang="en-US" sz="24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081C729-7565-B0E6-ACF8-D25AE6FD8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974357"/>
              </p:ext>
            </p:extLst>
          </p:nvPr>
        </p:nvGraphicFramePr>
        <p:xfrm>
          <a:off x="323528" y="1772816"/>
          <a:ext cx="8421215" cy="4838458"/>
        </p:xfrm>
        <a:graphic>
          <a:graphicData uri="http://schemas.openxmlformats.org/drawingml/2006/table">
            <a:tbl>
              <a:tblPr/>
              <a:tblGrid>
                <a:gridCol w="1190770">
                  <a:extLst>
                    <a:ext uri="{9D8B030D-6E8A-4147-A177-3AD203B41FA5}">
                      <a16:colId xmlns:a16="http://schemas.microsoft.com/office/drawing/2014/main" val="178650056"/>
                    </a:ext>
                  </a:extLst>
                </a:gridCol>
                <a:gridCol w="3057384">
                  <a:extLst>
                    <a:ext uri="{9D8B030D-6E8A-4147-A177-3AD203B41FA5}">
                      <a16:colId xmlns:a16="http://schemas.microsoft.com/office/drawing/2014/main" val="732433665"/>
                    </a:ext>
                  </a:extLst>
                </a:gridCol>
                <a:gridCol w="4173061">
                  <a:extLst>
                    <a:ext uri="{9D8B030D-6E8A-4147-A177-3AD203B41FA5}">
                      <a16:colId xmlns:a16="http://schemas.microsoft.com/office/drawing/2014/main" val="353261139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특별</a:t>
                      </a:r>
                      <a:r>
                        <a:rPr lang="en-US" altLang="ko-KR" sz="14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4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함수</a:t>
                      </a:r>
                      <a:endParaRPr lang="ko-KR" sz="24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암시적 선언 조건</a:t>
                      </a:r>
                      <a:endParaRPr lang="ko-KR" sz="24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암시적 삭제 대표 원인</a:t>
                      </a:r>
                      <a:endParaRPr lang="ko-KR" sz="24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874885"/>
                  </a:ext>
                </a:extLst>
              </a:tr>
              <a:tr h="72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생성자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 선언 생성자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기본 생성 불가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br>
                        <a:rPr lang="en-US" alt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초기값 없는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const·참조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멤버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924358"/>
                  </a:ext>
                </a:extLst>
              </a:tr>
              <a:tr h="72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 선언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사용 불가</a:t>
                      </a:r>
                      <a:br>
                        <a:rPr lang="en-US" alt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=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99192"/>
                  </a:ext>
                </a:extLst>
              </a:tr>
              <a:tr h="72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생성자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 선언 복사 생성자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복사 생성 불가</a:t>
                      </a:r>
                      <a:br>
                        <a:rPr lang="en-US" alt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ex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복사 생성자 =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98060"/>
                  </a:ext>
                </a:extLst>
              </a:tr>
              <a:tr h="6991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대입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사용자 선언 복사 대입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const·참조 멤버, 멤버·기반 복사 대입 불가</a:t>
                      </a:r>
                      <a:endParaRPr lang="ko-KR" sz="3200" spc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115945"/>
                  </a:ext>
                </a:extLst>
              </a:tr>
              <a:tr h="72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생성자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생성·복사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대입·</a:t>
                      </a:r>
                      <a:br>
                        <a:rPr lang="en-US" alt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대입·소멸자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이동 생성 불가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603587"/>
                  </a:ext>
                </a:extLst>
              </a:tr>
              <a:tr h="7270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spc="0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대입</a:t>
                      </a:r>
                      <a:endParaRPr lang="ko-KR" sz="3200" b="1" spc="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생성·복사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대입·</a:t>
                      </a:r>
                      <a:br>
                        <a:rPr lang="en-US" alt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이동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생성·소멸자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없음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const·참조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멤버, </a:t>
                      </a:r>
                      <a:r>
                        <a:rPr lang="ko-KR" sz="18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멤버·기반</a:t>
                      </a:r>
                      <a:r>
                        <a:rPr lang="ko-KR" sz="18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이동 대입 불가</a:t>
                      </a:r>
                      <a:endParaRPr lang="ko-KR" sz="3200" spc="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141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049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C6A5-898A-B6C9-F617-0241968A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A599A-96F3-212B-099B-F47FD8DA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5.9.1 암시적 이동 선언에 영향을 주는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F6849-B61C-D1FD-E2C5-09CDF242B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이동 </a:t>
            </a:r>
            <a:r>
              <a:rPr lang="ko-KR" altLang="ko-KR" sz="2400" dirty="0" err="1"/>
              <a:t>생성자·이동</a:t>
            </a:r>
            <a:r>
              <a:rPr lang="ko-KR" altLang="ko-KR" sz="2400" dirty="0"/>
              <a:t> 대입: 특정 특별 멤버 함수 </a:t>
            </a:r>
            <a:r>
              <a:rPr lang="ko-KR" altLang="ko-KR" sz="2400" dirty="0" err="1"/>
              <a:t>미선언</a:t>
            </a:r>
            <a:r>
              <a:rPr lang="ko-KR" altLang="ko-KR" sz="2400" dirty="0"/>
              <a:t> 시 암시적 선언 </a:t>
            </a:r>
          </a:p>
          <a:p>
            <a:pPr lvl="0"/>
            <a:r>
              <a:rPr lang="ko-KR" altLang="ko-KR" sz="2400" dirty="0"/>
              <a:t>사용자 선언 </a:t>
            </a:r>
            <a:r>
              <a:rPr lang="ko-KR" altLang="ko-KR" sz="2400" dirty="0" err="1"/>
              <a:t>소멸자</a:t>
            </a:r>
            <a:r>
              <a:rPr lang="ko-KR" altLang="ko-KR" sz="2400" dirty="0"/>
              <a:t> 존재: 이동 함수의 암시적 선언 억제 </a:t>
            </a:r>
          </a:p>
          <a:p>
            <a:pPr lvl="0"/>
            <a:r>
              <a:rPr lang="ko-KR" altLang="ko-KR" sz="2400" dirty="0"/>
              <a:t>빈 소멸자도 사용자 선언 소멸자에 해당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6981E-87FD-EC10-7287-24A3283A2FCD}"/>
              </a:ext>
            </a:extLst>
          </p:cNvPr>
          <p:cNvSpPr txBox="1"/>
          <p:nvPr/>
        </p:nvSpPr>
        <p:spPr>
          <a:xfrm>
            <a:off x="611560" y="2132856"/>
            <a:ext cx="5328592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~Data(){}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~Data()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Data&amp;)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Data&amp;)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Data(Data&amp;&amp;)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Data&amp;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=(Data&amp;&amp;)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0001A-E208-4283-A2BC-C34C4E84E0F9}"/>
              </a:ext>
            </a:extLst>
          </p:cNvPr>
          <p:cNvSpPr txBox="1"/>
          <p:nvPr/>
        </p:nvSpPr>
        <p:spPr>
          <a:xfrm>
            <a:off x="4432448" y="4102625"/>
            <a:ext cx="4572000" cy="58477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기본 소멸 동작 충분 →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소멸자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선언 생략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복사·이동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정책 중요 → 관련 특별 멤버 함수 명시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6436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936E-21FE-FD96-AF38-62710526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AB120-9E9D-9323-193E-77699954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5.9.3 Rule of </a:t>
            </a:r>
            <a:r>
              <a:rPr lang="ko-KR" altLang="ko-KR" dirty="0" err="1"/>
              <a:t>Zero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89175D-43F5-6554-6F19-759B19A84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 err="1"/>
              <a:t>Zero</a:t>
            </a:r>
            <a:r>
              <a:rPr lang="ko-KR" altLang="ko-KR" sz="2000" dirty="0"/>
              <a:t> → 5대 특별 멤버 함수 직접 구현 0개</a:t>
            </a:r>
            <a:endParaRPr lang="en-US" altLang="ko-KR" sz="2000" dirty="0"/>
          </a:p>
          <a:p>
            <a:pPr lvl="1"/>
            <a:r>
              <a:rPr lang="ko-KR" altLang="ko-KR" sz="1800" dirty="0"/>
              <a:t>자원 관리 타입 멤버 사용</a:t>
            </a:r>
          </a:p>
          <a:p>
            <a:pPr lvl="1"/>
            <a:r>
              <a:rPr lang="ko-KR" altLang="ko-KR" sz="1800" dirty="0"/>
              <a:t>특별 멤버 함수 직접 작성 최소</a:t>
            </a:r>
          </a:p>
          <a:p>
            <a:pPr lvl="1"/>
            <a:r>
              <a:rPr lang="ko-KR" altLang="ko-KR" sz="1800" dirty="0"/>
              <a:t>상태와 기능 설계에 집중</a:t>
            </a:r>
          </a:p>
          <a:p>
            <a:pPr lvl="1"/>
            <a:r>
              <a:rPr lang="ko-KR" altLang="ko-KR" sz="1800" dirty="0" err="1"/>
              <a:t>std</a:t>
            </a:r>
            <a:r>
              <a:rPr lang="ko-KR" altLang="ko-KR" sz="1800" dirty="0"/>
              <a:t>::</a:t>
            </a:r>
            <a:r>
              <a:rPr lang="ko-KR" altLang="ko-KR" sz="1800" dirty="0" err="1"/>
              <a:t>string</a:t>
            </a:r>
            <a:r>
              <a:rPr lang="ko-KR" altLang="ko-KR" sz="1800" dirty="0"/>
              <a:t>, </a:t>
            </a:r>
            <a:r>
              <a:rPr lang="ko-KR" altLang="ko-KR" sz="1800" dirty="0" err="1"/>
              <a:t>std</a:t>
            </a:r>
            <a:r>
              <a:rPr lang="ko-KR" altLang="ko-KR" sz="1800" dirty="0"/>
              <a:t>::</a:t>
            </a:r>
            <a:r>
              <a:rPr lang="ko-KR" altLang="ko-KR" sz="1800" dirty="0" err="1"/>
              <a:t>vector</a:t>
            </a:r>
            <a:r>
              <a:rPr lang="ko-KR" altLang="ko-KR" sz="1800" dirty="0"/>
              <a:t> 등 활용</a:t>
            </a:r>
          </a:p>
          <a:p>
            <a:pPr lvl="1"/>
            <a:r>
              <a:rPr lang="ko-KR" altLang="ko-KR" sz="1800" dirty="0" err="1"/>
              <a:t>복사·이동·자원</a:t>
            </a:r>
            <a:r>
              <a:rPr lang="ko-KR" altLang="ko-KR" sz="1800" dirty="0"/>
              <a:t> 해제 → 멤버 타입이 담당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6C909-6C0C-80AB-4CDA-D27E4D0B6B36}"/>
              </a:ext>
            </a:extLst>
          </p:cNvPr>
          <p:cNvSpPr txBox="1"/>
          <p:nvPr/>
        </p:nvSpPr>
        <p:spPr>
          <a:xfrm>
            <a:off x="467544" y="3057922"/>
            <a:ext cx="4572000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owner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8E7EFA1-C59F-B6C1-0DBE-1465444C1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837196"/>
              </p:ext>
            </p:extLst>
          </p:nvPr>
        </p:nvGraphicFramePr>
        <p:xfrm>
          <a:off x="3923928" y="4204373"/>
          <a:ext cx="5112568" cy="1642768"/>
        </p:xfrm>
        <a:graphic>
          <a:graphicData uri="http://schemas.openxmlformats.org/drawingml/2006/table">
            <a:tbl>
              <a:tblPr/>
              <a:tblGrid>
                <a:gridCol w="2335690">
                  <a:extLst>
                    <a:ext uri="{9D8B030D-6E8A-4147-A177-3AD203B41FA5}">
                      <a16:colId xmlns:a16="http://schemas.microsoft.com/office/drawing/2014/main" val="3927572076"/>
                    </a:ext>
                  </a:extLst>
                </a:gridCol>
                <a:gridCol w="2776878">
                  <a:extLst>
                    <a:ext uri="{9D8B030D-6E8A-4147-A177-3AD203B41FA5}">
                      <a16:colId xmlns:a16="http://schemas.microsoft.com/office/drawing/2014/main" val="3603637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직접 자원 관리</a:t>
                      </a:r>
                      <a:endParaRPr lang="ko-KR" sz="2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Rule of </a:t>
                      </a:r>
                      <a:r>
                        <a:rPr lang="ko-KR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Zero</a:t>
                      </a:r>
                      <a:endParaRPr lang="ko-KR" sz="2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8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new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직접 관리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자원 관리 타입 활용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40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특별 멤버 함수 직접 구현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특별 멤버 함수 생략 가능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7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소유권·수명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직접 관리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타입이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소유권·수명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관리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97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678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8791-AAA3-6717-D140-6849B2C3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DB4EF-45FC-214B-0064-3FAB03DA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5.9.4 복사 금지 객체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9D168-69B3-5C80-B6F3-D5088C3AA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복사가 의미 없는 타입</a:t>
            </a:r>
          </a:p>
          <a:p>
            <a:pPr lvl="0"/>
            <a:r>
              <a:rPr lang="ko-KR" altLang="ko-KR" sz="2400" dirty="0"/>
              <a:t>복사 생성자 삭제</a:t>
            </a:r>
          </a:p>
          <a:p>
            <a:pPr lvl="0"/>
            <a:r>
              <a:rPr lang="ko-KR" altLang="ko-KR" sz="2400" dirty="0"/>
              <a:t>복사 대입 연산자 삭제</a:t>
            </a:r>
          </a:p>
          <a:p>
            <a:pPr lvl="0"/>
            <a:r>
              <a:rPr lang="ko-KR" altLang="ko-KR" sz="2400" dirty="0"/>
              <a:t>고유 자원 중복 소유 방지</a:t>
            </a:r>
          </a:p>
          <a:p>
            <a:pPr lvl="0"/>
            <a:r>
              <a:rPr lang="ko-KR" altLang="ko-KR" sz="2400" dirty="0" err="1"/>
              <a:t>싱글톤</a:t>
            </a:r>
            <a:r>
              <a:rPr lang="ko-KR" altLang="ko-KR" sz="2400" dirty="0"/>
              <a:t> → 생성 제한 + 복사 금지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E2DAC-8DA6-1926-A675-90BA24C87D3E}"/>
              </a:ext>
            </a:extLst>
          </p:cNvPr>
          <p:cNvSpPr txBox="1"/>
          <p:nvPr/>
        </p:nvSpPr>
        <p:spPr>
          <a:xfrm>
            <a:off x="539750" y="3140968"/>
            <a:ext cx="4572000" cy="332398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UniqueFile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third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         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CE46FD-F4DD-1CCA-E134-0EE418FEB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030740"/>
              </p:ext>
            </p:extLst>
          </p:nvPr>
        </p:nvGraphicFramePr>
        <p:xfrm>
          <a:off x="5004048" y="3789040"/>
          <a:ext cx="3312368" cy="2487800"/>
        </p:xfrm>
        <a:graphic>
          <a:graphicData uri="http://schemas.openxmlformats.org/drawingml/2006/table">
            <a:tbl>
              <a:tblPr/>
              <a:tblGrid>
                <a:gridCol w="1858158">
                  <a:extLst>
                    <a:ext uri="{9D8B030D-6E8A-4147-A177-3AD203B41FA5}">
                      <a16:colId xmlns:a16="http://schemas.microsoft.com/office/drawing/2014/main" val="2370279024"/>
                    </a:ext>
                  </a:extLst>
                </a:gridCol>
                <a:gridCol w="1454210">
                  <a:extLst>
                    <a:ext uri="{9D8B030D-6E8A-4147-A177-3AD203B41FA5}">
                      <a16:colId xmlns:a16="http://schemas.microsoft.com/office/drawing/2014/main" val="32473875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성격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정책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88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고유 핸들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금지</a:t>
                      </a:r>
                      <a:endParaRPr lang="ko-KR" sz="360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60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잠금 객체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금지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297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단일 연결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금지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719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복제 의미가</a:t>
                      </a:r>
                      <a:br>
                        <a:rPr lang="en-US" alt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불명확한 자원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복사 금지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87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510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50F4-8F37-51F8-11D1-CCC14BF7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CC3FE-2EDC-FA48-DFE8-32AEF49A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5.9.5 이동 전용 객체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1B957-E793-20BD-72FB-37EBEDDA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복사 금지 →이동 허용</a:t>
            </a:r>
          </a:p>
          <a:p>
            <a:pPr lvl="0"/>
            <a:r>
              <a:rPr lang="ko-KR" altLang="ko-KR" sz="2400" dirty="0"/>
              <a:t>단일 소유자 유지</a:t>
            </a:r>
          </a:p>
          <a:p>
            <a:pPr lvl="0"/>
            <a:r>
              <a:rPr lang="ko-KR" altLang="ko-KR" sz="2400" dirty="0"/>
              <a:t>소유권 이전 허용</a:t>
            </a:r>
          </a:p>
          <a:p>
            <a:pPr lvl="0"/>
            <a:r>
              <a:rPr lang="ko-KR" altLang="ko-KR" sz="2400" dirty="0"/>
              <a:t>함수 반환 가능</a:t>
            </a:r>
          </a:p>
          <a:p>
            <a:pPr lvl="0"/>
            <a:r>
              <a:rPr lang="ko-KR" altLang="ko-KR" sz="2400" dirty="0"/>
              <a:t>컨테이너 저장 가능</a:t>
            </a:r>
          </a:p>
          <a:p>
            <a:pPr lvl="0"/>
            <a:r>
              <a:rPr lang="ko-KR" altLang="ko-KR" sz="2400" dirty="0"/>
              <a:t>대표 타입 → </a:t>
            </a:r>
            <a:r>
              <a:rPr lang="ko-KR" altLang="ko-KR" sz="2400" dirty="0" err="1"/>
              <a:t>std</a:t>
            </a:r>
            <a:r>
              <a:rPr lang="ko-KR" altLang="ko-KR" sz="2400" dirty="0"/>
              <a:t>::</a:t>
            </a:r>
            <a:r>
              <a:rPr lang="ko-KR" altLang="ko-KR" sz="2400" dirty="0" err="1"/>
              <a:t>unique_ptr</a:t>
            </a:r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61729-867F-588D-6271-09E58C871C13}"/>
              </a:ext>
            </a:extLst>
          </p:cNvPr>
          <p:cNvSpPr txBox="1"/>
          <p:nvPr/>
        </p:nvSpPr>
        <p:spPr>
          <a:xfrm>
            <a:off x="244326" y="3685386"/>
            <a:ext cx="4572000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other.data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1024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D5381-DA3D-A503-EDAB-93C2BAF906E6}"/>
              </a:ext>
            </a:extLst>
          </p:cNvPr>
          <p:cNvSpPr txBox="1"/>
          <p:nvPr/>
        </p:nvSpPr>
        <p:spPr>
          <a:xfrm>
            <a:off x="4427984" y="576843"/>
            <a:ext cx="4320480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?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]{} : </a:t>
            </a:r>
            <a:r>
              <a:rPr lang="ko-KR" altLang="ko-KR" sz="14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[]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data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UBuffer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4443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E21A-096B-FE4E-E9E7-129A0413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52C41-50D3-AA06-5257-6A80FF2A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5.9.6 = </a:t>
            </a:r>
            <a:r>
              <a:rPr lang="ko-KR" altLang="ko-KR" dirty="0" err="1"/>
              <a:t>default와</a:t>
            </a:r>
            <a:r>
              <a:rPr lang="ko-KR" altLang="ko-KR" dirty="0"/>
              <a:t> = </a:t>
            </a:r>
            <a:r>
              <a:rPr lang="ko-KR" altLang="ko-KR" dirty="0" err="1"/>
              <a:t>delete의</a:t>
            </a:r>
            <a:r>
              <a:rPr lang="ko-KR" altLang="ko-KR" dirty="0"/>
              <a:t> 적용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AB8CA5-BDAE-905A-0736-FE8DAF1E7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= </a:t>
            </a:r>
            <a:r>
              <a:rPr lang="ko-KR" altLang="ko-KR" sz="2000" dirty="0" err="1"/>
              <a:t>default</a:t>
            </a:r>
            <a:r>
              <a:rPr lang="ko-KR" altLang="ko-KR" sz="2000" dirty="0"/>
              <a:t> → 컴파일러 기본 동작 사용</a:t>
            </a:r>
          </a:p>
          <a:p>
            <a:pPr lvl="0"/>
            <a:r>
              <a:rPr lang="ko-KR" altLang="ko-KR" sz="2000" dirty="0"/>
              <a:t>= </a:t>
            </a:r>
            <a:r>
              <a:rPr lang="ko-KR" altLang="ko-KR" sz="2000" dirty="0" err="1"/>
              <a:t>delete</a:t>
            </a:r>
            <a:r>
              <a:rPr lang="ko-KR" altLang="ko-KR" sz="2000" dirty="0"/>
              <a:t> → 특정 함수 사용 금지</a:t>
            </a:r>
          </a:p>
          <a:p>
            <a:pPr lvl="0"/>
            <a:r>
              <a:rPr lang="ko-KR" altLang="ko-KR" sz="2000" dirty="0"/>
              <a:t>클래스 의미와 기본 동작 일치 여부 확인</a:t>
            </a:r>
          </a:p>
          <a:p>
            <a:pPr lvl="0"/>
            <a:r>
              <a:rPr lang="ko-KR" altLang="ko-KR" sz="2000" dirty="0"/>
              <a:t>원시 포인터 소유 클래스 → 기본 복사 주의</a:t>
            </a:r>
          </a:p>
          <a:p>
            <a:pPr lvl="0"/>
            <a:r>
              <a:rPr lang="ko-KR" altLang="ko-KR" sz="2000" dirty="0"/>
              <a:t>원시 포인터 기본 복사 → 얕은 복사 가능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1CD21-0DB0-FAC9-D239-79C47A1467AA}"/>
              </a:ext>
            </a:extLst>
          </p:cNvPr>
          <p:cNvSpPr txBox="1"/>
          <p:nvPr/>
        </p:nvSpPr>
        <p:spPr>
          <a:xfrm>
            <a:off x="316834" y="3053278"/>
            <a:ext cx="3870684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struct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6100D-DB35-1809-9345-1726EAD4B7D5}"/>
              </a:ext>
            </a:extLst>
          </p:cNvPr>
          <p:cNvSpPr txBox="1"/>
          <p:nvPr/>
        </p:nvSpPr>
        <p:spPr>
          <a:xfrm>
            <a:off x="4283968" y="2708920"/>
            <a:ext cx="4572000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operator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=(</a:t>
            </a:r>
            <a:r>
              <a:rPr lang="en-US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Rsc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&amp;&amp;)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noexcept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93AF0A-61FC-43E7-D61A-DD039DE87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332928"/>
              </p:ext>
            </p:extLst>
          </p:nvPr>
        </p:nvGraphicFramePr>
        <p:xfrm>
          <a:off x="2051720" y="5349699"/>
          <a:ext cx="4680520" cy="1346376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348618511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4187434815"/>
                    </a:ext>
                  </a:extLst>
                </a:gridCol>
              </a:tblGrid>
              <a:tr h="2302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문법</a:t>
                      </a:r>
                      <a:endParaRPr lang="ko-KR" sz="3600" b="1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600" b="1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7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=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default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컴파일러 기본 동작 요청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7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= </a:t>
                      </a:r>
                      <a:r>
                        <a:rPr lang="ko-KR" sz="20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delete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해당 함수 호출 금지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413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24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ED19-93E8-3B60-67C6-ADCA7846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AA0BF-0553-0F8C-F5FF-38810AA9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5.10 복사 생략과 값 반환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FB962-8F66-84C0-D13F-29B6B67F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객체 </a:t>
            </a:r>
            <a:r>
              <a:rPr lang="ko-KR" altLang="ko-KR" sz="2000" dirty="0" err="1"/>
              <a:t>초기화·반환</a:t>
            </a:r>
            <a:r>
              <a:rPr lang="ko-KR" altLang="ko-KR" sz="2000" dirty="0"/>
              <a:t> 과정의 복사/이동 생략</a:t>
            </a:r>
          </a:p>
          <a:p>
            <a:pPr lvl="0"/>
            <a:r>
              <a:rPr lang="ko-KR" altLang="ko-KR" sz="2000" dirty="0"/>
              <a:t>불필요한 중간 객체 생성 감소</a:t>
            </a:r>
          </a:p>
          <a:p>
            <a:pPr lvl="0"/>
            <a:r>
              <a:rPr lang="ko-KR" altLang="ko-KR" sz="2000" dirty="0"/>
              <a:t>반환 객체 직접 생성 가능</a:t>
            </a:r>
          </a:p>
          <a:p>
            <a:pPr lvl="0"/>
            <a:r>
              <a:rPr lang="ko-KR" altLang="ko-KR" sz="2000" dirty="0"/>
              <a:t>새 객체 생성 함수 → 값 반환 우선 검토</a:t>
            </a:r>
          </a:p>
          <a:p>
            <a:pPr lvl="0"/>
            <a:r>
              <a:rPr lang="ko-KR" altLang="ko-KR" sz="2000" dirty="0"/>
              <a:t>지역 객체 </a:t>
            </a:r>
            <a:r>
              <a:rPr lang="ko-KR" altLang="ko-KR" sz="2000" dirty="0" err="1"/>
              <a:t>포인터·참조</a:t>
            </a:r>
            <a:r>
              <a:rPr lang="ko-KR" altLang="ko-KR" sz="2000" dirty="0"/>
              <a:t> 반환 → 수명 오류 위험</a:t>
            </a:r>
            <a:endParaRPr lang="en-US" altLang="ko-KR" sz="2000" dirty="0"/>
          </a:p>
          <a:p>
            <a:pPr lvl="1"/>
            <a:endParaRPr lang="ko-KR" altLang="ko-KR" sz="1600" dirty="0"/>
          </a:p>
          <a:p>
            <a:r>
              <a:rPr lang="ko-KR" altLang="ko-KR" sz="2000" dirty="0"/>
              <a:t>값 반환</a:t>
            </a:r>
          </a:p>
          <a:p>
            <a:pPr lvl="1"/>
            <a:r>
              <a:rPr lang="ko-KR" altLang="ko-KR" sz="1600" dirty="0"/>
              <a:t>반환 객체 → 호출자의 결과 객체 위치에 직접 생성 가능</a:t>
            </a:r>
          </a:p>
          <a:p>
            <a:pPr lvl="1"/>
            <a:r>
              <a:rPr lang="ko-KR" altLang="ko-KR" sz="1600" dirty="0"/>
              <a:t>불필요한 </a:t>
            </a:r>
            <a:r>
              <a:rPr lang="ko-KR" altLang="ko-KR" sz="1600" dirty="0" err="1"/>
              <a:t>복사·이동</a:t>
            </a:r>
            <a:r>
              <a:rPr lang="ko-KR" altLang="ko-KR" sz="1600" dirty="0"/>
              <a:t> 제거 가능</a:t>
            </a:r>
          </a:p>
          <a:p>
            <a:pPr lvl="1"/>
            <a:r>
              <a:rPr lang="ko-KR" altLang="ko-KR" sz="1600" dirty="0" err="1"/>
              <a:t>반환값의</a:t>
            </a:r>
            <a:r>
              <a:rPr lang="ko-KR" altLang="ko-KR" sz="1600" dirty="0"/>
              <a:t> 소유권 명확</a:t>
            </a:r>
          </a:p>
          <a:p>
            <a:pPr lvl="1"/>
            <a:r>
              <a:rPr lang="ko-KR" altLang="ko-KR" sz="1600" dirty="0"/>
              <a:t>지역 객체 수명 문제 방지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4FF85-164C-0567-C93D-23DC7E77B1D7}"/>
              </a:ext>
            </a:extLst>
          </p:cNvPr>
          <p:cNvSpPr txBox="1"/>
          <p:nvPr/>
        </p:nvSpPr>
        <p:spPr>
          <a:xfrm>
            <a:off x="539750" y="4797152"/>
            <a:ext cx="4572000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1000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DDBF195-74E3-B50B-5CEA-A3E1274B8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93135"/>
              </p:ext>
            </p:extLst>
          </p:nvPr>
        </p:nvGraphicFramePr>
        <p:xfrm>
          <a:off x="5220072" y="5013177"/>
          <a:ext cx="2592288" cy="1091520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1717145438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CreateArray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()의 반환 결과</a:t>
                      </a:r>
                      <a:endParaRPr lang="en-US" altLang="ko-KR" sz="1600" b="0" i="0" u="none" strike="noStrike" dirty="0">
                        <a:solidFill>
                          <a:srgbClr val="383A42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l" rtl="0" fontAlgn="t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 직접 초기화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values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2000" marR="72000" marT="180000" marB="18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963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0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8177-CE9B-89DC-A065-8EA49F24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1106C-498B-03D5-1CE0-3EC421EB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5.10.2 NRVO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81DF2-C075-21BF-475C-14957C2E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Named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Return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Value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Optimization</a:t>
            </a:r>
            <a:endParaRPr lang="ko-KR" altLang="ko-KR" sz="2400" dirty="0"/>
          </a:p>
          <a:p>
            <a:pPr lvl="1"/>
            <a:r>
              <a:rPr lang="ko-KR" altLang="ko-KR" sz="2000" dirty="0"/>
              <a:t>이름 있는 지역 객체 반환 시 적용 가능</a:t>
            </a:r>
          </a:p>
          <a:p>
            <a:pPr lvl="1"/>
            <a:r>
              <a:rPr lang="ko-KR" altLang="ko-KR" sz="2000" dirty="0"/>
              <a:t>반환 객체 위치에 지역 객체 직접 생성</a:t>
            </a:r>
          </a:p>
          <a:p>
            <a:pPr lvl="1"/>
            <a:r>
              <a:rPr lang="ko-KR" altLang="ko-KR" sz="2000" dirty="0" err="1"/>
              <a:t>복사·이동</a:t>
            </a:r>
            <a:r>
              <a:rPr lang="ko-KR" altLang="ko-KR" sz="2000" dirty="0"/>
              <a:t> 생략 가능</a:t>
            </a:r>
          </a:p>
          <a:p>
            <a:pPr lvl="1"/>
            <a:r>
              <a:rPr lang="ko-KR" altLang="ko-KR" sz="2000" dirty="0"/>
              <a:t>적용 보장 아님</a:t>
            </a:r>
          </a:p>
          <a:p>
            <a:pPr lvl="1"/>
            <a:r>
              <a:rPr lang="ko-KR" altLang="ko-KR" sz="2000" dirty="0"/>
              <a:t>여러 지역 객체 반환 → NRVO 적용 어려움</a:t>
            </a:r>
          </a:p>
          <a:p>
            <a:pPr lvl="1"/>
            <a:r>
              <a:rPr lang="ko-KR" altLang="ko-KR" sz="2000" dirty="0"/>
              <a:t>NRVO 미적용 → 이동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03E70-5335-E960-0D50-2F6F1F378AA6}"/>
              </a:ext>
            </a:extLst>
          </p:cNvPr>
          <p:cNvSpPr txBox="1"/>
          <p:nvPr/>
        </p:nvSpPr>
        <p:spPr>
          <a:xfrm>
            <a:off x="683568" y="3717032"/>
            <a:ext cx="3600202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EFBAC-5A8B-FA0A-F514-102B1D8BBBD8}"/>
              </a:ext>
            </a:extLst>
          </p:cNvPr>
          <p:cNvSpPr txBox="1"/>
          <p:nvPr/>
        </p:nvSpPr>
        <p:spPr>
          <a:xfrm>
            <a:off x="4462834" y="3717032"/>
            <a:ext cx="4250779" cy="28931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NRVO 적용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result가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결과 위치에 직접 생성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selectFirst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first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second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130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2CF5-2883-1761-9EAC-7BD0D870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F3E83-EE23-5498-5585-1174B085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5.10.4 지역 객체 반환과 암시적 이동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A25C2-7822-473F-E833-4F4A5534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1800" dirty="0"/>
              <a:t>이름 있는 지역 객체 반환</a:t>
            </a:r>
          </a:p>
          <a:p>
            <a:pPr lvl="0"/>
            <a:r>
              <a:rPr lang="ko-KR" altLang="ko-KR" sz="1800" dirty="0"/>
              <a:t>NRVO 적용 가능</a:t>
            </a:r>
          </a:p>
          <a:p>
            <a:pPr lvl="0"/>
            <a:r>
              <a:rPr lang="ko-KR" altLang="ko-KR" sz="1800" dirty="0"/>
              <a:t>NRVO 미적용 → 암시적 이동 가능</a:t>
            </a:r>
          </a:p>
          <a:p>
            <a:pPr lvl="0"/>
            <a:r>
              <a:rPr lang="ko-KR" altLang="ko-KR" sz="1800" dirty="0" err="1"/>
              <a:t>return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result</a:t>
            </a:r>
            <a:r>
              <a:rPr lang="ko-KR" altLang="ko-KR" sz="1800" dirty="0"/>
              <a:t>; 사용 권장</a:t>
            </a:r>
          </a:p>
          <a:p>
            <a:pPr lvl="0"/>
            <a:r>
              <a:rPr lang="ko-KR" altLang="ko-KR" sz="1800" dirty="0" err="1"/>
              <a:t>std</a:t>
            </a:r>
            <a:r>
              <a:rPr lang="ko-KR" altLang="ko-KR" sz="1800" dirty="0"/>
              <a:t>::</a:t>
            </a:r>
            <a:r>
              <a:rPr lang="ko-KR" altLang="ko-KR" sz="1800" dirty="0" err="1"/>
              <a:t>move</a:t>
            </a:r>
            <a:r>
              <a:rPr lang="ko-KR" altLang="ko-KR" sz="1800" dirty="0"/>
              <a:t>(</a:t>
            </a:r>
            <a:r>
              <a:rPr lang="ko-KR" altLang="ko-KR" sz="1800" dirty="0" err="1"/>
              <a:t>result</a:t>
            </a:r>
            <a:r>
              <a:rPr lang="ko-KR" altLang="ko-KR" sz="1800" dirty="0"/>
              <a:t>) 직접 사용 불필요</a:t>
            </a:r>
          </a:p>
          <a:p>
            <a:pPr lvl="0"/>
            <a:r>
              <a:rPr lang="ko-KR" altLang="ko-KR" sz="1800" dirty="0" err="1"/>
              <a:t>std</a:t>
            </a:r>
            <a:r>
              <a:rPr lang="ko-KR" altLang="ko-KR" sz="1800" dirty="0"/>
              <a:t>::</a:t>
            </a:r>
            <a:r>
              <a:rPr lang="ko-KR" altLang="ko-KR" sz="1800" dirty="0" err="1"/>
              <a:t>move</a:t>
            </a:r>
            <a:r>
              <a:rPr lang="ko-KR" altLang="ko-KR" sz="1800" dirty="0"/>
              <a:t>(</a:t>
            </a:r>
            <a:r>
              <a:rPr lang="ko-KR" altLang="ko-KR" sz="1800" dirty="0" err="1"/>
              <a:t>result</a:t>
            </a:r>
            <a:r>
              <a:rPr lang="ko-KR" altLang="ko-KR" sz="1800" dirty="0"/>
              <a:t>) → NRVO 방해 가능</a:t>
            </a:r>
          </a:p>
          <a:p>
            <a:pPr lvl="0"/>
            <a:r>
              <a:rPr lang="ko-KR" altLang="ko-KR" sz="1800" dirty="0"/>
              <a:t>이동 불가 → 조건에 따라 복사 시도</a:t>
            </a:r>
          </a:p>
          <a:p>
            <a:pPr lvl="0"/>
            <a:r>
              <a:rPr lang="ko-KR" altLang="ko-KR" sz="1800" dirty="0" err="1"/>
              <a:t>매개변수·멤버·전역</a:t>
            </a:r>
            <a:r>
              <a:rPr lang="ko-KR" altLang="ko-KR" sz="1800" dirty="0"/>
              <a:t> 객체 반환 → 별도 규칙 적용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4BEB9-3743-404E-2D1D-C0C153C54D82}"/>
              </a:ext>
            </a:extLst>
          </p:cNvPr>
          <p:cNvSpPr txBox="1"/>
          <p:nvPr/>
        </p:nvSpPr>
        <p:spPr>
          <a:xfrm>
            <a:off x="200882" y="4290774"/>
            <a:ext cx="403225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A7AD9-6D3E-D89F-6A7B-34596E6C9B69}"/>
              </a:ext>
            </a:extLst>
          </p:cNvPr>
          <p:cNvSpPr txBox="1"/>
          <p:nvPr/>
        </p:nvSpPr>
        <p:spPr>
          <a:xfrm>
            <a:off x="4334806" y="3429000"/>
            <a:ext cx="4608312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NRVO 적용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result가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결과 위치에 직접 생성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NRVO 미적용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반환 대상 지역 객체를 이동 가능한 대상으로 처리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└─ 이동이 불가능하면 조건에 따라 복사 시도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권장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i="1" dirty="0" err="1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NRVO를</a:t>
            </a:r>
            <a:r>
              <a:rPr lang="ko-KR" altLang="ko-KR" sz="1600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방해할 수 있음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3820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9D00-F8CA-DA94-D060-72D46E56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97A69-E44B-0C3E-17D9-E1BDFAA3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5.10.5 값 반환의 비용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58E291-0E0D-0887-AA37-3B8B968DF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000" dirty="0"/>
              <a:t>큰 객체 값 반환 ≠ 항상 고비용</a:t>
            </a:r>
          </a:p>
          <a:p>
            <a:pPr lvl="0"/>
            <a:r>
              <a:rPr lang="ko-KR" altLang="ko-KR" sz="2000" dirty="0"/>
              <a:t>복사 생략 가능</a:t>
            </a:r>
          </a:p>
          <a:p>
            <a:pPr lvl="0"/>
            <a:r>
              <a:rPr lang="ko-KR" altLang="ko-KR" sz="2000" dirty="0"/>
              <a:t>반환 객체 직접 생성 가능</a:t>
            </a:r>
          </a:p>
          <a:p>
            <a:pPr lvl="0"/>
            <a:r>
              <a:rPr lang="ko-KR" altLang="ko-KR" sz="2000" dirty="0"/>
              <a:t>복사 생략 불가 → 이동 활용 가능</a:t>
            </a:r>
          </a:p>
          <a:p>
            <a:pPr lvl="0"/>
            <a:r>
              <a:rPr lang="ko-KR" altLang="ko-KR" sz="2000" dirty="0"/>
              <a:t>값 반환 → 소유권 명확</a:t>
            </a:r>
          </a:p>
          <a:p>
            <a:pPr lvl="0"/>
            <a:r>
              <a:rPr lang="ko-KR" altLang="ko-KR" sz="2000" dirty="0"/>
              <a:t>값 반환 → 수명 관리 단순화</a:t>
            </a:r>
          </a:p>
          <a:p>
            <a:pPr lvl="0"/>
            <a:r>
              <a:rPr lang="ko-KR" altLang="ko-KR" sz="2000" dirty="0"/>
              <a:t>지역 객체 </a:t>
            </a:r>
            <a:r>
              <a:rPr lang="ko-KR" altLang="ko-KR" sz="2000" dirty="0" err="1"/>
              <a:t>포인터·참조</a:t>
            </a:r>
            <a:r>
              <a:rPr lang="ko-KR" altLang="ko-KR" sz="2000" dirty="0"/>
              <a:t> 반환 오류 방지</a:t>
            </a:r>
          </a:p>
          <a:p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5D443-5E1A-780F-BE67-2F26779917FE}"/>
              </a:ext>
            </a:extLst>
          </p:cNvPr>
          <p:cNvSpPr txBox="1"/>
          <p:nvPr/>
        </p:nvSpPr>
        <p:spPr>
          <a:xfrm>
            <a:off x="190308" y="4004164"/>
            <a:ext cx="4092699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CreateArray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6EC7E90-5ABC-C4AA-37F5-DFF630E07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980221"/>
              </p:ext>
            </p:extLst>
          </p:nvPr>
        </p:nvGraphicFramePr>
        <p:xfrm>
          <a:off x="4365811" y="3412138"/>
          <a:ext cx="4452738" cy="2753712"/>
        </p:xfrm>
        <a:graphic>
          <a:graphicData uri="http://schemas.openxmlformats.org/drawingml/2006/table">
            <a:tbl>
              <a:tblPr/>
              <a:tblGrid>
                <a:gridCol w="1969270">
                  <a:extLst>
                    <a:ext uri="{9D8B030D-6E8A-4147-A177-3AD203B41FA5}">
                      <a16:colId xmlns:a16="http://schemas.microsoft.com/office/drawing/2014/main" val="225089315"/>
                    </a:ext>
                  </a:extLst>
                </a:gridCol>
                <a:gridCol w="2483468">
                  <a:extLst>
                    <a:ext uri="{9D8B030D-6E8A-4147-A177-3AD203B41FA5}">
                      <a16:colId xmlns:a16="http://schemas.microsoft.com/office/drawing/2014/main" val="1589240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상황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일반적인 선택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738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작은 값 전달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전달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81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큰 객체 읽기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 참조 전달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96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값 </a:t>
                      </a: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생성·반환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28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객체</a:t>
                      </a:r>
                      <a:br>
                        <a:rPr lang="en-US" alt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 전용 노출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수명이 보장되는</a:t>
                      </a:r>
                      <a:br>
                        <a:rPr lang="en-US" alt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참조 반환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14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 이전</a:t>
                      </a:r>
                      <a:endParaRPr lang="ko-KR" sz="32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우측값</a:t>
                      </a:r>
                      <a:r>
                        <a:rPr lang="ko-KR" sz="18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참조 + 이동</a:t>
                      </a:r>
                      <a:endParaRPr lang="ko-KR" sz="32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31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1761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938F-C2C9-BA6B-97C5-C91FEE76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8A66F-EBD1-BEAC-79E2-6D23B281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5.11 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7C20C-C2BF-9B08-0947-8AE69B5DB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30000"/>
              </a:lnSpc>
            </a:pPr>
            <a:r>
              <a:rPr lang="ko-KR" altLang="ko-KR" sz="2000" dirty="0"/>
              <a:t>표현식의 값 범주는 객체의 정체성과 이동 가능성을 나타냄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이름 있는 객체 표현식은 일반적으로 </a:t>
            </a:r>
            <a:r>
              <a:rPr lang="ko-KR" altLang="ko-KR" sz="2000" dirty="0" err="1"/>
              <a:t>lvalue</a:t>
            </a:r>
            <a:endParaRPr lang="ko-KR" altLang="ko-KR" sz="2000" dirty="0"/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계산 결과는 </a:t>
            </a:r>
            <a:r>
              <a:rPr lang="ko-KR" altLang="ko-KR" sz="2000" dirty="0" err="1"/>
              <a:t>prvalue</a:t>
            </a:r>
            <a:endParaRPr lang="ko-KR" altLang="ko-KR" sz="2000" dirty="0"/>
          </a:p>
          <a:p>
            <a:pPr lvl="0">
              <a:lnSpc>
                <a:spcPct val="130000"/>
              </a:lnSpc>
            </a:pP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()는 객체를 이동 가능한 </a:t>
            </a:r>
            <a:r>
              <a:rPr lang="ko-KR" altLang="ko-KR" sz="2000" dirty="0" err="1"/>
              <a:t>xvalue로</a:t>
            </a:r>
            <a:r>
              <a:rPr lang="ko-KR" altLang="ko-KR" sz="2000" dirty="0"/>
              <a:t> 취급하게 함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 err="1"/>
              <a:t>우측값</a:t>
            </a:r>
            <a:r>
              <a:rPr lang="ko-KR" altLang="ko-KR" sz="2000" dirty="0"/>
              <a:t> 참조 타입의 변수도 이름을 사용한 표현식은 </a:t>
            </a:r>
            <a:r>
              <a:rPr lang="ko-KR" altLang="ko-KR" sz="2000" dirty="0" err="1"/>
              <a:t>lvalue</a:t>
            </a:r>
            <a:endParaRPr lang="ko-KR" altLang="ko-KR" sz="2000" dirty="0"/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이동 생성자와 이동 대입 연산자는 자원의 내용을 복제하지 않고 소유권 이전</a:t>
            </a:r>
            <a:endParaRPr lang="en-US" altLang="ko-KR" sz="2000" dirty="0"/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이동된 원본 객체는 여전히 유효하며 소멸과 새 값 대입이 가능해야 함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()는 실제 이동을 수행하지 않고 값 범주를 변환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이동 함수가 예외를 발생시키지 않으면 </a:t>
            </a:r>
            <a:r>
              <a:rPr lang="ko-KR" altLang="ko-KR" sz="2000" dirty="0" err="1"/>
              <a:t>noexcept</a:t>
            </a:r>
            <a:r>
              <a:rPr lang="ko-KR" altLang="ko-KR" sz="2000" dirty="0"/>
              <a:t> 명시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C++11 이후 Rule of </a:t>
            </a:r>
            <a:r>
              <a:rPr lang="ko-KR" altLang="ko-KR" sz="2000" dirty="0" err="1"/>
              <a:t>Five로</a:t>
            </a:r>
            <a:r>
              <a:rPr lang="ko-KR" altLang="ko-KR" sz="2000" dirty="0"/>
              <a:t> 복사와 이동을 함께 검토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자원 관리 타입을 멤버로 사용하면 Rule of </a:t>
            </a:r>
            <a:r>
              <a:rPr lang="ko-KR" altLang="ko-KR" sz="2000" dirty="0" err="1"/>
              <a:t>Zero</a:t>
            </a:r>
            <a:r>
              <a:rPr lang="ko-KR" altLang="ko-KR" sz="2000" dirty="0"/>
              <a:t> 적용 가능</a:t>
            </a:r>
          </a:p>
          <a:p>
            <a:pPr lvl="0">
              <a:lnSpc>
                <a:spcPct val="130000"/>
              </a:lnSpc>
            </a:pPr>
            <a:r>
              <a:rPr lang="ko-KR" altLang="ko-KR" sz="2000" dirty="0"/>
              <a:t>지역 객체 반환에는 불필요한 </a:t>
            </a:r>
            <a:r>
              <a:rPr lang="ko-KR" altLang="ko-KR" sz="2000" dirty="0" err="1"/>
              <a:t>std</a:t>
            </a:r>
            <a:r>
              <a:rPr lang="ko-KR" altLang="ko-KR" sz="2000" dirty="0"/>
              <a:t>::</a:t>
            </a:r>
            <a:r>
              <a:rPr lang="ko-KR" altLang="ko-KR" sz="2000" dirty="0" err="1"/>
              <a:t>move</a:t>
            </a:r>
            <a:r>
              <a:rPr lang="ko-KR" altLang="ko-KR" sz="2000" dirty="0"/>
              <a:t>()</a:t>
            </a:r>
            <a:r>
              <a:rPr lang="ko-KR" altLang="ko-KR" sz="2000" dirty="0" err="1"/>
              <a:t>를</a:t>
            </a:r>
            <a:r>
              <a:rPr lang="ko-KR" altLang="ko-KR" sz="2000" dirty="0"/>
              <a:t> 사용하지 않음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690628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7B4E-05B1-D86C-56E4-05BD9BB1B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37F0A-4960-3C30-10B5-7C15B9EC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glvalue</a:t>
            </a:r>
            <a:r>
              <a:rPr lang="en-US" altLang="ko-KR" dirty="0"/>
              <a:t>, </a:t>
            </a:r>
            <a:r>
              <a:rPr lang="en-US" altLang="ko-KR" dirty="0" err="1"/>
              <a:t>rvalue</a:t>
            </a:r>
            <a:r>
              <a:rPr lang="en-US" altLang="ko-KR" dirty="0"/>
              <a:t>, </a:t>
            </a:r>
            <a:r>
              <a:rPr lang="ko-KR" altLang="ko-KR" dirty="0" err="1"/>
              <a:t>lvalue</a:t>
            </a:r>
            <a:r>
              <a:rPr lang="ko-KR" altLang="ko-KR" dirty="0"/>
              <a:t>, </a:t>
            </a:r>
            <a:r>
              <a:rPr lang="ko-KR" altLang="ko-KR" dirty="0" err="1"/>
              <a:t>xvalue</a:t>
            </a:r>
            <a:r>
              <a:rPr lang="ko-KR" altLang="ko-KR" dirty="0"/>
              <a:t>, </a:t>
            </a:r>
            <a:r>
              <a:rPr lang="ko-KR" altLang="ko-KR" dirty="0" err="1"/>
              <a:t>prvalue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59D5200C-0EC9-C9C8-4772-C0BF11CD36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7027"/>
              </p:ext>
            </p:extLst>
          </p:nvPr>
        </p:nvGraphicFramePr>
        <p:xfrm>
          <a:off x="395638" y="764704"/>
          <a:ext cx="8136905" cy="2614834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367709863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554584766"/>
                    </a:ext>
                  </a:extLst>
                </a:gridCol>
                <a:gridCol w="2051225">
                  <a:extLst>
                    <a:ext uri="{9D8B030D-6E8A-4147-A177-3AD203B41FA5}">
                      <a16:colId xmlns:a16="http://schemas.microsoft.com/office/drawing/2014/main" val="816859843"/>
                    </a:ext>
                  </a:extLst>
                </a:gridCol>
                <a:gridCol w="696985">
                  <a:extLst>
                    <a:ext uri="{9D8B030D-6E8A-4147-A177-3AD203B41FA5}">
                      <a16:colId xmlns:a16="http://schemas.microsoft.com/office/drawing/2014/main" val="3929588161"/>
                    </a:ext>
                  </a:extLst>
                </a:gridCol>
                <a:gridCol w="696985">
                  <a:extLst>
                    <a:ext uri="{9D8B030D-6E8A-4147-A177-3AD203B41FA5}">
                      <a16:colId xmlns:a16="http://schemas.microsoft.com/office/drawing/2014/main" val="2089867025"/>
                    </a:ext>
                  </a:extLst>
                </a:gridCol>
                <a:gridCol w="875286">
                  <a:extLst>
                    <a:ext uri="{9D8B030D-6E8A-4147-A177-3AD203B41FA5}">
                      <a16:colId xmlns:a16="http://schemas.microsoft.com/office/drawing/2014/main" val="3513054903"/>
                    </a:ext>
                  </a:extLst>
                </a:gridCol>
              </a:tblGrid>
              <a:tr h="555095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값범주</a:t>
                      </a:r>
                      <a:endParaRPr 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객체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식별</a:t>
                      </a:r>
                      <a:endParaRPr 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move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가능</a:t>
                      </a:r>
                      <a:endParaRPr 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decltype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((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expr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))</a:t>
                      </a:r>
                      <a:endParaRPr 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164840"/>
                  </a:ext>
                </a:extLst>
              </a:tr>
              <a:tr h="555095">
                <a:tc rowSpan="2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glvalue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객체 식별(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identity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기준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객체 식별 가능한 표현식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∪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glvalue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중에서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불가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99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T&amp;</a:t>
                      </a:r>
                      <a:endParaRPr lang="ko-KR" sz="14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55351"/>
                  </a:ext>
                </a:extLst>
              </a:tr>
              <a:tr h="3299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glvalue</a:t>
                      </a:r>
                      <a:r>
                        <a:rPr lang="ko-KR" sz="1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∩ </a:t>
                      </a:r>
                      <a:r>
                        <a:rPr lang="ko-KR" sz="1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glvalue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중에서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객체 식별 가능하고,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가능한 표현식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99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1400" b="0" i="0" u="none" strike="noStrike" dirty="0">
                          <a:solidFill>
                            <a:srgbClr val="99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&amp;&amp;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842876"/>
                  </a:ext>
                </a:extLst>
              </a:tr>
              <a:tr h="326914">
                <a:tc rowSpan="2"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 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기준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move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가능한 표현식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prvalue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∪ </a:t>
                      </a: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42846"/>
                  </a:ext>
                </a:extLst>
              </a:tr>
              <a:tr h="7925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prvalue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rvalue</a:t>
                      </a: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중에서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값을 생성하는</a:t>
                      </a:r>
                      <a:b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표현식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400" b="0" i="0" u="none" strike="noStrike" dirty="0" err="1">
                          <a:solidFill>
                            <a:srgbClr val="99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endParaRPr lang="ko-KR" sz="14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31527"/>
                  </a:ext>
                </a:extLst>
              </a:tr>
            </a:tbl>
          </a:graphicData>
        </a:graphic>
      </p:graphicFrame>
      <p:graphicFrame>
        <p:nvGraphicFramePr>
          <p:cNvPr id="8" name="내용 개체 틀 6">
            <a:extLst>
              <a:ext uri="{FF2B5EF4-FFF2-40B4-BE49-F238E27FC236}">
                <a16:creationId xmlns:a16="http://schemas.microsoft.com/office/drawing/2014/main" id="{70ADB14C-1407-1FE6-43D7-141595D6F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446501"/>
              </p:ext>
            </p:extLst>
          </p:nvPr>
        </p:nvGraphicFramePr>
        <p:xfrm>
          <a:off x="395638" y="3645024"/>
          <a:ext cx="8136803" cy="2726336"/>
        </p:xfrm>
        <a:graphic>
          <a:graphicData uri="http://schemas.openxmlformats.org/drawingml/2006/table">
            <a:tbl>
              <a:tblPr/>
              <a:tblGrid>
                <a:gridCol w="1656082">
                  <a:extLst>
                    <a:ext uri="{9D8B030D-6E8A-4147-A177-3AD203B41FA5}">
                      <a16:colId xmlns:a16="http://schemas.microsoft.com/office/drawing/2014/main" val="554584766"/>
                    </a:ext>
                  </a:extLst>
                </a:gridCol>
                <a:gridCol w="6480721">
                  <a:extLst>
                    <a:ext uri="{9D8B030D-6E8A-4147-A177-3AD203B41FA5}">
                      <a16:colId xmlns:a16="http://schemas.microsoft.com/office/drawing/2014/main" val="3801775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값범주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샘플코드</a:t>
                      </a:r>
                      <a:endParaRPr 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164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lvalue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;      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이름 있는 객체의  표현식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GetReference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();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&amp; 반환 함수 호출 결과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reference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;      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 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참조 변수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rvalueReference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;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// 이름이 있는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참조 변수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55351"/>
                  </a:ext>
                </a:extLst>
              </a:tr>
              <a:tr h="3429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xvalue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std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::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move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);     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객체 식별과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move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가능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GetRvalueReference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(); 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: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&amp;&amp; </a:t>
                      </a:r>
                      <a:r>
                        <a:rPr lang="ko-KR" sz="16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반환 함수 호출 결과</a:t>
                      </a:r>
                      <a:endParaRPr lang="ko-KR" sz="1600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84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prvalue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 ;   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   // 리터럴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+ 10; 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// 연산 결과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GetValue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();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       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// </a:t>
                      </a:r>
                      <a:r>
                        <a:rPr 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int</a:t>
                      </a: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반환</a:t>
                      </a:r>
                      <a:endParaRPr 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3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42936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11112</TotalTime>
  <Words>6023</Words>
  <Application>Microsoft Office PowerPoint</Application>
  <PresentationFormat>화면 슬라이드 쇼(4:3)</PresentationFormat>
  <Paragraphs>605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9" baseType="lpstr">
      <vt:lpstr>Pretendard ExtraBold</vt:lpstr>
      <vt:lpstr>Wingdings</vt:lpstr>
      <vt:lpstr>가을체</vt:lpstr>
      <vt:lpstr>Arial</vt:lpstr>
      <vt:lpstr>굴림</vt:lpstr>
      <vt:lpstr>D2Coding</vt:lpstr>
      <vt:lpstr>나눔고딕 ExtraBold</vt:lpstr>
      <vt:lpstr>Consolas</vt:lpstr>
      <vt:lpstr>Cascadia Code</vt:lpstr>
      <vt:lpstr>나눔바른고딕</vt:lpstr>
      <vt:lpstr>HY견고딕</vt:lpstr>
      <vt:lpstr>기본 디자인</vt:lpstr>
      <vt:lpstr>05. 복사, 이동과 값 의미</vt:lpstr>
      <vt:lpstr>05. 복사, 이동과 값 의미</vt:lpstr>
      <vt:lpstr>5.1 값 의미와 객체 정체성</vt:lpstr>
      <vt:lpstr>5.1.3 값 의미와 참조 의미</vt:lpstr>
      <vt:lpstr>5.1.4 값 의미를 가지는 타입</vt:lpstr>
      <vt:lpstr>5.1.5 자원을 소유하는 객체</vt:lpstr>
      <vt:lpstr>5.2 기본 복사와 복사 정책</vt:lpstr>
      <vt:lpstr>5.2.2 포인터 멤버와 얕은 복사</vt:lpstr>
      <vt:lpstr>5.2.3 깊은 복사</vt:lpstr>
      <vt:lpstr>5.2.4 복사 정책</vt:lpstr>
      <vt:lpstr>5.2.5 자명한 복사와 바이트 단위 복사</vt:lpstr>
      <vt:lpstr>5.2.6 이중 해제와 메모리 오류</vt:lpstr>
      <vt:lpstr>5.3 복사 생성자</vt:lpstr>
      <vt:lpstr>5.3.4 사용자 정의 복사</vt:lpstr>
      <vt:lpstr>5.3.5 복사 생성자의 매개변수</vt:lpstr>
      <vt:lpstr>5.4.2 기존 자원의 교체</vt:lpstr>
      <vt:lpstr>5.4.3 자기 대입</vt:lpstr>
      <vt:lpstr>5.4.5 복사-교환 기법</vt:lpstr>
      <vt:lpstr>5.5 Rule of Three</vt:lpstr>
      <vt:lpstr>5.5.3 직접 자원 관리의 부담</vt:lpstr>
      <vt:lpstr>5.6.2 좌측값(lvalue)</vt:lpstr>
      <vt:lpstr>5.6.3 prvalue(pure rvalue: 순수우측값)</vt:lpstr>
      <vt:lpstr>5.6.4 xvalue와 rvalue</vt:lpstr>
      <vt:lpstr>5.6.6 rvalue 참조</vt:lpstr>
      <vt:lpstr>5.6.7 이름이 있는 우측값 참조</vt:lpstr>
      <vt:lpstr>5.6.8 임시 객체와 수명</vt:lpstr>
      <vt:lpstr>5.7.1 이동 생성자</vt:lpstr>
      <vt:lpstr>5.7.2 이동 대입 연산자</vt:lpstr>
      <vt:lpstr>5.7.4 이동 후 객체의 상태</vt:lpstr>
      <vt:lpstr>5.7.5 복사와 이동의 선택</vt:lpstr>
      <vt:lpstr>5.7.6 상수 객체와 이동</vt:lpstr>
      <vt:lpstr>5.8.2 std::move가 이동을 보장하지 않는 이유</vt:lpstr>
      <vt:lpstr>5.8.3 noexcept 이동</vt:lpstr>
      <vt:lpstr>5.8.4 move_if_noexcept와 컨테이너 재배치</vt:lpstr>
      <vt:lpstr>5.8.6 반환값에 std::move를 사용할 때의 문제</vt:lpstr>
      <vt:lpstr>5.9 특별 멤버 함수의 설계</vt:lpstr>
      <vt:lpstr>5.9.1 암시적 이동 선언에 영향을 주는 함수</vt:lpstr>
      <vt:lpstr>5.9.3 Rule of Zero</vt:lpstr>
      <vt:lpstr>5.9.4 복사 금지 객체</vt:lpstr>
      <vt:lpstr>5.9.5 이동 전용 객체</vt:lpstr>
      <vt:lpstr>5.9.6 = default와 = delete의 적용</vt:lpstr>
      <vt:lpstr>5.10 복사 생략과 값 반환</vt:lpstr>
      <vt:lpstr>5.10.2 NRVO</vt:lpstr>
      <vt:lpstr>5.10.4 지역 객체 반환과 암시적 이동</vt:lpstr>
      <vt:lpstr>5.10.5 값 반환의 비용</vt:lpstr>
      <vt:lpstr>5.11 학습 정리</vt:lpstr>
      <vt:lpstr>glvalue, rvalue, lvalue, xvalue, prvalue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372</cp:revision>
  <dcterms:created xsi:type="dcterms:W3CDTF">2003-11-30T16:03:20Z</dcterms:created>
  <dcterms:modified xsi:type="dcterms:W3CDTF">2026-08-22T02:37:25Z</dcterms:modified>
</cp:coreProperties>
</file>