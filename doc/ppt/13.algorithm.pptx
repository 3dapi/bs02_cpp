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79" r:id="rId33"/>
    <p:sldId id="359" r:id="rId34"/>
    <p:sldId id="360" r:id="rId35"/>
    <p:sldId id="380" r:id="rId36"/>
    <p:sldId id="361" r:id="rId37"/>
    <p:sldId id="362" r:id="rId38"/>
    <p:sldId id="363" r:id="rId39"/>
    <p:sldId id="364" r:id="rId40"/>
    <p:sldId id="365" r:id="rId41"/>
    <p:sldId id="366" r:id="rId42"/>
    <p:sldId id="367" r:id="rId43"/>
    <p:sldId id="381" r:id="rId44"/>
    <p:sldId id="368" r:id="rId45"/>
    <p:sldId id="369" r:id="rId46"/>
    <p:sldId id="370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78" r:id="rId55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HY견고딕" panose="02030600000101010101" pitchFamily="18" charset="-127"/>
      <p:regular r:id="rId62"/>
    </p:embeddedFont>
    <p:embeddedFont>
      <p:font typeface="Pretendard ExtraBold" panose="02000903000000020004" pitchFamily="50" charset="-127"/>
      <p:bold r:id="rId63"/>
    </p:embeddedFont>
    <p:embeddedFont>
      <p:font typeface="가을체" panose="02030600000101010101" pitchFamily="18" charset="-127"/>
      <p:regular r:id="rId64"/>
    </p:embeddedFont>
    <p:embeddedFont>
      <p:font typeface="나눔고딕 ExtraBold" panose="020D0904000000000000" pitchFamily="50" charset="-127"/>
      <p:bold r:id="rId65"/>
    </p:embeddedFont>
    <p:embeddedFont>
      <p:font typeface="나눔바른고딕" panose="020B0603020101020101" pitchFamily="50" charset="-127"/>
      <p:regular r:id="rId66"/>
      <p:bold r:id="rId67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FAFAFA"/>
    <a:srgbClr val="3399FF"/>
    <a:srgbClr val="EFEFED"/>
    <a:srgbClr val="C18401"/>
    <a:srgbClr val="CC00CC"/>
    <a:srgbClr val="FF9900"/>
    <a:srgbClr val="CC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582" autoAdjust="0"/>
  </p:normalViewPr>
  <p:slideViewPr>
    <p:cSldViewPr>
      <p:cViewPr>
        <p:scale>
          <a:sx n="100" d="100"/>
          <a:sy n="100" d="100"/>
        </p:scale>
        <p:origin x="1620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7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2FCDCC-75BC-443E-E33D-96FB3B93C7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EC5783-C421-C2A7-6C8A-427BD3E44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3F608-D938-42A6-9A0B-23DC3D655BD5}" type="datetimeFigureOut">
              <a:rPr lang="ko-KR" altLang="en-US" smtClean="0"/>
              <a:t>2026-09-05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BFB7D-E523-05DD-7599-0B8AE06D2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37456-DBCD-50BC-A8E2-5D301F7B0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F7A42-FA84-4141-97EA-F328B808C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553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13. </a:t>
            </a:r>
            <a:r>
              <a:rPr lang="ko-KR" altLang="en-US" dirty="0"/>
              <a:t>반복자</a:t>
            </a:r>
            <a:r>
              <a:rPr lang="en-US" altLang="ko-KR" dirty="0"/>
              <a:t>, </a:t>
            </a:r>
            <a:r>
              <a:rPr lang="ko-KR" altLang="en-US" dirty="0"/>
              <a:t>함수 객체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람다와 알고리즘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E4DD6-FF42-45AA-4C1C-1EE91166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 </a:t>
            </a:r>
            <a:r>
              <a:rPr lang="ko-KR" altLang="en-US" dirty="0"/>
              <a:t>반복자</a:t>
            </a:r>
            <a:r>
              <a:rPr lang="en-US" altLang="ko-KR" dirty="0"/>
              <a:t>, </a:t>
            </a:r>
            <a:r>
              <a:rPr lang="ko-KR" altLang="en-US" dirty="0"/>
              <a:t>함수 객체</a:t>
            </a:r>
            <a:r>
              <a:rPr lang="en-US" altLang="ko-KR" dirty="0"/>
              <a:t>, </a:t>
            </a:r>
            <a:r>
              <a:rPr lang="ko-KR" altLang="en-US" dirty="0"/>
              <a:t>람다와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1AEBE2-A9C4-2E41-340D-97E016311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sz="2000" dirty="0"/>
              <a:t>반복자와 반 개방 구간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반복자 범주와 알고리즘 요구 조건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반복자 도구와 무효화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함수 객체와 호출 가능한 객체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람다 표현식과 캡처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검색</a:t>
            </a:r>
            <a:r>
              <a:rPr lang="en-US" altLang="ko-KR" sz="2000" dirty="0"/>
              <a:t>, </a:t>
            </a:r>
            <a:r>
              <a:rPr lang="ko-KR" altLang="en-US" sz="2000" dirty="0"/>
              <a:t>판정</a:t>
            </a:r>
            <a:r>
              <a:rPr lang="en-US" altLang="ko-KR" sz="2000" dirty="0"/>
              <a:t>, </a:t>
            </a:r>
            <a:r>
              <a:rPr lang="ko-KR" altLang="en-US" sz="2000" dirty="0"/>
              <a:t>정렬 알고리즘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복사</a:t>
            </a:r>
            <a:r>
              <a:rPr lang="en-US" altLang="ko-KR" sz="2000" dirty="0"/>
              <a:t>, </a:t>
            </a:r>
            <a:r>
              <a:rPr lang="ko-KR" altLang="en-US" sz="2000" dirty="0"/>
              <a:t>이동</a:t>
            </a:r>
            <a:r>
              <a:rPr lang="en-US" altLang="ko-KR" sz="2000" dirty="0"/>
              <a:t>, </a:t>
            </a:r>
            <a:r>
              <a:rPr lang="ko-KR" altLang="en-US" sz="2000" dirty="0"/>
              <a:t>변환과 제거 알고리즘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수치 알고리즘</a:t>
            </a:r>
          </a:p>
          <a:p>
            <a:pPr>
              <a:lnSpc>
                <a:spcPct val="130000"/>
              </a:lnSpc>
            </a:pPr>
            <a:r>
              <a:rPr lang="en-US" altLang="ko-KR" sz="2000" dirty="0"/>
              <a:t>std::function</a:t>
            </a:r>
            <a:r>
              <a:rPr lang="ko-KR" altLang="en-US" sz="2000" dirty="0"/>
              <a:t>과 콜백</a:t>
            </a:r>
          </a:p>
          <a:p>
            <a:pPr>
              <a:lnSpc>
                <a:spcPct val="130000"/>
              </a:lnSpc>
            </a:pPr>
            <a:r>
              <a:rPr lang="en-US" altLang="ko-KR" sz="2000" dirty="0"/>
              <a:t>C++20 Ranges</a:t>
            </a:r>
          </a:p>
          <a:p>
            <a:pPr>
              <a:lnSpc>
                <a:spcPct val="130000"/>
              </a:lnSpc>
            </a:pPr>
            <a:r>
              <a:rPr lang="ko-KR" altLang="en-US" sz="2000" dirty="0"/>
              <a:t>알고리즘 선택 기준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EEE0D43-8C8C-AC29-9C2D-7499ABC3D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788740"/>
              </p:ext>
            </p:extLst>
          </p:nvPr>
        </p:nvGraphicFramePr>
        <p:xfrm>
          <a:off x="5076056" y="1844824"/>
          <a:ext cx="3672408" cy="3336000"/>
        </p:xfrm>
        <a:graphic>
          <a:graphicData uri="http://schemas.openxmlformats.org/drawingml/2006/table">
            <a:tbl>
              <a:tblPr/>
              <a:tblGrid>
                <a:gridCol w="3672408">
                  <a:extLst>
                    <a:ext uri="{9D8B030D-6E8A-4147-A177-3AD203B41FA5}">
                      <a16:colId xmlns:a16="http://schemas.microsoft.com/office/drawing/2014/main" val="1736786296"/>
                    </a:ext>
                  </a:extLst>
                </a:gridCol>
              </a:tblGrid>
              <a:tr h="510331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20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 반복자 범위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표준 알고리즘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 호출 가능한 객체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검색·정렬·변환·제거·계산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216000" marT="144000" marB="14400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587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83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99E7-51E7-72BC-442B-93C9A735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333E6-56D9-F9A2-2545-F84E370D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 </a:t>
            </a:r>
            <a:r>
              <a:rPr lang="ko-KR" altLang="en-US" dirty="0"/>
              <a:t>반복자의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891DB-A75B-7C01-4152-9705D0064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반복자는 범위 안의 원소 위치를 나타내는 객체</a:t>
            </a:r>
          </a:p>
          <a:p>
            <a:r>
              <a:rPr lang="ko-KR" altLang="en-US" sz="2400" dirty="0"/>
              <a:t>포인터와 비슷한 연산을 제공</a:t>
            </a:r>
          </a:p>
          <a:p>
            <a:r>
              <a:rPr lang="ko-KR" altLang="en-US" sz="2400" dirty="0"/>
              <a:t>반드시 원시 포인터는 아님</a:t>
            </a:r>
          </a:p>
          <a:p>
            <a:r>
              <a:rPr lang="ko-KR" altLang="en-US" sz="2400" dirty="0"/>
              <a:t>컨테이너는 저장 구조에 맞는 반복자 타입 제공</a:t>
            </a:r>
          </a:p>
          <a:p>
            <a:r>
              <a:rPr lang="ko-KR" altLang="en-US" sz="2400" dirty="0"/>
              <a:t>알고리즘은 반복자가 지원하는 연산만 사용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D884E-7B93-C7C9-6EE1-FC884D810830}"/>
              </a:ext>
            </a:extLst>
          </p:cNvPr>
          <p:cNvSpPr txBox="1"/>
          <p:nvPr/>
        </p:nvSpPr>
        <p:spPr>
          <a:xfrm>
            <a:off x="539750" y="3284984"/>
            <a:ext cx="4752330" cy="224676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</a:t>
            </a:r>
            <a:r>
              <a:rPr lang="en-US" altLang="ko-KR" sz="20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70548D-B5E9-BD38-834D-29442C9AB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054740"/>
              </p:ext>
            </p:extLst>
          </p:nvPr>
        </p:nvGraphicFramePr>
        <p:xfrm>
          <a:off x="5436096" y="3284984"/>
          <a:ext cx="3456384" cy="2574000"/>
        </p:xfrm>
        <a:graphic>
          <a:graphicData uri="http://schemas.openxmlformats.org/drawingml/2006/table">
            <a:tbl>
              <a:tblPr/>
              <a:tblGrid>
                <a:gridCol w="3456384">
                  <a:extLst>
                    <a:ext uri="{9D8B030D-6E8A-4147-A177-3AD203B41FA5}">
                      <a16:colId xmlns:a16="http://schemas.microsoft.com/office/drawing/2014/main" val="2331493891"/>
                    </a:ext>
                  </a:extLst>
                </a:gridCol>
              </a:tblGrid>
              <a:tr h="2304256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 저장 구조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알고리즘이 사용할 위치 표현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210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81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3F69-4A12-EED0-33BD-2FBE16E3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CEEDB-A1D1-42C0-498D-E263B857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13.1.2 </a:t>
            </a:r>
            <a:r>
              <a:rPr lang="ko-KR" altLang="en-US" dirty="0"/>
              <a:t>반복 구간과 반 개방 구간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AA05A-3F43-2C67-86DB-5BD27A01F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표준 알고리즘은 [</a:t>
            </a:r>
            <a:r>
              <a:rPr lang="ko-KR" altLang="ko-KR" sz="2400" dirty="0" err="1"/>
              <a:t>first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last</a:t>
            </a:r>
            <a:r>
              <a:rPr lang="ko-KR" altLang="ko-KR" sz="2400" dirty="0"/>
              <a:t>) 형태 사용</a:t>
            </a:r>
          </a:p>
          <a:p>
            <a:pPr lvl="0"/>
            <a:r>
              <a:rPr lang="ko-KR" altLang="ko-KR" sz="2400" dirty="0" err="1"/>
              <a:t>first가</a:t>
            </a:r>
            <a:r>
              <a:rPr lang="ko-KR" altLang="ko-KR" sz="2400" dirty="0"/>
              <a:t> 가리키는 원소는 포함</a:t>
            </a:r>
          </a:p>
          <a:p>
            <a:pPr lvl="0"/>
            <a:r>
              <a:rPr lang="ko-KR" altLang="ko-KR" sz="2400" dirty="0" err="1"/>
              <a:t>last가</a:t>
            </a:r>
            <a:r>
              <a:rPr lang="ko-KR" altLang="ko-KR" sz="2400" dirty="0"/>
              <a:t> 가리키는 위치는 포함하지 않음</a:t>
            </a:r>
          </a:p>
          <a:p>
            <a:pPr lvl="0"/>
            <a:r>
              <a:rPr lang="ko-KR" altLang="ko-KR" sz="2400" dirty="0" err="1"/>
              <a:t>end</a:t>
            </a:r>
            <a:r>
              <a:rPr lang="ko-KR" altLang="ko-KR" sz="2400" dirty="0"/>
              <a:t>()는 마지막 원소가 아니라 마지막 바로 뒤 위치</a:t>
            </a:r>
          </a:p>
          <a:p>
            <a:pPr lvl="0"/>
            <a:r>
              <a:rPr lang="ko-KR" altLang="ko-KR" sz="2400" dirty="0" err="1"/>
              <a:t>end</a:t>
            </a:r>
            <a:r>
              <a:rPr lang="ko-KR" altLang="ko-KR" sz="2400" dirty="0"/>
              <a:t>() </a:t>
            </a:r>
            <a:r>
              <a:rPr lang="ko-KR" altLang="ko-KR" sz="2400" dirty="0" err="1"/>
              <a:t>역참조</a:t>
            </a:r>
            <a:r>
              <a:rPr lang="ko-KR" altLang="ko-KR" sz="2400" dirty="0"/>
              <a:t> 금지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30D398-AAF2-5F11-5067-36D836450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451761"/>
              </p:ext>
            </p:extLst>
          </p:nvPr>
        </p:nvGraphicFramePr>
        <p:xfrm>
          <a:off x="515765" y="3114040"/>
          <a:ext cx="4595788" cy="1385280"/>
        </p:xfrm>
        <a:graphic>
          <a:graphicData uri="http://schemas.openxmlformats.org/drawingml/2006/table">
            <a:tbl>
              <a:tblPr/>
              <a:tblGrid>
                <a:gridCol w="4595788">
                  <a:extLst>
                    <a:ext uri="{9D8B030D-6E8A-4147-A177-3AD203B41FA5}">
                      <a16:colId xmlns:a16="http://schemas.microsoft.com/office/drawing/2014/main" val="3966771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ko-KR" sz="24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10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] [</a:t>
                      </a:r>
                      <a:r>
                        <a:rPr lang="ko-KR" sz="24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20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] [</a:t>
                      </a:r>
                      <a:r>
                        <a:rPr lang="ko-KR" sz="24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30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] [끝 위치]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↑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</a:t>
                      </a:r>
                      <a:r>
                        <a:rPr lang="en-US" alt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↑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first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   </a:t>
                      </a:r>
                      <a:r>
                        <a:rPr lang="en-US" alt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last</a:t>
                      </a:r>
                      <a:endParaRPr lang="ko-KR" sz="40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798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ACE40F-0DEC-3EEF-E317-92F781E7A663}"/>
              </a:ext>
            </a:extLst>
          </p:cNvPr>
          <p:cNvSpPr txBox="1"/>
          <p:nvPr/>
        </p:nvSpPr>
        <p:spPr>
          <a:xfrm>
            <a:off x="539552" y="4678104"/>
            <a:ext cx="4572000" cy="163121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6D533-3F5E-8E9E-1C6C-265E2987DFAA}"/>
              </a:ext>
            </a:extLst>
          </p:cNvPr>
          <p:cNvSpPr txBox="1"/>
          <p:nvPr/>
        </p:nvSpPr>
        <p:spPr>
          <a:xfrm>
            <a:off x="4752479" y="5340974"/>
            <a:ext cx="334786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정렬 대상: 인덱스 1, 2, 3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빈 범위: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674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3513-8667-350C-0107-3A3EEF17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23512-7B6A-B101-17FF-7E272308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13.1.3 begin, end</a:t>
            </a:r>
            <a:r>
              <a:rPr lang="ko-KR" altLang="en-US" dirty="0"/>
              <a:t>와 범위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D5995-0EB9-8BDE-2C9E-B3F5205B530E}"/>
              </a:ext>
            </a:extLst>
          </p:cNvPr>
          <p:cNvSpPr txBox="1"/>
          <p:nvPr/>
        </p:nvSpPr>
        <p:spPr>
          <a:xfrm>
            <a:off x="611560" y="1628800"/>
            <a:ext cx="6912768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B90C3-2B1F-810D-0FC8-25825A915575}"/>
              </a:ext>
            </a:extLst>
          </p:cNvPr>
          <p:cNvSpPr txBox="1"/>
          <p:nvPr/>
        </p:nvSpPr>
        <p:spPr>
          <a:xfrm>
            <a:off x="611560" y="725795"/>
            <a:ext cx="6912768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수정 가능한 컨테이너의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begin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수정 가능한 반복자 반환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상수 컨테이너의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begin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상수 반복자 반환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cbegin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cend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항상 상수 반복자 반환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4E329-D6BF-3099-5268-6C7E6F676CEF}"/>
              </a:ext>
            </a:extLst>
          </p:cNvPr>
          <p:cNvSpPr txBox="1"/>
          <p:nvPr/>
        </p:nvSpPr>
        <p:spPr>
          <a:xfrm>
            <a:off x="611560" y="4221088"/>
            <a:ext cx="691276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*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100;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2E730-A54C-4BF0-1E6C-E1A70A22B6D7}"/>
              </a:ext>
            </a:extLst>
          </p:cNvPr>
          <p:cNvSpPr txBox="1"/>
          <p:nvPr/>
        </p:nvSpPr>
        <p:spPr>
          <a:xfrm>
            <a:off x="611560" y="3861048"/>
            <a:ext cx="6912768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배열과 사용자 정의 범위에는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begin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활용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616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F35E3-134F-957A-5906-95322D36B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86253-6593-C2B5-23C4-470E1C8E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13.1.4 </a:t>
            </a:r>
            <a:r>
              <a:rPr lang="en-US" altLang="ko-KR" dirty="0" err="1"/>
              <a:t>const_iterator</a:t>
            </a:r>
            <a:r>
              <a:rPr lang="ko-KR" altLang="en-US" dirty="0"/>
              <a:t>와 반복자의 </a:t>
            </a:r>
            <a:r>
              <a:rPr lang="en-US" altLang="ko-KR" dirty="0"/>
              <a:t>const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D691D8-AA88-DFB3-59F8-5F5C3BA29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>
                <a:solidFill>
                  <a:srgbClr val="0070C0"/>
                </a:solidFill>
              </a:rPr>
              <a:t>const_iterator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/>
              <a:t>는 원소를 수정하지 못함</a:t>
            </a:r>
          </a:p>
          <a:p>
            <a:pPr lvl="0"/>
            <a:r>
              <a:rPr lang="ko-KR" altLang="ko-KR" dirty="0" err="1">
                <a:solidFill>
                  <a:srgbClr val="0070C0"/>
                </a:solidFill>
              </a:rPr>
              <a:t>iterator</a:t>
            </a:r>
            <a:r>
              <a:rPr lang="ko-KR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 err="1">
                <a:solidFill>
                  <a:srgbClr val="0070C0"/>
                </a:solidFill>
              </a:rPr>
              <a:t>const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/>
              <a:t>는 반복자 위치를 바꾸지 못함</a:t>
            </a:r>
          </a:p>
          <a:p>
            <a:pPr lvl="0"/>
            <a:r>
              <a:rPr lang="ko-KR" altLang="ko-KR" dirty="0"/>
              <a:t>포인터의 </a:t>
            </a:r>
            <a:r>
              <a:rPr lang="ko-KR" altLang="ko-KR" dirty="0" err="1"/>
              <a:t>const</a:t>
            </a:r>
            <a:r>
              <a:rPr lang="ko-KR" altLang="ko-KR" dirty="0"/>
              <a:t> </a:t>
            </a:r>
            <a:r>
              <a:rPr lang="ko-KR" altLang="ko-KR" dirty="0" err="1"/>
              <a:t>int</a:t>
            </a:r>
            <a:r>
              <a:rPr lang="ko-KR" altLang="ko-KR" dirty="0"/>
              <a:t>*, </a:t>
            </a:r>
            <a:r>
              <a:rPr lang="ko-KR" altLang="ko-KR" dirty="0" err="1"/>
              <a:t>int</a:t>
            </a:r>
            <a:r>
              <a:rPr lang="ko-KR" altLang="ko-KR" dirty="0"/>
              <a:t>* </a:t>
            </a:r>
            <a:r>
              <a:rPr lang="ko-KR" altLang="ko-KR" dirty="0" err="1"/>
              <a:t>const</a:t>
            </a:r>
            <a:r>
              <a:rPr lang="ko-KR" altLang="ko-KR" dirty="0"/>
              <a:t> 구분과 </a:t>
            </a:r>
            <a:r>
              <a:rPr lang="ko-KR" altLang="ko-KR" dirty="0" err="1"/>
              <a:t>비슷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99030-D569-438F-B41C-CF8FEB8A247B}"/>
              </a:ext>
            </a:extLst>
          </p:cNvPr>
          <p:cNvSpPr txBox="1"/>
          <p:nvPr/>
        </p:nvSpPr>
        <p:spPr>
          <a:xfrm>
            <a:off x="565671" y="2461919"/>
            <a:ext cx="6238578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values.cbegin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</a:t>
            </a:r>
            <a:r>
              <a:rPr lang="en-US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*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100;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++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fixedItr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87BD2A2-E47F-041F-987E-79151EA46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059105"/>
              </p:ext>
            </p:extLst>
          </p:nvPr>
        </p:nvGraphicFramePr>
        <p:xfrm>
          <a:off x="3347864" y="4293096"/>
          <a:ext cx="5230465" cy="2183000"/>
        </p:xfrm>
        <a:graphic>
          <a:graphicData uri="http://schemas.openxmlformats.org/drawingml/2006/table">
            <a:tbl>
              <a:tblPr/>
              <a:tblGrid>
                <a:gridCol w="2938582">
                  <a:extLst>
                    <a:ext uri="{9D8B030D-6E8A-4147-A177-3AD203B41FA5}">
                      <a16:colId xmlns:a16="http://schemas.microsoft.com/office/drawing/2014/main" val="197263108"/>
                    </a:ext>
                  </a:extLst>
                </a:gridCol>
                <a:gridCol w="1252195">
                  <a:extLst>
                    <a:ext uri="{9D8B030D-6E8A-4147-A177-3AD203B41FA5}">
                      <a16:colId xmlns:a16="http://schemas.microsoft.com/office/drawing/2014/main" val="3967989016"/>
                    </a:ext>
                  </a:extLst>
                </a:gridCol>
                <a:gridCol w="1039688">
                  <a:extLst>
                    <a:ext uri="{9D8B030D-6E8A-4147-A177-3AD203B41FA5}">
                      <a16:colId xmlns:a16="http://schemas.microsoft.com/office/drawing/2014/main" val="316555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반복자 이동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원소 수정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5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iterator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2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const_iterator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359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iterator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38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const_iterator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200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8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2BF1-E727-EC5C-3DB8-8BF09FAF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9DE98-A10D-E740-736D-69916162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 </a:t>
            </a:r>
            <a:r>
              <a:rPr lang="ko-KR" altLang="en-US" dirty="0"/>
              <a:t>반복자 범주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DB464-255B-E381-569C-42C042D4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반복자는 모두 같은 능력을 제공하지 않음</a:t>
            </a:r>
          </a:p>
          <a:p>
            <a:pPr lvl="0"/>
            <a:r>
              <a:rPr lang="ko-KR" altLang="ko-KR" sz="2400" dirty="0"/>
              <a:t>알고리즘은 필요한 이동과 접근 연산을 반복자 범주로 표현</a:t>
            </a:r>
          </a:p>
          <a:p>
            <a:pPr lvl="0"/>
            <a:r>
              <a:rPr lang="ko-KR" altLang="ko-KR" sz="2400" dirty="0"/>
              <a:t>요구보다 약한 반복자를 전달하면 알고리즘을 사용할 수 없음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FD64CD1-7650-27B8-3469-41E1330A4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805078"/>
              </p:ext>
            </p:extLst>
          </p:nvPr>
        </p:nvGraphicFramePr>
        <p:xfrm>
          <a:off x="504403" y="2292568"/>
          <a:ext cx="6046962" cy="3003696"/>
        </p:xfrm>
        <a:graphic>
          <a:graphicData uri="http://schemas.openxmlformats.org/drawingml/2006/table">
            <a:tbl>
              <a:tblPr/>
              <a:tblGrid>
                <a:gridCol w="1642212">
                  <a:extLst>
                    <a:ext uri="{9D8B030D-6E8A-4147-A177-3AD203B41FA5}">
                      <a16:colId xmlns:a16="http://schemas.microsoft.com/office/drawing/2014/main" val="2383797277"/>
                    </a:ext>
                  </a:extLst>
                </a:gridCol>
                <a:gridCol w="1993337">
                  <a:extLst>
                    <a:ext uri="{9D8B030D-6E8A-4147-A177-3AD203B41FA5}">
                      <a16:colId xmlns:a16="http://schemas.microsoft.com/office/drawing/2014/main" val="148440174"/>
                    </a:ext>
                  </a:extLst>
                </a:gridCol>
                <a:gridCol w="2411413">
                  <a:extLst>
                    <a:ext uri="{9D8B030D-6E8A-4147-A177-3AD203B41FA5}">
                      <a16:colId xmlns:a16="http://schemas.microsoft.com/office/drawing/2014/main" val="4220813084"/>
                    </a:ext>
                  </a:extLst>
                </a:gridCol>
              </a:tblGrid>
              <a:tr h="40201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범주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기능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예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72011"/>
                  </a:ext>
                </a:extLst>
              </a:tr>
              <a:tr h="4336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입력 반복자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읽기, 단일 순회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istream_iterator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305829"/>
                  </a:ext>
                </a:extLst>
              </a:tr>
              <a:tr h="4336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출력 반복자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쓰기, 단일 순회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ostream_iterator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95677"/>
                  </a:ext>
                </a:extLst>
              </a:tr>
              <a:tr h="4336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순방향 반복자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앞쪽 이동, 다중 순회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forward_list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36911"/>
                  </a:ext>
                </a:extLst>
              </a:tr>
              <a:tr h="4336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양방향 반복자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앞뒤 이동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list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map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90717"/>
                  </a:ext>
                </a:extLst>
              </a:tr>
              <a:tr h="4336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임의 접근 반복자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+, -, []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deque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701916"/>
                  </a:ext>
                </a:extLst>
              </a:tr>
              <a:tr h="4336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연속 반복자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연속 메모리 보장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array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string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16563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207DC6-1D76-7DDE-81C5-AD87313A4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347941"/>
              </p:ext>
            </p:extLst>
          </p:nvPr>
        </p:nvGraphicFramePr>
        <p:xfrm>
          <a:off x="6876256" y="2265064"/>
          <a:ext cx="1944216" cy="3031200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2206416583"/>
                    </a:ext>
                  </a:extLst>
                </a:gridCol>
              </a:tblGrid>
              <a:tr h="289770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입력/출력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순방향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양방향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임의 접근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연속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440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56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8E57D-4974-5FD6-4AF7-5FEF96B89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CD7CC-086E-1419-7617-B5D869C6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13.2.3 </a:t>
            </a:r>
            <a:r>
              <a:rPr lang="ko-KR" altLang="en-US" dirty="0"/>
              <a:t>순방향</a:t>
            </a:r>
            <a:r>
              <a:rPr lang="en-US" altLang="ko-KR" dirty="0"/>
              <a:t>·</a:t>
            </a:r>
            <a:r>
              <a:rPr lang="ko-KR" altLang="en-US" dirty="0"/>
              <a:t>양방향 반복자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400F1A-19F8-864E-9090-2179A4F26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 err="1"/>
              <a:t>순반향</a:t>
            </a:r>
            <a:endParaRPr lang="en-US" altLang="ko-KR" sz="2400" dirty="0"/>
          </a:p>
          <a:p>
            <a:pPr lvl="1"/>
            <a:r>
              <a:rPr lang="ko-KR" altLang="ko-KR" sz="2000" dirty="0"/>
              <a:t>앞쪽으로 이동</a:t>
            </a:r>
          </a:p>
          <a:p>
            <a:pPr lvl="1"/>
            <a:r>
              <a:rPr lang="ko-KR" altLang="ko-KR" sz="2000" dirty="0"/>
              <a:t>같은 범위를 여러 번 순회할 수 있음</a:t>
            </a:r>
          </a:p>
          <a:p>
            <a:pPr lvl="1"/>
            <a:r>
              <a:rPr lang="ko-KR" altLang="ko-KR" sz="2000" dirty="0"/>
              <a:t>다중 순회 보장</a:t>
            </a:r>
            <a:endParaRPr lang="en-US" altLang="ko-KR" sz="2000" dirty="0"/>
          </a:p>
          <a:p>
            <a:r>
              <a:rPr lang="ko-KR" altLang="en-US" sz="2400" dirty="0"/>
              <a:t>양방향</a:t>
            </a:r>
            <a:endParaRPr lang="en-US" altLang="ko-KR" sz="2400" dirty="0"/>
          </a:p>
          <a:p>
            <a:pPr lvl="1"/>
            <a:r>
              <a:rPr lang="ko-KR" altLang="ko-KR" sz="2000" dirty="0">
                <a:solidFill>
                  <a:srgbClr val="0000FF"/>
                </a:solidFill>
              </a:rPr>
              <a:t>++, -- </a:t>
            </a:r>
            <a:r>
              <a:rPr lang="ko-KR" altLang="ko-KR" sz="2000" dirty="0"/>
              <a:t>지원</a:t>
            </a:r>
          </a:p>
          <a:p>
            <a:pPr lvl="1"/>
            <a:r>
              <a:rPr lang="ko-KR" altLang="ko-KR" sz="2000" dirty="0" err="1">
                <a:solidFill>
                  <a:srgbClr val="0000FF"/>
                </a:solidFill>
              </a:rPr>
              <a:t>std</a:t>
            </a:r>
            <a:r>
              <a:rPr lang="ko-KR" altLang="ko-KR" sz="2000" dirty="0">
                <a:solidFill>
                  <a:srgbClr val="0000FF"/>
                </a:solidFill>
              </a:rPr>
              <a:t>::</a:t>
            </a:r>
            <a:r>
              <a:rPr lang="ko-KR" altLang="ko-KR" sz="2000" dirty="0" err="1">
                <a:solidFill>
                  <a:srgbClr val="0000FF"/>
                </a:solidFill>
              </a:rPr>
              <a:t>list</a:t>
            </a:r>
            <a:r>
              <a:rPr lang="ko-KR" altLang="ko-KR" sz="2000" dirty="0">
                <a:solidFill>
                  <a:srgbClr val="0000FF"/>
                </a:solidFill>
              </a:rPr>
              <a:t>, </a:t>
            </a:r>
            <a:r>
              <a:rPr lang="ko-KR" altLang="ko-KR" sz="2000" dirty="0" err="1">
                <a:solidFill>
                  <a:srgbClr val="0000FF"/>
                </a:solidFill>
              </a:rPr>
              <a:t>std</a:t>
            </a:r>
            <a:r>
              <a:rPr lang="ko-KR" altLang="ko-KR" sz="2000" dirty="0">
                <a:solidFill>
                  <a:srgbClr val="0000FF"/>
                </a:solidFill>
              </a:rPr>
              <a:t>::</a:t>
            </a:r>
            <a:r>
              <a:rPr lang="ko-KR" altLang="ko-KR" sz="2000" dirty="0" err="1">
                <a:solidFill>
                  <a:srgbClr val="0000FF"/>
                </a:solidFill>
              </a:rPr>
              <a:t>set</a:t>
            </a:r>
            <a:r>
              <a:rPr lang="ko-KR" altLang="ko-KR" sz="2000" dirty="0">
                <a:solidFill>
                  <a:srgbClr val="0000FF"/>
                </a:solidFill>
              </a:rPr>
              <a:t>, </a:t>
            </a:r>
            <a:r>
              <a:rPr lang="ko-KR" altLang="ko-KR" sz="2000" dirty="0" err="1">
                <a:solidFill>
                  <a:srgbClr val="0000FF"/>
                </a:solidFill>
              </a:rPr>
              <a:t>std</a:t>
            </a:r>
            <a:r>
              <a:rPr lang="ko-KR" altLang="ko-KR" sz="2000" dirty="0">
                <a:solidFill>
                  <a:srgbClr val="0000FF"/>
                </a:solidFill>
              </a:rPr>
              <a:t>::</a:t>
            </a:r>
            <a:r>
              <a:rPr lang="ko-KR" altLang="ko-KR" sz="2000" dirty="0" err="1">
                <a:solidFill>
                  <a:srgbClr val="0000FF"/>
                </a:solidFill>
              </a:rPr>
              <a:t>map</a:t>
            </a:r>
            <a:r>
              <a:rPr lang="ko-KR" altLang="ko-KR" sz="2000" dirty="0"/>
              <a:t> 계열</a:t>
            </a:r>
          </a:p>
          <a:p>
            <a:pPr lvl="1"/>
            <a:endParaRPr lang="ko-KR" altLang="ko-KR" sz="2000" dirty="0"/>
          </a:p>
          <a:p>
            <a:pPr lvl="1"/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FDC43-055F-E121-7ACA-B7FD91C0507D}"/>
              </a:ext>
            </a:extLst>
          </p:cNvPr>
          <p:cNvSpPr txBox="1"/>
          <p:nvPr/>
        </p:nvSpPr>
        <p:spPr>
          <a:xfrm>
            <a:off x="539750" y="3608387"/>
            <a:ext cx="4333602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순방향 반복자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forward_list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DF18F-9F50-B199-01FA-61BC0D2A48D9}"/>
              </a:ext>
            </a:extLst>
          </p:cNvPr>
          <p:cNvSpPr txBox="1"/>
          <p:nvPr/>
        </p:nvSpPr>
        <p:spPr>
          <a:xfrm>
            <a:off x="4873352" y="4708743"/>
            <a:ext cx="375371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양방향 반복자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--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39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B3D1-36BB-B7EA-CB71-0CF08DDC0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2BA06-E7BF-DFCC-E219-5641782D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13.2.5 </a:t>
            </a:r>
            <a:r>
              <a:rPr lang="ko-KR" altLang="en-US" dirty="0"/>
              <a:t>임의 접근 반복자와 연속 반복자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6640C1-5633-B5E0-96F9-9DB65FC41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+, -, +=, -=, [], 비교 연산 지원</a:t>
            </a:r>
          </a:p>
          <a:p>
            <a:pPr lvl="0"/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sort</a:t>
            </a:r>
            <a:r>
              <a:rPr lang="ko-KR" altLang="ko-KR" dirty="0"/>
              <a:t>()</a:t>
            </a:r>
            <a:r>
              <a:rPr lang="ko-KR" altLang="ko-KR" dirty="0" err="1"/>
              <a:t>에</a:t>
            </a:r>
            <a:r>
              <a:rPr lang="ko-KR" altLang="ko-KR" dirty="0"/>
              <a:t> 필요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33774-D036-A0EA-9A22-13FED8FC21CB}"/>
              </a:ext>
            </a:extLst>
          </p:cNvPr>
          <p:cNvSpPr txBox="1"/>
          <p:nvPr/>
        </p:nvSpPr>
        <p:spPr>
          <a:xfrm>
            <a:off x="395536" y="1895485"/>
            <a:ext cx="457200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임의 접근 반복자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DE8FE-D39B-BEB4-61CE-A77EC0F74FD1}"/>
              </a:ext>
            </a:extLst>
          </p:cNvPr>
          <p:cNvSpPr txBox="1"/>
          <p:nvPr/>
        </p:nvSpPr>
        <p:spPr>
          <a:xfrm>
            <a:off x="395536" y="4252982"/>
            <a:ext cx="457200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연속 반복자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to_address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D9033-8F56-E46A-7F6B-AAF7DD83FBBE}"/>
              </a:ext>
            </a:extLst>
          </p:cNvPr>
          <p:cNvSpPr txBox="1"/>
          <p:nvPr/>
        </p:nvSpPr>
        <p:spPr>
          <a:xfrm>
            <a:off x="4571802" y="4252982"/>
            <a:ext cx="432048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원소가 메모리에 연속 배치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deque는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임의 접근 가능하지만 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전체 연속 메모리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82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8E4A-51F8-5D57-CA61-B186BAD61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17B35-8501-8826-9740-6401091F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 </a:t>
            </a:r>
            <a:r>
              <a:rPr lang="ko-KR" altLang="en-US" dirty="0"/>
              <a:t>반복자 도구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73827-685F-7F08-1C80-C9C2A099A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&lt;</a:t>
            </a:r>
            <a:r>
              <a:rPr lang="ko-KR" altLang="ko-KR" sz="2400" dirty="0" err="1"/>
              <a:t>iterator</a:t>
            </a:r>
            <a:r>
              <a:rPr lang="ko-KR" altLang="ko-KR" sz="2400" dirty="0"/>
              <a:t>&gt; 헤더</a:t>
            </a:r>
          </a:p>
          <a:p>
            <a:pPr lvl="0"/>
            <a:r>
              <a:rPr lang="ko-KR" altLang="ko-KR" sz="2400" dirty="0"/>
              <a:t>반복자 이동, 거리 계산, 역방향 순회, 삽입, 스트림 연결 제공</a:t>
            </a:r>
          </a:p>
          <a:p>
            <a:pPr lvl="0"/>
            <a:r>
              <a:rPr lang="ko-KR" altLang="ko-KR" sz="2400" dirty="0"/>
              <a:t>반복자 범주에 따라 같은 함수의 비용이 달라짐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2312D18-AE38-4A56-257B-3F0BBD689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53677"/>
              </p:ext>
            </p:extLst>
          </p:nvPr>
        </p:nvGraphicFramePr>
        <p:xfrm>
          <a:off x="827584" y="2348880"/>
          <a:ext cx="6480720" cy="4152640"/>
        </p:xfrm>
        <a:graphic>
          <a:graphicData uri="http://schemas.openxmlformats.org/drawingml/2006/table">
            <a:tbl>
              <a:tblPr/>
              <a:tblGrid>
                <a:gridCol w="2513630">
                  <a:extLst>
                    <a:ext uri="{9D8B030D-6E8A-4147-A177-3AD203B41FA5}">
                      <a16:colId xmlns:a16="http://schemas.microsoft.com/office/drawing/2014/main" val="636146300"/>
                    </a:ext>
                  </a:extLst>
                </a:gridCol>
                <a:gridCol w="3967090">
                  <a:extLst>
                    <a:ext uri="{9D8B030D-6E8A-4147-A177-3AD203B41FA5}">
                      <a16:colId xmlns:a16="http://schemas.microsoft.com/office/drawing/2014/main" val="15522258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도구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750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advance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반복자를 지정한 거리만큼 이동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65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next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이동한 새 반복자 반환</a:t>
                      </a:r>
                      <a:endParaRPr lang="ko-KR" sz="32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750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std::prev()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뒤로 이동한 새 반복자 반환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214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std::distance()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두 반복자 사이 거리 계산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148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rbegin(), rend()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역방향 순회</a:t>
                      </a:r>
                      <a:endParaRPr lang="ko-KR" sz="32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67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back_inserter()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삽입 반복자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544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front_inserter()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push_front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 삽입 반복자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286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inserter()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지정 위치 삽입 반복자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521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스트림 반복자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입출력을 반복자 범위로 연결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879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8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32C8-238E-47A0-65B1-23B22D66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6E362-A92A-7256-0B34-BEC46AE8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13.3.3 </a:t>
            </a:r>
            <a:r>
              <a:rPr lang="ko-KR" altLang="en-US" dirty="0"/>
              <a:t>역방향 반복자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71C2E-9DBA-DA21-29D5-65F835686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역방향 반복자에서 ++는 원래 범위의 앞쪽으로 이동</a:t>
            </a:r>
          </a:p>
          <a:p>
            <a:pPr lvl="0"/>
            <a:r>
              <a:rPr lang="ko-KR" altLang="ko-KR" sz="2400" dirty="0" err="1"/>
              <a:t>base</a:t>
            </a:r>
            <a:r>
              <a:rPr lang="ko-KR" altLang="ko-KR" sz="2400" dirty="0"/>
              <a:t>()는 대응하는 </a:t>
            </a:r>
            <a:r>
              <a:rPr lang="ko-KR" altLang="ko-KR" sz="2400" dirty="0" err="1"/>
              <a:t>정방향</a:t>
            </a:r>
            <a:r>
              <a:rPr lang="ko-KR" altLang="ko-KR" sz="2400" dirty="0"/>
              <a:t> 반복자 반환</a:t>
            </a:r>
          </a:p>
          <a:p>
            <a:pPr lvl="0"/>
            <a:r>
              <a:rPr lang="ko-KR" altLang="ko-KR" sz="2400" dirty="0"/>
              <a:t>역방향 반복자가 가리키는 원소와 </a:t>
            </a:r>
            <a:r>
              <a:rPr lang="ko-KR" altLang="ko-KR" sz="2400" dirty="0" err="1"/>
              <a:t>base</a:t>
            </a:r>
            <a:r>
              <a:rPr lang="ko-KR" altLang="ko-KR" sz="2400" dirty="0"/>
              <a:t>() 위치는 하나 차이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A2AAC-469F-4964-F004-091537BCFA67}"/>
              </a:ext>
            </a:extLst>
          </p:cNvPr>
          <p:cNvSpPr txBox="1"/>
          <p:nvPr/>
        </p:nvSpPr>
        <p:spPr>
          <a:xfrm>
            <a:off x="539750" y="2276872"/>
            <a:ext cx="4572000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출력: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30 20 10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DCD639-72E1-2D47-588E-7FAEAB32B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01572"/>
              </p:ext>
            </p:extLst>
          </p:nvPr>
        </p:nvGraphicFramePr>
        <p:xfrm>
          <a:off x="4572000" y="3075245"/>
          <a:ext cx="4176464" cy="1202400"/>
        </p:xfrm>
        <a:graphic>
          <a:graphicData uri="http://schemas.openxmlformats.org/drawingml/2006/table">
            <a:tbl>
              <a:tblPr/>
              <a:tblGrid>
                <a:gridCol w="4176464">
                  <a:extLst>
                    <a:ext uri="{9D8B030D-6E8A-4147-A177-3AD203B41FA5}">
                      <a16:colId xmlns:a16="http://schemas.microsoft.com/office/drawing/2014/main" val="2389171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</a:t>
                      </a: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 [</a:t>
                      </a: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20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 [</a:t>
                      </a: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30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 [끝 위치]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↑     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↑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 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rbegin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rbegin.base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6534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EA76E3-CD9A-0947-8EEE-8A0A383E3DB8}"/>
              </a:ext>
            </a:extLst>
          </p:cNvPr>
          <p:cNvSpPr txBox="1"/>
          <p:nvPr/>
        </p:nvSpPr>
        <p:spPr>
          <a:xfrm>
            <a:off x="1403648" y="4831417"/>
            <a:ext cx="5256584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reversePosition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reversePosition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values.rend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reversePosition.base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612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9C18-50B8-C4FF-7A92-EC659B33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89316-E813-AF5C-5147-06F71DD2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13.3.4 </a:t>
            </a:r>
            <a:r>
              <a:rPr lang="ko-KR" altLang="en-US" dirty="0"/>
              <a:t>삽입 반복자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F8BCF-5493-0045-92F4-D2D969C92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copy</a:t>
            </a:r>
            <a:r>
              <a:rPr lang="ko-KR" altLang="ko-KR" dirty="0"/>
              <a:t>()의 목적지에는 충분한 저장 공간 필요</a:t>
            </a:r>
          </a:p>
          <a:p>
            <a:pPr lvl="0"/>
            <a:r>
              <a:rPr lang="ko-KR" altLang="ko-KR" dirty="0"/>
              <a:t>빈 컨테이너에는 삽입 반복자 사용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4972D-9030-127F-60A9-F5700CCE7F20}"/>
              </a:ext>
            </a:extLst>
          </p:cNvPr>
          <p:cNvSpPr txBox="1"/>
          <p:nvPr/>
        </p:nvSpPr>
        <p:spPr>
          <a:xfrm>
            <a:off x="539750" y="2326228"/>
            <a:ext cx="5299422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back_inserter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frontValues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front_inserter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frontValues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inserter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4B1BD64-AA34-52F7-BEA2-3A8E66CEB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814063"/>
              </p:ext>
            </p:extLst>
          </p:nvPr>
        </p:nvGraphicFramePr>
        <p:xfrm>
          <a:off x="5155071" y="2833711"/>
          <a:ext cx="3650828" cy="1764688"/>
        </p:xfrm>
        <a:graphic>
          <a:graphicData uri="http://schemas.openxmlformats.org/drawingml/2006/table">
            <a:tbl>
              <a:tblPr/>
              <a:tblGrid>
                <a:gridCol w="2010007">
                  <a:extLst>
                    <a:ext uri="{9D8B030D-6E8A-4147-A177-3AD203B41FA5}">
                      <a16:colId xmlns:a16="http://schemas.microsoft.com/office/drawing/2014/main" val="2904406049"/>
                    </a:ext>
                  </a:extLst>
                </a:gridCol>
                <a:gridCol w="1640821">
                  <a:extLst>
                    <a:ext uri="{9D8B030D-6E8A-4147-A177-3AD203B41FA5}">
                      <a16:colId xmlns:a16="http://schemas.microsoft.com/office/drawing/2014/main" val="4188472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삽입 반복자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사용하는 함수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020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back_inserter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push_back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535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front_inserter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push_front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988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inserter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insert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788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3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CACF-A9A2-7517-08F8-608EC949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D0A09-596E-D9B3-5C94-262C5412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13.3.5 </a:t>
            </a:r>
            <a:r>
              <a:rPr lang="ko-KR" altLang="en-US" dirty="0"/>
              <a:t>스트림 반복자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C2011F-74A0-694B-1A31-043FCB89ABDF}"/>
              </a:ext>
            </a:extLst>
          </p:cNvPr>
          <p:cNvSpPr txBox="1"/>
          <p:nvPr/>
        </p:nvSpPr>
        <p:spPr>
          <a:xfrm>
            <a:off x="395536" y="815451"/>
            <a:ext cx="4572000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2F54E-80DF-879C-E79B-DA048FEED93E}"/>
              </a:ext>
            </a:extLst>
          </p:cNvPr>
          <p:cNvSpPr txBox="1"/>
          <p:nvPr/>
        </p:nvSpPr>
        <p:spPr>
          <a:xfrm>
            <a:off x="4970934" y="815451"/>
            <a:ext cx="392154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생성한 입력 스트림 반복자는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 종료 위치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 실패나 파일 끝에서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끝 반복자와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같아짐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F20961-FC95-7117-7A3C-174BD57D5862}"/>
              </a:ext>
            </a:extLst>
          </p:cNvPr>
          <p:cNvSpPr txBox="1"/>
          <p:nvPr/>
        </p:nvSpPr>
        <p:spPr>
          <a:xfrm>
            <a:off x="395536" y="2580688"/>
            <a:ext cx="4572000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2062A-F497-39DD-3C30-AAD4C1761BE9}"/>
              </a:ext>
            </a:extLst>
          </p:cNvPr>
          <p:cNvSpPr txBox="1"/>
          <p:nvPr/>
        </p:nvSpPr>
        <p:spPr>
          <a:xfrm>
            <a:off x="4967536" y="3205887"/>
            <a:ext cx="392154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번째 인수는 각 값 뒤에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출력할 구분 문자열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마지막 값 뒤에도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구분 문자열 출력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B95C2-F935-C793-0D5D-968AB338493A}"/>
              </a:ext>
            </a:extLst>
          </p:cNvPr>
          <p:cNvSpPr txBox="1"/>
          <p:nvPr/>
        </p:nvSpPr>
        <p:spPr>
          <a:xfrm>
            <a:off x="395536" y="4443589"/>
            <a:ext cx="457200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transform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&gt;{},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1C61D1-4208-32A6-191A-590E162D99E8}"/>
              </a:ext>
            </a:extLst>
          </p:cNvPr>
          <p:cNvSpPr txBox="1"/>
          <p:nvPr/>
        </p:nvSpPr>
        <p:spPr>
          <a:xfrm>
            <a:off x="4967536" y="5774170"/>
            <a:ext cx="3921546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입력, 변환, 출력을 하나의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범위 처리 흐름으로 연결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3503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450A6-B857-37A8-3363-4F7F5A92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B6BF8-5F49-79A0-4529-0B11E20F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13.3.6 </a:t>
            </a:r>
            <a:r>
              <a:rPr lang="ko-KR" altLang="en-US" dirty="0"/>
              <a:t>반복 중 변경과 반복자 무효화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B870A-9980-0C00-A3F3-539F318EA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/>
              <a:t>반복자 무효화</a:t>
            </a:r>
            <a:br>
              <a:rPr lang="en-US" altLang="ko-KR" sz="2400"/>
            </a:br>
            <a:r>
              <a:rPr lang="ko-KR" altLang="en-US" sz="2400"/>
              <a:t>→</a:t>
            </a:r>
            <a:r>
              <a:rPr lang="ko-KR" altLang="ko-KR" sz="2400"/>
              <a:t> 반복자가 더 이상 유효한 원소 위치를 나타내지 못하는 상태</a:t>
            </a:r>
          </a:p>
          <a:p>
            <a:pPr lvl="0"/>
            <a:r>
              <a:rPr lang="ko-KR" altLang="ko-KR" sz="2400"/>
              <a:t>무효화된 반복자는 비교, 이동, 역참조 모두 위험</a:t>
            </a:r>
          </a:p>
          <a:p>
            <a:pPr lvl="0"/>
            <a:r>
              <a:rPr lang="ko-KR" altLang="ko-KR" sz="2400"/>
              <a:t>컨테이너와 연산마다 규칙이 다름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F3261-CF99-AF60-A71E-F81E0AD87F7D}"/>
              </a:ext>
            </a:extLst>
          </p:cNvPr>
          <p:cNvSpPr txBox="1"/>
          <p:nvPr/>
        </p:nvSpPr>
        <p:spPr>
          <a:xfrm>
            <a:off x="539552" y="2516726"/>
            <a:ext cx="457200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잘못된 코드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values.push_back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054A9-D0AA-C482-B590-21C195FBA88F}"/>
              </a:ext>
            </a:extLst>
          </p:cNvPr>
          <p:cNvSpPr txBox="1"/>
          <p:nvPr/>
        </p:nvSpPr>
        <p:spPr>
          <a:xfrm>
            <a:off x="4716016" y="3429000"/>
            <a:ext cx="3744416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push_back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재할당 시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반복자 전체 무효화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EE9013-8E92-D7BB-AD60-9864BBFF9995}"/>
              </a:ext>
            </a:extLst>
          </p:cNvPr>
          <p:cNvSpPr txBox="1"/>
          <p:nvPr/>
        </p:nvSpPr>
        <p:spPr>
          <a:xfrm>
            <a:off x="539552" y="4432447"/>
            <a:ext cx="4572000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순회 중 제거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(*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%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995C2-D22A-5CD5-9276-BA07BDBFE18D}"/>
              </a:ext>
            </a:extLst>
          </p:cNvPr>
          <p:cNvSpPr txBox="1"/>
          <p:nvPr/>
        </p:nvSpPr>
        <p:spPr>
          <a:xfrm>
            <a:off x="4716016" y="5442063"/>
            <a:ext cx="375221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erase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()가 반환한 반복자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555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CE029-247B-C4A4-DBA0-DA00465B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FC824-613C-0CA2-8DA2-9F744231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13.4 </a:t>
            </a:r>
            <a:r>
              <a:rPr lang="ko-KR" altLang="en-US" dirty="0"/>
              <a:t>함수 객체와 호출 가능한 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38E972-050F-03D2-6B7F-F6B1E044D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함수처럼 호출할 수 있는 대상</a:t>
            </a:r>
          </a:p>
          <a:p>
            <a:pPr lvl="1"/>
            <a:r>
              <a:rPr lang="ko-KR" altLang="ko-KR" sz="1800" dirty="0"/>
              <a:t>일반 함수</a:t>
            </a:r>
          </a:p>
          <a:p>
            <a:pPr lvl="1"/>
            <a:r>
              <a:rPr lang="ko-KR" altLang="ko-KR" sz="1800" dirty="0"/>
              <a:t>함수 포인터</a:t>
            </a:r>
          </a:p>
          <a:p>
            <a:pPr lvl="1"/>
            <a:r>
              <a:rPr lang="ko-KR" altLang="ko-KR" sz="1800" dirty="0"/>
              <a:t>함수 객체</a:t>
            </a:r>
          </a:p>
          <a:p>
            <a:pPr lvl="1"/>
            <a:r>
              <a:rPr lang="ko-KR" altLang="ko-KR" sz="1800" dirty="0"/>
              <a:t>람다 표현식</a:t>
            </a:r>
          </a:p>
          <a:p>
            <a:pPr lvl="1"/>
            <a:r>
              <a:rPr lang="ko-KR" altLang="ko-KR" sz="1800" dirty="0"/>
              <a:t>멤버 함수 포인터</a:t>
            </a:r>
          </a:p>
          <a:p>
            <a:pPr lvl="1"/>
            <a:r>
              <a:rPr lang="ko-KR" altLang="ko-KR" sz="1800" dirty="0"/>
              <a:t>멤버 변수 포인터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235A1-1B99-2C4C-4FB9-04FBD9CFBD65}"/>
              </a:ext>
            </a:extLst>
          </p:cNvPr>
          <p:cNvSpPr txBox="1"/>
          <p:nvPr/>
        </p:nvSpPr>
        <p:spPr>
          <a:xfrm>
            <a:off x="539750" y="3410962"/>
            <a:ext cx="6840760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IsEven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%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predicate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IsEven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boolalpha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predicate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find_if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IsEven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8D124-D11F-8939-506F-1D0D4BB42B51}"/>
              </a:ext>
            </a:extLst>
          </p:cNvPr>
          <p:cNvSpPr txBox="1"/>
          <p:nvPr/>
        </p:nvSpPr>
        <p:spPr>
          <a:xfrm>
            <a:off x="4770189" y="4437112"/>
            <a:ext cx="4139952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표준 알고리즘은 호출 가능한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객체를 비교, 판정, 변환 규칙으로 사용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2944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A623-F29C-816E-9850-62AD4EAE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39213-0676-760C-172A-7BD7D229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13.4.2 </a:t>
            </a:r>
            <a:r>
              <a:rPr lang="ko-KR" altLang="en-US" dirty="0"/>
              <a:t>함수 호출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EBFB6-C3F0-3DA7-347A-179B127C8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operator</a:t>
            </a:r>
            <a:r>
              <a:rPr lang="ko-KR" altLang="ko-KR" dirty="0"/>
              <a:t>()</a:t>
            </a:r>
            <a:r>
              <a:rPr lang="ko-KR" altLang="ko-KR" dirty="0" err="1"/>
              <a:t>를</a:t>
            </a:r>
            <a:r>
              <a:rPr lang="ko-KR" altLang="ko-KR" dirty="0"/>
              <a:t> 정의하면 객체를 함수처럼 호출 가능</a:t>
            </a:r>
          </a:p>
          <a:p>
            <a:pPr lvl="0"/>
            <a:r>
              <a:rPr lang="ko-KR" altLang="ko-KR" dirty="0"/>
              <a:t>함수 객체는 타입과 상태를 가질 수 있음</a:t>
            </a:r>
          </a:p>
          <a:p>
            <a:pPr lvl="0"/>
            <a:r>
              <a:rPr lang="ko-KR" altLang="ko-KR" dirty="0"/>
              <a:t>컴파일러가 호출 코드를 </a:t>
            </a:r>
            <a:r>
              <a:rPr lang="ko-KR" altLang="ko-KR" dirty="0" err="1"/>
              <a:t>인라인화하기</a:t>
            </a:r>
            <a:r>
              <a:rPr lang="ko-KR" altLang="ko-KR" dirty="0"/>
              <a:t> 쉬움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4574A-B6F1-3C62-D683-D46C47056009}"/>
              </a:ext>
            </a:extLst>
          </p:cNvPr>
          <p:cNvSpPr txBox="1"/>
          <p:nvPr/>
        </p:nvSpPr>
        <p:spPr>
          <a:xfrm>
            <a:off x="323726" y="2492896"/>
            <a:ext cx="3600202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IsEven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%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IsEven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predicate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boolalpha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predicate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3FCB5-78E5-2348-B28B-7EE82BED8988}"/>
              </a:ext>
            </a:extLst>
          </p:cNvPr>
          <p:cNvSpPr txBox="1"/>
          <p:nvPr/>
        </p:nvSpPr>
        <p:spPr>
          <a:xfrm>
            <a:off x="3923928" y="2492896"/>
            <a:ext cx="5112568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8522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E78A-4A2E-68D0-8B34-390553370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38CCA-06E7-6882-48D0-3AEFFEA5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13.4.3 </a:t>
            </a:r>
            <a:r>
              <a:rPr lang="ko-KR" altLang="en-US" dirty="0"/>
              <a:t>상태를 가진 함수 객체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4C371-E4A4-E29A-78E0-74829C3C73DC}"/>
              </a:ext>
            </a:extLst>
          </p:cNvPr>
          <p:cNvSpPr txBox="1"/>
          <p:nvPr/>
        </p:nvSpPr>
        <p:spPr>
          <a:xfrm>
            <a:off x="395536" y="764704"/>
            <a:ext cx="5256584" cy="452431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IsGreaterThan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IsGreaterThan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count_if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IsGreaterThan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630CF-EC1B-5228-8C49-35B12CF0F4FF}"/>
              </a:ext>
            </a:extLst>
          </p:cNvPr>
          <p:cNvSpPr txBox="1"/>
          <p:nvPr/>
        </p:nvSpPr>
        <p:spPr>
          <a:xfrm>
            <a:off x="4464496" y="1988840"/>
            <a:ext cx="4283968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제한값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20을 객체 내부에 저장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전역 변수 없이 조건을 알고리즘에 전달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80042-394B-8FAD-756F-2CB873A5B99E}"/>
              </a:ext>
            </a:extLst>
          </p:cNvPr>
          <p:cNvSpPr txBox="1"/>
          <p:nvPr/>
        </p:nvSpPr>
        <p:spPr>
          <a:xfrm>
            <a:off x="395536" y="5426129"/>
            <a:ext cx="5256584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RunningTotal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for_each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RunningTotal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9DE61-FD0A-915E-D10D-5A611D3EFC67}"/>
              </a:ext>
            </a:extLst>
          </p:cNvPr>
          <p:cNvSpPr txBox="1"/>
          <p:nvPr/>
        </p:nvSpPr>
        <p:spPr>
          <a:xfrm>
            <a:off x="4464496" y="5924019"/>
            <a:ext cx="4283968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for_each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내부에서 사용한 함수 객체 반환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79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CBD8-8E41-BE3D-4477-FECAAD91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18B86-F515-4902-249E-6996F341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13.4.5 std::invoke</a:t>
            </a:r>
            <a:r>
              <a:rPr lang="ko-KR" altLang="en-US" dirty="0"/>
              <a:t>와 멤버 포인터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C68D27BC-6C18-89B2-A5F0-C4B7E3F4E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/>
          <a:p>
            <a:r>
              <a:rPr lang="ko-KR" altLang="ko-KR" dirty="0"/>
              <a:t>여러 호출 대상을 하나의 형식으로 호출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F29F2-ED08-9F4F-B1D3-962F80C585D3}"/>
              </a:ext>
            </a:extLst>
          </p:cNvPr>
          <p:cNvSpPr txBox="1"/>
          <p:nvPr/>
        </p:nvSpPr>
        <p:spPr>
          <a:xfrm>
            <a:off x="395536" y="1628800"/>
            <a:ext cx="4824338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invoke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CD0B1-5AED-E759-EFF1-C8399ACC0220}"/>
              </a:ext>
            </a:extLst>
          </p:cNvPr>
          <p:cNvSpPr txBox="1"/>
          <p:nvPr/>
        </p:nvSpPr>
        <p:spPr>
          <a:xfrm>
            <a:off x="5435898" y="3364537"/>
            <a:ext cx="3384178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멤버 변수 포인터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invoke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price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0E7FC-65F8-12C1-9E3B-095E33D425ED}"/>
              </a:ext>
            </a:extLst>
          </p:cNvPr>
          <p:cNvSpPr txBox="1"/>
          <p:nvPr/>
        </p:nvSpPr>
        <p:spPr>
          <a:xfrm>
            <a:off x="395536" y="3352349"/>
            <a:ext cx="4824338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greater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greater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invoke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greater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66CEC-1C1C-EDC9-DC1F-B9B12E994A1A}"/>
              </a:ext>
            </a:extLst>
          </p:cNvPr>
          <p:cNvSpPr txBox="1"/>
          <p:nvPr/>
        </p:nvSpPr>
        <p:spPr>
          <a:xfrm>
            <a:off x="395536" y="4349422"/>
            <a:ext cx="482433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멤버 함수 포인터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invoke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invoke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886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64191-D6AC-C29B-0757-A3DC5013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7665C-6309-7E92-E5E5-6B7656BF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13.5.2 </a:t>
            </a:r>
            <a:r>
              <a:rPr lang="ko-KR" altLang="en-US" dirty="0"/>
              <a:t>값 캡처와 참조 캡처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976BF-64D4-CAC4-CAE5-6DA64CB96C1A}"/>
              </a:ext>
            </a:extLst>
          </p:cNvPr>
          <p:cNvSpPr txBox="1"/>
          <p:nvPr/>
        </p:nvSpPr>
        <p:spPr>
          <a:xfrm>
            <a:off x="474340" y="764704"/>
            <a:ext cx="4745336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값 캡처</a:t>
            </a:r>
            <a:endParaRPr lang="en-US" altLang="ko-KR" sz="1400" b="0" i="1" u="none" strike="noStrike" dirty="0">
              <a:solidFill>
                <a:srgbClr val="A0A1A7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predicate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boolalpha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predicate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89F13-680C-883A-54CE-DEBBFD31FC80}"/>
              </a:ext>
            </a:extLst>
          </p:cNvPr>
          <p:cNvSpPr txBox="1"/>
          <p:nvPr/>
        </p:nvSpPr>
        <p:spPr>
          <a:xfrm>
            <a:off x="4434780" y="1441812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람다 객체를 만들 때 값 복사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출력 결과는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392B3-C253-F248-BD6C-1C369DB6BAB7}"/>
              </a:ext>
            </a:extLst>
          </p:cNvPr>
          <p:cNvSpPr txBox="1"/>
          <p:nvPr/>
        </p:nvSpPr>
        <p:spPr>
          <a:xfrm>
            <a:off x="474737" y="3126447"/>
            <a:ext cx="4745336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참조 캡처</a:t>
            </a:r>
            <a:endParaRPr lang="en-US" altLang="ko-KR" sz="1400" b="0" i="1" u="none" strike="noStrike" dirty="0">
              <a:solidFill>
                <a:srgbClr val="A0A1A7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903FEA-44E4-B9C3-B450-B671608D1A4D}"/>
              </a:ext>
            </a:extLst>
          </p:cNvPr>
          <p:cNvSpPr txBox="1"/>
          <p:nvPr/>
        </p:nvSpPr>
        <p:spPr>
          <a:xfrm>
            <a:off x="4434780" y="3730972"/>
            <a:ext cx="457200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바깥 변수의 실제 값 변경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람다가 참조 대상보다 오래 살아남으면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댕글링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B153B0-3D52-DD20-BC03-DE0656146314}"/>
              </a:ext>
            </a:extLst>
          </p:cNvPr>
          <p:cNvSpPr txBox="1"/>
          <p:nvPr/>
        </p:nvSpPr>
        <p:spPr>
          <a:xfrm>
            <a:off x="474340" y="5499229"/>
            <a:ext cx="4745336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[=, 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multiplier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E375A-D15E-F01F-C742-7C95B7A74B48}"/>
              </a:ext>
            </a:extLst>
          </p:cNvPr>
          <p:cNvSpPr txBox="1"/>
          <p:nvPr/>
        </p:nvSpPr>
        <p:spPr>
          <a:xfrm>
            <a:off x="4434780" y="5776227"/>
            <a:ext cx="4572000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필요한 변수만 명시하는 방식이 안전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7201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D4942-B481-F098-42AB-0F794835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75458-943B-67D7-820B-4F644F0E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13.5.3 </a:t>
            </a:r>
            <a:r>
              <a:rPr lang="ko-KR" altLang="en-US" dirty="0"/>
              <a:t>초기화 캡처와 </a:t>
            </a:r>
            <a:r>
              <a:rPr lang="en-US" altLang="ko-KR" dirty="0"/>
              <a:t>mutable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3AA33-BC56-1B0F-9030-1190223BFB37}"/>
              </a:ext>
            </a:extLst>
          </p:cNvPr>
          <p:cNvSpPr txBox="1"/>
          <p:nvPr/>
        </p:nvSpPr>
        <p:spPr>
          <a:xfrm>
            <a:off x="429989" y="836712"/>
            <a:ext cx="5222132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초기화 캡처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)]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stored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CC036-6930-D75B-C31C-8C235E674D2C}"/>
              </a:ext>
            </a:extLst>
          </p:cNvPr>
          <p:cNvSpPr txBox="1"/>
          <p:nvPr/>
        </p:nvSpPr>
        <p:spPr>
          <a:xfrm>
            <a:off x="5148064" y="1968386"/>
            <a:ext cx="3565947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멤버를 람다 객체 안에 초기화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이동 전용 객체를 람다로 옮길 수 있음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3A122-59E1-7FF5-3343-26353F01ECDA}"/>
              </a:ext>
            </a:extLst>
          </p:cNvPr>
          <p:cNvSpPr txBox="1"/>
          <p:nvPr/>
        </p:nvSpPr>
        <p:spPr>
          <a:xfrm>
            <a:off x="429988" y="4032284"/>
            <a:ext cx="5222132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mutable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increment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mutable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increment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increment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98440-675E-9EEF-CAF9-979A5C795D1E}"/>
              </a:ext>
            </a:extLst>
          </p:cNvPr>
          <p:cNvSpPr txBox="1"/>
          <p:nvPr/>
        </p:nvSpPr>
        <p:spPr>
          <a:xfrm>
            <a:off x="5148062" y="5265140"/>
            <a:ext cx="3565949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람다 내부 복사본만 변경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바깥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count는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변경되지 않음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045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71B35-AAF9-C9BA-2393-32DD4699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804D-0424-CE9B-6714-A258BBFF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13.5.5 </a:t>
            </a:r>
            <a:r>
              <a:rPr lang="ko-KR" altLang="en-US" dirty="0"/>
              <a:t>반환 형식과 제네릭 람다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8BF60-7F8F-5E40-B02C-CB792AA2E3ED}"/>
              </a:ext>
            </a:extLst>
          </p:cNvPr>
          <p:cNvSpPr txBox="1"/>
          <p:nvPr/>
        </p:nvSpPr>
        <p:spPr>
          <a:xfrm>
            <a:off x="467544" y="764704"/>
            <a:ext cx="5271988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반환 형식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absolute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convert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useInteger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-&gt;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useInteger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7BA5DC-67CF-E87B-E143-CCE05C7FB5FC}"/>
              </a:ext>
            </a:extLst>
          </p:cNvPr>
          <p:cNvSpPr txBox="1"/>
          <p:nvPr/>
        </p:nvSpPr>
        <p:spPr>
          <a:xfrm>
            <a:off x="2987824" y="3645024"/>
            <a:ext cx="5688632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제네릭 람다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[]&lt;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1139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F210-4FFA-1B57-3F80-9B32A618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D8E74-22BC-1F9B-3309-68C1E453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13.5.7 </a:t>
            </a:r>
            <a:r>
              <a:rPr lang="ko-KR" altLang="en-US" dirty="0" err="1"/>
              <a:t>클로저</a:t>
            </a:r>
            <a:r>
              <a:rPr lang="ko-KR" altLang="en-US" dirty="0"/>
              <a:t> 타입과 </a:t>
            </a:r>
            <a:r>
              <a:rPr lang="ko-KR" altLang="en-US" dirty="0" err="1"/>
              <a:t>클로저</a:t>
            </a:r>
            <a:r>
              <a:rPr lang="ko-KR" altLang="en-US" dirty="0"/>
              <a:t> 객체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D47B0-F1BC-F8D8-C7CA-0E66377FF5CD}"/>
              </a:ext>
            </a:extLst>
          </p:cNvPr>
          <p:cNvSpPr txBox="1"/>
          <p:nvPr/>
        </p:nvSpPr>
        <p:spPr>
          <a:xfrm>
            <a:off x="395536" y="836712"/>
            <a:ext cx="482453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E965F-83AE-2C74-4D51-CEF1A442F798}"/>
              </a:ext>
            </a:extLst>
          </p:cNvPr>
          <p:cNvSpPr txBox="1"/>
          <p:nvPr/>
        </p:nvSpPr>
        <p:spPr>
          <a:xfrm>
            <a:off x="4032250" y="1344544"/>
            <a:ext cx="4572000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add는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함수가 아니라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클로저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람다 표현식마다 고유한 이름 없는 클래스 타입 생성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캡처 값은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클로저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객체의 멤버처럼 저장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88569-C730-5CDC-3CF2-45469B7B6764}"/>
              </a:ext>
            </a:extLst>
          </p:cNvPr>
          <p:cNvSpPr txBox="1"/>
          <p:nvPr/>
        </p:nvSpPr>
        <p:spPr>
          <a:xfrm>
            <a:off x="395536" y="2420888"/>
            <a:ext cx="4824536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AddOffset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  {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86E0B-9490-CE0F-D77B-D7EC95AD18AE}"/>
              </a:ext>
            </a:extLst>
          </p:cNvPr>
          <p:cNvSpPr txBox="1"/>
          <p:nvPr/>
        </p:nvSpPr>
        <p:spPr>
          <a:xfrm>
            <a:off x="4032250" y="3770389"/>
            <a:ext cx="457200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설명을 위한 대응 구조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컴파일러 생성 타입과 동일하다는 뜻은 아님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465088-837E-1379-F274-51C0BF0083EF}"/>
              </a:ext>
            </a:extLst>
          </p:cNvPr>
          <p:cNvSpPr txBox="1"/>
          <p:nvPr/>
        </p:nvSpPr>
        <p:spPr>
          <a:xfrm>
            <a:off x="395536" y="5605789"/>
            <a:ext cx="4824536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501CF-DD7B-A77C-8E1A-4A80194E7C91}"/>
              </a:ext>
            </a:extLst>
          </p:cNvPr>
          <p:cNvSpPr txBox="1"/>
          <p:nvPr/>
        </p:nvSpPr>
        <p:spPr>
          <a:xfrm>
            <a:off x="5220072" y="5605789"/>
            <a:ext cx="3384376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본문이 같아도 서로 다른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람다 표현식은 다른 타입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791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26F8-6435-4533-01A1-654B7741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205D3-6A7E-8EEC-D7E8-01722986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13.5.8 </a:t>
            </a:r>
            <a:r>
              <a:rPr lang="ko-KR" altLang="en-US" dirty="0"/>
              <a:t>람다 캡처와 객체 수명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7A9F2-3A6B-3D4D-EF9E-FF78C9BCE83C}"/>
              </a:ext>
            </a:extLst>
          </p:cNvPr>
          <p:cNvSpPr txBox="1"/>
          <p:nvPr/>
        </p:nvSpPr>
        <p:spPr>
          <a:xfrm>
            <a:off x="539750" y="721177"/>
            <a:ext cx="4572000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안전한 값 캡처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MakeAdder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addTen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MakeAdder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7D16B-6F79-A6CD-25E8-E446334C497A}"/>
              </a:ext>
            </a:extLst>
          </p:cNvPr>
          <p:cNvSpPr txBox="1"/>
          <p:nvPr/>
        </p:nvSpPr>
        <p:spPr>
          <a:xfrm>
            <a:off x="539750" y="2833186"/>
            <a:ext cx="4572000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위험한 참조 캡처 반환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MakeInvalidAdder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[&amp;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FE4E1-B1A8-28CF-B149-C11F3DA49A2B}"/>
              </a:ext>
            </a:extLst>
          </p:cNvPr>
          <p:cNvSpPr txBox="1"/>
          <p:nvPr/>
        </p:nvSpPr>
        <p:spPr>
          <a:xfrm>
            <a:off x="4067944" y="3697290"/>
            <a:ext cx="4572000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 종료 후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반환된 람다는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댕글링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 보유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65A90-7539-7278-CDAA-371F6D35831D}"/>
              </a:ext>
            </a:extLst>
          </p:cNvPr>
          <p:cNvSpPr txBox="1"/>
          <p:nvPr/>
        </p:nvSpPr>
        <p:spPr>
          <a:xfrm>
            <a:off x="539750" y="4941168"/>
            <a:ext cx="457200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캡처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MakeReader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[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996A2-F178-8598-8A42-9382E969B082}"/>
              </a:ext>
            </a:extLst>
          </p:cNvPr>
          <p:cNvSpPr txBox="1"/>
          <p:nvPr/>
        </p:nvSpPr>
        <p:spPr>
          <a:xfrm>
            <a:off x="4067944" y="5321252"/>
            <a:ext cx="4572000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현재 객체 포인터 저장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람다보다 객체가 먼저 소멸하면 위험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C++17 [*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]는 현재 객체를 복사해 캡처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384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C2FD-5211-C5AC-334C-62EA88E3D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901D5-891C-7D15-A763-A673CD56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13.6 </a:t>
            </a:r>
            <a:r>
              <a:rPr lang="ko-KR" altLang="en-US" dirty="0"/>
              <a:t>검색과 판정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E49EB9-B5EC-5DB8-AF86-993D147CF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범위에서 값을 찾음</a:t>
            </a:r>
          </a:p>
          <a:p>
            <a:pPr lvl="0"/>
            <a:r>
              <a:rPr lang="ko-KR" altLang="ko-KR" sz="2400" dirty="0"/>
              <a:t>조건을 만족하는 원소를 찾음</a:t>
            </a:r>
          </a:p>
          <a:p>
            <a:pPr lvl="0"/>
            <a:r>
              <a:rPr lang="ko-KR" altLang="ko-KR" sz="2400" dirty="0"/>
              <a:t>조건을 만족하는 원소 수를 셈</a:t>
            </a:r>
          </a:p>
          <a:p>
            <a:pPr lvl="0"/>
            <a:r>
              <a:rPr lang="ko-KR" altLang="ko-KR" sz="2400" dirty="0"/>
              <a:t>범위 전체의 논리 상태를 확인</a:t>
            </a:r>
            <a:endParaRPr lang="en-US" altLang="ko-KR" sz="2400" dirty="0"/>
          </a:p>
          <a:p>
            <a:pPr lvl="0"/>
            <a:r>
              <a:rPr lang="ko-KR" altLang="ko-KR" sz="2400" dirty="0"/>
              <a:t>선형 검색 알고리즘은 보통 입력 반복자만으로 사용 가능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AEF947-F8ED-E23A-F137-DC823B194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597635"/>
              </p:ext>
            </p:extLst>
          </p:nvPr>
        </p:nvGraphicFramePr>
        <p:xfrm>
          <a:off x="683568" y="3031602"/>
          <a:ext cx="6534993" cy="3764808"/>
        </p:xfrm>
        <a:graphic>
          <a:graphicData uri="http://schemas.openxmlformats.org/drawingml/2006/table">
            <a:tbl>
              <a:tblPr/>
              <a:tblGrid>
                <a:gridCol w="2138099">
                  <a:extLst>
                    <a:ext uri="{9D8B030D-6E8A-4147-A177-3AD203B41FA5}">
                      <a16:colId xmlns:a16="http://schemas.microsoft.com/office/drawing/2014/main" val="4233414588"/>
                    </a:ext>
                  </a:extLst>
                </a:gridCol>
                <a:gridCol w="4396894">
                  <a:extLst>
                    <a:ext uri="{9D8B030D-6E8A-4147-A177-3AD203B41FA5}">
                      <a16:colId xmlns:a16="http://schemas.microsoft.com/office/drawing/2014/main" val="3066795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알고리즘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7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값과 같은 첫 원소 검색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80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find_if()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조건을 만족하는 첫 원소 검색</a:t>
                      </a:r>
                      <a:endParaRPr lang="ko-KR" sz="1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86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find_if_not()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조건을 만족하지 않는 첫 원소 검색</a:t>
                      </a:r>
                      <a:endParaRPr lang="ko-KR" sz="1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129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count()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값과 같은 원소 수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035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count_if()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조건을 만족하는 원소 수</a:t>
                      </a:r>
                      <a:endParaRPr lang="ko-KR" sz="1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49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all_of()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원소가 조건 만족</a:t>
                      </a:r>
                      <a:endParaRPr lang="ko-KR" sz="1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84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any_of()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하나 이상 조건 만족</a:t>
                      </a:r>
                      <a:endParaRPr lang="ko-KR" sz="1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7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none_of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 만족 원소 없음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87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874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B277-B5D8-1137-0851-12420797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623CA-4678-AC41-0B45-1599453C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13.6.1 find</a:t>
            </a:r>
            <a:r>
              <a:rPr lang="ko-KR" altLang="en-US" dirty="0"/>
              <a:t>와 </a:t>
            </a:r>
            <a:r>
              <a:rPr lang="en-US" altLang="ko-KR" dirty="0" err="1"/>
              <a:t>find_if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50C83-001A-1106-1746-4FB055B6F843}"/>
              </a:ext>
            </a:extLst>
          </p:cNvPr>
          <p:cNvSpPr txBox="1"/>
          <p:nvPr/>
        </p:nvSpPr>
        <p:spPr>
          <a:xfrm>
            <a:off x="395536" y="764704"/>
            <a:ext cx="7920880" cy="427809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  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Archer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 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find_if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67CBB-B222-F7F5-9B51-C822FB9F075F}"/>
              </a:ext>
            </a:extLst>
          </p:cNvPr>
          <p:cNvSpPr txBox="1"/>
          <p:nvPr/>
        </p:nvSpPr>
        <p:spPr>
          <a:xfrm>
            <a:off x="395536" y="5229200"/>
            <a:ext cx="792088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찾지 못하면 전달한 끝 반복자 반환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부분 범위를 검색했다면 해당 범위의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비교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348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FB021-5770-3F07-1F41-C3A67A30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01B23-7D35-9CA9-F938-776906B6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13.6.2 count</a:t>
            </a:r>
            <a:r>
              <a:rPr lang="ko-KR" altLang="en-US" dirty="0"/>
              <a:t>와 </a:t>
            </a:r>
            <a:r>
              <a:rPr lang="en-US" altLang="ko-KR" dirty="0" err="1"/>
              <a:t>all_of</a:t>
            </a:r>
            <a:r>
              <a:rPr lang="en-US" altLang="ko-KR" dirty="0"/>
              <a:t> </a:t>
            </a:r>
            <a:r>
              <a:rPr lang="ko-KR" altLang="en-US" dirty="0"/>
              <a:t>계열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AE810-6352-A618-6908-AE9EDE0B1194}"/>
              </a:ext>
            </a:extLst>
          </p:cNvPr>
          <p:cNvSpPr txBox="1"/>
          <p:nvPr/>
        </p:nvSpPr>
        <p:spPr>
          <a:xfrm>
            <a:off x="755774" y="836712"/>
            <a:ext cx="7272610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aliveCount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count_if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allAlive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all_of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F40F5C8-DD05-DBA7-FC98-8C53D7A7F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91901"/>
              </p:ext>
            </p:extLst>
          </p:nvPr>
        </p:nvGraphicFramePr>
        <p:xfrm>
          <a:off x="755774" y="4688731"/>
          <a:ext cx="3168154" cy="1764688"/>
        </p:xfrm>
        <a:graphic>
          <a:graphicData uri="http://schemas.openxmlformats.org/drawingml/2006/table">
            <a:tbl>
              <a:tblPr/>
              <a:tblGrid>
                <a:gridCol w="1467027">
                  <a:extLst>
                    <a:ext uri="{9D8B030D-6E8A-4147-A177-3AD203B41FA5}">
                      <a16:colId xmlns:a16="http://schemas.microsoft.com/office/drawing/2014/main" val="2026158937"/>
                    </a:ext>
                  </a:extLst>
                </a:gridCol>
                <a:gridCol w="1701127">
                  <a:extLst>
                    <a:ext uri="{9D8B030D-6E8A-4147-A177-3AD203B41FA5}">
                      <a16:colId xmlns:a16="http://schemas.microsoft.com/office/drawing/2014/main" val="3599818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알고리즘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빈 범위 결과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43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all_of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true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443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any_of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false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7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none_of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true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978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FCB27E-26A9-2A61-BB19-D3048F62E125}"/>
              </a:ext>
            </a:extLst>
          </p:cNvPr>
          <p:cNvSpPr txBox="1"/>
          <p:nvPr/>
        </p:nvSpPr>
        <p:spPr>
          <a:xfrm>
            <a:off x="3995936" y="5313402"/>
            <a:ext cx="403244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결과가 확정되면 남은 원소를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검사하지 않을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52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BAF0-6E5C-C513-E5CB-1063A7CE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899EC-9B03-1052-2299-47015385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13.7 </a:t>
            </a:r>
            <a:r>
              <a:rPr lang="ko-KR" altLang="en-US" dirty="0"/>
              <a:t>정렬과 탐색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58752-BCFC-0677-B15A-196EC0937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92696"/>
            <a:ext cx="8928992" cy="5832475"/>
          </a:xfrm>
        </p:spPr>
        <p:txBody>
          <a:bodyPr/>
          <a:lstStyle/>
          <a:p>
            <a:pPr lvl="0"/>
            <a:r>
              <a:rPr lang="ko-KR" altLang="ko-KR" sz="2400" dirty="0"/>
              <a:t>정렬 알고리즘은 원소 순서를 비교 규칙에 맞게 재배치</a:t>
            </a:r>
          </a:p>
          <a:p>
            <a:pPr lvl="0"/>
            <a:r>
              <a:rPr lang="ko-KR" altLang="ko-KR" sz="2400" dirty="0"/>
              <a:t>이진 탐색 알고리즘은 정렬된 범위에서 검색 위치를 빠르게 좁힘</a:t>
            </a:r>
          </a:p>
          <a:p>
            <a:pPr lvl="0"/>
            <a:r>
              <a:rPr lang="ko-KR" altLang="ko-KR" sz="2400" dirty="0"/>
              <a:t>정렬에 사용한 비교 규칙과 탐색에 사용한 비교 규칙은 일관되어야 함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0A5476F-EC44-088A-26E2-C508FEB0E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27086"/>
              </p:ext>
            </p:extLst>
          </p:nvPr>
        </p:nvGraphicFramePr>
        <p:xfrm>
          <a:off x="395536" y="2348880"/>
          <a:ext cx="4536504" cy="4008648"/>
        </p:xfrm>
        <a:graphic>
          <a:graphicData uri="http://schemas.openxmlformats.org/drawingml/2006/table">
            <a:tbl>
              <a:tblPr/>
              <a:tblGrid>
                <a:gridCol w="2232248">
                  <a:extLst>
                    <a:ext uri="{9D8B030D-6E8A-4147-A177-3AD203B41FA5}">
                      <a16:colId xmlns:a16="http://schemas.microsoft.com/office/drawing/2014/main" val="2411019576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290476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알고리즘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06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 정렬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73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stable_sort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안정 정렬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616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partial_sort()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앞부분만 정렬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67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nth_element()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n번째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원소 기준 분할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30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lower_bound()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작지 않은 첫 위치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82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upper_bound()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큰 첫 위치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98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equal_range()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동등 범위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24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binary_search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존재 여부 반환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6201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005F9D-4E7F-5C55-0C5C-63009D2371E4}"/>
              </a:ext>
            </a:extLst>
          </p:cNvPr>
          <p:cNvSpPr txBox="1"/>
          <p:nvPr/>
        </p:nvSpPr>
        <p:spPr>
          <a:xfrm>
            <a:off x="4932040" y="4365104"/>
            <a:ext cx="4117108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임의 접근 반복자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0372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38EC6-22E1-601A-CC6D-7C255E9B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2E984-CF5F-CCDA-1CE3-152EC57DD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13.7.1 sort</a:t>
            </a:r>
            <a:r>
              <a:rPr lang="ko-KR" altLang="en-US" dirty="0"/>
              <a:t>와 </a:t>
            </a:r>
            <a:r>
              <a:rPr lang="en-US" altLang="ko-KR" dirty="0" err="1"/>
              <a:t>stable_sort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AE8AC-42F0-93EE-21B8-B3D6992DD91F}"/>
              </a:ext>
            </a:extLst>
          </p:cNvPr>
          <p:cNvSpPr txBox="1"/>
          <p:nvPr/>
        </p:nvSpPr>
        <p:spPr>
          <a:xfrm>
            <a:off x="323528" y="836712"/>
            <a:ext cx="7056784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,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ECFCB7-BFA7-27F6-2989-90D75968B08F}"/>
              </a:ext>
            </a:extLst>
          </p:cNvPr>
          <p:cNvSpPr txBox="1"/>
          <p:nvPr/>
        </p:nvSpPr>
        <p:spPr>
          <a:xfrm>
            <a:off x="323528" y="3904951"/>
            <a:ext cx="7056784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잘못된 비교 함수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left.score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right.score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stable_sort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B665B-5916-E993-288A-8004899678D2}"/>
              </a:ext>
            </a:extLst>
          </p:cNvPr>
          <p:cNvSpPr txBox="1"/>
          <p:nvPr/>
        </p:nvSpPr>
        <p:spPr>
          <a:xfrm>
            <a:off x="323528" y="5981218"/>
            <a:ext cx="7056784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stable_sort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()는 동등한 원소의 기존 상대 순서 유지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D4F44-5EB9-3843-0E9D-CF292D9AD5A2}"/>
              </a:ext>
            </a:extLst>
          </p:cNvPr>
          <p:cNvSpPr txBox="1"/>
          <p:nvPr/>
        </p:nvSpPr>
        <p:spPr>
          <a:xfrm>
            <a:off x="323528" y="2646437"/>
            <a:ext cx="7056784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비교 함수는 왼쪽 원소가 앞에 와야 하면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객체끼리 비교했을 때 반드시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엄격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약순서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만족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443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25F9-5C7F-02D8-8AC3-B4C7279E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9388B-DF7D-EFF5-CFC5-A1031FB2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13.7.3 </a:t>
            </a:r>
            <a:r>
              <a:rPr lang="en-US" altLang="ko-KR" dirty="0" err="1"/>
              <a:t>lower_bound</a:t>
            </a:r>
            <a:r>
              <a:rPr lang="en-US" altLang="ko-KR" dirty="0"/>
              <a:t>, </a:t>
            </a:r>
            <a:r>
              <a:rPr lang="en-US" altLang="ko-KR" dirty="0" err="1"/>
              <a:t>upper_bound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equal_range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1320F-C855-9646-CCB1-3497194DC6D8}"/>
              </a:ext>
            </a:extLst>
          </p:cNvPr>
          <p:cNvSpPr txBox="1"/>
          <p:nvPr/>
        </p:nvSpPr>
        <p:spPr>
          <a:xfrm>
            <a:off x="395536" y="836712"/>
            <a:ext cx="7632848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lower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lower_bound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upper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upper_bound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distance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lower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upper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C67FF-8FBE-A3C1-EE50-5CD3B287C333}"/>
              </a:ext>
            </a:extLst>
          </p:cNvPr>
          <p:cNvSpPr txBox="1"/>
          <p:nvPr/>
        </p:nvSpPr>
        <p:spPr>
          <a:xfrm>
            <a:off x="395536" y="2411363"/>
            <a:ext cx="7632848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lower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upper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)는 값 20과 동등한 원소 범위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AF50A2-76CA-FB3D-5720-478BBE953A5E}"/>
              </a:ext>
            </a:extLst>
          </p:cNvPr>
          <p:cNvSpPr txBox="1"/>
          <p:nvPr/>
        </p:nvSpPr>
        <p:spPr>
          <a:xfrm>
            <a:off x="397446" y="3861048"/>
            <a:ext cx="763284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equal_range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정렬된 벡터에 삽입 위치 찾기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lower_bound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values.insert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B73E20-A992-0B75-29CA-24460B23C046}"/>
              </a:ext>
            </a:extLst>
          </p:cNvPr>
          <p:cNvSpPr txBox="1"/>
          <p:nvPr/>
        </p:nvSpPr>
        <p:spPr>
          <a:xfrm>
            <a:off x="395139" y="5661248"/>
            <a:ext cx="763284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위치 탐색은 로그 시간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벡터 중간 삽입은 원소 이동 때문에 선형 시간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1863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334A-6C45-ACAB-B24A-1FB34F0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E415-C783-BAEF-8A53-00FA3E0C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13.7.4 </a:t>
            </a:r>
            <a:r>
              <a:rPr lang="en-US" altLang="ko-KR" dirty="0" err="1"/>
              <a:t>binary_search</a:t>
            </a:r>
            <a:r>
              <a:rPr lang="ko-KR" altLang="en-US" dirty="0"/>
              <a:t>와 정렬 사전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48B415-552F-86AE-2BE0-F5966F76E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존재 여부만 </a:t>
            </a:r>
            <a:r>
              <a:rPr lang="ko-KR" altLang="ko-KR" sz="2400" dirty="0" err="1"/>
              <a:t>bool로</a:t>
            </a:r>
            <a:r>
              <a:rPr lang="ko-KR" altLang="ko-KR" sz="2400" dirty="0"/>
              <a:t> 반환</a:t>
            </a:r>
          </a:p>
          <a:p>
            <a:pPr lvl="0"/>
            <a:r>
              <a:rPr lang="ko-KR" altLang="ko-KR" sz="2400" dirty="0"/>
              <a:t>위치가 필요하면 </a:t>
            </a:r>
            <a:r>
              <a:rPr lang="ko-KR" altLang="ko-KR" sz="2400" dirty="0" err="1"/>
              <a:t>lower_bound</a:t>
            </a:r>
            <a:r>
              <a:rPr lang="ko-KR" altLang="ko-KR" sz="2400" dirty="0"/>
              <a:t>() 사용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56B25-7B54-6A0A-29F9-4DE15E7F92BE}"/>
              </a:ext>
            </a:extLst>
          </p:cNvPr>
          <p:cNvSpPr txBox="1"/>
          <p:nvPr/>
        </p:nvSpPr>
        <p:spPr>
          <a:xfrm>
            <a:off x="539750" y="1720175"/>
            <a:ext cx="7849866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binary_search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1978AD-40D6-B80C-A24D-663B0F334108}"/>
              </a:ext>
            </a:extLst>
          </p:cNvPr>
          <p:cNvSpPr txBox="1"/>
          <p:nvPr/>
        </p:nvSpPr>
        <p:spPr>
          <a:xfrm>
            <a:off x="538558" y="2315477"/>
            <a:ext cx="784986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lower_bound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&amp;&amp; 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found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149E36-5E84-3A6F-DBE3-056A0E1E3800}"/>
              </a:ext>
            </a:extLst>
          </p:cNvPr>
          <p:cNvSpPr txBox="1"/>
          <p:nvPr/>
        </p:nvSpPr>
        <p:spPr>
          <a:xfrm>
            <a:off x="538558" y="4002876"/>
            <a:ext cx="7849865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사전 조건</a:t>
            </a:r>
            <a:endParaRPr lang="ko-KR" altLang="ko-KR" sz="20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범위는 같은 비교 규칙으로 정렬되어 있어야 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내림차순이면 탐색에도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greater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&lt;&gt; 전달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9CF38-EDDD-72D8-7801-16B21CBE5C7F}"/>
              </a:ext>
            </a:extLst>
          </p:cNvPr>
          <p:cNvSpPr txBox="1"/>
          <p:nvPr/>
        </p:nvSpPr>
        <p:spPr>
          <a:xfrm>
            <a:off x="538557" y="5027692"/>
            <a:ext cx="7849865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greater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&lt;&gt;{});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binary_search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greater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&lt;&gt;{});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893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48DA-76A9-8563-F3A2-781C8855E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10304-B173-DC3D-4391-2700AEED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13.8 복사, 이동, 변환과 제거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2D2C494-39F8-5BD9-3F9E-9E05E3C5C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985809"/>
              </p:ext>
            </p:extLst>
          </p:nvPr>
        </p:nvGraphicFramePr>
        <p:xfrm>
          <a:off x="323528" y="1052736"/>
          <a:ext cx="4824536" cy="4601432"/>
        </p:xfrm>
        <a:graphic>
          <a:graphicData uri="http://schemas.openxmlformats.org/drawingml/2006/table">
            <a:tbl>
              <a:tblPr/>
              <a:tblGrid>
                <a:gridCol w="2167545">
                  <a:extLst>
                    <a:ext uri="{9D8B030D-6E8A-4147-A177-3AD203B41FA5}">
                      <a16:colId xmlns:a16="http://schemas.microsoft.com/office/drawing/2014/main" val="2284161554"/>
                    </a:ext>
                  </a:extLst>
                </a:gridCol>
                <a:gridCol w="2656991">
                  <a:extLst>
                    <a:ext uri="{9D8B030D-6E8A-4147-A177-3AD203B41FA5}">
                      <a16:colId xmlns:a16="http://schemas.microsoft.com/office/drawing/2014/main" val="1757526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알고리즘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역할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4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copy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복사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174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copy_if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 만족 원소 복사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이동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515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copy_backward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뒤쪽부터 복사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96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move_backward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뒤쪽부터 이동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139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transform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변환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231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remove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특정 값 논리 제거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8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remove_if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 만족 원소 논리 제거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04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인접 중복 논리 제거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38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erase_if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컨테이너에 맞는 조건 제거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2597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698701-45BF-F2BE-8577-67E5560C4F48}"/>
              </a:ext>
            </a:extLst>
          </p:cNvPr>
          <p:cNvSpPr txBox="1"/>
          <p:nvPr/>
        </p:nvSpPr>
        <p:spPr>
          <a:xfrm>
            <a:off x="5292080" y="1700808"/>
            <a:ext cx="3600400" cy="378392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lvl="0" rtl="0" fontAlgn="base">
              <a:lnSpc>
                <a:spcPct val="150000"/>
              </a:lnSpc>
            </a:pP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원소를 다른 범위로 복사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원소를 이동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값을 변환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/>
            <a: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조건에 맞지 않는 원소를</a:t>
            </a:r>
            <a:b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논리적으로 제거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목적지 크기와 범위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중첩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확인 필요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1507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3E65-C0FB-2108-3948-221815BD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5F63C-51A7-D953-8CB1-E8C9F9D1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13.8.1 copy</a:t>
            </a:r>
            <a:r>
              <a:rPr lang="ko-KR" altLang="en-US" dirty="0"/>
              <a:t>와 </a:t>
            </a:r>
            <a:r>
              <a:rPr lang="en-US" altLang="ko-KR" dirty="0"/>
              <a:t>move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1CFE2A-AFF0-F73B-1049-ADEB7B8D8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en-US" altLang="ko-KR" sz="2400" dirty="0"/>
              <a:t>copy</a:t>
            </a:r>
            <a:r>
              <a:rPr lang="ko-KR" altLang="ko-KR" sz="2400" dirty="0"/>
              <a:t>()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0"/>
            <a:endParaRPr lang="en-US" altLang="ko-KR" sz="2400" dirty="0"/>
          </a:p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move</a:t>
            </a:r>
            <a:r>
              <a:rPr lang="ko-KR" altLang="ko-KR" sz="2400" dirty="0"/>
              <a:t>()</a:t>
            </a:r>
            <a:r>
              <a:rPr lang="ko-KR" altLang="en-US" sz="2400" dirty="0"/>
              <a:t>의 두가지 형태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54C50-0FBE-8704-1B75-625F0CB837A8}"/>
              </a:ext>
            </a:extLst>
          </p:cNvPr>
          <p:cNvSpPr txBox="1"/>
          <p:nvPr/>
        </p:nvSpPr>
        <p:spPr>
          <a:xfrm>
            <a:off x="539750" y="1239385"/>
            <a:ext cx="6912570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source.begin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destination.begin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destination.reserve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7E53C06-D5D5-A2C4-CF6F-008E087BC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57461"/>
              </p:ext>
            </p:extLst>
          </p:nvPr>
        </p:nvGraphicFramePr>
        <p:xfrm>
          <a:off x="539750" y="3645024"/>
          <a:ext cx="6912570" cy="1224456"/>
        </p:xfrm>
        <a:graphic>
          <a:graphicData uri="http://schemas.openxmlformats.org/drawingml/2006/table">
            <a:tbl>
              <a:tblPr/>
              <a:tblGrid>
                <a:gridCol w="4182664">
                  <a:extLst>
                    <a:ext uri="{9D8B030D-6E8A-4147-A177-3AD203B41FA5}">
                      <a16:colId xmlns:a16="http://schemas.microsoft.com/office/drawing/2014/main" val="3589159770"/>
                    </a:ext>
                  </a:extLst>
                </a:gridCol>
                <a:gridCol w="2729906">
                  <a:extLst>
                    <a:ext uri="{9D8B030D-6E8A-4147-A177-3AD203B41FA5}">
                      <a16:colId xmlns:a16="http://schemas.microsoft.com/office/drawing/2014/main" val="3298155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형태</a:t>
                      </a:r>
                      <a:endParaRPr lang="ko-KR" sz="2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역할</a:t>
                      </a:r>
                      <a:endParaRPr lang="ko-KR" sz="2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78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object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객체를 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우측값으로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변환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63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last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destination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범위의 원소들을 이동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36045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64A9BB-2A0E-D218-9881-9875FF506901}"/>
              </a:ext>
            </a:extLst>
          </p:cNvPr>
          <p:cNvSpPr txBox="1"/>
          <p:nvPr/>
        </p:nvSpPr>
        <p:spPr>
          <a:xfrm>
            <a:off x="545877" y="5071410"/>
            <a:ext cx="6906443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Sword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Shield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destination.begin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0492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643B-0C0D-B94E-7D58-D20ABAF3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83271-8DD2-9A2D-79F1-022C2A42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13.8.2 transform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D79E7-0993-BFFC-71C6-617005C84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원소에 변환 함수를 적용</a:t>
            </a:r>
            <a:r>
              <a:rPr lang="en-US" altLang="ko-KR" sz="2400" dirty="0"/>
              <a:t>, </a:t>
            </a:r>
            <a:r>
              <a:rPr lang="ko-KR" altLang="ko-KR" sz="2400" dirty="0"/>
              <a:t>목적지에 저장</a:t>
            </a:r>
            <a:endParaRPr lang="en-US" altLang="ko-KR" sz="2400" dirty="0"/>
          </a:p>
          <a:p>
            <a:pPr lvl="0"/>
            <a:r>
              <a:rPr lang="ko-KR" altLang="ko-KR" sz="2400" dirty="0"/>
              <a:t>둘째 입력 범위가 첫 범위보다 짧으면 범위를 벗어남</a:t>
            </a:r>
          </a:p>
          <a:p>
            <a:pPr lvl="0"/>
            <a:r>
              <a:rPr lang="ko-KR" altLang="ko-KR" sz="2400" dirty="0"/>
              <a:t>호출 전에 크기와 목적지 공간 확인</a:t>
            </a:r>
          </a:p>
          <a:p>
            <a:endParaRPr lang="ko-KR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D9DF3-1071-EAF4-5C42-659921ADB3B1}"/>
              </a:ext>
            </a:extLst>
          </p:cNvPr>
          <p:cNvSpPr txBox="1"/>
          <p:nvPr/>
        </p:nvSpPr>
        <p:spPr>
          <a:xfrm>
            <a:off x="467544" y="2267357"/>
            <a:ext cx="417646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951E9-4BFD-AB8A-29E4-F0D5783ECD6D}"/>
              </a:ext>
            </a:extLst>
          </p:cNvPr>
          <p:cNvSpPr txBox="1"/>
          <p:nvPr/>
        </p:nvSpPr>
        <p:spPr>
          <a:xfrm>
            <a:off x="5004048" y="2267357"/>
            <a:ext cx="3744416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제자리 변환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transform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40DC45-91DA-41D5-3DBE-0B7C82FED780}"/>
              </a:ext>
            </a:extLst>
          </p:cNvPr>
          <p:cNvSpPr txBox="1"/>
          <p:nvPr/>
        </p:nvSpPr>
        <p:spPr>
          <a:xfrm>
            <a:off x="5004048" y="4709462"/>
            <a:ext cx="3744416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두 입력 범위 결합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transform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left.begin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left.end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right.begin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sums.begin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::plus&lt;&gt;{});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F2E29-0FEA-5672-7758-28FC37DAE658}"/>
              </a:ext>
            </a:extLst>
          </p:cNvPr>
          <p:cNvSpPr txBox="1"/>
          <p:nvPr/>
        </p:nvSpPr>
        <p:spPr>
          <a:xfrm>
            <a:off x="467544" y="2994588"/>
            <a:ext cx="4176464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transform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squares.begin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64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AC09C-0B43-D593-E29E-25C72D43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0AE14-20B3-D385-3DC3-16E7146F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13.8.3 </a:t>
            </a:r>
            <a:r>
              <a:rPr lang="ko-KR" altLang="ko-KR" dirty="0" err="1"/>
              <a:t>remove와</a:t>
            </a:r>
            <a:r>
              <a:rPr lang="ko-KR" altLang="ko-KR" dirty="0"/>
              <a:t> </a:t>
            </a:r>
            <a:r>
              <a:rPr lang="ko-KR" altLang="ko-KR" dirty="0" err="1"/>
              <a:t>remove_if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259803-C7F9-F383-E7B3-75ECB642F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/>
              <a:t>원소 제거</a:t>
            </a:r>
            <a:endParaRPr lang="en-US" altLang="ko-KR" sz="2400" dirty="0"/>
          </a:p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remove</a:t>
            </a:r>
            <a:r>
              <a:rPr lang="ko-KR" altLang="ko-KR" sz="2400" dirty="0"/>
              <a:t>()는 컨테이너 크기를 줄이지 않음</a:t>
            </a:r>
          </a:p>
          <a:p>
            <a:pPr lvl="0"/>
            <a:r>
              <a:rPr lang="ko-KR" altLang="ko-KR" sz="2400" dirty="0"/>
              <a:t>유지할 원소를 앞쪽으로 이동</a:t>
            </a:r>
          </a:p>
          <a:p>
            <a:pPr lvl="0"/>
            <a:r>
              <a:rPr lang="ko-KR" altLang="ko-KR" sz="2400" dirty="0"/>
              <a:t>새 논리적 끝 반복자 반환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F975F-3E45-EB67-C3A5-62EB2C453846}"/>
              </a:ext>
            </a:extLst>
          </p:cNvPr>
          <p:cNvSpPr txBox="1"/>
          <p:nvPr/>
        </p:nvSpPr>
        <p:spPr>
          <a:xfrm>
            <a:off x="216122" y="2735025"/>
            <a:ext cx="644411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호출 전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10 20 30 20 40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4040867-1C7D-7ABB-B241-2D235E576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424824"/>
              </p:ext>
            </p:extLst>
          </p:nvPr>
        </p:nvGraphicFramePr>
        <p:xfrm>
          <a:off x="5362896" y="3507284"/>
          <a:ext cx="3239194" cy="1102360"/>
        </p:xfrm>
        <a:graphic>
          <a:graphicData uri="http://schemas.openxmlformats.org/drawingml/2006/table">
            <a:tbl>
              <a:tblPr/>
              <a:tblGrid>
                <a:gridCol w="3239194">
                  <a:extLst>
                    <a:ext uri="{9D8B030D-6E8A-4147-A177-3AD203B41FA5}">
                      <a16:colId xmlns:a16="http://schemas.microsoft.com/office/drawing/2014/main" val="38193901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논리 범위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30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40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|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미지정된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나머지 영역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  </a:t>
                      </a: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↑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</a:t>
                      </a: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newEnd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700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900F087-BA2A-D2EC-1681-3F6DE1EB1C2E}"/>
              </a:ext>
            </a:extLst>
          </p:cNvPr>
          <p:cNvSpPr txBox="1"/>
          <p:nvPr/>
        </p:nvSpPr>
        <p:spPr>
          <a:xfrm>
            <a:off x="216122" y="4709462"/>
            <a:ext cx="651611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remove_if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%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30B3F-1041-BF73-E7F6-19ABF354E9E4}"/>
              </a:ext>
            </a:extLst>
          </p:cNvPr>
          <p:cNvSpPr txBox="1"/>
          <p:nvPr/>
        </p:nvSpPr>
        <p:spPr>
          <a:xfrm>
            <a:off x="4816450" y="5357862"/>
            <a:ext cx="383158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알고리즘은 컨테이너 타입을 모름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제거는 컨테이너의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erase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필요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0478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441C-4B25-50F4-AFBC-E3183ED4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50446-6D86-5134-9FE8-AB421066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13.8.4 erase-remove</a:t>
            </a:r>
            <a:r>
              <a:rPr lang="ko-KR" altLang="en-US" dirty="0"/>
              <a:t>와 </a:t>
            </a:r>
            <a:r>
              <a:rPr lang="en-US" altLang="ko-KR" dirty="0"/>
              <a:t>std::</a:t>
            </a:r>
            <a:r>
              <a:rPr lang="en-US" altLang="ko-KR" dirty="0" err="1"/>
              <a:t>erase_if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275807-C686-52EE-A052-5C8189139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/>
              <a:t>원소 제거</a:t>
            </a:r>
            <a:endParaRPr lang="en-US" altLang="ko-KR" sz="2400" dirty="0"/>
          </a:p>
          <a:p>
            <a:pPr lvl="0"/>
            <a:r>
              <a:rPr lang="ko-KR" altLang="ko-KR" sz="2400" dirty="0"/>
              <a:t>유지할 원소를 앞쪽으로 이동</a:t>
            </a:r>
          </a:p>
          <a:p>
            <a:pPr lvl="0"/>
            <a:r>
              <a:rPr lang="ko-KR" altLang="ko-KR" sz="2400" dirty="0"/>
              <a:t>표현이 짧고 컨테이너에 맞는 제거 방법 선택</a:t>
            </a:r>
          </a:p>
          <a:p>
            <a:pPr lvl="0"/>
            <a:r>
              <a:rPr lang="ko-KR" altLang="ko-KR" sz="2400" dirty="0"/>
              <a:t>순회 중 직접 제거할 이유가 없다면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erase_if</a:t>
            </a:r>
            <a:r>
              <a:rPr lang="ko-KR" altLang="ko-KR" sz="2400" dirty="0"/>
              <a:t>()가 명확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FDCB8-8CED-B369-44F2-623567A6EB8F}"/>
              </a:ext>
            </a:extLst>
          </p:cNvPr>
          <p:cNvSpPr txBox="1"/>
          <p:nvPr/>
        </p:nvSpPr>
        <p:spPr>
          <a:xfrm>
            <a:off x="569838" y="2636912"/>
            <a:ext cx="4722242" cy="310854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erase-remove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관용구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조건 제거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remove_if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[](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85058-CC8A-4FAB-485C-D2B2F36C5CD2}"/>
              </a:ext>
            </a:extLst>
          </p:cNvPr>
          <p:cNvSpPr txBox="1"/>
          <p:nvPr/>
        </p:nvSpPr>
        <p:spPr>
          <a:xfrm>
            <a:off x="4644008" y="5052957"/>
            <a:ext cx="4211960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C++20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erase_if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[](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2765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DEC8E-AD03-203B-0A8D-51BE817A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EF094-5465-7FC6-1F02-270485F48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13.8.5 unique</a:t>
            </a:r>
            <a:r>
              <a:rPr lang="ko-KR" altLang="en-US" dirty="0"/>
              <a:t>와 연속 중복 제거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24828-3742-6C91-2780-9E3E51C58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unique</a:t>
            </a:r>
            <a:r>
              <a:rPr lang="ko-KR" altLang="ko-KR" sz="2400" dirty="0"/>
              <a:t>()는 인접한 동등 원소를 하나로 모음</a:t>
            </a:r>
          </a:p>
          <a:p>
            <a:pPr lvl="0"/>
            <a:r>
              <a:rPr lang="ko-KR" altLang="ko-KR" sz="2400" dirty="0"/>
              <a:t>전체 범위에서 같은 값을 모두 찾는 알고리즘이 아님</a:t>
            </a:r>
          </a:p>
          <a:p>
            <a:pPr lvl="0"/>
            <a:r>
              <a:rPr lang="ko-KR" altLang="ko-KR" sz="2400" dirty="0"/>
              <a:t>컨테이너 크기를 직접 줄이지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024E3-0A00-7BD7-E159-6206C3FFAE4C}"/>
              </a:ext>
            </a:extLst>
          </p:cNvPr>
          <p:cNvSpPr txBox="1"/>
          <p:nvPr/>
        </p:nvSpPr>
        <p:spPr>
          <a:xfrm>
            <a:off x="539750" y="2321004"/>
            <a:ext cx="7992690" cy="175432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결과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10 20 10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85AE7-E8B5-1159-E94C-16796EC92966}"/>
              </a:ext>
            </a:extLst>
          </p:cNvPr>
          <p:cNvSpPr txBox="1"/>
          <p:nvPr/>
        </p:nvSpPr>
        <p:spPr>
          <a:xfrm>
            <a:off x="5364088" y="3428999"/>
            <a:ext cx="3168352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마지막 10은 앞의 10과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인접하지 않았으므로 남음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10E28-E7D2-098B-1645-6F5C3B47F2EF}"/>
              </a:ext>
            </a:extLst>
          </p:cNvPr>
          <p:cNvSpPr txBox="1"/>
          <p:nvPr/>
        </p:nvSpPr>
        <p:spPr>
          <a:xfrm>
            <a:off x="539750" y="4530536"/>
            <a:ext cx="7992690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전체 중복 제거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values.erase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F1DBB7-BEBD-0988-BA90-6F2BE2EA7BDE}"/>
              </a:ext>
            </a:extLst>
          </p:cNvPr>
          <p:cNvSpPr txBox="1"/>
          <p:nvPr/>
        </p:nvSpPr>
        <p:spPr>
          <a:xfrm>
            <a:off x="542032" y="5517232"/>
            <a:ext cx="799040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정렬로 같은 값이 인접하게 모임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원래 순서를 유지해야 하면 별도 전략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463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6913-105E-C5BC-785D-4D4AA69C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43237-80E2-9785-F872-EE77E679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13.9 </a:t>
            </a:r>
            <a:r>
              <a:rPr lang="ko-KR" altLang="en-US" dirty="0"/>
              <a:t>수치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107A3D-0859-67A1-E19B-AD7B5D2A5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&lt;</a:t>
            </a:r>
            <a:r>
              <a:rPr lang="ko-KR" altLang="ko-KR" sz="2000" dirty="0" err="1"/>
              <a:t>numeric</a:t>
            </a:r>
            <a:r>
              <a:rPr lang="ko-KR" altLang="ko-KR" sz="2000" dirty="0"/>
              <a:t>&gt; 헤더</a:t>
            </a:r>
          </a:p>
          <a:p>
            <a:pPr lvl="0"/>
            <a:r>
              <a:rPr lang="ko-KR" altLang="ko-KR" sz="2000" dirty="0"/>
              <a:t>합계, 내적, 부분 합, 차분, 축약 제공</a:t>
            </a:r>
          </a:p>
          <a:p>
            <a:pPr lvl="0"/>
            <a:r>
              <a:rPr lang="ko-KR" altLang="ko-KR" sz="2000" dirty="0"/>
              <a:t>초기값 타입과 연산 순서가 결과 타입과 정밀도에 영향</a:t>
            </a:r>
            <a:endParaRPr lang="en-US" altLang="ko-KR" sz="2000" dirty="0"/>
          </a:p>
          <a:p>
            <a:pPr lvl="1"/>
            <a:endParaRPr lang="en-US" altLang="ko-KR" sz="1600" dirty="0"/>
          </a:p>
          <a:p>
            <a:pPr lvl="0"/>
            <a:r>
              <a:rPr lang="ko-KR" altLang="ko-KR" sz="2000" dirty="0" err="1"/>
              <a:t>accumulate</a:t>
            </a:r>
            <a:r>
              <a:rPr lang="ko-KR" altLang="ko-KR" sz="2000" dirty="0"/>
              <a:t>()는 순서 의존 연산에 적합</a:t>
            </a:r>
          </a:p>
          <a:p>
            <a:pPr lvl="0"/>
            <a:r>
              <a:rPr lang="ko-KR" altLang="ko-KR" sz="2000" dirty="0" err="1"/>
              <a:t>reduce</a:t>
            </a:r>
            <a:r>
              <a:rPr lang="ko-KR" altLang="ko-KR" sz="2000" dirty="0"/>
              <a:t>()는 연산 순서를 바꿀 수 있음</a:t>
            </a:r>
          </a:p>
          <a:p>
            <a:pPr lvl="0"/>
            <a:endParaRPr lang="ko-KR" altLang="ko-KR" sz="2000" dirty="0"/>
          </a:p>
          <a:p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8E6CE54-8356-F397-D9C7-D0658A98C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484992"/>
              </p:ext>
            </p:extLst>
          </p:nvPr>
        </p:nvGraphicFramePr>
        <p:xfrm>
          <a:off x="827584" y="3233097"/>
          <a:ext cx="7056784" cy="2897704"/>
        </p:xfrm>
        <a:graphic>
          <a:graphicData uri="http://schemas.openxmlformats.org/drawingml/2006/table">
            <a:tbl>
              <a:tblPr/>
              <a:tblGrid>
                <a:gridCol w="3026685">
                  <a:extLst>
                    <a:ext uri="{9D8B030D-6E8A-4147-A177-3AD203B41FA5}">
                      <a16:colId xmlns:a16="http://schemas.microsoft.com/office/drawing/2014/main" val="3372481528"/>
                    </a:ext>
                  </a:extLst>
                </a:gridCol>
                <a:gridCol w="4030099">
                  <a:extLst>
                    <a:ext uri="{9D8B030D-6E8A-4147-A177-3AD203B41FA5}">
                      <a16:colId xmlns:a16="http://schemas.microsoft.com/office/drawing/2014/main" val="390112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알고리즘</a:t>
                      </a:r>
                      <a:endParaRPr lang="ko-KR" sz="28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2800" b="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230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accumulate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왼쪽부터 순서대로 누적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568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inner_product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두 범위의 대응 원소 결합 후 누적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8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partial_sum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앞에서부터 누적한 결과 저장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26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adjacent_difference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인접 원소 차이 저장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76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reduce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축약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688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transform_reduce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변환 후 축약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017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225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4765-C9F6-A656-8F65-30D74C479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06634-FAD2-B3CE-F5F2-B7B6C5EB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13.9.1 accumulate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16C258-82F5-8E57-43AE-8789339CE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초기값 타입이 누적 결과 타입 결정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0"/>
            <a:r>
              <a:rPr lang="ko-KR" altLang="ko-KR" sz="2400" dirty="0"/>
              <a:t>문자열 연결이나 뺄셈처럼 순서에 민감한 연산에도 사용 가능</a:t>
            </a:r>
          </a:p>
          <a:p>
            <a:pPr lvl="0"/>
            <a:r>
              <a:rPr lang="ko-KR" altLang="ko-KR" sz="2400" dirty="0"/>
              <a:t>왼쪽부터 순서대로 누적</a:t>
            </a:r>
          </a:p>
          <a:p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A979F-16CA-792C-58CC-42F45A99BBC0}"/>
              </a:ext>
            </a:extLst>
          </p:cNvPr>
          <p:cNvSpPr txBox="1"/>
          <p:nvPr/>
        </p:nvSpPr>
        <p:spPr>
          <a:xfrm>
            <a:off x="539750" y="1340768"/>
            <a:ext cx="8064698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60A5F-0F32-4D72-8F93-23D65FC10C5F}"/>
              </a:ext>
            </a:extLst>
          </p:cNvPr>
          <p:cNvSpPr txBox="1"/>
          <p:nvPr/>
        </p:nvSpPr>
        <p:spPr>
          <a:xfrm>
            <a:off x="539651" y="3429000"/>
            <a:ext cx="8064698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correct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truncated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totalPrice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item.price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7518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4AA1-F2B0-A035-E783-5F28A6E2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D65EE-FFED-6758-F849-FEE026C7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13.9.2 </a:t>
            </a:r>
            <a:r>
              <a:rPr lang="en-US" altLang="ko-KR" dirty="0" err="1"/>
              <a:t>inner_product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86F878-5BAC-9D20-B1F8-89E2F5E50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수학 </a:t>
            </a:r>
            <a:r>
              <a:rPr lang="en-US" altLang="ko-KR" dirty="0"/>
              <a:t>vector</a:t>
            </a:r>
            <a:r>
              <a:rPr lang="ko-KR" altLang="en-US" dirty="0"/>
              <a:t>의 내적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CB054-B74E-24E4-1EBD-2BE2D3990689}"/>
              </a:ext>
            </a:extLst>
          </p:cNvPr>
          <p:cNvSpPr txBox="1"/>
          <p:nvPr/>
        </p:nvSpPr>
        <p:spPr>
          <a:xfrm>
            <a:off x="683568" y="1340768"/>
            <a:ext cx="4464496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inner_product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1 * 10 + 2 * 20 + 3 * 30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6A4B3-7FFC-4CA5-E5CE-3A19D2700489}"/>
              </a:ext>
            </a:extLst>
          </p:cNvPr>
          <p:cNvSpPr txBox="1"/>
          <p:nvPr/>
        </p:nvSpPr>
        <p:spPr>
          <a:xfrm>
            <a:off x="4392488" y="2780928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첫 범위의 길이를 기준으로 처리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둘째 범위에는 충분한 원소가 있어야 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E6830-6EA1-1CD7-A794-FD70A36C560E}"/>
              </a:ext>
            </a:extLst>
          </p:cNvPr>
          <p:cNvSpPr txBox="1"/>
          <p:nvPr/>
        </p:nvSpPr>
        <p:spPr>
          <a:xfrm>
            <a:off x="683568" y="4421430"/>
            <a:ext cx="4464496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matches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inner_product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::plus&lt;&gt;{},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equal_to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&lt;&gt;{});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6E65F-43CE-67C2-A9B2-4D2A2F5628F2}"/>
              </a:ext>
            </a:extLst>
          </p:cNvPr>
          <p:cNvSpPr txBox="1"/>
          <p:nvPr/>
        </p:nvSpPr>
        <p:spPr>
          <a:xfrm>
            <a:off x="4392488" y="5229200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대응 원소가 같으면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정수 합으로 누적됨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2851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67AC-3D05-59EE-9CBF-181D86C6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A12BA-AB0C-8F57-8C78-0F944848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13.9.3 </a:t>
            </a:r>
            <a:r>
              <a:rPr lang="en-US" altLang="ko-KR" dirty="0" err="1"/>
              <a:t>partial_sum</a:t>
            </a:r>
            <a:r>
              <a:rPr lang="ko-KR" altLang="en-US" dirty="0"/>
              <a:t>과 </a:t>
            </a:r>
            <a:r>
              <a:rPr lang="en-US" altLang="ko-KR" dirty="0" err="1"/>
              <a:t>adjacent_difference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CCA4F-4D5A-00B0-068A-F67B01BC4582}"/>
              </a:ext>
            </a:extLst>
          </p:cNvPr>
          <p:cNvSpPr txBox="1"/>
          <p:nvPr/>
        </p:nvSpPr>
        <p:spPr>
          <a:xfrm>
            <a:off x="323528" y="836712"/>
            <a:ext cx="4644008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partial_sum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partial_sum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10 30 60 100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5B7D8-48CA-5F82-B706-0C33CE48876A}"/>
              </a:ext>
            </a:extLst>
          </p:cNvPr>
          <p:cNvSpPr txBox="1"/>
          <p:nvPr/>
        </p:nvSpPr>
        <p:spPr>
          <a:xfrm>
            <a:off x="415752" y="4437112"/>
            <a:ext cx="3652192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adjacent_difference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restored.begin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716F8-83B1-CC7F-70E0-3DB50E017684}"/>
              </a:ext>
            </a:extLst>
          </p:cNvPr>
          <p:cNvSpPr txBox="1"/>
          <p:nvPr/>
        </p:nvSpPr>
        <p:spPr>
          <a:xfrm>
            <a:off x="3347864" y="4775666"/>
            <a:ext cx="5524400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부분 합 결과에 인접 차분 적용 시 원래 값 복원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32C413-D302-4B99-3CF6-84826A4C3199}"/>
              </a:ext>
            </a:extLst>
          </p:cNvPr>
          <p:cNvSpPr txBox="1"/>
          <p:nvPr/>
        </p:nvSpPr>
        <p:spPr>
          <a:xfrm>
            <a:off x="4808240" y="835224"/>
            <a:ext cx="4064024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adjacent_difference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differences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adjacent_difference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differences.begin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→ 10 20 30 40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differences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10 10 10 10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722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562B-C7DC-CCB8-7A26-0979EEA9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F630E-3D52-6156-4D90-8D49642F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13.9.4 reduce</a:t>
            </a:r>
            <a:r>
              <a:rPr lang="ko-KR" altLang="en-US" dirty="0"/>
              <a:t>와 </a:t>
            </a:r>
            <a:r>
              <a:rPr lang="en-US" altLang="ko-KR" dirty="0" err="1"/>
              <a:t>transform_reduce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62E1D-5D52-3BC3-F945-A8A89BCEC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reduce</a:t>
            </a:r>
            <a:r>
              <a:rPr lang="ko-KR" altLang="ko-KR" sz="2400" dirty="0"/>
              <a:t>()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ko-KR" altLang="ko-KR" sz="2400" dirty="0"/>
              <a:t>범위 원소를 하나의 값으로 축약</a:t>
            </a:r>
            <a:endParaRPr lang="en-US" altLang="ko-KR" sz="2400" dirty="0"/>
          </a:p>
          <a:p>
            <a:pPr lvl="0"/>
            <a:r>
              <a:rPr lang="ko-KR" altLang="ko-KR" sz="2400" dirty="0" err="1"/>
              <a:t>reduce</a:t>
            </a:r>
            <a:r>
              <a:rPr lang="ko-KR" altLang="ko-KR" sz="2400" dirty="0"/>
              <a:t>()는 연산 순서를 바꿀 수 있음</a:t>
            </a:r>
          </a:p>
          <a:p>
            <a:pPr lvl="0"/>
            <a:r>
              <a:rPr lang="ko-KR" altLang="ko-KR" sz="2400" dirty="0"/>
              <a:t>재배치해도 결과가 같은 연산인지 확인 필요</a:t>
            </a:r>
          </a:p>
          <a:p>
            <a:pPr lvl="0"/>
            <a:r>
              <a:rPr lang="ko-KR" altLang="ko-KR" sz="2400" dirty="0"/>
              <a:t>부동소수점 합은 순서에 따라 결과가 달라질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FB6F6-FE3A-9954-EEBC-C919C6D4241A}"/>
              </a:ext>
            </a:extLst>
          </p:cNvPr>
          <p:cNvSpPr txBox="1"/>
          <p:nvPr/>
        </p:nvSpPr>
        <p:spPr>
          <a:xfrm>
            <a:off x="539750" y="2708920"/>
            <a:ext cx="7416626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reduce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accumulate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(((0 + 10) + 20) + 30) + 40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reduce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(0 + 10) + (20 + 30) + 40 등 재배치 가능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388B8-4ABE-F450-7B44-5F68CB52621F}"/>
              </a:ext>
            </a:extLst>
          </p:cNvPr>
          <p:cNvSpPr txBox="1"/>
          <p:nvPr/>
        </p:nvSpPr>
        <p:spPr>
          <a:xfrm>
            <a:off x="539750" y="5109215"/>
            <a:ext cx="741662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transform_reduce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              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::plus&lt;&gt;{},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484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82903-BAD7-98EA-AD49-F2F18522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46E6E-0D7F-290E-662A-DEAC0E4E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13.10.2 std::function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93E01-4BA6-78F5-35B9-F36050B6B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서로 다른 호출 가능한 객체를 하나의 타입으로 저장</a:t>
            </a:r>
          </a:p>
          <a:p>
            <a:pPr lvl="0"/>
            <a:r>
              <a:rPr lang="ko-KR" altLang="ko-KR" sz="2400" dirty="0"/>
              <a:t>저장할 호출 형태를 함수 </a:t>
            </a:r>
            <a:r>
              <a:rPr lang="ko-KR" altLang="ko-KR" sz="2400" dirty="0" err="1"/>
              <a:t>시그니처로</a:t>
            </a:r>
            <a:r>
              <a:rPr lang="ko-KR" altLang="ko-KR" sz="2400" dirty="0"/>
              <a:t> 지정</a:t>
            </a:r>
          </a:p>
          <a:p>
            <a:pPr lvl="0"/>
            <a:r>
              <a:rPr lang="ko-KR" altLang="ko-KR" sz="2400" dirty="0" err="1"/>
              <a:t>콜백을</a:t>
            </a:r>
            <a:r>
              <a:rPr lang="ko-KR" altLang="ko-KR" sz="2400" dirty="0"/>
              <a:t> 저장하거나 실행할 함수를 나중에 결정할 때 사용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3C540-C5A9-C377-31C4-02F8AF164539}"/>
              </a:ext>
            </a:extLst>
          </p:cNvPr>
          <p:cNvSpPr txBox="1"/>
          <p:nvPr/>
        </p:nvSpPr>
        <p:spPr>
          <a:xfrm>
            <a:off x="539750" y="2292642"/>
            <a:ext cx="3888234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functional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offset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358610D-A623-8803-9D26-92D92AD55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722167"/>
              </p:ext>
            </p:extLst>
          </p:nvPr>
        </p:nvGraphicFramePr>
        <p:xfrm>
          <a:off x="4355976" y="3789040"/>
          <a:ext cx="4500315" cy="2061080"/>
        </p:xfrm>
        <a:graphic>
          <a:graphicData uri="http://schemas.openxmlformats.org/drawingml/2006/table">
            <a:tbl>
              <a:tblPr/>
              <a:tblGrid>
                <a:gridCol w="1484952">
                  <a:extLst>
                    <a:ext uri="{9D8B030D-6E8A-4147-A177-3AD203B41FA5}">
                      <a16:colId xmlns:a16="http://schemas.microsoft.com/office/drawing/2014/main" val="800375470"/>
                    </a:ext>
                  </a:extLst>
                </a:gridCol>
                <a:gridCol w="3015363">
                  <a:extLst>
                    <a:ext uri="{9D8B030D-6E8A-4147-A177-3AD203B41FA5}">
                      <a16:colId xmlns:a16="http://schemas.microsoft.com/office/drawing/2014/main" val="3259635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항목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내용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654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대상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함수, 함수 객체, 람다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220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방식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동일한 함수 호출 문법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3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빈 상태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9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빈 상태 호출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bad_function_call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예외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489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7480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CDA0-FB84-FBC5-9B21-4199D387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3BD85-36A0-5C3F-4572-2242A884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13.10.2 std::function</a:t>
            </a:r>
            <a:endParaRPr lang="ko-KR" altLang="en-US" dirty="0"/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401CEEEC-32F1-92C4-8042-62EBC2CF9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861776"/>
              </p:ext>
            </p:extLst>
          </p:nvPr>
        </p:nvGraphicFramePr>
        <p:xfrm>
          <a:off x="431639" y="980728"/>
          <a:ext cx="8280722" cy="4878904"/>
        </p:xfrm>
        <a:graphic>
          <a:graphicData uri="http://schemas.openxmlformats.org/drawingml/2006/table">
            <a:tbl>
              <a:tblPr/>
              <a:tblGrid>
                <a:gridCol w="972009">
                  <a:extLst>
                    <a:ext uri="{9D8B030D-6E8A-4147-A177-3AD203B41FA5}">
                      <a16:colId xmlns:a16="http://schemas.microsoft.com/office/drawing/2014/main" val="4131509276"/>
                    </a:ext>
                  </a:extLst>
                </a:gridCol>
                <a:gridCol w="1850173">
                  <a:extLst>
                    <a:ext uri="{9D8B030D-6E8A-4147-A177-3AD203B41FA5}">
                      <a16:colId xmlns:a16="http://schemas.microsoft.com/office/drawing/2014/main" val="2784342887"/>
                    </a:ext>
                  </a:extLst>
                </a:gridCol>
                <a:gridCol w="1927910">
                  <a:extLst>
                    <a:ext uri="{9D8B030D-6E8A-4147-A177-3AD203B41FA5}">
                      <a16:colId xmlns:a16="http://schemas.microsoft.com/office/drawing/2014/main" val="2698495664"/>
                    </a:ext>
                  </a:extLst>
                </a:gridCol>
                <a:gridCol w="3530630">
                  <a:extLst>
                    <a:ext uri="{9D8B030D-6E8A-4147-A177-3AD203B41FA5}">
                      <a16:colId xmlns:a16="http://schemas.microsoft.com/office/drawing/2014/main" val="426218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 포인터</a:t>
                      </a:r>
                      <a:endParaRPr lang="ko-KR" sz="24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함수자(함수 객체)</a:t>
                      </a:r>
                      <a:endParaRPr lang="ko-KR" sz="24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function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853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형태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주소 저장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operator()를 가진 객체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가능한 객체를 저장하는 래퍼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30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 예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(*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)(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struct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FucObj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{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 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void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()(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};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FucObj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std::function&lt;void(int)&gt; callback;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016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예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 = PrintValue;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Printer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PrintValue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Printer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{};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lambda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653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상태저장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1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callback(10);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callback(10);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callback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(10);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728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주요내용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시그니처 함수 저장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상태를 가진 호출 객체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함수·함수자·람다를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같은 호출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시그니처로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저장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800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456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F70F-CCF7-51CC-DAA8-51E5BA3F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BB125-140B-3EF5-CF6F-46C3C6E6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13.10.3 </a:t>
            </a:r>
            <a:r>
              <a:rPr lang="ko-KR" altLang="en-US" dirty="0"/>
              <a:t>타입 소거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972B2-9F12-7D4F-DC66-EEA32FE01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function</a:t>
            </a:r>
            <a:r>
              <a:rPr lang="ko-KR" altLang="ko-KR" sz="2400" dirty="0"/>
              <a:t>&lt;</a:t>
            </a:r>
            <a:r>
              <a:rPr lang="ko-KR" altLang="ko-KR" sz="2400" dirty="0" err="1"/>
              <a:t>void</a:t>
            </a:r>
            <a:r>
              <a:rPr lang="ko-KR" altLang="ko-KR" sz="2400" dirty="0"/>
              <a:t>(</a:t>
            </a:r>
            <a:r>
              <a:rPr lang="ko-KR" altLang="ko-KR" sz="2400" dirty="0" err="1"/>
              <a:t>int</a:t>
            </a:r>
            <a:r>
              <a:rPr lang="ko-KR" altLang="ko-KR" sz="2400" dirty="0"/>
              <a:t>)&gt;</a:t>
            </a:r>
            <a:r>
              <a:rPr lang="ko-KR" altLang="ko-KR" sz="2400" dirty="0" err="1"/>
              <a:t>에</a:t>
            </a:r>
            <a:r>
              <a:rPr lang="ko-KR" altLang="ko-KR" sz="2400" dirty="0"/>
              <a:t> 저장되는 실제 타입은 서로 다름</a:t>
            </a:r>
          </a:p>
          <a:p>
            <a:pPr lvl="0"/>
            <a:r>
              <a:rPr lang="ko-KR" altLang="ko-KR" sz="2400" dirty="0"/>
              <a:t>공통 호출 인터페이스만 남기고 구체 타입을 숨김</a:t>
            </a:r>
          </a:p>
          <a:p>
            <a:pPr lvl="0"/>
            <a:r>
              <a:rPr lang="ko-KR" altLang="ko-KR" sz="2400" dirty="0"/>
              <a:t>이 방식을 타입 소거(</a:t>
            </a:r>
            <a:r>
              <a:rPr lang="ko-KR" altLang="ko-KR" sz="2400" dirty="0" err="1"/>
              <a:t>type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erasure</a:t>
            </a:r>
            <a:r>
              <a:rPr lang="ko-KR" altLang="ko-KR" sz="2400" dirty="0"/>
              <a:t>)</a:t>
            </a:r>
            <a:r>
              <a:rPr lang="ko-KR" altLang="ko-KR" sz="2400" dirty="0" err="1"/>
              <a:t>라고</a:t>
            </a:r>
            <a:r>
              <a:rPr lang="ko-KR" altLang="ko-KR" sz="2400" dirty="0"/>
              <a:t>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0A9CA-110B-708C-BC86-5C57322B622A}"/>
              </a:ext>
            </a:extLst>
          </p:cNvPr>
          <p:cNvSpPr txBox="1"/>
          <p:nvPr/>
        </p:nvSpPr>
        <p:spPr>
          <a:xfrm>
            <a:off x="539749" y="2456125"/>
            <a:ext cx="7273033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)&gt;&amp;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B9515-82FF-D9EF-DB5B-37878D8FF500}"/>
              </a:ext>
            </a:extLst>
          </p:cNvPr>
          <p:cNvSpPr txBox="1"/>
          <p:nvPr/>
        </p:nvSpPr>
        <p:spPr>
          <a:xfrm>
            <a:off x="539749" y="4266117"/>
            <a:ext cx="727253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callback.target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(*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F5770-8CC3-AD99-4764-CCFC002542D6}"/>
              </a:ext>
            </a:extLst>
          </p:cNvPr>
          <p:cNvSpPr txBox="1"/>
          <p:nvPr/>
        </p:nvSpPr>
        <p:spPr>
          <a:xfrm>
            <a:off x="538830" y="3533343"/>
            <a:ext cx="7273032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사용자는 저장된 대상의 타입을 몰라도 호출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5D0073-C48C-DEE0-2FD1-514F69CD874D}"/>
              </a:ext>
            </a:extLst>
          </p:cNvPr>
          <p:cNvSpPr txBox="1"/>
          <p:nvPr/>
        </p:nvSpPr>
        <p:spPr>
          <a:xfrm>
            <a:off x="539327" y="5771574"/>
            <a:ext cx="7272535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일반적인 콜백 코드는 구체 타입을 다시 확인하지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()이 자주 필요하면 설계 재검토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2888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47F20-9077-03CC-B1FC-9A773E6D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DFCBB-3AF9-B340-2A1C-732EA040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13.10.4 </a:t>
            </a:r>
            <a:r>
              <a:rPr lang="ko-KR" altLang="en-US" dirty="0"/>
              <a:t>콜백 인터페이스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53D2D1-E668-2DB1-8DF8-131FCA02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호출 시점</a:t>
            </a:r>
          </a:p>
          <a:p>
            <a:pPr lvl="0"/>
            <a:r>
              <a:rPr lang="ko-KR" altLang="ko-KR" sz="2000" dirty="0"/>
              <a:t>호출 횟수</a:t>
            </a:r>
          </a:p>
          <a:p>
            <a:pPr lvl="0"/>
            <a:r>
              <a:rPr lang="ko-KR" altLang="ko-KR" sz="2000" dirty="0"/>
              <a:t>예외 처리</a:t>
            </a:r>
          </a:p>
          <a:p>
            <a:pPr lvl="0"/>
            <a:r>
              <a:rPr lang="ko-KR" altLang="ko-KR" sz="2000" dirty="0"/>
              <a:t>스레드</a:t>
            </a:r>
          </a:p>
          <a:p>
            <a:pPr lvl="0"/>
            <a:r>
              <a:rPr lang="ko-KR" altLang="ko-KR" sz="2000" dirty="0"/>
              <a:t>캡처 대상의 수명</a:t>
            </a:r>
          </a:p>
          <a:p>
            <a:pPr lvl="0"/>
            <a:r>
              <a:rPr lang="ko-KR" altLang="ko-KR" sz="2000" dirty="0"/>
              <a:t>소유권</a:t>
            </a:r>
          </a:p>
          <a:p>
            <a:pPr lvl="0"/>
            <a:r>
              <a:rPr lang="ko-KR" altLang="ko-KR" sz="2000" dirty="0"/>
              <a:t>해제 방법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6FDE1-D7C4-5373-508A-B202CD7D69A5}"/>
              </a:ext>
            </a:extLst>
          </p:cNvPr>
          <p:cNvSpPr txBox="1"/>
          <p:nvPr/>
        </p:nvSpPr>
        <p:spPr>
          <a:xfrm>
            <a:off x="2843808" y="752689"/>
            <a:ext cx="4780260" cy="452431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Button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ClickHandler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SetOnClick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ClickHandler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handler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onClick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handler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Click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(onClick)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onClick();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ClickHandler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onClick;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7223A-117E-B6E4-6E0B-89EE0101A601}"/>
              </a:ext>
            </a:extLst>
          </p:cNvPr>
          <p:cNvSpPr txBox="1"/>
          <p:nvPr/>
        </p:nvSpPr>
        <p:spPr>
          <a:xfrm>
            <a:off x="5446083" y="4264636"/>
            <a:ext cx="3662421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Button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button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clickCount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button.SetOnClick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([&amp;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clickCount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clickCount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button.Click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71746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4BA70-0765-6E5A-5994-5D767655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78837-B219-A7F6-FC5A-F9190126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13.10.5 std::function</a:t>
            </a:r>
            <a:r>
              <a:rPr lang="ko-KR" altLang="en-US" dirty="0"/>
              <a:t>의 비용과 선택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A4F6C-4C6B-ECF1-EB2D-20332B38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구체 타입을 통하지 않는 간접 호출 가능</a:t>
            </a:r>
          </a:p>
          <a:p>
            <a:pPr lvl="0"/>
            <a:r>
              <a:rPr lang="ko-KR" altLang="ko-KR" sz="2000" dirty="0"/>
              <a:t>큰 함수 객체 저장 시 동적 메모리 할당 가능</a:t>
            </a:r>
          </a:p>
          <a:p>
            <a:pPr lvl="0"/>
            <a:r>
              <a:rPr lang="ko-KR" altLang="ko-KR" sz="2000" dirty="0"/>
              <a:t>복사 시 저장된 호출 대상도 복사</a:t>
            </a:r>
          </a:p>
          <a:p>
            <a:pPr lvl="0"/>
            <a:r>
              <a:rPr lang="ko-KR" altLang="ko-KR" sz="2000" dirty="0"/>
              <a:t>호출 경로가 성능에 민감하면 측정 필요</a:t>
            </a:r>
          </a:p>
          <a:p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EAE565-4931-E9C9-7E89-D7C031BCB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97612"/>
              </p:ext>
            </p:extLst>
          </p:nvPr>
        </p:nvGraphicFramePr>
        <p:xfrm>
          <a:off x="539750" y="2368691"/>
          <a:ext cx="6336506" cy="2479392"/>
        </p:xfrm>
        <a:graphic>
          <a:graphicData uri="http://schemas.openxmlformats.org/drawingml/2006/table">
            <a:tbl>
              <a:tblPr/>
              <a:tblGrid>
                <a:gridCol w="3168154">
                  <a:extLst>
                    <a:ext uri="{9D8B030D-6E8A-4147-A177-3AD203B41FA5}">
                      <a16:colId xmlns:a16="http://schemas.microsoft.com/office/drawing/2014/main" val="798198409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1812575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요구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우선 검토 방식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80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시점에 호출 타입 결정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템플릿, 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auto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81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함수 주소만 필요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포인터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19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다양한 복사 가능 호출 대상 저장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function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167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전용 호출 대상 필요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전용 콜백 래퍼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8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비용이 매우 민감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템플릿 또는 함수 포인터 + 측정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4363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7ACBD3E-C2F5-6159-64AF-2A7911A2BA82}"/>
              </a:ext>
            </a:extLst>
          </p:cNvPr>
          <p:cNvSpPr txBox="1"/>
          <p:nvPr/>
        </p:nvSpPr>
        <p:spPr>
          <a:xfrm>
            <a:off x="531862" y="4996822"/>
            <a:ext cx="6333182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)]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7696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AA1F-48EF-D019-2EF1-35E89110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6721D-6C8B-F0FE-0046-F32C56F1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13.11 Ranges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90A091-32E1-134D-3638-F1A926778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C++20</a:t>
            </a:r>
          </a:p>
          <a:p>
            <a:pPr lvl="0"/>
            <a:r>
              <a:rPr lang="ko-KR" altLang="ko-KR" sz="2400" dirty="0"/>
              <a:t>반복자 쌍뿐 아니라 범위 객체를 알고리즘에 전달</a:t>
            </a:r>
          </a:p>
          <a:p>
            <a:pPr lvl="0"/>
            <a:r>
              <a:rPr lang="ko-KR" altLang="ko-KR" sz="2400" dirty="0" err="1"/>
              <a:t>View를</a:t>
            </a:r>
            <a:r>
              <a:rPr lang="ko-KR" altLang="ko-KR" sz="2400" dirty="0"/>
              <a:t> 조합해 처리 과정을 표현</a:t>
            </a:r>
          </a:p>
          <a:p>
            <a:pPr lvl="0"/>
            <a:r>
              <a:rPr lang="ko-KR" altLang="ko-KR" sz="2400" dirty="0"/>
              <a:t>기존 알고리즘을 대체하는 기능이 아니라 범위 인터페이스 확장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E8306-4D59-04D7-72A1-EAF9E9527836}"/>
              </a:ext>
            </a:extLst>
          </p:cNvPr>
          <p:cNvSpPr txBox="1"/>
          <p:nvPr/>
        </p:nvSpPr>
        <p:spPr>
          <a:xfrm>
            <a:off x="395536" y="2715835"/>
            <a:ext cx="763265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algorithm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78706-1525-C58F-86F9-01F816A990BB}"/>
              </a:ext>
            </a:extLst>
          </p:cNvPr>
          <p:cNvSpPr txBox="1"/>
          <p:nvPr/>
        </p:nvSpPr>
        <p:spPr>
          <a:xfrm>
            <a:off x="395536" y="5024159"/>
            <a:ext cx="763265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begin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반복 작성 감소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Concepts로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요구 조건 표현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조건이 맞지 않을 때 진단이 더 직접적일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CB646-09EF-BEF8-FA3F-A990CD9AC9D8}"/>
              </a:ext>
            </a:extLst>
          </p:cNvPr>
          <p:cNvSpPr txBox="1"/>
          <p:nvPr/>
        </p:nvSpPr>
        <p:spPr>
          <a:xfrm>
            <a:off x="4355604" y="3023612"/>
            <a:ext cx="4752528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sort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// 임의 접근 범위 아님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0138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8F63B-533D-2633-3137-40154B79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6D14C-0F90-9E39-B225-0F24DC3D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13.11.4 View</a:t>
            </a:r>
            <a:r>
              <a:rPr lang="ko-KR" altLang="en-US" dirty="0"/>
              <a:t>와 지연 평가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55D9D1-3E12-AB4A-7D86-1124B29E6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View는</a:t>
            </a:r>
            <a:r>
              <a:rPr lang="ko-KR" altLang="ko-KR" sz="2400" dirty="0"/>
              <a:t> 범위의 순회 방법이나 변환 규칙을 표현</a:t>
            </a:r>
          </a:p>
          <a:p>
            <a:pPr lvl="0"/>
            <a:r>
              <a:rPr lang="ko-KR" altLang="ko-KR" sz="2400" dirty="0"/>
              <a:t>원소를 소유하지 않는 가벼운 범위인 경우가 많음</a:t>
            </a:r>
          </a:p>
          <a:p>
            <a:pPr lvl="0"/>
            <a:r>
              <a:rPr lang="ko-KR" altLang="ko-KR" sz="2400" dirty="0"/>
              <a:t>실제 순회 시 필터와 변환 수행</a:t>
            </a:r>
          </a:p>
          <a:p>
            <a:pPr lvl="0"/>
            <a:r>
              <a:rPr lang="ko-KR" altLang="ko-KR" sz="2400" dirty="0"/>
              <a:t>지연 평가(</a:t>
            </a:r>
            <a:r>
              <a:rPr lang="ko-KR" altLang="ko-KR" sz="2400" dirty="0" err="1"/>
              <a:t>lazy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evaluation</a:t>
            </a:r>
            <a:r>
              <a:rPr lang="ko-KR" altLang="ko-KR" sz="2400" dirty="0"/>
              <a:t>)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AE600-724B-0852-3E8C-C6E9BD351C2B}"/>
              </a:ext>
            </a:extLst>
          </p:cNvPr>
          <p:cNvSpPr txBox="1"/>
          <p:nvPr/>
        </p:nvSpPr>
        <p:spPr>
          <a:xfrm>
            <a:off x="539750" y="2708920"/>
            <a:ext cx="7560642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evenValues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%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transform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09C74-C01B-E46B-0FBE-B4A97F891A5E}"/>
              </a:ext>
            </a:extLst>
          </p:cNvPr>
          <p:cNvSpPr txBox="1"/>
          <p:nvPr/>
        </p:nvSpPr>
        <p:spPr>
          <a:xfrm>
            <a:off x="539750" y="5777676"/>
            <a:ext cx="756064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중간 결과 컨테이너를 만들지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 범위의 수명과 무효화 규칙에 의존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6727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838B-D7DA-9418-B95D-9C79BE3D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10CF3-2189-28F7-2D2D-D6CF425A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13.11.6 View</a:t>
            </a:r>
            <a:r>
              <a:rPr lang="ko-KR" altLang="en-US" dirty="0"/>
              <a:t>와 반환 반복자의 수명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FA9E3-4819-D020-E097-60EF6614A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많은 </a:t>
            </a:r>
            <a:r>
              <a:rPr lang="ko-KR" altLang="ko-KR" sz="2000" dirty="0" err="1"/>
              <a:t>View는</a:t>
            </a:r>
            <a:r>
              <a:rPr lang="ko-KR" altLang="ko-KR" sz="2000" dirty="0"/>
              <a:t> 원본 범위를 참조</a:t>
            </a:r>
          </a:p>
          <a:p>
            <a:pPr lvl="0"/>
            <a:r>
              <a:rPr lang="ko-KR" altLang="ko-KR" sz="2000" dirty="0"/>
              <a:t>원본이 소멸하면 </a:t>
            </a:r>
            <a:r>
              <a:rPr lang="ko-KR" altLang="ko-KR" sz="2000" dirty="0" err="1"/>
              <a:t>View를</a:t>
            </a:r>
            <a:r>
              <a:rPr lang="ko-KR" altLang="ko-KR" sz="2000" dirty="0"/>
              <a:t> 사용할 수 없음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D3805-CB9B-A639-7146-EFF50228AC96}"/>
              </a:ext>
            </a:extLst>
          </p:cNvPr>
          <p:cNvSpPr txBox="1"/>
          <p:nvPr/>
        </p:nvSpPr>
        <p:spPr>
          <a:xfrm>
            <a:off x="539750" y="1628800"/>
            <a:ext cx="799269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MakeInvalidView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%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8AA3D-D845-6542-657E-819DAD699401}"/>
              </a:ext>
            </a:extLst>
          </p:cNvPr>
          <p:cNvSpPr txBox="1"/>
          <p:nvPr/>
        </p:nvSpPr>
        <p:spPr>
          <a:xfrm>
            <a:off x="2699792" y="3613958"/>
            <a:ext cx="5832648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 종료 후 지역 벡터 소멸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반환된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View가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지역 벡터를 참조하면 유효한 원소 없음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4604B-177A-49A0-FBFD-9D9D7210681B}"/>
              </a:ext>
            </a:extLst>
          </p:cNvPr>
          <p:cNvSpPr txBox="1"/>
          <p:nvPr/>
        </p:nvSpPr>
        <p:spPr>
          <a:xfrm>
            <a:off x="543818" y="4728563"/>
            <a:ext cx="7988622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decltype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 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dangling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99485-870C-0657-5679-2309BC01554F}"/>
              </a:ext>
            </a:extLst>
          </p:cNvPr>
          <p:cNvSpPr txBox="1"/>
          <p:nvPr/>
        </p:nvSpPr>
        <p:spPr>
          <a:xfrm>
            <a:off x="539750" y="5313402"/>
            <a:ext cx="7988622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임시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범위에서 안전하지 않은 반복자 반환을 막기 위한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dangling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이름이 있는 컨테이너는 호출 뒤에도 살아 있으므로 반복자 반환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01742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4FF9-ACA6-8A4F-4AFA-D876DEC4C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48870-88EB-C8DB-97C4-6AD13925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13.12 </a:t>
            </a:r>
            <a:r>
              <a:rPr lang="ko-KR" altLang="en-US" dirty="0"/>
              <a:t>알고리즘 선택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F5A7AD-9368-9CEE-EBBC-95C69F860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30000"/>
              </a:lnSpc>
            </a:pPr>
            <a:r>
              <a:rPr lang="ko-KR" altLang="ko-KR" sz="2400" dirty="0"/>
              <a:t>원하는 결과만 보지 않음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반복자 범주 확인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정렬 사전 조건 확인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목적지 크기 확인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원소 이동 비용 확인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메모리 사용 확인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반복자 무효화 확인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원본 범위 수명 확인</a:t>
            </a:r>
            <a:endParaRPr lang="en-US" altLang="ko-KR" sz="2400" dirty="0"/>
          </a:p>
          <a:p>
            <a:pPr lvl="0">
              <a:lnSpc>
                <a:spcPct val="130000"/>
              </a:lnSpc>
            </a:pPr>
            <a:r>
              <a:rPr lang="en-US" altLang="ko-KR" sz="2400" dirty="0"/>
              <a:t>※ </a:t>
            </a:r>
            <a:r>
              <a:rPr lang="ko-KR" altLang="ko-KR" sz="2400" dirty="0" err="1"/>
              <a:t>컴파일된다는</a:t>
            </a:r>
            <a:r>
              <a:rPr lang="ko-KR" altLang="ko-KR" sz="2400" dirty="0"/>
              <a:t> 사실만으로 논리적 사전 조건이 충족된 것은 아님</a:t>
            </a:r>
          </a:p>
          <a:p>
            <a:endParaRPr lang="ko-KR" altLang="en-US" sz="2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4578E6D-182F-BADD-2E09-1F13AAF4E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536438"/>
              </p:ext>
            </p:extLst>
          </p:nvPr>
        </p:nvGraphicFramePr>
        <p:xfrm>
          <a:off x="3419872" y="1628800"/>
          <a:ext cx="5472608" cy="2662272"/>
        </p:xfrm>
        <a:graphic>
          <a:graphicData uri="http://schemas.openxmlformats.org/drawingml/2006/table">
            <a:tbl>
              <a:tblPr/>
              <a:tblGrid>
                <a:gridCol w="3096344">
                  <a:extLst>
                    <a:ext uri="{9D8B030D-6E8A-4147-A177-3AD203B41FA5}">
                      <a16:colId xmlns:a16="http://schemas.microsoft.com/office/drawing/2014/main" val="599003058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421605144"/>
                    </a:ext>
                  </a:extLst>
                </a:gridCol>
              </a:tblGrid>
              <a:tr h="30872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알고리즘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필요한 대표 반복자 능력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14955"/>
                  </a:ext>
                </a:extLst>
              </a:tr>
              <a:tr h="3572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find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count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accumulate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입력 반복자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62464"/>
                  </a:ext>
                </a:extLst>
              </a:tr>
              <a:tr h="3572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copy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목적지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출력 반복자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7060"/>
                  </a:ext>
                </a:extLst>
              </a:tr>
              <a:tr h="3572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unique, remove</a:t>
                      </a:r>
                      <a:endParaRPr lang="ko-KR" sz="3600" b="1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순방향 반복자 이상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03921"/>
                  </a:ext>
                </a:extLst>
              </a:tr>
              <a:tr h="3572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reverse</a:t>
                      </a:r>
                      <a:endParaRPr lang="ko-KR" sz="3600" b="1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양방향 반복자 이상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8893"/>
                  </a:ext>
                </a:extLst>
              </a:tr>
              <a:tr h="3572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nth_element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임의 접근 반복자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9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283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B3431-BDF3-E265-AEF6-A65C3A08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41DCC-0F97-B9F3-A243-4805B43C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13.12.2 </a:t>
            </a:r>
            <a:r>
              <a:rPr lang="ko-KR" altLang="en-US" dirty="0"/>
              <a:t>시간 복잡도와 메모리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C5387C-1F2D-2EF0-31A4-E04AEBD3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이론적 복잡도만으로 실제 성능을 결정할 수 없음</a:t>
            </a:r>
          </a:p>
          <a:p>
            <a:pPr lvl="0"/>
            <a:r>
              <a:rPr lang="ko-KR" altLang="ko-KR" sz="2000" dirty="0"/>
              <a:t>벡터의 연속 메모리와 캐시 지역성</a:t>
            </a:r>
          </a:p>
          <a:p>
            <a:pPr lvl="0"/>
            <a:r>
              <a:rPr lang="ko-KR" altLang="ko-KR" sz="2000" dirty="0"/>
              <a:t>리스트의 노드 할당</a:t>
            </a:r>
          </a:p>
          <a:p>
            <a:pPr lvl="0"/>
            <a:r>
              <a:rPr lang="ko-KR" altLang="ko-KR" sz="2000" dirty="0"/>
              <a:t>함수 객체 인라인화</a:t>
            </a:r>
          </a:p>
          <a:p>
            <a:pPr lvl="0"/>
            <a:r>
              <a:rPr lang="ko-KR" altLang="ko-KR" sz="2000" dirty="0"/>
              <a:t>원소 이동 비용</a:t>
            </a:r>
          </a:p>
          <a:p>
            <a:pPr lvl="0"/>
            <a:r>
              <a:rPr lang="ko-KR" altLang="ko-KR" sz="2000" dirty="0"/>
              <a:t>컴파일 옵션</a:t>
            </a:r>
          </a:p>
          <a:p>
            <a:pPr lvl="0"/>
            <a:r>
              <a:rPr lang="ko-KR" altLang="ko-KR" sz="2000" dirty="0"/>
              <a:t>데이터 크기와 연산 비율</a:t>
            </a:r>
          </a:p>
          <a:p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BD8BB2E-CE8D-9514-1335-744006533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12915"/>
              </p:ext>
            </p:extLst>
          </p:nvPr>
        </p:nvGraphicFramePr>
        <p:xfrm>
          <a:off x="611561" y="3429000"/>
          <a:ext cx="5904655" cy="2897704"/>
        </p:xfrm>
        <a:graphic>
          <a:graphicData uri="http://schemas.openxmlformats.org/drawingml/2006/table">
            <a:tbl>
              <a:tblPr/>
              <a:tblGrid>
                <a:gridCol w="1875595">
                  <a:extLst>
                    <a:ext uri="{9D8B030D-6E8A-4147-A177-3AD203B41FA5}">
                      <a16:colId xmlns:a16="http://schemas.microsoft.com/office/drawing/2014/main" val="575494527"/>
                    </a:ext>
                  </a:extLst>
                </a:gridCol>
                <a:gridCol w="1806129">
                  <a:extLst>
                    <a:ext uri="{9D8B030D-6E8A-4147-A177-3AD203B41FA5}">
                      <a16:colId xmlns:a16="http://schemas.microsoft.com/office/drawing/2014/main" val="2716860452"/>
                    </a:ext>
                  </a:extLst>
                </a:gridCol>
                <a:gridCol w="2222931">
                  <a:extLst>
                    <a:ext uri="{9D8B030D-6E8A-4147-A177-3AD203B41FA5}">
                      <a16:colId xmlns:a16="http://schemas.microsoft.com/office/drawing/2014/main" val="4206516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목적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선택 후보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911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 정렬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sort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범용 정렬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588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안정 정렬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stable_sort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동등 원소 순서 유지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669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상위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n개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정렬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partial_sort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앞부분만 정렬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76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n번째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원소와 분할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nth_element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전체 순서 불필요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179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정렬 범위 존재 확인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binary_search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위치 반환 없음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852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 원소 제거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erase_if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컨테이너에 맞는 제거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4029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E483DFA-BFCF-CCE0-401D-21D17C887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307199"/>
              </p:ext>
            </p:extLst>
          </p:nvPr>
        </p:nvGraphicFramePr>
        <p:xfrm>
          <a:off x="5652120" y="1006475"/>
          <a:ext cx="3109714" cy="2108200"/>
        </p:xfrm>
        <a:graphic>
          <a:graphicData uri="http://schemas.openxmlformats.org/drawingml/2006/table">
            <a:tbl>
              <a:tblPr/>
              <a:tblGrid>
                <a:gridCol w="3109714">
                  <a:extLst>
                    <a:ext uri="{9D8B030D-6E8A-4147-A177-3AD203B41FA5}">
                      <a16:colId xmlns:a16="http://schemas.microsoft.com/office/drawing/2014/main" val="4075502643"/>
                    </a:ext>
                  </a:extLst>
                </a:gridCol>
              </a:tblGrid>
              <a:tr h="1656184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3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알고리즘 선택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자료 구조와 사전 조건 확인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필요하면 실제 데이터로 측정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916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7203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35BE-902C-28FB-43CD-55F83D5B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B2E85-0367-392C-47AA-A278E9CE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13.12.3 </a:t>
            </a:r>
            <a:r>
              <a:rPr lang="ko-KR" altLang="en-US" dirty="0"/>
              <a:t>직접 반복문과 표준 알고리즘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08CA5-6A54-6B1E-FC37-A8B101358A37}"/>
              </a:ext>
            </a:extLst>
          </p:cNvPr>
          <p:cNvSpPr txBox="1"/>
          <p:nvPr/>
        </p:nvSpPr>
        <p:spPr>
          <a:xfrm>
            <a:off x="467544" y="764704"/>
            <a:ext cx="7056784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표준 알고리즘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hasNegative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any_of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[](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066D7F-FDB6-4D2E-F2D6-D397C546B6B3}"/>
              </a:ext>
            </a:extLst>
          </p:cNvPr>
          <p:cNvSpPr txBox="1"/>
          <p:nvPr/>
        </p:nvSpPr>
        <p:spPr>
          <a:xfrm>
            <a:off x="467544" y="2578368"/>
            <a:ext cx="7056784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직접 반복문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positiveCount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negativeCount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positiveCount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negativeCount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30FEC-3D29-ABB1-38E7-F4B69C2D2C21}"/>
              </a:ext>
            </a:extLst>
          </p:cNvPr>
          <p:cNvSpPr txBox="1"/>
          <p:nvPr/>
        </p:nvSpPr>
        <p:spPr>
          <a:xfrm>
            <a:off x="3635896" y="1925186"/>
            <a:ext cx="518457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작업의 목적이 알고리즘 이름에 드러남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23A59-643F-6E39-2B73-F3C8F432CFE4}"/>
              </a:ext>
            </a:extLst>
          </p:cNvPr>
          <p:cNvSpPr txBox="1"/>
          <p:nvPr/>
        </p:nvSpPr>
        <p:spPr>
          <a:xfrm>
            <a:off x="3635896" y="4337809"/>
            <a:ext cx="518457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여러 상태를 동시에 갱신할 때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직접 반복문이 더 명확할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검색, 변환, 복사, 정렬은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표준 알고리즘이 의도를 드러내는 경우가 많음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03912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9ABF-BBB1-440C-27BB-1B8F8DAB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B55B1-11F9-03A8-2E63-35BD084F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13.13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ED788E-6E03-7E41-AEC8-F502565BB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반복자는 컨테이너와 알고리즘 사이에서 원소 위치와 범위를 표현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[first, last) </a:t>
            </a:r>
            <a:r>
              <a:rPr lang="ko-KR" altLang="en-US" sz="2400" dirty="0"/>
              <a:t>반 개방 구간은 빈 범위와 부분 범위를 일관되게 표현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반복자 범주에 따라 사용할 수 있는 알고리즘과 비용이 달라짐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입력과 출력 반복자는 단일 순회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순방향 반복자부터 다중 순회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임의 접근 반복자는 일정 거리 이동과 거리 계산을 상수 시간에 수행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연속 반복자는 원소의 연속 메모리 배치를 보장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반복자 무효화는 컨테이너 변경 후 기존 위치를 사용할 수 있는지 결정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함수 포인터</a:t>
            </a:r>
            <a:r>
              <a:rPr lang="en-US" altLang="ko-KR" sz="2400" dirty="0"/>
              <a:t>, </a:t>
            </a:r>
            <a:r>
              <a:rPr lang="ko-KR" altLang="en-US" sz="2400" dirty="0"/>
              <a:t>함수 객체</a:t>
            </a:r>
            <a:r>
              <a:rPr lang="en-US" altLang="ko-KR" sz="2400" dirty="0"/>
              <a:t>, </a:t>
            </a:r>
            <a:r>
              <a:rPr lang="ko-KR" altLang="en-US" sz="2400" dirty="0"/>
              <a:t>람다는 호출 가능한 객체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람다 표현식은 고유한 </a:t>
            </a:r>
            <a:r>
              <a:rPr lang="ko-KR" altLang="en-US" sz="2400" dirty="0" err="1"/>
              <a:t>클로저</a:t>
            </a:r>
            <a:r>
              <a:rPr lang="ko-KR" altLang="en-US" sz="2400" dirty="0"/>
              <a:t> 타입의 객체 생성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값 캡처와 참조 캡처는 수명과 소유권 의미가 다름</a:t>
            </a:r>
          </a:p>
        </p:txBody>
      </p:sp>
    </p:spTree>
    <p:extLst>
      <p:ext uri="{BB962C8B-B14F-4D97-AF65-F5344CB8AC3E}">
        <p14:creationId xmlns:p14="http://schemas.microsoft.com/office/powerpoint/2010/main" val="25244020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1A556-B311-42F9-BB0F-5FAD7350B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478AC-A6A7-BA4C-23BB-CA53898C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13.13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306FA9-1FAC-9FC8-9402-C1F159A4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검색 알고리즘은 값을 찾거나 조건을 검사</a:t>
            </a:r>
          </a:p>
          <a:p>
            <a:r>
              <a:rPr lang="ko-KR" altLang="en-US" sz="2400" dirty="0"/>
              <a:t>정렬과 이진 탐색은 비교 규칙과 정렬 사전 조건 필요</a:t>
            </a:r>
          </a:p>
          <a:p>
            <a:r>
              <a:rPr lang="en-US" altLang="ko-KR" sz="2400" dirty="0"/>
              <a:t>remove(), </a:t>
            </a:r>
            <a:r>
              <a:rPr lang="en-US" altLang="ko-KR" sz="2400" dirty="0" err="1"/>
              <a:t>remove_if</a:t>
            </a:r>
            <a:r>
              <a:rPr lang="en-US" altLang="ko-KR" sz="2400" dirty="0"/>
              <a:t>(), unique()</a:t>
            </a:r>
            <a:r>
              <a:rPr lang="ko-KR" altLang="en-US" sz="2400" dirty="0"/>
              <a:t>는 컨테이너 크기를 줄이지 않음</a:t>
            </a:r>
          </a:p>
          <a:p>
            <a:r>
              <a:rPr lang="ko-KR" altLang="en-US" sz="2400" dirty="0"/>
              <a:t>실제 제거에는 </a:t>
            </a:r>
            <a:r>
              <a:rPr lang="en-US" altLang="ko-KR" sz="2400" dirty="0"/>
              <a:t>erase() </a:t>
            </a:r>
            <a:r>
              <a:rPr lang="ko-KR" altLang="en-US" sz="2400" dirty="0"/>
              <a:t>또는 </a:t>
            </a:r>
            <a:r>
              <a:rPr lang="en-US" altLang="ko-KR" sz="2400" dirty="0"/>
              <a:t>C++20 std::</a:t>
            </a:r>
            <a:r>
              <a:rPr lang="en-US" altLang="ko-KR" sz="2400" dirty="0" err="1"/>
              <a:t>erase_if</a:t>
            </a:r>
            <a:r>
              <a:rPr lang="en-US" altLang="ko-KR" sz="2400" dirty="0"/>
              <a:t>() </a:t>
            </a:r>
            <a:r>
              <a:rPr lang="ko-KR" altLang="en-US" sz="2400" dirty="0"/>
              <a:t>사용</a:t>
            </a:r>
          </a:p>
          <a:p>
            <a:r>
              <a:rPr lang="en-US" altLang="ko-KR" sz="2400" dirty="0"/>
              <a:t>accumulate()</a:t>
            </a:r>
            <a:r>
              <a:rPr lang="ko-KR" altLang="en-US" sz="2400" dirty="0"/>
              <a:t>는 왼쪽부터 순서대로 누적</a:t>
            </a:r>
          </a:p>
          <a:p>
            <a:r>
              <a:rPr lang="en-US" altLang="ko-KR" sz="2400" dirty="0"/>
              <a:t>reduce()</a:t>
            </a:r>
            <a:r>
              <a:rPr lang="ko-KR" altLang="en-US" sz="2400" dirty="0"/>
              <a:t>는 연산 순서를 바꿀 수 있음</a:t>
            </a:r>
          </a:p>
          <a:p>
            <a:r>
              <a:rPr lang="en-US" altLang="ko-KR" sz="2400" dirty="0"/>
              <a:t>std::function</a:t>
            </a:r>
            <a:r>
              <a:rPr lang="ko-KR" altLang="en-US" sz="2400" dirty="0"/>
              <a:t>은 복사 가능한 호출 대상을 하나의 </a:t>
            </a:r>
            <a:r>
              <a:rPr lang="ko-KR" altLang="en-US" sz="2400" dirty="0" err="1"/>
              <a:t>시그니처로</a:t>
            </a:r>
            <a:r>
              <a:rPr lang="ko-KR" altLang="en-US" sz="2400" dirty="0"/>
              <a:t> 저장하는 타입 소거 래퍼</a:t>
            </a:r>
          </a:p>
          <a:p>
            <a:r>
              <a:rPr lang="en-US" altLang="ko-KR" sz="2400" dirty="0"/>
              <a:t>C++20 Ranges </a:t>
            </a:r>
            <a:r>
              <a:rPr lang="ko-KR" altLang="en-US" sz="2400" dirty="0"/>
              <a:t>알고리즘은 범위를 직접 받을 수 있음</a:t>
            </a:r>
          </a:p>
          <a:p>
            <a:r>
              <a:rPr lang="en-US" altLang="ko-KR" sz="2400" dirty="0"/>
              <a:t>Projection</a:t>
            </a:r>
            <a:r>
              <a:rPr lang="ko-KR" altLang="en-US" sz="2400" dirty="0"/>
              <a:t>은 원소에서 비교할 값을 분리</a:t>
            </a:r>
          </a:p>
          <a:p>
            <a:r>
              <a:rPr lang="en-US" altLang="ko-KR" sz="2400" dirty="0"/>
              <a:t>View</a:t>
            </a:r>
            <a:r>
              <a:rPr lang="ko-KR" altLang="en-US" sz="2400" dirty="0"/>
              <a:t>는 필터와 변환을 지연 평가</a:t>
            </a:r>
          </a:p>
          <a:p>
            <a:r>
              <a:rPr lang="en-US" altLang="ko-KR" sz="2400" dirty="0"/>
              <a:t>View</a:t>
            </a:r>
            <a:r>
              <a:rPr lang="ko-KR" altLang="en-US" sz="2400" dirty="0"/>
              <a:t>와 반환 반복자는 원본 범위의 수명에 의존할 수 있음</a:t>
            </a:r>
          </a:p>
          <a:p>
            <a:r>
              <a:rPr lang="ko-KR" altLang="en-US" sz="2400" dirty="0"/>
              <a:t>알고리즘은 이름보다 사전 조건</a:t>
            </a:r>
            <a:r>
              <a:rPr lang="en-US" altLang="ko-KR" sz="2400" dirty="0"/>
              <a:t>, </a:t>
            </a:r>
            <a:r>
              <a:rPr lang="ko-KR" altLang="en-US" sz="2400" dirty="0"/>
              <a:t>반복자 범주</a:t>
            </a:r>
            <a:r>
              <a:rPr lang="en-US" altLang="ko-KR" sz="2400" dirty="0"/>
              <a:t>, </a:t>
            </a:r>
            <a:r>
              <a:rPr lang="ko-KR" altLang="en-US" sz="2400"/>
              <a:t>수명과 비용 등을 </a:t>
            </a:r>
            <a:r>
              <a:rPr lang="ko-KR" altLang="en-US" sz="2400" dirty="0"/>
              <a:t>고려</a:t>
            </a:r>
          </a:p>
        </p:txBody>
      </p:sp>
    </p:spTree>
    <p:extLst>
      <p:ext uri="{BB962C8B-B14F-4D97-AF65-F5344CB8AC3E}">
        <p14:creationId xmlns:p14="http://schemas.microsoft.com/office/powerpoint/2010/main" val="293650128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solidFill>
          <a:schemeClr val="bg1"/>
        </a:solidFill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600" b="0" i="0" u="none" strike="noStrike" dirty="0" err="1">
            <a:solidFill>
              <a:srgbClr val="C18401"/>
            </a:solidFill>
            <a:effectLst/>
            <a:latin typeface="Pretendard ExtraBold" panose="02000903000000020004" pitchFamily="50" charset="-127"/>
            <a:ea typeface="Pretendard ExtraBold" panose="02000903000000020004" pitchFamily="50" charset="-127"/>
            <a:cs typeface="Pretendard ExtraBold" panose="02000903000000020004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13245</TotalTime>
  <Words>7332</Words>
  <Application>Microsoft Office PowerPoint</Application>
  <PresentationFormat>화면 슬라이드 쇼(4:3)</PresentationFormat>
  <Paragraphs>651</Paragraphs>
  <Slides>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4" baseType="lpstr">
      <vt:lpstr>나눔고딕 ExtraBold</vt:lpstr>
      <vt:lpstr>굴림</vt:lpstr>
      <vt:lpstr>나눔바른고딕</vt:lpstr>
      <vt:lpstr>Wingdings</vt:lpstr>
      <vt:lpstr>Pretendard ExtraBold</vt:lpstr>
      <vt:lpstr>HY견고딕</vt:lpstr>
      <vt:lpstr>가을체</vt:lpstr>
      <vt:lpstr>Arial</vt:lpstr>
      <vt:lpstr>Consolas</vt:lpstr>
      <vt:lpstr>기본 디자인</vt:lpstr>
      <vt:lpstr>13. 반복자, 함수 객체, 람다와 알고리즘</vt:lpstr>
      <vt:lpstr>13. 반복자, 함수 객체, 람다와 알고리즘</vt:lpstr>
      <vt:lpstr>13.1 반복자의 개념</vt:lpstr>
      <vt:lpstr>13.1.2 반복 구간과 반 개방 구간</vt:lpstr>
      <vt:lpstr>13.1.3 begin, end와 범위</vt:lpstr>
      <vt:lpstr>13.1.4 const_iterator와 반복자의 const</vt:lpstr>
      <vt:lpstr>13.2 반복자 범주</vt:lpstr>
      <vt:lpstr>13.2.3 순방향·양방향 반복자</vt:lpstr>
      <vt:lpstr>13.2.5 임의 접근 반복자와 연속 반복자</vt:lpstr>
      <vt:lpstr>13.3 반복자 도구</vt:lpstr>
      <vt:lpstr>13.3.3 역방향 반복자</vt:lpstr>
      <vt:lpstr>13.3.4 삽입 반복자</vt:lpstr>
      <vt:lpstr>13.3.5 스트림 반복자</vt:lpstr>
      <vt:lpstr>13.3.6 반복 중 변경과 반복자 무효화</vt:lpstr>
      <vt:lpstr>13.4 함수 객체와 호출 가능한 객체</vt:lpstr>
      <vt:lpstr>13.4.2 함수 호출 연산자</vt:lpstr>
      <vt:lpstr>13.4.3 상태를 가진 함수 객체</vt:lpstr>
      <vt:lpstr>13.4.5 std::invoke와 멤버 포인터</vt:lpstr>
      <vt:lpstr>13.5.2 값 캡처와 참조 캡처</vt:lpstr>
      <vt:lpstr>13.5.3 초기화 캡처와 mutable</vt:lpstr>
      <vt:lpstr>13.5.5 반환 형식과 제네릭 람다</vt:lpstr>
      <vt:lpstr>13.5.7 클로저 타입과 클로저 객체</vt:lpstr>
      <vt:lpstr>13.5.8 람다 캡처와 객체 수명</vt:lpstr>
      <vt:lpstr>13.6 검색과 판정 알고리즘</vt:lpstr>
      <vt:lpstr>13.6.1 find와 find_if</vt:lpstr>
      <vt:lpstr>13.6.2 count와 all_of 계열</vt:lpstr>
      <vt:lpstr>13.7 정렬과 탐색 알고리즘</vt:lpstr>
      <vt:lpstr>13.7.1 sort와 stable_sort</vt:lpstr>
      <vt:lpstr>13.7.3 lower_bound, upper_bound, equal_range</vt:lpstr>
      <vt:lpstr>13.7.4 binary_search와 정렬 사전 조건</vt:lpstr>
      <vt:lpstr>13.8 복사, 이동, 변환과 제거</vt:lpstr>
      <vt:lpstr>13.8.1 copy와 move</vt:lpstr>
      <vt:lpstr>13.8.2 transform</vt:lpstr>
      <vt:lpstr>13.8.3 remove와 remove_if</vt:lpstr>
      <vt:lpstr>13.8.4 erase-remove와 std::erase_if</vt:lpstr>
      <vt:lpstr>13.8.5 unique와 연속 중복 제거</vt:lpstr>
      <vt:lpstr>13.9 수치 알고리즘</vt:lpstr>
      <vt:lpstr>13.9.1 accumulate</vt:lpstr>
      <vt:lpstr>13.9.2 inner_product</vt:lpstr>
      <vt:lpstr>13.9.3 partial_sum과 adjacent_difference</vt:lpstr>
      <vt:lpstr>13.9.4 reduce와 transform_reduce</vt:lpstr>
      <vt:lpstr>13.10.2 std::function</vt:lpstr>
      <vt:lpstr>13.10.2 std::function</vt:lpstr>
      <vt:lpstr>13.10.3 타입 소거</vt:lpstr>
      <vt:lpstr>13.10.4 콜백 인터페이스 설계</vt:lpstr>
      <vt:lpstr>13.10.5 std::function의 비용과 선택 기준</vt:lpstr>
      <vt:lpstr>13.11 Ranges</vt:lpstr>
      <vt:lpstr>13.11.4 View와 지연 평가</vt:lpstr>
      <vt:lpstr>13.11.6 View와 반환 반복자의 수명</vt:lpstr>
      <vt:lpstr>13.12 알고리즘 선택</vt:lpstr>
      <vt:lpstr>13.12.2 시간 복잡도와 메모리 사용</vt:lpstr>
      <vt:lpstr>13.12.3 직접 반복문과 표준 알고리즘</vt:lpstr>
      <vt:lpstr>13.13 학습 정리</vt:lpstr>
      <vt:lpstr>13.13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443</cp:revision>
  <dcterms:created xsi:type="dcterms:W3CDTF">2003-11-30T16:03:20Z</dcterms:created>
  <dcterms:modified xsi:type="dcterms:W3CDTF">2026-09-05T06:01:43Z</dcterms:modified>
</cp:coreProperties>
</file>