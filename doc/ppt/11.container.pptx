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80" r:id="rId52"/>
    <p:sldId id="378" r:id="rId53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HY견고딕" panose="02030600000101010101" pitchFamily="18" charset="-127"/>
      <p:regular r:id="rId60"/>
    </p:embeddedFont>
    <p:embeddedFont>
      <p:font typeface="Pretendard ExtraBold" panose="02000903000000020004" pitchFamily="50" charset="-127"/>
      <p:bold r:id="rId61"/>
    </p:embeddedFont>
    <p:embeddedFont>
      <p:font typeface="가을체" panose="02030600000101010101" pitchFamily="18" charset="-127"/>
      <p:regular r:id="rId62"/>
    </p:embeddedFont>
    <p:embeddedFont>
      <p:font typeface="나눔고딕 ExtraBold" panose="020D0904000000000000" pitchFamily="50" charset="-127"/>
      <p:bold r:id="rId63"/>
    </p:embeddedFont>
    <p:embeddedFont>
      <p:font typeface="나눔바른고딕" panose="020B0603020101020101" pitchFamily="50" charset="-127"/>
      <p:regular r:id="rId64"/>
      <p:bold r:id="rId6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CC00FF"/>
    <a:srgbClr val="C18401"/>
    <a:srgbClr val="CC00CC"/>
    <a:srgbClr val="3399FF"/>
    <a:srgbClr val="EFEFED"/>
    <a:srgbClr val="FF9900"/>
    <a:srgbClr val="FF00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5" autoAdjust="0"/>
    <p:restoredTop sz="94582" autoAdjust="0"/>
  </p:normalViewPr>
  <p:slideViewPr>
    <p:cSldViewPr>
      <p:cViewPr>
        <p:scale>
          <a:sx n="100" d="100"/>
          <a:sy n="100" d="100"/>
        </p:scale>
        <p:origin x="1560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11. 표준 라이브러리와</a:t>
            </a:r>
            <a:br>
              <a:rPr lang="en-US" altLang="ko-KR" dirty="0"/>
            </a:br>
            <a:r>
              <a:rPr lang="ko-KR" altLang="ko-KR" dirty="0"/>
              <a:t>순차 컨테이너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98E64-9D49-B6FE-B17B-29A560E2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11. 표준 라이브러리와 순차 컨테이너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10747E-B55F-5A17-1B75-A06F1F97F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STL </a:t>
            </a:r>
            <a:r>
              <a:rPr lang="ko-KR" altLang="en-US" sz="2400" dirty="0"/>
              <a:t>방식의 핵심 요소</a:t>
            </a:r>
          </a:p>
          <a:p>
            <a:r>
              <a:rPr lang="ko-KR" altLang="en-US" sz="2400" dirty="0"/>
              <a:t>컨테이너</a:t>
            </a:r>
            <a:r>
              <a:rPr lang="en-US" altLang="ko-KR" sz="2400" dirty="0"/>
              <a:t>, </a:t>
            </a:r>
            <a:r>
              <a:rPr lang="ko-KR" altLang="en-US" sz="2400" dirty="0"/>
              <a:t>반복자</a:t>
            </a:r>
            <a:r>
              <a:rPr lang="en-US" altLang="ko-KR" sz="2400" dirty="0"/>
              <a:t>, </a:t>
            </a:r>
            <a:r>
              <a:rPr lang="ko-KR" altLang="en-US" sz="2400" dirty="0"/>
              <a:t>알고리즘</a:t>
            </a:r>
            <a:r>
              <a:rPr lang="en-US" altLang="ko-KR" sz="2400" dirty="0"/>
              <a:t>, </a:t>
            </a:r>
            <a:r>
              <a:rPr lang="ko-KR" altLang="en-US" sz="2400" dirty="0"/>
              <a:t>함수 객체</a:t>
            </a:r>
          </a:p>
          <a:p>
            <a:r>
              <a:rPr lang="ko-KR" altLang="en-US" sz="2400" dirty="0"/>
              <a:t>컨테이너 공통 기능</a:t>
            </a:r>
          </a:p>
          <a:p>
            <a:r>
              <a:rPr lang="ko-KR" altLang="en-US" sz="2400" dirty="0"/>
              <a:t>반복자</a:t>
            </a:r>
            <a:r>
              <a:rPr lang="en-US" altLang="ko-KR" sz="2400" dirty="0"/>
              <a:t>·</a:t>
            </a:r>
            <a:r>
              <a:rPr lang="ko-KR" altLang="en-US" sz="2400" dirty="0"/>
              <a:t>포인터</a:t>
            </a:r>
            <a:r>
              <a:rPr lang="en-US" altLang="ko-KR" sz="2400" dirty="0"/>
              <a:t>·</a:t>
            </a:r>
            <a:r>
              <a:rPr lang="ko-KR" altLang="en-US" sz="2400" dirty="0"/>
              <a:t>참조의 무효화</a:t>
            </a:r>
          </a:p>
          <a:p>
            <a:r>
              <a:rPr lang="en-US" altLang="ko-KR" sz="2400" dirty="0"/>
              <a:t>std::array, std::vector, std::deque</a:t>
            </a:r>
          </a:p>
          <a:p>
            <a:r>
              <a:rPr lang="en-US" altLang="ko-KR" sz="2400" dirty="0"/>
              <a:t>std::list, std::</a:t>
            </a:r>
            <a:r>
              <a:rPr lang="en-US" altLang="ko-KR" sz="2400" dirty="0" err="1"/>
              <a:t>forward_list</a:t>
            </a:r>
            <a:endParaRPr lang="en-US" altLang="ko-KR" sz="2400" dirty="0"/>
          </a:p>
          <a:p>
            <a:r>
              <a:rPr lang="en-US" altLang="ko-KR" sz="2400" dirty="0"/>
              <a:t>std::string</a:t>
            </a:r>
          </a:p>
          <a:p>
            <a:r>
              <a:rPr lang="ko-KR" altLang="en-US" sz="2400" dirty="0"/>
              <a:t>순차 컨테이너 선택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85C7E7-96D4-0401-1C1B-FCC535632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19094"/>
              </p:ext>
            </p:extLst>
          </p:nvPr>
        </p:nvGraphicFramePr>
        <p:xfrm>
          <a:off x="5076056" y="3212976"/>
          <a:ext cx="3816424" cy="273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523214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</a:t>
                      </a:r>
                      <a:b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</a:t>
                      </a: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 반복자 범위</a:t>
                      </a:r>
                      <a:b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</a:t>
                      </a:r>
                      <a:b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 함수 객체 또는 람다</a:t>
                      </a:r>
                      <a:b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처리 결과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144000" marT="144000" marB="216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55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22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F844-A75D-C5E4-E110-A36298A9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7E698-2B6D-71E6-47BA-7AC99750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표준 라이브러리의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34AB1-5DC0-1019-A392-0BB87B82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자주 사용하는 자료 구조와 알고리즘 제공</a:t>
            </a:r>
          </a:p>
          <a:p>
            <a:r>
              <a:rPr lang="ko-KR" altLang="en-US" sz="2400" dirty="0"/>
              <a:t>문자열</a:t>
            </a:r>
            <a:r>
              <a:rPr lang="en-US" altLang="ko-KR" sz="2400" dirty="0"/>
              <a:t>, </a:t>
            </a:r>
            <a:r>
              <a:rPr lang="ko-KR" altLang="en-US" sz="2400" dirty="0"/>
              <a:t>입출력</a:t>
            </a:r>
            <a:r>
              <a:rPr lang="en-US" altLang="ko-KR" sz="2400" dirty="0"/>
              <a:t>, </a:t>
            </a:r>
            <a:r>
              <a:rPr lang="ko-KR" altLang="en-US" sz="2400" dirty="0"/>
              <a:t>메모리 관리</a:t>
            </a:r>
            <a:r>
              <a:rPr lang="en-US" altLang="ko-KR" sz="2400" dirty="0"/>
              <a:t>, </a:t>
            </a:r>
            <a:r>
              <a:rPr lang="ko-KR" altLang="en-US" sz="2400" dirty="0"/>
              <a:t>시간</a:t>
            </a:r>
            <a:r>
              <a:rPr lang="en-US" altLang="ko-KR" sz="2400" dirty="0"/>
              <a:t>, </a:t>
            </a:r>
            <a:r>
              <a:rPr lang="ko-KR" altLang="en-US" sz="2400" dirty="0"/>
              <a:t>난수</a:t>
            </a:r>
            <a:r>
              <a:rPr lang="en-US" altLang="ko-KR" sz="2400" dirty="0"/>
              <a:t>, </a:t>
            </a:r>
            <a:r>
              <a:rPr lang="ko-KR" altLang="en-US" sz="2400" dirty="0"/>
              <a:t>파일 시스템</a:t>
            </a:r>
            <a:r>
              <a:rPr lang="en-US" altLang="ko-KR" sz="2400" dirty="0"/>
              <a:t>, </a:t>
            </a:r>
            <a:r>
              <a:rPr lang="ko-KR" altLang="en-US" sz="2400" dirty="0"/>
              <a:t>스레드 포함</a:t>
            </a:r>
          </a:p>
          <a:p>
            <a:r>
              <a:rPr lang="ko-KR" altLang="en-US" sz="2400" dirty="0"/>
              <a:t>대부분 </a:t>
            </a:r>
            <a:r>
              <a:rPr lang="en-US" altLang="ko-KR" sz="2400" dirty="0"/>
              <a:t>std </a:t>
            </a:r>
            <a:r>
              <a:rPr lang="ko-KR" altLang="en-US" sz="2400" dirty="0"/>
              <a:t>이름 공간에 정의</a:t>
            </a:r>
          </a:p>
          <a:p>
            <a:r>
              <a:rPr lang="ko-KR" altLang="en-US" sz="2400" dirty="0"/>
              <a:t>필요한 기능은 헤더를 포함하여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7B3E8-3BBA-4981-EC51-13603D57953A}"/>
              </a:ext>
            </a:extLst>
          </p:cNvPr>
          <p:cNvSpPr txBox="1"/>
          <p:nvPr/>
        </p:nvSpPr>
        <p:spPr>
          <a:xfrm>
            <a:off x="5580112" y="2276872"/>
            <a:ext cx="3384376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algorithm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memory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3C697-368F-07E6-F124-119043509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087399"/>
              </p:ext>
            </p:extLst>
          </p:nvPr>
        </p:nvGraphicFramePr>
        <p:xfrm>
          <a:off x="539750" y="3024306"/>
          <a:ext cx="4896346" cy="3141544"/>
        </p:xfrm>
        <a:graphic>
          <a:graphicData uri="http://schemas.openxmlformats.org/drawingml/2006/table">
            <a:tbl>
              <a:tblPr/>
              <a:tblGrid>
                <a:gridCol w="1616379">
                  <a:extLst>
                    <a:ext uri="{9D8B030D-6E8A-4147-A177-3AD203B41FA5}">
                      <a16:colId xmlns:a16="http://schemas.microsoft.com/office/drawing/2014/main" val="2074514584"/>
                    </a:ext>
                  </a:extLst>
                </a:gridCol>
                <a:gridCol w="3279967">
                  <a:extLst>
                    <a:ext uri="{9D8B030D-6E8A-4147-A177-3AD203B41FA5}">
                      <a16:colId xmlns:a16="http://schemas.microsoft.com/office/drawing/2014/main" val="2203968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구성 요소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예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83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map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6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7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228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메모리 관리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09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입출력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ifstream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525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유틸리티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tuple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93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1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1E460-3331-9CCF-B95F-3B8007A5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C6DD7-3D33-7CBD-1F38-BF77BE44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11.1.1 </a:t>
            </a:r>
            <a:r>
              <a:rPr lang="ko-KR" altLang="en-US" dirty="0"/>
              <a:t>표준 라이브러리와 </a:t>
            </a:r>
            <a:r>
              <a:rPr lang="en-US" altLang="ko-KR" dirty="0"/>
              <a:t>STL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AADC05-32E7-3945-B06A-D7FE49CD0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STL</a:t>
            </a:r>
            <a:r>
              <a:rPr lang="ko-KR" altLang="en-US" sz="2400" dirty="0"/>
              <a:t>은 컨테이너</a:t>
            </a:r>
            <a:r>
              <a:rPr lang="en-US" altLang="ko-KR" sz="2400" dirty="0"/>
              <a:t>, </a:t>
            </a:r>
            <a:r>
              <a:rPr lang="ko-KR" altLang="en-US" sz="2400" dirty="0"/>
              <a:t>반복자</a:t>
            </a:r>
            <a:r>
              <a:rPr lang="en-US" altLang="ko-KR" sz="2400" dirty="0"/>
              <a:t>, </a:t>
            </a:r>
            <a:r>
              <a:rPr lang="ko-KR" altLang="en-US" sz="2400" dirty="0"/>
              <a:t>알고리즘</a:t>
            </a:r>
            <a:r>
              <a:rPr lang="en-US" altLang="ko-KR" sz="2400" dirty="0"/>
              <a:t>, </a:t>
            </a:r>
            <a:r>
              <a:rPr lang="ko-KR" altLang="en-US" sz="2400" dirty="0"/>
              <a:t>함수 객체를</a:t>
            </a:r>
            <a:br>
              <a:rPr lang="en-US" altLang="ko-KR" sz="2400" dirty="0"/>
            </a:br>
            <a:r>
              <a:rPr lang="ko-KR" altLang="en-US" sz="2400" dirty="0"/>
              <a:t>템플릿으로 연결한 설계에서 출발</a:t>
            </a:r>
          </a:p>
          <a:p>
            <a:r>
              <a:rPr lang="ko-KR" altLang="en-US" sz="2400" dirty="0"/>
              <a:t>현재 표준 라이브러리는 </a:t>
            </a:r>
            <a:r>
              <a:rPr lang="en-US" altLang="ko-KR" sz="2400" dirty="0"/>
              <a:t>STL </a:t>
            </a:r>
            <a:r>
              <a:rPr lang="ko-KR" altLang="en-US" sz="2400" dirty="0"/>
              <a:t>계열 기능보다 넓은 범위</a:t>
            </a:r>
          </a:p>
          <a:p>
            <a:r>
              <a:rPr lang="en-US" altLang="ko-KR" sz="2400" dirty="0"/>
              <a:t>iostream, thread, filesystem</a:t>
            </a:r>
            <a:r>
              <a:rPr lang="ko-KR" altLang="en-US" sz="2400" dirty="0"/>
              <a:t>도 표준 라이브러리의 일부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A20CB97-0D50-BED1-0755-ACA03ABB2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86801"/>
              </p:ext>
            </p:extLst>
          </p:nvPr>
        </p:nvGraphicFramePr>
        <p:xfrm>
          <a:off x="539750" y="2673491"/>
          <a:ext cx="7992690" cy="2692752"/>
        </p:xfrm>
        <a:graphic>
          <a:graphicData uri="http://schemas.openxmlformats.org/drawingml/2006/table">
            <a:tbl>
              <a:tblPr/>
              <a:tblGrid>
                <a:gridCol w="2520082">
                  <a:extLst>
                    <a:ext uri="{9D8B030D-6E8A-4147-A177-3AD203B41FA5}">
                      <a16:colId xmlns:a16="http://schemas.microsoft.com/office/drawing/2014/main" val="2820106487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51625573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272152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6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예</a:t>
                      </a:r>
                      <a:endParaRPr lang="ko-KR" sz="36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46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원소 저장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07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위치와 범위 표현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begin(), end()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72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범위에 작업 적용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158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객체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동작을 객체로 전달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less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람다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380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표준 라이브러리 전체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 공통 라이브러리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STL + 입출력 + 스레드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등</a:t>
                      </a:r>
                      <a:endParaRPr lang="ko-KR" sz="3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86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91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BD17-820E-7050-1B5A-AF28FF4B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EBAE4-A1F2-5AC4-057A-C2ACAF94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11.1.2 </a:t>
            </a:r>
            <a:r>
              <a:rPr lang="ko-KR" altLang="en-US" dirty="0"/>
              <a:t>컨테이너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F9603-0C39-D13B-A239-F4408B5F5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여러 원소를 저장하고 원소의 수명과 배치를 관리</a:t>
            </a:r>
          </a:p>
          <a:p>
            <a:r>
              <a:rPr lang="ko-KR" altLang="en-US" sz="2400" dirty="0"/>
              <a:t>저장되는 타입을 원소 타입이라고 함</a:t>
            </a:r>
          </a:p>
          <a:p>
            <a:r>
              <a:rPr lang="ko-KR" altLang="en-US" sz="2400" dirty="0"/>
              <a:t>컨테이너는 원소를 값으로 소유</a:t>
            </a:r>
          </a:p>
          <a:p>
            <a:r>
              <a:rPr lang="ko-KR" altLang="en-US" sz="2400" dirty="0"/>
              <a:t>포인터를 저장하는 경우 가리키는 객체의 수명은 별도 관리 필요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347D9-B39F-0AA9-EF49-F9DDA0EBEF03}"/>
              </a:ext>
            </a:extLst>
          </p:cNvPr>
          <p:cNvSpPr txBox="1"/>
          <p:nvPr/>
        </p:nvSpPr>
        <p:spPr>
          <a:xfrm>
            <a:off x="539750" y="2708920"/>
            <a:ext cx="4572000" cy="4308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0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305E6FE-8055-DC75-B266-9FA7AD6BF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038575"/>
              </p:ext>
            </p:extLst>
          </p:nvPr>
        </p:nvGraphicFramePr>
        <p:xfrm>
          <a:off x="539750" y="3570287"/>
          <a:ext cx="7920682" cy="2548760"/>
        </p:xfrm>
        <a:graphic>
          <a:graphicData uri="http://schemas.openxmlformats.org/drawingml/2006/table">
            <a:tbl>
              <a:tblPr/>
              <a:tblGrid>
                <a:gridCol w="2290318">
                  <a:extLst>
                    <a:ext uri="{9D8B030D-6E8A-4147-A177-3AD203B41FA5}">
                      <a16:colId xmlns:a16="http://schemas.microsoft.com/office/drawing/2014/main" val="3104568912"/>
                    </a:ext>
                  </a:extLst>
                </a:gridCol>
                <a:gridCol w="2494810">
                  <a:extLst>
                    <a:ext uri="{9D8B030D-6E8A-4147-A177-3AD203B41FA5}">
                      <a16:colId xmlns:a16="http://schemas.microsoft.com/office/drawing/2014/main" val="412215273"/>
                    </a:ext>
                  </a:extLst>
                </a:gridCol>
                <a:gridCol w="3135554">
                  <a:extLst>
                    <a:ext uri="{9D8B030D-6E8A-4147-A177-3AD203B41FA5}">
                      <a16:colId xmlns:a16="http://schemas.microsoft.com/office/drawing/2014/main" val="128098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범주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타입</a:t>
                      </a:r>
                      <a:endParaRPr lang="ko-KR" sz="36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46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순차 컨테이너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위치 순서에 따라 배치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7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연관 컨테이너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정렬된 키로 탐색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map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2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비정렬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연관 컨테이너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해시로 탐색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unordered_set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unordered_map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02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 어댑터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제한된 인터페이스 제공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queue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897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4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AC61-C840-075B-6827-9B1D23A0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1E316-C013-629C-CC7B-A2407090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11.1.3 </a:t>
            </a:r>
            <a:r>
              <a:rPr lang="ko-KR" altLang="en-US" dirty="0"/>
              <a:t>반복자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6E3F5-27AF-D4C1-4602-4580F5566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컨테이너의 원소 위치를 나타내는 객체</a:t>
            </a:r>
          </a:p>
          <a:p>
            <a:r>
              <a:rPr lang="ko-KR" altLang="en-US" sz="2400" dirty="0"/>
              <a:t>*로 원소 접근</a:t>
            </a:r>
          </a:p>
          <a:p>
            <a:r>
              <a:rPr lang="en-US" altLang="ko-KR" sz="2400" dirty="0"/>
              <a:t>++</a:t>
            </a:r>
            <a:r>
              <a:rPr lang="ko-KR" altLang="en-US" sz="2400" dirty="0"/>
              <a:t>로 다음 위치 이동</a:t>
            </a:r>
          </a:p>
          <a:p>
            <a:r>
              <a:rPr lang="en-US" altLang="ko-KR" sz="2400" dirty="0"/>
              <a:t>begin()</a:t>
            </a:r>
            <a:r>
              <a:rPr lang="ko-KR" altLang="en-US" sz="2400" dirty="0"/>
              <a:t>은 첫 원소 위치</a:t>
            </a:r>
          </a:p>
          <a:p>
            <a:r>
              <a:rPr lang="en-US" altLang="ko-KR" sz="2400" dirty="0"/>
              <a:t>end()</a:t>
            </a:r>
            <a:r>
              <a:rPr lang="ko-KR" altLang="en-US" sz="2400" dirty="0"/>
              <a:t>는 마지막 원소 바로 뒤 위치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DB5FA-463D-8ACD-50D1-0EEC227EE664}"/>
              </a:ext>
            </a:extLst>
          </p:cNvPr>
          <p:cNvSpPr txBox="1"/>
          <p:nvPr/>
        </p:nvSpPr>
        <p:spPr>
          <a:xfrm>
            <a:off x="539750" y="3459485"/>
            <a:ext cx="4572000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4278B9-9B27-ED5A-7333-C0449711D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952413"/>
              </p:ext>
            </p:extLst>
          </p:nvPr>
        </p:nvGraphicFramePr>
        <p:xfrm>
          <a:off x="4860032" y="4437112"/>
          <a:ext cx="3384375" cy="1202400"/>
        </p:xfrm>
        <a:graphic>
          <a:graphicData uri="http://schemas.openxmlformats.org/drawingml/2006/table">
            <a:tbl>
              <a:tblPr/>
              <a:tblGrid>
                <a:gridCol w="3384375">
                  <a:extLst>
                    <a:ext uri="{9D8B030D-6E8A-4147-A177-3AD203B41FA5}">
                      <a16:colId xmlns:a16="http://schemas.microsoft.com/office/drawing/2014/main" val="1628633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[끝 위치]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</a:t>
                      </a:r>
                      <a:r>
                        <a:rPr lang="ko-KR" altLang="en-US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↑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</a:t>
                      </a:r>
                      <a:r>
                        <a:rPr lang="ko-KR" altLang="en-US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↑ 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begin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       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66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80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C9A8-996E-D7B0-1512-6D9B585C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80F9-7780-346E-84CC-D848C81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11.1.3 </a:t>
            </a:r>
            <a:r>
              <a:rPr lang="ko-KR" altLang="en-US" dirty="0"/>
              <a:t>반복자 범주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E4813-FF34-DC40-82FC-9074F8F17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반복자 범위는 </a:t>
            </a:r>
            <a:r>
              <a:rPr lang="en-US" altLang="ko-KR" dirty="0"/>
              <a:t>[first, last) </a:t>
            </a:r>
            <a:r>
              <a:rPr lang="ko-KR" altLang="en-US" dirty="0"/>
              <a:t>형태</a:t>
            </a:r>
          </a:p>
          <a:p>
            <a:r>
              <a:rPr lang="en-US" altLang="ko-KR" dirty="0"/>
              <a:t>first</a:t>
            </a:r>
            <a:r>
              <a:rPr lang="ko-KR" altLang="en-US" dirty="0"/>
              <a:t>는 포함</a:t>
            </a:r>
          </a:p>
          <a:p>
            <a:r>
              <a:rPr lang="en-US" altLang="ko-KR" dirty="0"/>
              <a:t>last</a:t>
            </a:r>
            <a:r>
              <a:rPr lang="ko-KR" altLang="en-US" dirty="0"/>
              <a:t>는 포함하지 않음</a:t>
            </a:r>
          </a:p>
          <a:p>
            <a:r>
              <a:rPr lang="ko-KR" altLang="en-US" dirty="0"/>
              <a:t>빈 범위는 </a:t>
            </a:r>
            <a:r>
              <a:rPr lang="en-US" altLang="ko-KR" dirty="0"/>
              <a:t>first == last</a:t>
            </a:r>
          </a:p>
          <a:p>
            <a:r>
              <a:rPr lang="ko-KR" altLang="en-US" dirty="0"/>
              <a:t>알고리즘은 필요한 반복자 능력을 요구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D69DED-B64B-749D-2CA0-95BBBA85A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220193"/>
              </p:ext>
            </p:extLst>
          </p:nvPr>
        </p:nvGraphicFramePr>
        <p:xfrm>
          <a:off x="755576" y="3425568"/>
          <a:ext cx="6984776" cy="2091560"/>
        </p:xfrm>
        <a:graphic>
          <a:graphicData uri="http://schemas.openxmlformats.org/drawingml/2006/table">
            <a:tbl>
              <a:tblPr/>
              <a:tblGrid>
                <a:gridCol w="1949566">
                  <a:extLst>
                    <a:ext uri="{9D8B030D-6E8A-4147-A177-3AD203B41FA5}">
                      <a16:colId xmlns:a16="http://schemas.microsoft.com/office/drawing/2014/main" val="1810314878"/>
                    </a:ext>
                  </a:extLst>
                </a:gridCol>
                <a:gridCol w="2622797">
                  <a:extLst>
                    <a:ext uri="{9D8B030D-6E8A-4147-A177-3AD203B41FA5}">
                      <a16:colId xmlns:a16="http://schemas.microsoft.com/office/drawing/2014/main" val="2606757028"/>
                    </a:ext>
                  </a:extLst>
                </a:gridCol>
                <a:gridCol w="2412413">
                  <a:extLst>
                    <a:ext uri="{9D8B030D-6E8A-4147-A177-3AD203B41FA5}">
                      <a16:colId xmlns:a16="http://schemas.microsoft.com/office/drawing/2014/main" val="1968957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반복자 범주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주요 연산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컨테이너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79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전진 반복자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++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forward_list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4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양방향 반복자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++, --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91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 반복자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+, -, [], 비교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0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반복자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 + 연속 메모리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4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8717D5-29CE-3B70-316A-00A30063DF98}"/>
              </a:ext>
            </a:extLst>
          </p:cNvPr>
          <p:cNvSpPr txBox="1"/>
          <p:nvPr/>
        </p:nvSpPr>
        <p:spPr>
          <a:xfrm>
            <a:off x="755576" y="5728489"/>
            <a:ext cx="457200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→ 전진 순회 가능하면 사용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→ 임의 접근 반복자 필요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02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43E9-9A7C-1584-72C2-A6B73548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99707-DBA9-3719-9061-5FA2C9EE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11.1.4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20955-4653-4ED9-E983-9D8C2E97E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반복자 범위를 받아 작업을 수행하는 함수 템플릿</a:t>
            </a:r>
          </a:p>
          <a:p>
            <a:r>
              <a:rPr lang="ko-KR" altLang="en-US" dirty="0"/>
              <a:t>검색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, </a:t>
            </a:r>
            <a:r>
              <a:rPr lang="ko-KR" altLang="en-US" dirty="0"/>
              <a:t>복사</a:t>
            </a:r>
            <a:r>
              <a:rPr lang="en-US" altLang="ko-KR" dirty="0"/>
              <a:t>, 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집계 기능 제공</a:t>
            </a:r>
          </a:p>
          <a:p>
            <a:r>
              <a:rPr lang="ko-KR" altLang="en-US" dirty="0"/>
              <a:t>주로 </a:t>
            </a:r>
            <a:r>
              <a:rPr lang="en-US" altLang="ko-KR" dirty="0"/>
              <a:t>&lt;algorithm&gt;, &lt;numeric&gt; </a:t>
            </a:r>
            <a:r>
              <a:rPr lang="ko-KR" altLang="en-US" dirty="0"/>
              <a:t>헤더에 정의</a:t>
            </a:r>
          </a:p>
          <a:p>
            <a:r>
              <a:rPr lang="ko-KR" altLang="en-US" dirty="0"/>
              <a:t>컨테이너를 소유하지 않고 범위의 원소에 작업 적용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1548E-255E-EF35-B185-30DFEEC12FB0}"/>
              </a:ext>
            </a:extLst>
          </p:cNvPr>
          <p:cNvSpPr txBox="1"/>
          <p:nvPr/>
        </p:nvSpPr>
        <p:spPr>
          <a:xfrm>
            <a:off x="539750" y="2835314"/>
            <a:ext cx="7704658" cy="39703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algorithm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numeric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"값을 찾음\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8360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B7F4-78B1-56C5-CA01-68DA71C0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6F08F-56B6-CAE7-A587-FB33EB6A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11.1.5 </a:t>
            </a:r>
            <a:r>
              <a:rPr lang="ko-KR" altLang="en-US" dirty="0"/>
              <a:t>함수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BC3DF-7EE8-34A5-C726-6E94F9046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호출 연산자 </a:t>
            </a:r>
            <a:r>
              <a:rPr lang="en-US" altLang="ko-KR" dirty="0"/>
              <a:t>operator()</a:t>
            </a:r>
            <a:r>
              <a:rPr lang="ko-KR" altLang="en-US" dirty="0"/>
              <a:t>를 제공하는 객체</a:t>
            </a:r>
          </a:p>
          <a:p>
            <a:r>
              <a:rPr lang="ko-KR" altLang="en-US" dirty="0"/>
              <a:t>알고리즘에 비교</a:t>
            </a:r>
            <a:r>
              <a:rPr lang="en-US" altLang="ko-KR" dirty="0"/>
              <a:t>, </a:t>
            </a:r>
            <a:r>
              <a:rPr lang="ko-KR" altLang="en-US" dirty="0"/>
              <a:t>판정</a:t>
            </a:r>
            <a:r>
              <a:rPr lang="en-US" altLang="ko-KR" dirty="0"/>
              <a:t>, </a:t>
            </a:r>
            <a:r>
              <a:rPr lang="ko-KR" altLang="en-US" dirty="0"/>
              <a:t>변환 규칙 전달</a:t>
            </a:r>
          </a:p>
          <a:p>
            <a:r>
              <a:rPr lang="ko-KR" altLang="en-US" dirty="0"/>
              <a:t>람다 표현식도 호출 가능한 객체</a:t>
            </a:r>
          </a:p>
          <a:p>
            <a:r>
              <a:rPr lang="ko-KR" altLang="en-US" dirty="0"/>
              <a:t>상태를 가진 판정 객체도 만들 수 있음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74FD8-039D-7A1D-E804-0C712791B6DB}"/>
              </a:ext>
            </a:extLst>
          </p:cNvPr>
          <p:cNvSpPr txBox="1"/>
          <p:nvPr/>
        </p:nvSpPr>
        <p:spPr>
          <a:xfrm>
            <a:off x="467643" y="3192888"/>
            <a:ext cx="8208714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{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B42D44-2625-CED5-7C99-7D7B8176E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84360"/>
              </p:ext>
            </p:extLst>
          </p:nvPr>
        </p:nvGraphicFramePr>
        <p:xfrm>
          <a:off x="539750" y="4365104"/>
          <a:ext cx="6741120" cy="2039008"/>
        </p:xfrm>
        <a:graphic>
          <a:graphicData uri="http://schemas.openxmlformats.org/drawingml/2006/table">
            <a:tbl>
              <a:tblPr/>
              <a:tblGrid>
                <a:gridCol w="3086893">
                  <a:extLst>
                    <a:ext uri="{9D8B030D-6E8A-4147-A177-3AD203B41FA5}">
                      <a16:colId xmlns:a16="http://schemas.microsoft.com/office/drawing/2014/main" val="2309316712"/>
                    </a:ext>
                  </a:extLst>
                </a:gridCol>
                <a:gridCol w="3654227">
                  <a:extLst>
                    <a:ext uri="{9D8B030D-6E8A-4147-A177-3AD203B41FA5}">
                      <a16:colId xmlns:a16="http://schemas.microsoft.com/office/drawing/2014/main" val="3000518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 위치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전달하는 의미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13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비교자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정렬 순서</a:t>
                      </a:r>
                      <a:endParaRPr lang="ko-KR" sz="24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80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find_if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조건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검색 조건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220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count_if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r>
                        <a:rPr lang="en-US" alt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조건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개수 계산 조건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8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55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BEBE-E3B4-0045-407A-97D0DB45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5CF65-00EB-0F0D-B164-FACA6F88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11.1.6 </a:t>
            </a:r>
            <a:r>
              <a:rPr lang="ko-KR" altLang="en-US" dirty="0"/>
              <a:t>자료구조와 알고리즘의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51768-9579-70B7-D6F0-5F0FB530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컨테이너는 원소 저장과 반복자 제공 담당</a:t>
            </a:r>
          </a:p>
          <a:p>
            <a:r>
              <a:rPr lang="ko-KR" altLang="en-US" sz="2400" dirty="0"/>
              <a:t>알고리즘은 반복자 범위에 작업 적용</a:t>
            </a:r>
          </a:p>
          <a:p>
            <a:r>
              <a:rPr lang="ko-KR" altLang="en-US" sz="2400" dirty="0"/>
              <a:t>같은 알고리즘을 여러 컨테이너에 적용 가능</a:t>
            </a:r>
          </a:p>
          <a:p>
            <a:r>
              <a:rPr lang="ko-KR" altLang="en-US" sz="2400" dirty="0"/>
              <a:t>반복자 능력이 부족하면 특정 알고리즘 사용 불가</a:t>
            </a:r>
            <a:endParaRPr lang="en-US" altLang="ko-KR" sz="2400" dirty="0"/>
          </a:p>
          <a:p>
            <a:r>
              <a:rPr lang="ko-KR" altLang="ko-KR" sz="2400" dirty="0"/>
              <a:t>인터페이스의 공통성</a:t>
            </a:r>
            <a:r>
              <a:rPr lang="en-US" altLang="ko-KR" sz="2400" dirty="0"/>
              <a:t>,</a:t>
            </a:r>
            <a:r>
              <a:rPr lang="ko-KR" altLang="ko-KR" sz="2400" dirty="0"/>
              <a:t> 저장 구조의 차이를 함께 이해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A9476-5DC1-21AD-72D9-A8007AC107AD}"/>
              </a:ext>
            </a:extLst>
          </p:cNvPr>
          <p:cNvSpPr txBox="1"/>
          <p:nvPr/>
        </p:nvSpPr>
        <p:spPr>
          <a:xfrm>
            <a:off x="539750" y="3284984"/>
            <a:ext cx="7560642" cy="286232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levels.begin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levels.end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 // 오류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levels.sort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17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8CD3-686F-3F19-C1AB-DB27C324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DCB33-7848-7F47-0326-897D119B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컨테이너 공통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6C063-C05D-A15C-39FB-E1EDDB97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표준 컨테이너는 비슷한 이름의 멤버 제공</a:t>
            </a:r>
          </a:p>
          <a:p>
            <a:r>
              <a:rPr lang="ko-KR" altLang="en-US" sz="2400" dirty="0"/>
              <a:t>모든 컨테이너가 완전히 같은 기능을 제공하지는 않음</a:t>
            </a:r>
          </a:p>
          <a:p>
            <a:r>
              <a:rPr lang="ko-KR" altLang="en-US" sz="2400" dirty="0"/>
              <a:t>저장 구조에 따라 접근</a:t>
            </a:r>
            <a:r>
              <a:rPr lang="en-US" altLang="ko-KR" sz="2400" dirty="0"/>
              <a:t>, </a:t>
            </a:r>
            <a:r>
              <a:rPr lang="ko-KR" altLang="en-US" sz="2400" dirty="0"/>
              <a:t>삽입</a:t>
            </a:r>
            <a:r>
              <a:rPr lang="en-US" altLang="ko-KR" sz="2400" dirty="0"/>
              <a:t>, </a:t>
            </a:r>
            <a:r>
              <a:rPr lang="ko-KR" altLang="en-US" sz="2400" dirty="0"/>
              <a:t>제거 방식이 달라짐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320BAD8-F919-BE76-C46E-2E10B09BE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921561"/>
              </p:ext>
            </p:extLst>
          </p:nvPr>
        </p:nvGraphicFramePr>
        <p:xfrm>
          <a:off x="1115616" y="2476634"/>
          <a:ext cx="5904458" cy="2692752"/>
        </p:xfrm>
        <a:graphic>
          <a:graphicData uri="http://schemas.openxmlformats.org/drawingml/2006/table">
            <a:tbl>
              <a:tblPr/>
              <a:tblGrid>
                <a:gridCol w="1357900">
                  <a:extLst>
                    <a:ext uri="{9D8B030D-6E8A-4147-A177-3AD203B41FA5}">
                      <a16:colId xmlns:a16="http://schemas.microsoft.com/office/drawing/2014/main" val="555811488"/>
                    </a:ext>
                  </a:extLst>
                </a:gridCol>
                <a:gridCol w="4546558">
                  <a:extLst>
                    <a:ext uri="{9D8B030D-6E8A-4147-A177-3AD203B41FA5}">
                      <a16:colId xmlns:a16="http://schemas.microsoft.com/office/drawing/2014/main" val="3905084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멤버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9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크기 확인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empty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72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접근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front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back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23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begin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cbegin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cend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357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41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제거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pop_back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erase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clear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21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C4C965-1039-BEC6-5B00-FFB770804B45}"/>
              </a:ext>
            </a:extLst>
          </p:cNvPr>
          <p:cNvSpPr txBox="1"/>
          <p:nvPr/>
        </p:nvSpPr>
        <p:spPr>
          <a:xfrm>
            <a:off x="1115616" y="5169386"/>
            <a:ext cx="5904457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고정 크기 컨테이너 → 원소 추가 함수 없음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단방향 리스트 → 뒤쪽 접근과 역방향 반복자 없음</a:t>
            </a:r>
          </a:p>
        </p:txBody>
      </p:sp>
    </p:spTree>
    <p:extLst>
      <p:ext uri="{BB962C8B-B14F-4D97-AF65-F5344CB8AC3E}">
        <p14:creationId xmlns:p14="http://schemas.microsoft.com/office/powerpoint/2010/main" val="384023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7EAC-D257-46C0-49EB-625E2E3A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7E726-37CD-CCE4-7010-6A9358AE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11.2.1 </a:t>
            </a:r>
            <a:r>
              <a:rPr lang="ko-KR" altLang="en-US" dirty="0"/>
              <a:t>원소 타입과 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DA19A-64E2-17A6-5265-DFC53D09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컨테이너는 원소와 반복자에 대한 타입 별칭 제공</a:t>
            </a:r>
          </a:p>
          <a:p>
            <a:r>
              <a:rPr lang="en-US" altLang="ko-KR" sz="2400" dirty="0"/>
              <a:t>size()</a:t>
            </a:r>
            <a:r>
              <a:rPr lang="ko-KR" altLang="en-US" sz="2400" dirty="0"/>
              <a:t>는 현재 원소 수 반환</a:t>
            </a:r>
          </a:p>
          <a:p>
            <a:r>
              <a:rPr lang="en-US" altLang="ko-KR" sz="2400" dirty="0"/>
              <a:t>empty()</a:t>
            </a:r>
            <a:r>
              <a:rPr lang="ko-KR" altLang="en-US" sz="2400" dirty="0"/>
              <a:t>는 원소가 없는지 확인</a:t>
            </a:r>
          </a:p>
          <a:p>
            <a:r>
              <a:rPr lang="ko-KR" altLang="en-US" sz="2400" dirty="0"/>
              <a:t>빈 컨테이너에서 </a:t>
            </a:r>
            <a:r>
              <a:rPr lang="en-US" altLang="ko-KR" sz="2400" dirty="0"/>
              <a:t>front(), back() </a:t>
            </a:r>
            <a:r>
              <a:rPr lang="ko-KR" altLang="en-US" sz="2400" dirty="0"/>
              <a:t>호출 금지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1EA28-942C-158C-B9CE-5FBFF542BC3C}"/>
              </a:ext>
            </a:extLst>
          </p:cNvPr>
          <p:cNvSpPr txBox="1"/>
          <p:nvPr/>
        </p:nvSpPr>
        <p:spPr>
          <a:xfrm>
            <a:off x="368027" y="2767280"/>
            <a:ext cx="439229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Container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Container::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value_type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Container::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Container::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Container::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5917EBA-ADE5-AE03-92DE-B7129500F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76902"/>
              </p:ext>
            </p:extLst>
          </p:nvPr>
        </p:nvGraphicFramePr>
        <p:xfrm>
          <a:off x="4474765" y="3831104"/>
          <a:ext cx="4572000" cy="2692752"/>
        </p:xfrm>
        <a:graphic>
          <a:graphicData uri="http://schemas.openxmlformats.org/drawingml/2006/table">
            <a:tbl>
              <a:tblPr/>
              <a:tblGrid>
                <a:gridCol w="2232050">
                  <a:extLst>
                    <a:ext uri="{9D8B030D-6E8A-4147-A177-3AD203B41FA5}">
                      <a16:colId xmlns:a16="http://schemas.microsoft.com/office/drawing/2014/main" val="21242617"/>
                    </a:ext>
                  </a:extLst>
                </a:gridCol>
                <a:gridCol w="2339950">
                  <a:extLst>
                    <a:ext uri="{9D8B030D-6E8A-4147-A177-3AD203B41FA5}">
                      <a16:colId xmlns:a16="http://schemas.microsoft.com/office/drawing/2014/main" val="1737852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 별칭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27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value_type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타입</a:t>
                      </a:r>
                      <a:endParaRPr lang="ko-KR" sz="20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10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size_type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수 타입</a:t>
                      </a:r>
                      <a:endParaRPr lang="ko-KR" sz="20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difference_type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 거리 타입</a:t>
                      </a:r>
                      <a:endParaRPr lang="ko-KR" sz="20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8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iterator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수정 가능한 반복자</a:t>
                      </a:r>
                      <a:endParaRPr lang="ko-KR" sz="20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087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const_iterator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 전용 반복자</a:t>
                      </a:r>
                      <a:endParaRPr lang="ko-KR" sz="20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51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690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1F26-78F8-067E-D5F5-49C0ADE3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136AC-9020-C22F-9478-C67E26ED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11.2.2 </a:t>
            </a:r>
            <a:r>
              <a:rPr lang="ko-KR" altLang="en-US" dirty="0"/>
              <a:t>원소 접근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FE254A-0742-DF56-EFB5-7222B2F2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저장 구조에 따라 제공되는 접근 함수가 다름</a:t>
            </a:r>
          </a:p>
          <a:p>
            <a:r>
              <a:rPr lang="en-US" altLang="ko-KR" sz="2400" dirty="0"/>
              <a:t>operator[]</a:t>
            </a:r>
            <a:r>
              <a:rPr lang="ko-KR" altLang="en-US" sz="2400" dirty="0"/>
              <a:t>는 범위 검사 없음</a:t>
            </a:r>
          </a:p>
          <a:p>
            <a:r>
              <a:rPr lang="en-US" altLang="ko-KR" sz="2400" dirty="0"/>
              <a:t>at()</a:t>
            </a:r>
            <a:r>
              <a:rPr lang="ko-KR" altLang="en-US" sz="2400" dirty="0"/>
              <a:t>은 범위 오류 시 예외 발생</a:t>
            </a:r>
          </a:p>
          <a:p>
            <a:r>
              <a:rPr lang="en-US" altLang="ko-KR" sz="2400" dirty="0"/>
              <a:t>data()</a:t>
            </a:r>
            <a:r>
              <a:rPr lang="ko-KR" altLang="en-US" sz="2400" dirty="0"/>
              <a:t>는 연속 저장 영역의 시작 주소 반환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4079BFE-AA16-9078-372F-459A780C3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905937"/>
              </p:ext>
            </p:extLst>
          </p:nvPr>
        </p:nvGraphicFramePr>
        <p:xfrm>
          <a:off x="395536" y="2564904"/>
          <a:ext cx="8136904" cy="2997552"/>
        </p:xfrm>
        <a:graphic>
          <a:graphicData uri="http://schemas.openxmlformats.org/drawingml/2006/table">
            <a:tbl>
              <a:tblPr/>
              <a:tblGrid>
                <a:gridCol w="1466367">
                  <a:extLst>
                    <a:ext uri="{9D8B030D-6E8A-4147-A177-3AD203B41FA5}">
                      <a16:colId xmlns:a16="http://schemas.microsoft.com/office/drawing/2014/main" val="478285233"/>
                    </a:ext>
                  </a:extLst>
                </a:gridCol>
                <a:gridCol w="2975865">
                  <a:extLst>
                    <a:ext uri="{9D8B030D-6E8A-4147-A177-3AD203B41FA5}">
                      <a16:colId xmlns:a16="http://schemas.microsoft.com/office/drawing/2014/main" val="703536988"/>
                    </a:ext>
                  </a:extLst>
                </a:gridCol>
                <a:gridCol w="3694672">
                  <a:extLst>
                    <a:ext uri="{9D8B030D-6E8A-4147-A177-3AD203B41FA5}">
                      <a16:colId xmlns:a16="http://schemas.microsoft.com/office/drawing/2014/main" val="149772836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주요 지원 컨테이너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855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front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첫 원소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순차 컨테이너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6834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마지막 원소</a:t>
                      </a:r>
                      <a:endParaRPr lang="ko-KR" sz="20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br>
                        <a:rPr lang="en-US" alt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36627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 검사 없는 인덱스 접근</a:t>
                      </a:r>
                      <a:endParaRPr lang="ko-KR" sz="20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505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 검사 인덱스 접근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array, vector, deque, string</a:t>
                      </a:r>
                      <a:endParaRPr lang="ko-KR" sz="20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4465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저장 주소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2361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8B56E7-F392-BF3C-03BE-62E1C4648D50}"/>
              </a:ext>
            </a:extLst>
          </p:cNvPr>
          <p:cNvSpPr txBox="1"/>
          <p:nvPr/>
        </p:nvSpPr>
        <p:spPr>
          <a:xfrm>
            <a:off x="395536" y="5747539"/>
            <a:ext cx="655272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values.at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42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416CF-F514-BBEC-C12F-B6FC85D4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C19D1-3A2F-2F8B-4FE9-B4E1DCC4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11.2.3 </a:t>
            </a:r>
            <a:r>
              <a:rPr lang="ko-KR" altLang="en-US" dirty="0"/>
              <a:t>삽입과 제거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7C3E4-DEF2-E47D-0C48-5E8E6C19B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가변 크기 컨테이너는 저장 구조에 맞는 삽입과 제거 제공</a:t>
            </a:r>
          </a:p>
          <a:p>
            <a:r>
              <a:rPr lang="en-US" altLang="ko-KR" sz="2400" dirty="0" err="1"/>
              <a:t>push_back</a:t>
            </a:r>
            <a:r>
              <a:rPr lang="en-US" altLang="ko-KR" sz="2400" dirty="0"/>
              <a:t>()</a:t>
            </a:r>
            <a:r>
              <a:rPr lang="ko-KR" altLang="en-US" sz="2400" dirty="0"/>
              <a:t>은 끝에 원소 추가</a:t>
            </a:r>
          </a:p>
          <a:p>
            <a:r>
              <a:rPr lang="en-US" altLang="ko-KR" sz="2400" dirty="0" err="1"/>
              <a:t>pop_back</a:t>
            </a:r>
            <a:r>
              <a:rPr lang="en-US" altLang="ko-KR" sz="2400" dirty="0"/>
              <a:t>()</a:t>
            </a:r>
            <a:r>
              <a:rPr lang="ko-KR" altLang="en-US" sz="2400" dirty="0"/>
              <a:t>은 끝 원소 제거</a:t>
            </a:r>
          </a:p>
          <a:p>
            <a:r>
              <a:rPr lang="en-US" altLang="ko-KR" sz="2400" dirty="0"/>
              <a:t>insert()</a:t>
            </a:r>
            <a:r>
              <a:rPr lang="ko-KR" altLang="en-US" sz="2400" dirty="0"/>
              <a:t>는 삽입 위치를 반복자로 받음</a:t>
            </a:r>
          </a:p>
          <a:p>
            <a:r>
              <a:rPr lang="en-US" altLang="ko-KR" sz="2400" dirty="0"/>
              <a:t>erase()</a:t>
            </a:r>
            <a:r>
              <a:rPr lang="ko-KR" altLang="en-US" sz="2400" dirty="0"/>
              <a:t>는 제거한 원소 뒤 위치를 반복자로 반환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93C90-588F-8A14-AADA-847FC42C532A}"/>
              </a:ext>
            </a:extLst>
          </p:cNvPr>
          <p:cNvSpPr txBox="1"/>
          <p:nvPr/>
        </p:nvSpPr>
        <p:spPr>
          <a:xfrm>
            <a:off x="539750" y="3046750"/>
            <a:ext cx="3888234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values.pop_back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3A551-255C-4307-5C6F-BB8399C915F9}"/>
              </a:ext>
            </a:extLst>
          </p:cNvPr>
          <p:cNvSpPr txBox="1"/>
          <p:nvPr/>
        </p:nvSpPr>
        <p:spPr>
          <a:xfrm>
            <a:off x="4427984" y="3046750"/>
            <a:ext cx="4176266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097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CC09-280B-A9C5-D242-5F4A9D88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A6DDA-D459-B23A-7ABE-9E48C583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11.2.4 begin</a:t>
            </a:r>
            <a:r>
              <a:rPr lang="ko-KR" altLang="en-US" dirty="0"/>
              <a:t>과 </a:t>
            </a:r>
            <a:r>
              <a:rPr lang="en-US" altLang="ko-KR" dirty="0"/>
              <a:t>end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CB61E6-DD07-1F2F-7002-FCD7B35B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begin()</a:t>
            </a:r>
            <a:r>
              <a:rPr lang="ko-KR" altLang="en-US" sz="2400" dirty="0"/>
              <a:t>과 </a:t>
            </a:r>
            <a:r>
              <a:rPr lang="en-US" altLang="ko-KR" sz="2400" dirty="0"/>
              <a:t>end()</a:t>
            </a:r>
            <a:r>
              <a:rPr lang="ko-KR" altLang="en-US" sz="2400" dirty="0"/>
              <a:t>는 반복자 범위 제공</a:t>
            </a:r>
          </a:p>
          <a:p>
            <a:r>
              <a:rPr lang="en-US" altLang="ko-KR" sz="2400" dirty="0"/>
              <a:t>const </a:t>
            </a:r>
            <a:r>
              <a:rPr lang="ko-KR" altLang="en-US" sz="2400" dirty="0"/>
              <a:t>컨테이너에서는 읽기 전용 반복자 반환</a:t>
            </a:r>
          </a:p>
          <a:p>
            <a:r>
              <a:rPr lang="en-US" altLang="ko-KR" sz="2400" dirty="0" err="1"/>
              <a:t>cbegin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cend</a:t>
            </a:r>
            <a:r>
              <a:rPr lang="en-US" altLang="ko-KR" sz="2400" dirty="0"/>
              <a:t>()</a:t>
            </a:r>
            <a:r>
              <a:rPr lang="ko-KR" altLang="en-US" sz="2400" dirty="0"/>
              <a:t>는 항상 읽기 전용 반복자 반환</a:t>
            </a:r>
          </a:p>
          <a:p>
            <a:r>
              <a:rPr lang="en-US" altLang="ko-KR" sz="2400" dirty="0" err="1"/>
              <a:t>rbegin</a:t>
            </a:r>
            <a:r>
              <a:rPr lang="en-US" altLang="ko-KR" sz="2400" dirty="0"/>
              <a:t>(), rend()</a:t>
            </a:r>
            <a:r>
              <a:rPr lang="ko-KR" altLang="en-US" sz="2400" dirty="0"/>
              <a:t>는 역방향 순회에 사용</a:t>
            </a:r>
            <a:endParaRPr lang="en-US" altLang="ko-KR" sz="2400" dirty="0"/>
          </a:p>
          <a:p>
            <a:pPr lvl="0"/>
            <a:r>
              <a:rPr lang="ko-KR" altLang="ko-KR" sz="2400" dirty="0"/>
              <a:t>원소를 복사할 필요가 없으면 참조 사용</a:t>
            </a:r>
          </a:p>
          <a:p>
            <a:pPr lvl="0"/>
            <a:r>
              <a:rPr lang="ko-KR" altLang="ko-KR" sz="2400" dirty="0"/>
              <a:t>읽기만 하면 </a:t>
            </a:r>
            <a:r>
              <a:rPr lang="en-US" altLang="ko-KR" sz="2400" dirty="0"/>
              <a:t>range for + </a:t>
            </a:r>
            <a:r>
              <a:rPr lang="ko-KR" altLang="ko-KR" sz="2400" dirty="0" err="1"/>
              <a:t>const</a:t>
            </a:r>
            <a:r>
              <a:rPr lang="ko-KR" altLang="ko-KR" sz="2400" dirty="0"/>
              <a:t> 참조 사용</a:t>
            </a:r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58E98-2ABA-E485-D9B2-17E5503DB59C}"/>
              </a:ext>
            </a:extLst>
          </p:cNvPr>
          <p:cNvSpPr txBox="1"/>
          <p:nvPr/>
        </p:nvSpPr>
        <p:spPr>
          <a:xfrm>
            <a:off x="566042" y="3508494"/>
            <a:ext cx="7750374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</a:t>
            </a:r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++</a:t>
            </a:r>
            <a:r>
              <a:rPr lang="en-US" altLang="ko-KR" sz="16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081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5182-A489-0A3C-1964-7A6EACEF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288B1-C61C-6816-474F-A95B7D3A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11.2.5 </a:t>
            </a:r>
            <a:r>
              <a:rPr lang="ko-KR" altLang="en-US" dirty="0"/>
              <a:t>복사와 이동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62F53-760A-7A4F-72BB-B423DCA6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컨테이너를 복사하면 원소도 복사</a:t>
            </a:r>
          </a:p>
          <a:p>
            <a:r>
              <a:rPr lang="ko-KR" altLang="en-US" sz="2400" dirty="0"/>
              <a:t>복사본은 별도 저장 공간을 소유</a:t>
            </a:r>
          </a:p>
          <a:p>
            <a:r>
              <a:rPr lang="ko-KR" altLang="en-US" sz="2400" dirty="0"/>
              <a:t>컨테이너를 이동하면 내부 저장 자원을 이전할 수 있음</a:t>
            </a:r>
          </a:p>
          <a:p>
            <a:r>
              <a:rPr lang="ko-KR" altLang="en-US" sz="2400" dirty="0"/>
              <a:t>이동 후 원본 컨테이너는 유효하지만</a:t>
            </a:r>
            <a:br>
              <a:rPr lang="en-US" altLang="ko-KR" sz="2400" dirty="0"/>
            </a:br>
            <a:r>
              <a:rPr lang="ko-KR" altLang="en-US" sz="2400" dirty="0"/>
              <a:t>값은 특정 상태로 보장되지 않을 수 있음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BDD3C-003F-DE58-4A18-4CF357C32A1C}"/>
              </a:ext>
            </a:extLst>
          </p:cNvPr>
          <p:cNvSpPr txBox="1"/>
          <p:nvPr/>
        </p:nvSpPr>
        <p:spPr>
          <a:xfrm>
            <a:off x="611560" y="3417962"/>
            <a:ext cx="7128792" cy="258532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"A"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"B"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"C"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원소를 복사할 수 없어 오류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934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24079-90F0-04D8-B0C8-C70ED016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E5164-B2F1-B19C-3159-405F7DCA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11.2.6 </a:t>
            </a:r>
            <a:r>
              <a:rPr lang="ko-KR" altLang="en-US" dirty="0"/>
              <a:t>반복자</a:t>
            </a:r>
            <a:r>
              <a:rPr lang="en-US" altLang="ko-KR" dirty="0"/>
              <a:t>·</a:t>
            </a:r>
            <a:r>
              <a:rPr lang="ko-KR" altLang="en-US" dirty="0"/>
              <a:t>포인터</a:t>
            </a:r>
            <a:r>
              <a:rPr lang="en-US" altLang="ko-KR" dirty="0"/>
              <a:t>·</a:t>
            </a:r>
            <a:r>
              <a:rPr lang="ko-KR" altLang="en-US" dirty="0"/>
              <a:t>참조의 무효화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F5DCF-A3A6-4B85-FF1B-26CA7CABE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컨테이너 변경 후 기존 위치 객체를 사용할 수 없게 되는 상태</a:t>
            </a:r>
          </a:p>
          <a:p>
            <a:r>
              <a:rPr lang="ko-KR" altLang="en-US" sz="2400" dirty="0"/>
              <a:t>무효화된 반복자</a:t>
            </a:r>
            <a:r>
              <a:rPr lang="en-US" altLang="ko-KR" sz="2400" dirty="0"/>
              <a:t>, </a:t>
            </a:r>
            <a:r>
              <a:rPr lang="ko-KR" altLang="en-US" sz="2400" dirty="0"/>
              <a:t>포인터</a:t>
            </a:r>
            <a:r>
              <a:rPr lang="en-US" altLang="ko-KR" sz="2400" dirty="0"/>
              <a:t>, </a:t>
            </a:r>
            <a:r>
              <a:rPr lang="ko-KR" altLang="en-US" sz="2400" dirty="0"/>
              <a:t>참조는 자동으로 </a:t>
            </a:r>
            <a:r>
              <a:rPr lang="en-US" altLang="ko-KR" sz="2400" dirty="0"/>
              <a:t>nullptr</a:t>
            </a:r>
            <a:r>
              <a:rPr lang="ko-KR" altLang="en-US" sz="2400" dirty="0"/>
              <a:t>이 되지 않음</a:t>
            </a:r>
          </a:p>
          <a:p>
            <a:r>
              <a:rPr lang="ko-KR" altLang="en-US" sz="2400" dirty="0"/>
              <a:t>사용하면 미정의 동작 가능</a:t>
            </a:r>
          </a:p>
          <a:p>
            <a:r>
              <a:rPr lang="ko-KR" altLang="en-US" sz="2400" dirty="0"/>
              <a:t>재할당</a:t>
            </a:r>
            <a:r>
              <a:rPr lang="en-US" altLang="ko-KR" sz="2400" dirty="0"/>
              <a:t>, </a:t>
            </a:r>
            <a:r>
              <a:rPr lang="ko-KR" altLang="en-US" sz="2400" dirty="0"/>
              <a:t>원소 이동</a:t>
            </a:r>
            <a:r>
              <a:rPr lang="en-US" altLang="ko-KR" sz="2400" dirty="0"/>
              <a:t>, </a:t>
            </a:r>
            <a:r>
              <a:rPr lang="ko-KR" altLang="en-US" sz="2400" dirty="0"/>
              <a:t>제거가 주요 원인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7A7B9-B07B-5454-CE93-D7DA0B253ED6}"/>
              </a:ext>
            </a:extLst>
          </p:cNvPr>
          <p:cNvSpPr txBox="1"/>
          <p:nvPr/>
        </p:nvSpPr>
        <p:spPr>
          <a:xfrm>
            <a:off x="539750" y="2852936"/>
            <a:ext cx="6768554" cy="258532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values.front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values.reserve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values.capacity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재할당이 발생하면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사용 불가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0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2D1C-05F8-7DB0-63D3-4AA69498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6787D-9ACD-F418-DC9F-86C14E739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11.2.6 </a:t>
            </a:r>
            <a:r>
              <a:rPr lang="ko-KR" altLang="en-US" dirty="0"/>
              <a:t>무효화 규칙 요약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0A7F93E-4013-2B0A-316A-1CB58C602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687485"/>
              </p:ext>
            </p:extLst>
          </p:nvPr>
        </p:nvGraphicFramePr>
        <p:xfrm>
          <a:off x="539750" y="908720"/>
          <a:ext cx="7992690" cy="4039128"/>
        </p:xfrm>
        <a:graphic>
          <a:graphicData uri="http://schemas.openxmlformats.org/drawingml/2006/table">
            <a:tbl>
              <a:tblPr/>
              <a:tblGrid>
                <a:gridCol w="3058575">
                  <a:extLst>
                    <a:ext uri="{9D8B030D-6E8A-4147-A177-3AD203B41FA5}">
                      <a16:colId xmlns:a16="http://schemas.microsoft.com/office/drawing/2014/main" val="2860761036"/>
                    </a:ext>
                  </a:extLst>
                </a:gridCol>
                <a:gridCol w="4934115">
                  <a:extLst>
                    <a:ext uri="{9D8B030D-6E8A-4147-A177-3AD203B41FA5}">
                      <a16:colId xmlns:a16="http://schemas.microsoft.com/office/drawing/2014/main" val="4181009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컨테이너와 연산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무효화 범위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85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원소 값 변경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반복자, 포인터, 참조 유지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재할당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무효화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61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중간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삽입·제거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삽입·제거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위치부터 끝까지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2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양 끝 삽입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반복자 무효, 기존 원소 참조와 포인터 유지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63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중간 삽입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반복자, 포인터, 참조 무효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43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삽입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반복자, 포인터, 참조 유지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1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제거된 원소 위치만 무효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3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재할당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무효화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687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C84D19-E45E-0912-969C-AB3116552B65}"/>
              </a:ext>
            </a:extLst>
          </p:cNvPr>
          <p:cNvSpPr txBox="1"/>
          <p:nvPr/>
        </p:nvSpPr>
        <p:spPr>
          <a:xfrm>
            <a:off x="539750" y="5240600"/>
            <a:ext cx="691257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무효화 여부는 컨테이너, 연산, 위치, 재할당 여부를 함께 확인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컨테이너 변경 뒤에는 반환 반복자나 새 반복자를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694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801E-519F-E8DE-0146-0DD6E716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4F9E0-FE9A-38ED-2A4A-DCB5179E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std::array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B9E2C-D2D9-66A7-D22B-1101DBC9F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std::array&lt;T, N&gt;</a:t>
            </a:r>
            <a:r>
              <a:rPr lang="ko-KR" altLang="en-US" sz="2400" dirty="0"/>
              <a:t>은 고정 크기 순차 컨테이너</a:t>
            </a:r>
          </a:p>
          <a:p>
            <a:r>
              <a:rPr lang="ko-KR" altLang="en-US" sz="2400" dirty="0"/>
              <a:t>원소 타입과 크기를 타입에 포함</a:t>
            </a:r>
          </a:p>
          <a:p>
            <a:r>
              <a:rPr lang="ko-KR" altLang="en-US" sz="2400" dirty="0"/>
              <a:t>내부 원소는 </a:t>
            </a:r>
            <a:r>
              <a:rPr lang="en-US" altLang="ko-KR" sz="2400" dirty="0"/>
              <a:t>C </a:t>
            </a:r>
            <a:r>
              <a:rPr lang="ko-KR" altLang="en-US" sz="2400" dirty="0"/>
              <a:t>배열처럼 연속 메모리에 저장</a:t>
            </a:r>
          </a:p>
          <a:p>
            <a:r>
              <a:rPr lang="ko-KR" altLang="en-US" sz="2400" dirty="0"/>
              <a:t>반복자</a:t>
            </a:r>
            <a:r>
              <a:rPr lang="en-US" altLang="ko-KR" sz="2400" dirty="0"/>
              <a:t>, </a:t>
            </a:r>
            <a:r>
              <a:rPr lang="ko-KR" altLang="en-US" sz="2400" dirty="0"/>
              <a:t>대입</a:t>
            </a:r>
            <a:r>
              <a:rPr lang="en-US" altLang="ko-KR" sz="2400" dirty="0"/>
              <a:t>, </a:t>
            </a:r>
            <a:r>
              <a:rPr lang="ko-KR" altLang="en-US" sz="2400" dirty="0"/>
              <a:t>비교</a:t>
            </a:r>
            <a:r>
              <a:rPr lang="en-US" altLang="ko-KR" sz="2400" dirty="0"/>
              <a:t>, </a:t>
            </a:r>
            <a:r>
              <a:rPr lang="ko-KR" altLang="en-US" sz="2400" dirty="0"/>
              <a:t>크기 확인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66D8D-DCFC-B080-1DE6-FC44E32BB3C6}"/>
              </a:ext>
            </a:extLst>
          </p:cNvPr>
          <p:cNvSpPr txBox="1"/>
          <p:nvPr/>
        </p:nvSpPr>
        <p:spPr>
          <a:xfrm>
            <a:off x="539749" y="2852936"/>
            <a:ext cx="5472409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B8DB68C-16FC-6E2D-1877-6E7D4756E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141711"/>
              </p:ext>
            </p:extLst>
          </p:nvPr>
        </p:nvGraphicFramePr>
        <p:xfrm>
          <a:off x="532135" y="3633911"/>
          <a:ext cx="5472410" cy="2692752"/>
        </p:xfrm>
        <a:graphic>
          <a:graphicData uri="http://schemas.openxmlformats.org/drawingml/2006/table">
            <a:tbl>
              <a:tblPr/>
              <a:tblGrid>
                <a:gridCol w="1727994">
                  <a:extLst>
                    <a:ext uri="{9D8B030D-6E8A-4147-A177-3AD203B41FA5}">
                      <a16:colId xmlns:a16="http://schemas.microsoft.com/office/drawing/2014/main" val="161459571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1589018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76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고정 크기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원소 수 변경 불가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70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메모리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 배열처럼 저장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96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객체로 전달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크기 정보 유지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346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대입 가능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타입끼리 전체 복사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69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 지원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표준 알고리즘 적용 가능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93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05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AC118-8774-13AB-84F3-9F13C983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B957C-C1BF-7609-48C2-FAA056ED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11.3.1 C </a:t>
            </a:r>
            <a:r>
              <a:rPr lang="ko-KR" altLang="en-US" dirty="0"/>
              <a:t>배열과 </a:t>
            </a:r>
            <a:r>
              <a:rPr lang="en-US" altLang="ko-KR" dirty="0"/>
              <a:t>std::array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BCE70-B685-5683-4E62-5BFEA2BA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 </a:t>
            </a:r>
            <a:r>
              <a:rPr lang="ko-KR" altLang="en-US" sz="2400" dirty="0"/>
              <a:t>배열은 함수 인수에서 포인터로 변환될 수 있음</a:t>
            </a:r>
          </a:p>
          <a:p>
            <a:r>
              <a:rPr lang="ko-KR" altLang="en-US" sz="2400" dirty="0"/>
              <a:t>배열 크기 정보가 사라질 수 있음</a:t>
            </a:r>
          </a:p>
          <a:p>
            <a:r>
              <a:rPr lang="en-US" altLang="ko-KR" sz="2400" dirty="0"/>
              <a:t>std::array</a:t>
            </a:r>
            <a:r>
              <a:rPr lang="ko-KR" altLang="en-US" sz="2400" dirty="0"/>
              <a:t>는 하나의 객체</a:t>
            </a:r>
          </a:p>
          <a:p>
            <a:r>
              <a:rPr lang="ko-KR" altLang="en-US" sz="2400" dirty="0"/>
              <a:t>크기를 스스로 알고 있음</a:t>
            </a:r>
          </a:p>
          <a:p>
            <a:r>
              <a:rPr lang="ko-KR" altLang="en-US" sz="2400" dirty="0"/>
              <a:t>대입과 반환 가능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0F4B9-B7C4-0C68-BA41-C28211BE4244}"/>
              </a:ext>
            </a:extLst>
          </p:cNvPr>
          <p:cNvSpPr txBox="1"/>
          <p:nvPr/>
        </p:nvSpPr>
        <p:spPr>
          <a:xfrm>
            <a:off x="539750" y="2985195"/>
            <a:ext cx="4896346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33C720-1150-67A1-C4C6-44C2C316F78D}"/>
              </a:ext>
            </a:extLst>
          </p:cNvPr>
          <p:cNvSpPr txBox="1"/>
          <p:nvPr/>
        </p:nvSpPr>
        <p:spPr>
          <a:xfrm>
            <a:off x="5220072" y="4647188"/>
            <a:ext cx="3278163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8376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D8F2-1A86-9E61-6040-88BD2FF0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B1C80-F5AE-628D-CAA6-6DFA6709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11.3.2 </a:t>
            </a:r>
            <a:r>
              <a:rPr lang="ko-KR" altLang="en-US" dirty="0"/>
              <a:t>고정 크기와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89759-1959-81CF-5968-9A90B9FE6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원소 수 </a:t>
            </a:r>
            <a:r>
              <a:rPr lang="en-US" altLang="ko-KR" sz="2400" dirty="0"/>
              <a:t>N</a:t>
            </a:r>
            <a:r>
              <a:rPr lang="ko-KR" altLang="en-US" sz="2400" dirty="0"/>
              <a:t>은 컴파일 시점에 </a:t>
            </a:r>
            <a:r>
              <a:rPr lang="ko-KR" altLang="en-US" sz="2400" dirty="0" err="1"/>
              <a:t>정해짐</a:t>
            </a:r>
            <a:endParaRPr lang="ko-KR" altLang="en-US" sz="2400" dirty="0"/>
          </a:p>
          <a:p>
            <a:r>
              <a:rPr lang="ko-KR" altLang="en-US" sz="2400" dirty="0"/>
              <a:t>객체 수명 동안 크기 변경 불가</a:t>
            </a:r>
          </a:p>
          <a:p>
            <a:r>
              <a:rPr lang="ko-KR" altLang="en-US" sz="2400" dirty="0"/>
              <a:t>크기가 다르면 서로 다른 타입</a:t>
            </a:r>
          </a:p>
          <a:p>
            <a:r>
              <a:rPr lang="ko-KR" altLang="en-US" sz="2400" dirty="0"/>
              <a:t>기본형 원소를 </a:t>
            </a:r>
            <a:r>
              <a:rPr lang="en-US" altLang="ko-KR" sz="2400" dirty="0"/>
              <a:t>0</a:t>
            </a:r>
            <a:r>
              <a:rPr lang="ko-KR" altLang="en-US" sz="2400" dirty="0"/>
              <a:t>으로 초기화하려면 빈 중괄호 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E35C5-274E-6BC3-9C73-E1B3FB501890}"/>
              </a:ext>
            </a:extLst>
          </p:cNvPr>
          <p:cNvSpPr txBox="1"/>
          <p:nvPr/>
        </p:nvSpPr>
        <p:spPr>
          <a:xfrm>
            <a:off x="539750" y="2636912"/>
            <a:ext cx="5904458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5&gt;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5&gt;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모든 원소 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5&gt;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기본형 원소 값 미정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44CEADE-A3C2-6106-18B5-51428DA60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86224"/>
              </p:ext>
            </p:extLst>
          </p:nvPr>
        </p:nvGraphicFramePr>
        <p:xfrm>
          <a:off x="539750" y="4293096"/>
          <a:ext cx="5904458" cy="1795168"/>
        </p:xfrm>
        <a:graphic>
          <a:graphicData uri="http://schemas.openxmlformats.org/drawingml/2006/table">
            <a:tbl>
              <a:tblPr/>
              <a:tblGrid>
                <a:gridCol w="2740751">
                  <a:extLst>
                    <a:ext uri="{9D8B030D-6E8A-4147-A177-3AD203B41FA5}">
                      <a16:colId xmlns:a16="http://schemas.microsoft.com/office/drawing/2014/main" val="329862808"/>
                    </a:ext>
                  </a:extLst>
                </a:gridCol>
                <a:gridCol w="3163707">
                  <a:extLst>
                    <a:ext uri="{9D8B030D-6E8A-4147-A177-3AD203B41FA5}">
                      <a16:colId xmlns:a16="http://schemas.microsoft.com/office/drawing/2014/main" val="3170466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4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3&gt;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3개짜리 타입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932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5&gt;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5개짜리 다른 타입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30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std::array&lt;T, 0&gt;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원소가 없는 유효한 타입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707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E1E16E3-4711-930F-F2EA-6C2AC9E9FC03}"/>
              </a:ext>
            </a:extLst>
          </p:cNvPr>
          <p:cNvSpPr txBox="1"/>
          <p:nvPr/>
        </p:nvSpPr>
        <p:spPr>
          <a:xfrm>
            <a:off x="5076056" y="3855366"/>
            <a:ext cx="396044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0&gt;에서는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back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사용 불가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4947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0F3B-A7BF-9742-1277-9BE50751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8306E-CE4E-DD64-5739-8073A13A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11.3.3 </a:t>
            </a:r>
            <a:r>
              <a:rPr lang="ko-KR" altLang="en-US" dirty="0"/>
              <a:t>반복자</a:t>
            </a:r>
            <a:r>
              <a:rPr lang="en-US" altLang="ko-KR" dirty="0"/>
              <a:t>, </a:t>
            </a:r>
            <a:r>
              <a:rPr lang="ko-KR" altLang="en-US" dirty="0"/>
              <a:t>대입과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2535A-41DD-6489-D8E4-F6B6D383D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연속 반복자 제공</a:t>
            </a:r>
          </a:p>
          <a:p>
            <a:r>
              <a:rPr lang="ko-KR" altLang="en-US" dirty="0"/>
              <a:t>표준 알고리즘 적용 가능</a:t>
            </a:r>
          </a:p>
          <a:p>
            <a:r>
              <a:rPr lang="en-US" altLang="ko-KR" dirty="0"/>
              <a:t>data()</a:t>
            </a:r>
            <a:r>
              <a:rPr lang="ko-KR" altLang="en-US" dirty="0"/>
              <a:t>는 첫 원소 주소 반환</a:t>
            </a:r>
          </a:p>
          <a:p>
            <a:r>
              <a:rPr lang="ko-KR" altLang="en-US" dirty="0"/>
              <a:t>같은 원소 타입과 크기이면 대입 가능</a:t>
            </a:r>
          </a:p>
          <a:p>
            <a:r>
              <a:rPr lang="ko-KR" altLang="en-US" dirty="0"/>
              <a:t>비교는 원소를 앞에서부터 사전식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EEA7D-2E6D-5F7A-3F09-0D3503DB7474}"/>
              </a:ext>
            </a:extLst>
          </p:cNvPr>
          <p:cNvSpPr txBox="1"/>
          <p:nvPr/>
        </p:nvSpPr>
        <p:spPr>
          <a:xfrm>
            <a:off x="539750" y="3429397"/>
            <a:ext cx="756064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5&gt;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227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1B95-DABD-1576-8A9A-0355303A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DE112-376D-1C4F-698D-3B18D52D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11.3.5 </a:t>
            </a:r>
            <a:r>
              <a:rPr lang="ko-KR" altLang="en-US" dirty="0"/>
              <a:t>함수 인수로 전달하기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FF3AA-FFE6-110E-914C-33FBF155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고정된 크기만 받으면 구체 타입 참조 사용</a:t>
            </a:r>
          </a:p>
          <a:p>
            <a:r>
              <a:rPr lang="ko-KR" altLang="en-US" dirty="0"/>
              <a:t>여러 크기를 허용하려면 크기를 템플릿 매개변수로 받음</a:t>
            </a:r>
          </a:p>
          <a:p>
            <a:r>
              <a:rPr lang="ko-KR" altLang="en-US" dirty="0"/>
              <a:t>연속된 원소 범위만 읽으면 </a:t>
            </a:r>
            <a:r>
              <a:rPr lang="en-US" altLang="ko-KR" dirty="0"/>
              <a:t>std::span </a:t>
            </a:r>
            <a:r>
              <a:rPr lang="ko-KR" altLang="en-US" dirty="0"/>
              <a:t>사용 가능</a:t>
            </a:r>
          </a:p>
          <a:p>
            <a:r>
              <a:rPr lang="en-US" altLang="ko-KR" dirty="0"/>
              <a:t>std::span</a:t>
            </a:r>
            <a:r>
              <a:rPr lang="ko-KR" altLang="en-US" dirty="0"/>
              <a:t>은 원소를 소유하지 않음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0E8C6-2C62-DC23-ED27-16F63642EEBC}"/>
              </a:ext>
            </a:extLst>
          </p:cNvPr>
          <p:cNvSpPr txBox="1"/>
          <p:nvPr/>
        </p:nvSpPr>
        <p:spPr>
          <a:xfrm>
            <a:off x="467544" y="2996952"/>
            <a:ext cx="4572000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35EAE-E901-732E-FE5B-ACB2A99B760E}"/>
              </a:ext>
            </a:extLst>
          </p:cNvPr>
          <p:cNvSpPr txBox="1"/>
          <p:nvPr/>
        </p:nvSpPr>
        <p:spPr>
          <a:xfrm>
            <a:off x="4780458" y="3484111"/>
            <a:ext cx="4139754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5216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AB5A-C3AC-E88D-19BB-3DBBEE33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A01B2-F927-4313-3C21-E606B15C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std::vector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25342-2C04-7B81-86BF-428805957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원소를 연속 메모리에 저장하는 가변 크기 순차 컨테이너</a:t>
            </a:r>
          </a:p>
          <a:p>
            <a:r>
              <a:rPr lang="ko-KR" altLang="en-US" sz="2400" dirty="0"/>
              <a:t>인덱스 접근이 빠름</a:t>
            </a:r>
          </a:p>
          <a:p>
            <a:r>
              <a:rPr lang="ko-KR" altLang="en-US" sz="2400" dirty="0"/>
              <a:t>순차 순회에서 캐시 지역성이 좋음</a:t>
            </a:r>
          </a:p>
          <a:p>
            <a:r>
              <a:rPr lang="ko-KR" altLang="en-US" sz="2400" dirty="0"/>
              <a:t>가변 크기 순차 컨테이너의 기본 선택으로 적합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AB73A-AEC8-F695-4074-35D96397A119}"/>
              </a:ext>
            </a:extLst>
          </p:cNvPr>
          <p:cNvSpPr txBox="1"/>
          <p:nvPr/>
        </p:nvSpPr>
        <p:spPr>
          <a:xfrm>
            <a:off x="539750" y="2777390"/>
            <a:ext cx="6984578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1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7A51BD5-F884-9962-C7B4-AEA50515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66372"/>
              </p:ext>
            </p:extLst>
          </p:nvPr>
        </p:nvGraphicFramePr>
        <p:xfrm>
          <a:off x="539750" y="3826100"/>
          <a:ext cx="6984578" cy="2663848"/>
        </p:xfrm>
        <a:graphic>
          <a:graphicData uri="http://schemas.openxmlformats.org/drawingml/2006/table">
            <a:tbl>
              <a:tblPr/>
              <a:tblGrid>
                <a:gridCol w="2495930">
                  <a:extLst>
                    <a:ext uri="{9D8B030D-6E8A-4147-A177-3AD203B41FA5}">
                      <a16:colId xmlns:a16="http://schemas.microsoft.com/office/drawing/2014/main" val="944011435"/>
                    </a:ext>
                  </a:extLst>
                </a:gridCol>
                <a:gridCol w="4488648">
                  <a:extLst>
                    <a:ext uri="{9D8B030D-6E8A-4147-A177-3AD203B41FA5}">
                      <a16:colId xmlns:a16="http://schemas.microsoft.com/office/drawing/2014/main" val="2839501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1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1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0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가변 크기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추가와 제거 가능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8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메모리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사용 가능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61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[],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0839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 추가 효율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emplace_back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4970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중간 삽입 비용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 원소 이동 가능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58036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반복자와 참조 무효화 가능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70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705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8C52-5144-D096-AF25-54605766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303F3-93FA-B6B6-E94C-5DB3E3CD2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11.4.1 </a:t>
            </a:r>
            <a:r>
              <a:rPr lang="ko-KR" altLang="en-US" dirty="0"/>
              <a:t>연속 메모리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F03B8-7557-4B5D-1E19-107AC751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std::vector</a:t>
            </a:r>
            <a:r>
              <a:rPr lang="ko-KR" altLang="en-US" sz="2400" dirty="0"/>
              <a:t>의 원소는 메모리에 연속 배치</a:t>
            </a:r>
          </a:p>
          <a:p>
            <a:r>
              <a:rPr lang="en-US" altLang="ko-KR" sz="2400" dirty="0"/>
              <a:t>data()</a:t>
            </a:r>
            <a:r>
              <a:rPr lang="ko-KR" altLang="en-US" sz="2400" dirty="0"/>
              <a:t>는 저장 영역의 시작 주소 반환</a:t>
            </a:r>
          </a:p>
          <a:p>
            <a:r>
              <a:rPr lang="en-US" altLang="ko-KR" sz="2400" dirty="0"/>
              <a:t>C </a:t>
            </a:r>
            <a:r>
              <a:rPr lang="ko-KR" altLang="en-US" sz="2400" dirty="0"/>
              <a:t>함수나 외부 라이브러리에 버퍼 전달 가능</a:t>
            </a:r>
          </a:p>
          <a:p>
            <a:r>
              <a:rPr lang="ko-KR" altLang="en-US" sz="2400" dirty="0"/>
              <a:t>크기가 </a:t>
            </a:r>
            <a:r>
              <a:rPr lang="en-US" altLang="ko-KR" sz="2400" dirty="0"/>
              <a:t>0</a:t>
            </a:r>
            <a:r>
              <a:rPr lang="ko-KR" altLang="en-US" sz="2400" dirty="0"/>
              <a:t>이면 </a:t>
            </a:r>
            <a:r>
              <a:rPr lang="en-US" altLang="ko-KR" sz="2400" dirty="0"/>
              <a:t>data() </a:t>
            </a:r>
            <a:r>
              <a:rPr lang="ko-KR" altLang="en-US" sz="2400" dirty="0"/>
              <a:t>결과를 </a:t>
            </a:r>
            <a:r>
              <a:rPr lang="ko-KR" altLang="en-US" sz="2400" dirty="0" err="1"/>
              <a:t>역참조하면</a:t>
            </a:r>
            <a:r>
              <a:rPr lang="ko-KR" altLang="en-US" sz="2400" dirty="0"/>
              <a:t> 안 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9E203-94D7-406C-4258-44ECEFE93A17}"/>
              </a:ext>
            </a:extLst>
          </p:cNvPr>
          <p:cNvSpPr txBox="1"/>
          <p:nvPr/>
        </p:nvSpPr>
        <p:spPr>
          <a:xfrm>
            <a:off x="539378" y="2554307"/>
            <a:ext cx="3960614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237A-7468-E60A-8CD8-DF4A9D8DB3B7}"/>
              </a:ext>
            </a:extLst>
          </p:cNvPr>
          <p:cNvSpPr txBox="1"/>
          <p:nvPr/>
        </p:nvSpPr>
        <p:spPr>
          <a:xfrm>
            <a:off x="4204097" y="3931384"/>
            <a:ext cx="4392488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851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C213-D014-C4EE-542E-3D0BD697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A7EE3-F315-8374-C1D2-75FDDF21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11.4.2 </a:t>
            </a:r>
            <a:r>
              <a:rPr lang="ko-KR" altLang="en-US" dirty="0"/>
              <a:t>원소 추가와 제거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846958-1E3D-A4E8-AF3F-C9B0B63F1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끝에 추가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push_back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emplace_back</a:t>
            </a:r>
            <a:r>
              <a:rPr lang="en-US" altLang="ko-KR" sz="2400" dirty="0"/>
              <a:t>()</a:t>
            </a:r>
          </a:p>
          <a:p>
            <a:r>
              <a:rPr lang="ko-KR" altLang="en-US" sz="2400" dirty="0"/>
              <a:t>끝 원소 제거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pop_back</a:t>
            </a:r>
            <a:r>
              <a:rPr lang="en-US" altLang="ko-KR" sz="2400" dirty="0"/>
              <a:t>()</a:t>
            </a:r>
          </a:p>
          <a:p>
            <a:r>
              <a:rPr lang="ko-KR" altLang="en-US" sz="2400" dirty="0"/>
              <a:t>중간 삽입</a:t>
            </a:r>
            <a:r>
              <a:rPr lang="en-US" altLang="ko-KR" sz="2400" dirty="0"/>
              <a:t>: insert()</a:t>
            </a:r>
          </a:p>
          <a:p>
            <a:r>
              <a:rPr lang="ko-KR" altLang="en-US" sz="2400" dirty="0"/>
              <a:t>중간 제거</a:t>
            </a:r>
            <a:r>
              <a:rPr lang="en-US" altLang="ko-KR" sz="2400" dirty="0"/>
              <a:t>: erase()</a:t>
            </a:r>
          </a:p>
          <a:p>
            <a:r>
              <a:rPr lang="ko-KR" altLang="en-US" sz="2400" dirty="0"/>
              <a:t>앞이나 중간 삽입</a:t>
            </a:r>
            <a:r>
              <a:rPr lang="en-US" altLang="ko-KR" sz="2400" dirty="0"/>
              <a:t>·</a:t>
            </a:r>
            <a:r>
              <a:rPr lang="ko-KR" altLang="en-US" sz="2400" dirty="0"/>
              <a:t>제거는 원소 이동 비용 발생 가능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6CB6E-A1CC-F216-6314-D2B657963FFB}"/>
              </a:ext>
            </a:extLst>
          </p:cNvPr>
          <p:cNvSpPr txBox="1"/>
          <p:nvPr/>
        </p:nvSpPr>
        <p:spPr>
          <a:xfrm>
            <a:off x="539751" y="2985195"/>
            <a:ext cx="4392290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names.pop_back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84796-A267-4DAD-BBC5-73986F7181F5}"/>
              </a:ext>
            </a:extLst>
          </p:cNvPr>
          <p:cNvSpPr txBox="1"/>
          <p:nvPr/>
        </p:nvSpPr>
        <p:spPr>
          <a:xfrm>
            <a:off x="4715817" y="5811907"/>
            <a:ext cx="388843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중간 삽입 → 삽입 위치 뒤 원소 이동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중간 제거 → 제거 위치 뒤 원소 이동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1082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856A-18D2-5224-2306-CF62B86F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C7104-381C-6186-A243-6FA0BBCF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11.4.3 size</a:t>
            </a:r>
            <a:r>
              <a:rPr lang="ko-KR" altLang="en-US" dirty="0"/>
              <a:t>와 </a:t>
            </a:r>
            <a:r>
              <a:rPr lang="en-US" altLang="ko-KR" dirty="0"/>
              <a:t>capacity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9BB23-A261-F709-75CA-004131471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size()</a:t>
            </a:r>
            <a:r>
              <a:rPr lang="ko-KR" altLang="en-US" sz="2400" dirty="0"/>
              <a:t>는 현재 생성된 원소 수</a:t>
            </a:r>
          </a:p>
          <a:p>
            <a:r>
              <a:rPr lang="en-US" altLang="ko-KR" sz="2400" dirty="0"/>
              <a:t>capacity()</a:t>
            </a:r>
            <a:r>
              <a:rPr lang="ko-KR" altLang="en-US" sz="2400" dirty="0"/>
              <a:t>는 재할당 없이 저장할 수 있는 원소 수</a:t>
            </a:r>
          </a:p>
          <a:p>
            <a:r>
              <a:rPr lang="en-US" altLang="ko-KR" sz="2400" dirty="0"/>
              <a:t>capacity()</a:t>
            </a:r>
            <a:r>
              <a:rPr lang="ko-KR" altLang="en-US" sz="2400" dirty="0"/>
              <a:t>는 원소 수가 아님</a:t>
            </a:r>
          </a:p>
          <a:p>
            <a:r>
              <a:rPr lang="ko-KR" altLang="en-US" sz="2400" dirty="0"/>
              <a:t>유효 인덱스는 </a:t>
            </a: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size() - 1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84C8F-B428-4840-2F5C-820BB3B2206F}"/>
              </a:ext>
            </a:extLst>
          </p:cNvPr>
          <p:cNvSpPr txBox="1"/>
          <p:nvPr/>
        </p:nvSpPr>
        <p:spPr>
          <a:xfrm>
            <a:off x="539750" y="2636912"/>
            <a:ext cx="5256386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values.capacity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544E9-DE17-649A-C7FB-79574246681C}"/>
              </a:ext>
            </a:extLst>
          </p:cNvPr>
          <p:cNvSpPr txBox="1"/>
          <p:nvPr/>
        </p:nvSpPr>
        <p:spPr>
          <a:xfrm>
            <a:off x="539749" y="3717032"/>
            <a:ext cx="5256387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capacity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[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[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[빈 공간] [빈 공간]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EFFB9FE-ED1D-AB26-10B4-37B78330D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14974"/>
              </p:ext>
            </p:extLst>
          </p:nvPr>
        </p:nvGraphicFramePr>
        <p:xfrm>
          <a:off x="539749" y="4733737"/>
          <a:ext cx="5256387" cy="1727200"/>
        </p:xfrm>
        <a:graphic>
          <a:graphicData uri="http://schemas.openxmlformats.org/drawingml/2006/table">
            <a:tbl>
              <a:tblPr/>
              <a:tblGrid>
                <a:gridCol w="1944019">
                  <a:extLst>
                    <a:ext uri="{9D8B030D-6E8A-4147-A177-3AD203B41FA5}">
                      <a16:colId xmlns:a16="http://schemas.microsoft.com/office/drawing/2014/main" val="17109302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87114892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sz="20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0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036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원소 수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46305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capacity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확보된 저장 가능 수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2094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index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&lt;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()일 때만 유효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7214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3F7928-1873-CB49-B31B-A7377214007B}"/>
              </a:ext>
            </a:extLst>
          </p:cNvPr>
          <p:cNvSpPr txBox="1"/>
          <p:nvPr/>
        </p:nvSpPr>
        <p:spPr>
          <a:xfrm>
            <a:off x="5533031" y="4274736"/>
            <a:ext cx="3143425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용량 증가 비율은 표준에서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고정하지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195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DA4B-7790-262A-8271-1B00E644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0FE6A-15F7-B161-CE41-A10D9EC3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11.4.4 </a:t>
            </a:r>
            <a:r>
              <a:rPr lang="ko-KR" altLang="en-US" dirty="0"/>
              <a:t>재할당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B9AB09-627E-FB31-B6CC-7A05DABAD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원소를 추가할 공간이 부족하면 더 큰 저장 공간 확보</a:t>
            </a:r>
          </a:p>
          <a:p>
            <a:r>
              <a:rPr lang="ko-KR" altLang="en-US" sz="2400" dirty="0"/>
              <a:t>기존 원소를 새 공간으로 이동하거나 복사</a:t>
            </a:r>
          </a:p>
          <a:p>
            <a:r>
              <a:rPr lang="ko-KR" altLang="en-US" sz="2400" dirty="0"/>
              <a:t>이전 공간 해제</a:t>
            </a:r>
          </a:p>
          <a:p>
            <a:r>
              <a:rPr lang="ko-KR" altLang="en-US" sz="2400" dirty="0"/>
              <a:t>재할당이 발생하면 기존 반복자</a:t>
            </a:r>
            <a:r>
              <a:rPr lang="en-US" altLang="ko-KR" sz="2400" dirty="0"/>
              <a:t>, </a:t>
            </a:r>
            <a:r>
              <a:rPr lang="ko-KR" altLang="en-US" sz="2400" dirty="0"/>
              <a:t>포인터</a:t>
            </a:r>
            <a:r>
              <a:rPr lang="en-US" altLang="ko-KR" sz="2400" dirty="0"/>
              <a:t>, </a:t>
            </a:r>
            <a:r>
              <a:rPr lang="ko-KR" altLang="en-US" sz="2400" dirty="0"/>
              <a:t>참조 모두 무효화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1E1A4-08E0-7E6B-E23D-4DBDE5CCF004}"/>
              </a:ext>
            </a:extLst>
          </p:cNvPr>
          <p:cNvSpPr txBox="1"/>
          <p:nvPr/>
        </p:nvSpPr>
        <p:spPr>
          <a:xfrm>
            <a:off x="539750" y="2636912"/>
            <a:ext cx="4572000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재할당이 발생했다면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사용 불가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Data&amp;)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Data(Data&amp;&amp;)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9F4C2-6F0B-4E32-B89A-1D2DFBBDACFE}"/>
              </a:ext>
            </a:extLst>
          </p:cNvPr>
          <p:cNvSpPr txBox="1"/>
          <p:nvPr/>
        </p:nvSpPr>
        <p:spPr>
          <a:xfrm>
            <a:off x="4038575" y="3933056"/>
            <a:ext cx="4968552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타입의 이동 생성자가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noexcept이면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재할당 과정에서 이동을 선택하기 쉬움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capacity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()이면 기존 공간에 원소 생성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855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E748-317D-CB66-7C63-E604BC67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0BF35-FD6E-AC61-6FD8-C19E76FF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11.4.5 reserve</a:t>
            </a:r>
            <a:r>
              <a:rPr lang="ko-KR" altLang="en-US" dirty="0"/>
              <a:t>와 </a:t>
            </a:r>
            <a:r>
              <a:rPr lang="en-US" altLang="ko-KR" dirty="0"/>
              <a:t>resize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8206C-E744-4C4E-BDAB-8D3437395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reserve()</a:t>
            </a:r>
            <a:r>
              <a:rPr lang="ko-KR" altLang="en-US" sz="2400" dirty="0"/>
              <a:t>는 저장 용량 확보</a:t>
            </a:r>
          </a:p>
          <a:p>
            <a:r>
              <a:rPr lang="en-US" altLang="ko-KR" sz="2400" dirty="0"/>
              <a:t>reserve()</a:t>
            </a:r>
            <a:r>
              <a:rPr lang="ko-KR" altLang="en-US" sz="2400" dirty="0"/>
              <a:t>는 원소 수를 늘리지 않음</a:t>
            </a:r>
          </a:p>
          <a:p>
            <a:r>
              <a:rPr lang="en-US" altLang="ko-KR" sz="2400" dirty="0"/>
              <a:t>resize()</a:t>
            </a:r>
            <a:r>
              <a:rPr lang="ko-KR" altLang="en-US" sz="2400" dirty="0"/>
              <a:t>는 실제 원소 수 변경</a:t>
            </a:r>
          </a:p>
          <a:p>
            <a:r>
              <a:rPr lang="ko-KR" altLang="en-US" sz="2400" dirty="0"/>
              <a:t>크기를 줄이면 뒤쪽 원소 소멸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8DCF5-049D-432C-AA1E-27413CE3BBC5}"/>
              </a:ext>
            </a:extLst>
          </p:cNvPr>
          <p:cNvSpPr txBox="1"/>
          <p:nvPr/>
        </p:nvSpPr>
        <p:spPr>
          <a:xfrm>
            <a:off x="539750" y="2636912"/>
            <a:ext cx="5256584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values.reserve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values.capacity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100 이상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 20 0 0 0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5A11EF1-5B89-37DD-9DA0-94578292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4471"/>
              </p:ext>
            </p:extLst>
          </p:nvPr>
        </p:nvGraphicFramePr>
        <p:xfrm>
          <a:off x="2267744" y="4908550"/>
          <a:ext cx="6431732" cy="1173480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195803303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97747753"/>
                    </a:ext>
                  </a:extLst>
                </a:gridCol>
                <a:gridCol w="1772466">
                  <a:extLst>
                    <a:ext uri="{9D8B030D-6E8A-4147-A177-3AD203B41FA5}">
                      <a16:colId xmlns:a16="http://schemas.microsoft.com/office/drawing/2014/main" val="3324721228"/>
                    </a:ext>
                  </a:extLst>
                </a:gridCol>
                <a:gridCol w="1850954">
                  <a:extLst>
                    <a:ext uri="{9D8B030D-6E8A-4147-A177-3AD203B41FA5}">
                      <a16:colId xmlns:a16="http://schemas.microsoft.com/office/drawing/2014/main" val="4655280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변경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capacity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확보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새 원소 생성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1758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reserve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아니요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필요하면 증가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아니요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275724"/>
                  </a:ext>
                </a:extLst>
              </a:tr>
              <a:tr h="24668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resize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필요하면 증가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크기가 늘면 생성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852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495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7E530-5A6E-7E02-C320-59D3609A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5E217-BE7F-CEA6-2BB6-582D0F7A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11.4.6 vector </a:t>
            </a:r>
            <a:r>
              <a:rPr lang="ko-KR" altLang="en-US" dirty="0"/>
              <a:t>무효화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D60AA-B5F3-E5A0-0712-363E23494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중간 삽입과 제거는 재할당이 없어도 원소 이동 발생</a:t>
            </a:r>
          </a:p>
          <a:p>
            <a:r>
              <a:rPr lang="ko-KR" altLang="en-US" sz="2400" dirty="0"/>
              <a:t>변경 뒤 같은 위치가 필요하면 반복자를 다시 얻음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4BBA51-0354-FB49-780F-6B03C5949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440836"/>
              </p:ext>
            </p:extLst>
          </p:nvPr>
        </p:nvGraphicFramePr>
        <p:xfrm>
          <a:off x="107504" y="1844824"/>
          <a:ext cx="8928992" cy="4013200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154066399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166415708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58477475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</a:t>
                      </a:r>
                      <a:endParaRPr lang="ko-KR" sz="32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조건</a:t>
                      </a:r>
                      <a:endParaRPr lang="ko-KR" sz="32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무효화 범위</a:t>
                      </a:r>
                      <a:endParaRPr lang="ko-KR" sz="32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64964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reserve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&gt;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capacity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6974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reserve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&lt;=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capacity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3173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emplace_back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발생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85315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push_back(), emplace_back()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없음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852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발생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2077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emplace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없음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 위치부터 끝까지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12936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erase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제거 위치부터 끝까지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139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pop_back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제거된 원소와 기존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15405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clear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원소 위치와 기존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154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934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1967-4495-7859-ED90-189AE7BD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32653-1756-5DDC-9BCE-40896E7B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11.4.7 </a:t>
            </a:r>
            <a:r>
              <a:rPr lang="en-US" altLang="ko-KR" dirty="0" err="1"/>
              <a:t>push_back</a:t>
            </a:r>
            <a:r>
              <a:rPr lang="ko-KR" altLang="en-US" dirty="0"/>
              <a:t>과 </a:t>
            </a:r>
            <a:r>
              <a:rPr lang="en-US" altLang="ko-KR" dirty="0" err="1"/>
              <a:t>emplace_back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018E3-F924-3FF6-C67D-5D548F48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push_back</a:t>
            </a:r>
            <a:r>
              <a:rPr lang="en-US" altLang="ko-KR" sz="2400" dirty="0"/>
              <a:t>()</a:t>
            </a:r>
            <a:r>
              <a:rPr lang="ko-KR" altLang="en-US" sz="2400" dirty="0"/>
              <a:t>은 원소 타입 객체 하나를 받아 끝에 추가</a:t>
            </a:r>
          </a:p>
          <a:p>
            <a:r>
              <a:rPr lang="en-US" altLang="ko-KR" sz="2400" dirty="0" err="1"/>
              <a:t>emplace_back</a:t>
            </a:r>
            <a:r>
              <a:rPr lang="en-US" altLang="ko-KR" sz="2400" dirty="0"/>
              <a:t>()</a:t>
            </a:r>
            <a:r>
              <a:rPr lang="ko-KR" altLang="en-US" sz="2400" dirty="0"/>
              <a:t>은 생성자 인수를 받아 저장 위치에 직접 생성</a:t>
            </a:r>
          </a:p>
          <a:p>
            <a:r>
              <a:rPr lang="en-US" altLang="ko-KR" sz="2400" dirty="0" err="1"/>
              <a:t>emplace_back</a:t>
            </a:r>
            <a:r>
              <a:rPr lang="en-US" altLang="ko-KR" sz="2400" dirty="0"/>
              <a:t>()</a:t>
            </a:r>
            <a:r>
              <a:rPr lang="ko-KR" altLang="en-US" sz="2400" dirty="0"/>
              <a:t>이 항상 더 빠른 것은 아님</a:t>
            </a:r>
          </a:p>
          <a:p>
            <a:r>
              <a:rPr lang="ko-KR" altLang="en-US" sz="2400" dirty="0"/>
              <a:t>어떤 생성자를 선택하는지 확인 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2E2A6-D0F6-C656-9DC1-2A240A68864E}"/>
              </a:ext>
            </a:extLst>
          </p:cNvPr>
          <p:cNvSpPr txBox="1"/>
          <p:nvPr/>
        </p:nvSpPr>
        <p:spPr>
          <a:xfrm>
            <a:off x="395536" y="2658566"/>
            <a:ext cx="3744416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27F22-9594-838E-BB45-613BF9BC1BD0}"/>
              </a:ext>
            </a:extLst>
          </p:cNvPr>
          <p:cNvSpPr txBox="1"/>
          <p:nvPr/>
        </p:nvSpPr>
        <p:spPr>
          <a:xfrm>
            <a:off x="3995936" y="2658566"/>
            <a:ext cx="4896544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itemName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items.emplace_back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Ether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078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75C44-A751-5C70-3052-81B6720F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811CA-FD81-F53A-2C75-490BDF21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std::deque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EB5078-0B0B-9D54-2A7A-FC788898C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double-ended queue</a:t>
            </a:r>
            <a:r>
              <a:rPr lang="ko-KR" altLang="en-US" sz="2400" dirty="0"/>
              <a:t>에서 온 이름</a:t>
            </a:r>
          </a:p>
          <a:p>
            <a:r>
              <a:rPr lang="ko-KR" altLang="en-US" sz="2400" dirty="0"/>
              <a:t>앞과 뒤에서 원소를 효율적으로 추가</a:t>
            </a:r>
            <a:r>
              <a:rPr lang="en-US" altLang="ko-KR" sz="2400" dirty="0"/>
              <a:t>·</a:t>
            </a:r>
            <a:r>
              <a:rPr lang="ko-KR" altLang="en-US" sz="2400" dirty="0"/>
              <a:t>제거</a:t>
            </a:r>
          </a:p>
          <a:p>
            <a:r>
              <a:rPr lang="ko-KR" altLang="en-US" sz="2400" dirty="0"/>
              <a:t>가변 크기 순차 컨테이너</a:t>
            </a:r>
          </a:p>
          <a:p>
            <a:r>
              <a:rPr lang="ko-KR" altLang="en-US" sz="2400" dirty="0"/>
              <a:t>임의 접근 지원</a:t>
            </a:r>
          </a:p>
          <a:p>
            <a:r>
              <a:rPr lang="ko-KR" altLang="en-US" sz="2400" dirty="0"/>
              <a:t>전체 원소가 하나의 연속 메모리 블록에 있지는 않음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A731F-5EBF-4646-B9D8-D837CAC3CB12}"/>
              </a:ext>
            </a:extLst>
          </p:cNvPr>
          <p:cNvSpPr txBox="1"/>
          <p:nvPr/>
        </p:nvSpPr>
        <p:spPr>
          <a:xfrm>
            <a:off x="539750" y="3068960"/>
            <a:ext cx="4572000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저장 값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 20 30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1EDEC81-E57E-7377-79DB-A6AA151CB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490871"/>
              </p:ext>
            </p:extLst>
          </p:nvPr>
        </p:nvGraphicFramePr>
        <p:xfrm>
          <a:off x="4139952" y="3951411"/>
          <a:ext cx="4320480" cy="2159000"/>
        </p:xfrm>
        <a:graphic>
          <a:graphicData uri="http://schemas.openxmlformats.org/drawingml/2006/table">
            <a:tbl>
              <a:tblPr/>
              <a:tblGrid>
                <a:gridCol w="1974594">
                  <a:extLst>
                    <a:ext uri="{9D8B030D-6E8A-4147-A177-3AD203B41FA5}">
                      <a16:colId xmlns:a16="http://schemas.microsoft.com/office/drawing/2014/main" val="3607163430"/>
                    </a:ext>
                  </a:extLst>
                </a:gridCol>
                <a:gridCol w="2345886">
                  <a:extLst>
                    <a:ext uri="{9D8B030D-6E8A-4147-A177-3AD203B41FA5}">
                      <a16:colId xmlns:a16="http://schemas.microsoft.com/office/drawing/2014/main" val="134841003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05482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push_front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앞쪽 추가 효율적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2914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 추가 효율적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6859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 지원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7072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제공하지 않음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52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567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66E8-1E44-CDBC-C5A1-86F999A3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1BD4-7AB9-2516-DE13-7FA549BD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11.5.2 deque </a:t>
            </a:r>
            <a:r>
              <a:rPr lang="ko-KR" altLang="en-US" dirty="0"/>
              <a:t>메모리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CD6BD-348B-6E09-B473-40813768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여러 고정 크기 블록을 관리하는 구조</a:t>
            </a:r>
          </a:p>
          <a:p>
            <a:r>
              <a:rPr lang="ko-KR" altLang="en-US" sz="2400" dirty="0"/>
              <a:t>구체적인 블록 크기와 내부 배치는 구현마다 다름</a:t>
            </a:r>
          </a:p>
          <a:p>
            <a:r>
              <a:rPr lang="ko-KR" altLang="en-US" sz="2400" dirty="0"/>
              <a:t>앞쪽 확장 시 모든 원소를 이동할 필요가 적음</a:t>
            </a:r>
          </a:p>
          <a:p>
            <a:r>
              <a:rPr lang="ko-KR" altLang="en-US" sz="2400" dirty="0"/>
              <a:t>전체 원소를 하나의 </a:t>
            </a:r>
            <a:r>
              <a:rPr lang="en-US" altLang="ko-KR" sz="2400" dirty="0"/>
              <a:t>T*</a:t>
            </a:r>
            <a:r>
              <a:rPr lang="ko-KR" altLang="en-US" sz="2400" dirty="0"/>
              <a:t>와 크기로 표현할 수 없음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6C932-62F2-DE94-6FE7-1B268D8E2764}"/>
              </a:ext>
            </a:extLst>
          </p:cNvPr>
          <p:cNvSpPr txBox="1"/>
          <p:nvPr/>
        </p:nvSpPr>
        <p:spPr>
          <a:xfrm>
            <a:off x="611560" y="2636912"/>
            <a:ext cx="4896544" cy="175432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0C1DE-DECB-AECB-2554-9A4E6F182C7D}"/>
              </a:ext>
            </a:extLst>
          </p:cNvPr>
          <p:cNvSpPr txBox="1"/>
          <p:nvPr/>
        </p:nvSpPr>
        <p:spPr>
          <a:xfrm>
            <a:off x="611560" y="4388183"/>
            <a:ext cx="4896544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블록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블록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블록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      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      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362560-5ADE-6591-16ED-0165C76AFD16}"/>
              </a:ext>
            </a:extLst>
          </p:cNvPr>
          <p:cNvSpPr txBox="1"/>
          <p:nvPr/>
        </p:nvSpPr>
        <p:spPr>
          <a:xfrm>
            <a:off x="612304" y="5037559"/>
            <a:ext cx="640796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임의 접근 반복자를 제공하므로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사용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벡터보다 주소 계산 단계와 캐시 지역성이 불리할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8714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24C0-4908-2335-82B8-3C7F7794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A4D85-FC69-1198-1268-355678F6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11.5.4 vector</a:t>
            </a:r>
            <a:r>
              <a:rPr lang="ko-KR" altLang="en-US" dirty="0"/>
              <a:t>와 </a:t>
            </a:r>
            <a:r>
              <a:rPr lang="en-US" altLang="ko-KR" dirty="0"/>
              <a:t>deque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76DD9-D0D3-01DC-56AB-0CA569E7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양 끝 삽입이 많아도 반복자 안정성은 별도 확인 필요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E942AC3-4933-1942-0C12-A7E0618B7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90622"/>
              </p:ext>
            </p:extLst>
          </p:nvPr>
        </p:nvGraphicFramePr>
        <p:xfrm>
          <a:off x="611560" y="1556792"/>
          <a:ext cx="7488831" cy="3423920"/>
        </p:xfrm>
        <a:graphic>
          <a:graphicData uri="http://schemas.openxmlformats.org/drawingml/2006/table">
            <a:tbl>
              <a:tblPr/>
              <a:tblGrid>
                <a:gridCol w="2422857">
                  <a:extLst>
                    <a:ext uri="{9D8B030D-6E8A-4147-A177-3AD203B41FA5}">
                      <a16:colId xmlns:a16="http://schemas.microsoft.com/office/drawing/2014/main" val="2255497614"/>
                    </a:ext>
                  </a:extLst>
                </a:gridCol>
                <a:gridCol w="2057908">
                  <a:extLst>
                    <a:ext uri="{9D8B030D-6E8A-4147-A177-3AD203B41FA5}">
                      <a16:colId xmlns:a16="http://schemas.microsoft.com/office/drawing/2014/main" val="3318214662"/>
                    </a:ext>
                  </a:extLst>
                </a:gridCol>
                <a:gridCol w="3008066">
                  <a:extLst>
                    <a:ext uri="{9D8B030D-6E8A-4147-A177-3AD203B41FA5}">
                      <a16:colId xmlns:a16="http://schemas.microsoft.com/office/drawing/2014/main" val="250900066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기준</a:t>
                      </a:r>
                      <a:endParaRPr lang="ko-KR" sz="18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std::vector</a:t>
                      </a:r>
                      <a:endParaRPr lang="ko-KR" sz="1800" b="1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deque</a:t>
                      </a:r>
                      <a:endParaRPr lang="ko-KR" sz="18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086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메모리 연속성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보장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보장하지 않음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453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 추가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효율적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효율적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43026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앞쪽 추가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이동 필요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효율적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737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data()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제공하지 않음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017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캐시 지역성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대체로 좋음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낮을 수 있음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701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 끝 삽입 시 참조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시 무효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원소 참조 유지 가능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276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 끝 삽입 시 반복자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재할당 시 무효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반복자 무효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3130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321CAA-954A-ADB8-1E6D-C84EE0E73381}"/>
              </a:ext>
            </a:extLst>
          </p:cNvPr>
          <p:cNvSpPr txBox="1"/>
          <p:nvPr/>
        </p:nvSpPr>
        <p:spPr>
          <a:xfrm>
            <a:off x="595957" y="5201464"/>
            <a:ext cx="7504433" cy="830997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연속 메모리와 외부 API 연동 → </a:t>
            </a:r>
            <a:r>
              <a:rPr lang="ko-KR" altLang="ko-KR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b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앞과 뒤 양쪽 작업이 많음 → </a:t>
            </a:r>
            <a:r>
              <a:rPr lang="ko-KR" altLang="ko-KR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검토</a:t>
            </a:r>
            <a:endParaRPr lang="ko-KR" altLang="en-US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946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B1C1-0C9A-29E3-1D55-48CCF7DF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9C321-94A1-688B-A3D7-621E8497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std::list</a:t>
            </a:r>
            <a:r>
              <a:rPr lang="ko-KR" altLang="en-US" dirty="0"/>
              <a:t>와 </a:t>
            </a:r>
            <a:r>
              <a:rPr lang="en-US" altLang="ko-KR" dirty="0"/>
              <a:t>std::</a:t>
            </a:r>
            <a:r>
              <a:rPr lang="en-US" altLang="ko-KR" dirty="0" err="1"/>
              <a:t>forward_list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0BCDA-9899-AA35-2E73-3F109A84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원소를 독립된 노드에 저장</a:t>
            </a:r>
          </a:p>
          <a:p>
            <a:r>
              <a:rPr lang="ko-KR" altLang="en-US" sz="2400" dirty="0"/>
              <a:t>노드를 포인터로 연결</a:t>
            </a:r>
          </a:p>
          <a:p>
            <a:r>
              <a:rPr lang="ko-KR" altLang="en-US" sz="2400" dirty="0"/>
              <a:t>원소가 메모리에 연속 배치되지 않음</a:t>
            </a:r>
          </a:p>
          <a:p>
            <a:r>
              <a:rPr lang="ko-KR" altLang="en-US" sz="2400" dirty="0"/>
              <a:t>인덱스 접근 제공하지 않음</a:t>
            </a:r>
          </a:p>
          <a:p>
            <a:r>
              <a:rPr lang="ko-KR" altLang="en-US" sz="2400" dirty="0"/>
              <a:t>삽입과 제거에서 다른 원소의 위치가 유지될 수 있음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898D7E-79CC-E2A1-3C12-83F783A20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594837"/>
              </p:ext>
            </p:extLst>
          </p:nvPr>
        </p:nvGraphicFramePr>
        <p:xfrm>
          <a:off x="539750" y="3102120"/>
          <a:ext cx="5184378" cy="653760"/>
        </p:xfrm>
        <a:graphic>
          <a:graphicData uri="http://schemas.openxmlformats.org/drawingml/2006/table">
            <a:tbl>
              <a:tblPr/>
              <a:tblGrid>
                <a:gridCol w="5184378">
                  <a:extLst>
                    <a:ext uri="{9D8B030D-6E8A-4147-A177-3AD203B41FA5}">
                      <a16:colId xmlns:a16="http://schemas.microsoft.com/office/drawing/2014/main" val="2322602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[값 | 연결] -&gt; [값 | 연결] -&gt; [값 | 연결]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90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A3E8EC-D46C-8D91-2E3F-34CBD8301253}"/>
              </a:ext>
            </a:extLst>
          </p:cNvPr>
          <p:cNvSpPr txBox="1"/>
          <p:nvPr/>
        </p:nvSpPr>
        <p:spPr>
          <a:xfrm>
            <a:off x="550416" y="3861048"/>
            <a:ext cx="358953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advance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DE0AAA5-2A04-B7E3-DE8A-4E3CA2BDD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80582"/>
              </p:ext>
            </p:extLst>
          </p:nvPr>
        </p:nvGraphicFramePr>
        <p:xfrm>
          <a:off x="559519" y="5224899"/>
          <a:ext cx="7910016" cy="1173480"/>
        </p:xfrm>
        <a:graphic>
          <a:graphicData uri="http://schemas.openxmlformats.org/drawingml/2006/table">
            <a:tbl>
              <a:tblPr/>
              <a:tblGrid>
                <a:gridCol w="4089076">
                  <a:extLst>
                    <a:ext uri="{9D8B030D-6E8A-4147-A177-3AD203B41FA5}">
                      <a16:colId xmlns:a16="http://schemas.microsoft.com/office/drawing/2014/main" val="2383416146"/>
                    </a:ext>
                  </a:extLst>
                </a:gridCol>
                <a:gridCol w="3820940">
                  <a:extLst>
                    <a:ext uri="{9D8B030D-6E8A-4147-A177-3AD203B41FA5}">
                      <a16:colId xmlns:a16="http://schemas.microsoft.com/office/drawing/2014/main" val="81554882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장점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비용</a:t>
                      </a:r>
                      <a:endParaRPr lang="ko-KR" sz="1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4975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위치를 알면 노드 연결 변경으로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삽입·제거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특정 위치 탐색은 선형 시간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67135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다른 원소의 참조 안정성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노드별 메모리 할당과 포인터 부가 비용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82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155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797F-5595-0AAF-E654-B39F1808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21855-ACE2-1472-59C7-D07EB1B3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11.6.2 list</a:t>
            </a:r>
            <a:r>
              <a:rPr lang="ko-KR" altLang="en-US" dirty="0"/>
              <a:t>와 </a:t>
            </a:r>
            <a:r>
              <a:rPr lang="en-US" altLang="ko-KR" dirty="0" err="1"/>
              <a:t>forward_list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DEDB55-E209-6F68-85BF-47E5316F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std::list</a:t>
            </a:r>
            <a:r>
              <a:rPr lang="ko-KR" altLang="en-US" sz="2400" dirty="0"/>
              <a:t>는 양방향 리스트</a:t>
            </a:r>
          </a:p>
          <a:p>
            <a:r>
              <a:rPr lang="ko-KR" altLang="en-US" sz="2400" dirty="0"/>
              <a:t>이전 노드와 다음 노드를 모두 연결</a:t>
            </a:r>
          </a:p>
          <a:p>
            <a:r>
              <a:rPr lang="ko-KR" altLang="en-US" sz="2400" dirty="0"/>
              <a:t>양방향 반복자 제공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forward_list</a:t>
            </a:r>
            <a:r>
              <a:rPr lang="ko-KR" altLang="en-US" sz="2400" dirty="0"/>
              <a:t>는 단방향 리스트</a:t>
            </a:r>
          </a:p>
          <a:p>
            <a:r>
              <a:rPr lang="ko-KR" altLang="en-US" sz="2400" dirty="0"/>
              <a:t>다음 노드만 연결</a:t>
            </a:r>
          </a:p>
          <a:p>
            <a:r>
              <a:rPr lang="ko-KR" altLang="en-US" sz="2400" dirty="0"/>
              <a:t>더 작은 노드 구조를 목표로 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C7576-1BB3-0F1E-3BAA-D93C49782BD1}"/>
              </a:ext>
            </a:extLst>
          </p:cNvPr>
          <p:cNvSpPr txBox="1"/>
          <p:nvPr/>
        </p:nvSpPr>
        <p:spPr>
          <a:xfrm>
            <a:off x="513879" y="3573016"/>
            <a:ext cx="3960242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&lt;-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1E668-34D7-7A96-67D8-DB4B805F1B31}"/>
              </a:ext>
            </a:extLst>
          </p:cNvPr>
          <p:cNvSpPr txBox="1"/>
          <p:nvPr/>
        </p:nvSpPr>
        <p:spPr>
          <a:xfrm>
            <a:off x="507777" y="4067225"/>
            <a:ext cx="3960242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forward_list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185B102-62E6-6477-CED8-8906CE7F6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66749"/>
              </p:ext>
            </p:extLst>
          </p:nvPr>
        </p:nvGraphicFramePr>
        <p:xfrm>
          <a:off x="4468018" y="3429000"/>
          <a:ext cx="4280444" cy="2529840"/>
        </p:xfrm>
        <a:graphic>
          <a:graphicData uri="http://schemas.openxmlformats.org/drawingml/2006/table">
            <a:tbl>
              <a:tblPr/>
              <a:tblGrid>
                <a:gridCol w="1747120">
                  <a:extLst>
                    <a:ext uri="{9D8B030D-6E8A-4147-A177-3AD203B41FA5}">
                      <a16:colId xmlns:a16="http://schemas.microsoft.com/office/drawing/2014/main" val="2331699740"/>
                    </a:ext>
                  </a:extLst>
                </a:gridCol>
                <a:gridCol w="829882">
                  <a:extLst>
                    <a:ext uri="{9D8B030D-6E8A-4147-A177-3AD203B41FA5}">
                      <a16:colId xmlns:a16="http://schemas.microsoft.com/office/drawing/2014/main" val="3710754154"/>
                    </a:ext>
                  </a:extLst>
                </a:gridCol>
                <a:gridCol w="1703442">
                  <a:extLst>
                    <a:ext uri="{9D8B030D-6E8A-4147-A177-3AD203B41FA5}">
                      <a16:colId xmlns:a16="http://schemas.microsoft.com/office/drawing/2014/main" val="294967923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list</a:t>
                      </a:r>
                      <a:endParaRPr lang="ko-KR" sz="28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forward_list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496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뒤로 이동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45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81772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23859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6714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역방향 반복자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제공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4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225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80EC5-2E80-1037-E832-8AA0EA21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B3AE1-5A36-CD32-AAD8-51CB7CF2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11.6.3 </a:t>
            </a:r>
            <a:r>
              <a:rPr lang="ko-KR" altLang="en-US" dirty="0"/>
              <a:t>삽입과 제거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5EE59-30D9-04A1-9A51-77698730E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std::list</a:t>
            </a:r>
            <a:r>
              <a:rPr lang="ko-KR" altLang="en-US" sz="2400" dirty="0"/>
              <a:t>는 삽입 위치 반복자 사용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forward_list</a:t>
            </a:r>
            <a:r>
              <a:rPr lang="ko-KR" altLang="en-US" sz="2400" dirty="0"/>
              <a:t>는 지정 위치 뒤에 삽입</a:t>
            </a:r>
            <a:r>
              <a:rPr lang="en-US" altLang="ko-KR" sz="2400" dirty="0"/>
              <a:t>·</a:t>
            </a:r>
            <a:r>
              <a:rPr lang="ko-KR" altLang="en-US" sz="2400" dirty="0"/>
              <a:t>제거</a:t>
            </a:r>
          </a:p>
          <a:p>
            <a:r>
              <a:rPr lang="ko-KR" altLang="en-US" sz="2400" dirty="0"/>
              <a:t>첫 원소 앞의 가상 위치는 </a:t>
            </a:r>
            <a:r>
              <a:rPr lang="en-US" altLang="ko-KR" sz="2400" dirty="0" err="1"/>
              <a:t>before_begin</a:t>
            </a:r>
            <a:r>
              <a:rPr lang="en-US" altLang="ko-KR" sz="2400" dirty="0"/>
              <a:t>()</a:t>
            </a:r>
          </a:p>
          <a:p>
            <a:r>
              <a:rPr lang="ko-KR" altLang="en-US" sz="2400" dirty="0"/>
              <a:t>리스트는 노드 연결을 옮기는 </a:t>
            </a:r>
            <a:r>
              <a:rPr lang="en-US" altLang="ko-KR" sz="2400" dirty="0"/>
              <a:t>splice() </a:t>
            </a:r>
            <a:r>
              <a:rPr lang="ko-KR" altLang="en-US" sz="2400" dirty="0"/>
              <a:t>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0ABB6-25D5-9AFC-DB5E-1234E6BBF938}"/>
              </a:ext>
            </a:extLst>
          </p:cNvPr>
          <p:cNvSpPr txBox="1"/>
          <p:nvPr/>
        </p:nvSpPr>
        <p:spPr>
          <a:xfrm>
            <a:off x="539750" y="2636912"/>
            <a:ext cx="4824338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forward_list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values.push_front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values.insert_after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values.insert_after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values.before_begin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first.splice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FDA2A-9EC8-3D0A-2F7B-EAAB24E47E75}"/>
              </a:ext>
            </a:extLst>
          </p:cNvPr>
          <p:cNvSpPr txBox="1"/>
          <p:nvPr/>
        </p:nvSpPr>
        <p:spPr>
          <a:xfrm>
            <a:off x="4355976" y="5661248"/>
            <a:ext cx="4680520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splice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원소 복사 없이 노드 소유 관계 변경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236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41EC-5136-8D42-16E6-0D613965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3A8FC-0889-4C20-F661-675DC605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11.6.4 </a:t>
            </a:r>
            <a:r>
              <a:rPr lang="ko-KR" altLang="en-US" dirty="0"/>
              <a:t>순회 비용과 선택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604FC9-58CC-430A-E850-210D6627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연결 리스트는 원소가 서로 다른 메모리 위치에 있을 수 있음</a:t>
            </a:r>
          </a:p>
          <a:p>
            <a:r>
              <a:rPr lang="ko-KR" altLang="en-US" sz="2400" dirty="0"/>
              <a:t>순회할 때 포인터를 따라가므로 캐시 지역성이 낮을 수 있음</a:t>
            </a:r>
          </a:p>
          <a:p>
            <a:r>
              <a:rPr lang="ko-KR" altLang="en-US" sz="2400" dirty="0"/>
              <a:t>중간 삽입이 있다는 이유만으로 선택하지 않음</a:t>
            </a:r>
          </a:p>
          <a:p>
            <a:r>
              <a:rPr lang="ko-KR" altLang="en-US" sz="2400" dirty="0"/>
              <a:t>삽입 위치를 이미 알고 있는지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05AD1-4A3D-B972-E3F2-48B1EDD82F91}"/>
              </a:ext>
            </a:extLst>
          </p:cNvPr>
          <p:cNvSpPr txBox="1"/>
          <p:nvPr/>
        </p:nvSpPr>
        <p:spPr>
          <a:xfrm>
            <a:off x="539750" y="2705725"/>
            <a:ext cx="45720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values.remove_if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18E8C-907E-65D8-B802-3E30BD0023A5}"/>
              </a:ext>
            </a:extLst>
          </p:cNvPr>
          <p:cNvSpPr txBox="1"/>
          <p:nvPr/>
        </p:nvSpPr>
        <p:spPr>
          <a:xfrm>
            <a:off x="2987824" y="4804117"/>
            <a:ext cx="5778500" cy="163121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연결 리스트 선택 조건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삽입과 제거 위치를 반복자로 이미 보유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삽입과 제거 후 다른 원소의 반복자와 참조 유지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리스트 사이에서 원소를 복사하지 않고 이동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임의 접근과 연속 메모리가 필요하지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4095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F0B5-4D3A-4717-2E0B-079E5D48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6B4A5-05D9-B96B-4335-6A086B00C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std::string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53BCDD-1733-5D74-73E8-ED7E05BC3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char </a:t>
            </a:r>
            <a:r>
              <a:rPr lang="ko-KR" altLang="en-US" sz="2000" dirty="0"/>
              <a:t>원소로 이루어진 가변 길이 문자열 관리</a:t>
            </a:r>
          </a:p>
          <a:p>
            <a:r>
              <a:rPr lang="ko-KR" altLang="en-US" sz="2000" dirty="0"/>
              <a:t>문자 데이터는 연속 메모리에 저장</a:t>
            </a:r>
          </a:p>
          <a:p>
            <a:r>
              <a:rPr lang="ko-KR" altLang="en-US" sz="2000" dirty="0"/>
              <a:t>끝에는 </a:t>
            </a:r>
            <a:r>
              <a:rPr lang="en-US" altLang="ko-KR" sz="2000" dirty="0"/>
              <a:t>C </a:t>
            </a:r>
            <a:r>
              <a:rPr lang="ko-KR" altLang="en-US" sz="2000" dirty="0"/>
              <a:t>문자열 호환을 위한 널 문자 관리</a:t>
            </a:r>
          </a:p>
          <a:p>
            <a:r>
              <a:rPr lang="ko-KR" altLang="en-US" sz="2000" dirty="0"/>
              <a:t>순차 컨테이너와 유사한 인터페이스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3E9C1-5FEB-3229-1D12-C3B753B4D7FF}"/>
              </a:ext>
            </a:extLst>
          </p:cNvPr>
          <p:cNvSpPr txBox="1"/>
          <p:nvPr/>
        </p:nvSpPr>
        <p:spPr>
          <a:xfrm>
            <a:off x="539750" y="2284948"/>
            <a:ext cx="5904458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'*'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B01B03-0EAF-9041-557E-A7873BDE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83918"/>
              </p:ext>
            </p:extLst>
          </p:nvPr>
        </p:nvGraphicFramePr>
        <p:xfrm>
          <a:off x="539750" y="3779837"/>
          <a:ext cx="5904458" cy="2778760"/>
        </p:xfrm>
        <a:graphic>
          <a:graphicData uri="http://schemas.openxmlformats.org/drawingml/2006/table">
            <a:tbl>
              <a:tblPr/>
              <a:tblGrid>
                <a:gridCol w="2070839">
                  <a:extLst>
                    <a:ext uri="{9D8B030D-6E8A-4147-A177-3AD203B41FA5}">
                      <a16:colId xmlns:a16="http://schemas.microsoft.com/office/drawing/2014/main" val="1682305179"/>
                    </a:ext>
                  </a:extLst>
                </a:gridCol>
                <a:gridCol w="3833619">
                  <a:extLst>
                    <a:ext uri="{9D8B030D-6E8A-4147-A177-3AD203B41FA5}">
                      <a16:colId xmlns:a16="http://schemas.microsoft.com/office/drawing/2014/main" val="136506869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함수·연산자</a:t>
                      </a:r>
                      <a:endParaRPr lang="ko-KR" sz="28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0545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길이 확인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length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4281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+, +=, append()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9322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검색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find(), rfind()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926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부분 문자열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substr()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113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삽입·제거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erase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replace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6050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 문자열 주소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c_str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(),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365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778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12F3-DC76-8D57-2E6A-A30F42DE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6B467-FC40-D74E-BCBA-602F472C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11.7.2 </a:t>
            </a:r>
            <a:r>
              <a:rPr lang="ko-KR" altLang="en-US" dirty="0"/>
              <a:t>연결과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4740D-E383-D940-DC9F-31FFC02C6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operator+=</a:t>
            </a:r>
            <a:r>
              <a:rPr lang="ko-KR" altLang="en-US" sz="2000" dirty="0"/>
              <a:t>와 </a:t>
            </a:r>
            <a:r>
              <a:rPr lang="en-US" altLang="ko-KR" sz="2000" dirty="0"/>
              <a:t>append()</a:t>
            </a:r>
            <a:r>
              <a:rPr lang="ko-KR" altLang="en-US" sz="2000" dirty="0"/>
              <a:t>로 뒤에 내용 추가</a:t>
            </a:r>
          </a:p>
          <a:p>
            <a:r>
              <a:rPr lang="en-US" altLang="ko-KR" sz="2000" dirty="0"/>
              <a:t>operator+</a:t>
            </a:r>
            <a:r>
              <a:rPr lang="ko-KR" altLang="en-US" sz="2000" dirty="0"/>
              <a:t>는 새 문자열 생성</a:t>
            </a:r>
          </a:p>
          <a:p>
            <a:r>
              <a:rPr lang="ko-KR" altLang="en-US" sz="2000" dirty="0"/>
              <a:t>반복 연결에서는 임시 객체와 재할당 발생 가능</a:t>
            </a:r>
          </a:p>
          <a:p>
            <a:r>
              <a:rPr lang="ko-KR" altLang="en-US" sz="2000" dirty="0"/>
              <a:t>최종 길이를 예상할 수 있으면 </a:t>
            </a:r>
            <a:r>
              <a:rPr lang="en-US" altLang="ko-KR" sz="2000" dirty="0"/>
              <a:t>reserve() </a:t>
            </a:r>
            <a:r>
              <a:rPr lang="ko-KR" altLang="en-US" sz="2000" dirty="0"/>
              <a:t>검토</a:t>
            </a:r>
          </a:p>
          <a:p>
            <a:r>
              <a:rPr lang="ko-KR" altLang="en-US" sz="2000" dirty="0"/>
              <a:t>비교 연산은 문자 코드 기준 사전식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E4AB4-9C24-D1D5-7141-FD020F68EF9E}"/>
              </a:ext>
            </a:extLst>
          </p:cNvPr>
          <p:cNvSpPr txBox="1"/>
          <p:nvPr/>
        </p:nvSpPr>
        <p:spPr>
          <a:xfrm>
            <a:off x="467544" y="2664202"/>
            <a:ext cx="6192688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"C++"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Ada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Lovelace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fullName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result.reserve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42F05-795A-27DE-A678-63166FB339BB}"/>
              </a:ext>
            </a:extLst>
          </p:cNvPr>
          <p:cNvSpPr txBox="1"/>
          <p:nvPr/>
        </p:nvSpPr>
        <p:spPr>
          <a:xfrm>
            <a:off x="4932040" y="5013176"/>
            <a:ext cx="3917851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대소문자 무시 비교나 자연어 정렬은 별도 규칙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537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9A22F-E08F-9E8D-99DF-FA9705C5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ED1DE-AABF-9A20-346E-E1F3BE74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11.7.3 </a:t>
            </a:r>
            <a:r>
              <a:rPr lang="ko-KR" altLang="en-US" dirty="0"/>
              <a:t>검색과 부분 문자열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3C3AE-F3EB-A485-055F-E7429159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find()</a:t>
            </a:r>
            <a:r>
              <a:rPr lang="ko-KR" altLang="en-US" sz="2000" dirty="0"/>
              <a:t>는 문자열이나 문자를 처음 찾은 위치 반환</a:t>
            </a:r>
          </a:p>
          <a:p>
            <a:r>
              <a:rPr lang="ko-KR" altLang="en-US" sz="2000" dirty="0"/>
              <a:t>찾지 못하면 </a:t>
            </a:r>
            <a:r>
              <a:rPr lang="en-US" altLang="ko-KR" sz="2000" dirty="0">
                <a:solidFill>
                  <a:srgbClr val="0000FF"/>
                </a:solidFill>
              </a:rPr>
              <a:t>std::string::</a:t>
            </a:r>
            <a:r>
              <a:rPr lang="en-US" altLang="ko-KR" sz="2000" dirty="0" err="1">
                <a:solidFill>
                  <a:srgbClr val="0000FF"/>
                </a:solidFill>
              </a:rPr>
              <a:t>npos</a:t>
            </a:r>
            <a:r>
              <a:rPr lang="en-US" altLang="ko-KR" sz="2000" dirty="0"/>
              <a:t> </a:t>
            </a:r>
            <a:r>
              <a:rPr lang="ko-KR" altLang="en-US" sz="2000" dirty="0"/>
              <a:t>반환</a:t>
            </a:r>
          </a:p>
          <a:p>
            <a:r>
              <a:rPr lang="en-US" altLang="ko-KR" sz="2000" dirty="0" err="1"/>
              <a:t>rfind</a:t>
            </a:r>
            <a:r>
              <a:rPr lang="en-US" altLang="ko-KR" sz="2000" dirty="0"/>
              <a:t>()</a:t>
            </a:r>
            <a:r>
              <a:rPr lang="ko-KR" altLang="en-US" sz="2000" dirty="0"/>
              <a:t>는 뒤쪽부터 검색</a:t>
            </a:r>
          </a:p>
          <a:p>
            <a:r>
              <a:rPr lang="en-US" altLang="ko-KR" sz="2000" dirty="0" err="1"/>
              <a:t>substr</a:t>
            </a:r>
            <a:r>
              <a:rPr lang="en-US" altLang="ko-KR" sz="2000" dirty="0"/>
              <a:t>()</a:t>
            </a:r>
            <a:r>
              <a:rPr lang="ko-KR" altLang="en-US" sz="2000" dirty="0"/>
              <a:t>은 부분 문자열을 새 객체로 복사</a:t>
            </a:r>
          </a:p>
          <a:p>
            <a:r>
              <a:rPr lang="en-US" altLang="ko-KR" sz="2000" dirty="0"/>
              <a:t>C++20</a:t>
            </a:r>
            <a:r>
              <a:rPr lang="ko-KR" altLang="en-US" sz="2000" dirty="0"/>
              <a:t>부터 </a:t>
            </a:r>
            <a:r>
              <a:rPr lang="en-US" altLang="ko-KR" sz="2000" dirty="0" err="1"/>
              <a:t>starts_with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ends_with</a:t>
            </a:r>
            <a:r>
              <a:rPr lang="en-US" altLang="ko-KR" sz="2000" dirty="0"/>
              <a:t>() </a:t>
            </a:r>
            <a:r>
              <a:rPr lang="ko-KR" altLang="en-US" sz="2000" dirty="0"/>
              <a:t>사용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41B2C-7872-62B7-A3B3-8CCD5BF604EF}"/>
              </a:ext>
            </a:extLst>
          </p:cNvPr>
          <p:cNvSpPr txBox="1"/>
          <p:nvPr/>
        </p:nvSpPr>
        <p:spPr>
          <a:xfrm>
            <a:off x="539750" y="2996952"/>
            <a:ext cx="4572000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slash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'/'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path.rfind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'.'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npos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extension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path.substr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isAsset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path.starts_with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isPng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path.ends_with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".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555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031D-9938-410F-A695-8D82A6DD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DC228-848B-860C-2CD5-900E71FD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11.7.4 </a:t>
            </a:r>
            <a:r>
              <a:rPr lang="ko-KR" altLang="en-US" dirty="0"/>
              <a:t>삽입과 제거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F99F1C-91DF-71AB-E31A-2706CB24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insert()</a:t>
            </a:r>
            <a:r>
              <a:rPr lang="ko-KR" altLang="en-US" sz="2400" dirty="0"/>
              <a:t>로 문자열 중간에 내용 삽입</a:t>
            </a:r>
          </a:p>
          <a:p>
            <a:r>
              <a:rPr lang="en-US" altLang="ko-KR" sz="2400" dirty="0"/>
              <a:t>erase()</a:t>
            </a:r>
            <a:r>
              <a:rPr lang="ko-KR" altLang="en-US" sz="2400" dirty="0"/>
              <a:t>로 일부 내용 제거</a:t>
            </a:r>
          </a:p>
          <a:p>
            <a:r>
              <a:rPr lang="en-US" altLang="ko-KR" sz="2400" dirty="0"/>
              <a:t>replace()</a:t>
            </a:r>
            <a:r>
              <a:rPr lang="ko-KR" altLang="en-US" sz="2400" dirty="0"/>
              <a:t>로 범위를 다른 문자열로 교체</a:t>
            </a:r>
          </a:p>
          <a:p>
            <a:r>
              <a:rPr lang="ko-KR" altLang="en-US" sz="2400" dirty="0"/>
              <a:t>한 문자는 </a:t>
            </a:r>
            <a:r>
              <a:rPr lang="en-US" altLang="ko-KR" sz="2400" dirty="0" err="1"/>
              <a:t>push_back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pop_back</a:t>
            </a:r>
            <a:r>
              <a:rPr lang="en-US" altLang="ko-KR" sz="2400" dirty="0"/>
              <a:t>()</a:t>
            </a:r>
            <a:r>
              <a:rPr lang="ko-KR" altLang="en-US" sz="2400" dirty="0"/>
              <a:t>으로 조작</a:t>
            </a:r>
          </a:p>
          <a:p>
            <a:r>
              <a:rPr lang="ko-KR" altLang="en-US" sz="2400" dirty="0"/>
              <a:t>중간 변경은 뒤쪽 문자 이동 발생</a:t>
            </a:r>
          </a:p>
          <a:p>
            <a:r>
              <a:rPr lang="ko-KR" altLang="en-US" sz="2400" dirty="0"/>
              <a:t>저장 용량 부족 시 재할당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EC323-97AC-8E2C-93E9-181393A6CCCA}"/>
              </a:ext>
            </a:extLst>
          </p:cNvPr>
          <p:cNvSpPr txBox="1"/>
          <p:nvPr/>
        </p:nvSpPr>
        <p:spPr>
          <a:xfrm>
            <a:off x="539750" y="3429000"/>
            <a:ext cx="4572000" cy="313932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World"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text.insert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text.erase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red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item.replace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blue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code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"ABC"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code.push_back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code.pop_back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582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8E3F-ACF6-7DEE-2542-51F90E6E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FB50B-5C90-B80F-9596-8D5C5AB0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11.7.5 </a:t>
            </a:r>
            <a:r>
              <a:rPr lang="ko-KR" altLang="en-US" dirty="0"/>
              <a:t>숫자와 문자열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7AA91-CC47-A6E5-1370-0664224E7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</a:t>
            </a:r>
            <a:r>
              <a:rPr lang="en-US" altLang="ko-KR" sz="2400" dirty="0" err="1"/>
              <a:t>to_string</a:t>
            </a:r>
            <a:r>
              <a:rPr lang="en-US" altLang="ko-KR" sz="2400" dirty="0"/>
              <a:t>()</a:t>
            </a:r>
            <a:r>
              <a:rPr lang="ko-KR" altLang="en-US" sz="2400" dirty="0"/>
              <a:t>은 숫자를 문자열로 변환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stoi</a:t>
            </a:r>
            <a:r>
              <a:rPr lang="en-US" altLang="ko-KR" sz="2400" dirty="0"/>
              <a:t>() </a:t>
            </a:r>
            <a:r>
              <a:rPr lang="ko-KR" altLang="en-US" sz="2400" dirty="0"/>
              <a:t>계열은 문자열을 숫자로 변환</a:t>
            </a:r>
          </a:p>
          <a:p>
            <a:r>
              <a:rPr lang="ko-KR" altLang="en-US" sz="2400" dirty="0"/>
              <a:t>변환 실패는 예외로 처리</a:t>
            </a:r>
          </a:p>
          <a:p>
            <a:r>
              <a:rPr lang="ko-KR" altLang="en-US" sz="2400" dirty="0"/>
              <a:t>문자열 전체 변환 여부는 변환 위치를 확인</a:t>
            </a:r>
          </a:p>
          <a:p>
            <a:r>
              <a:rPr lang="ko-KR" altLang="en-US" sz="2400" dirty="0"/>
              <a:t>예외 없는 </a:t>
            </a:r>
            <a:r>
              <a:rPr lang="ko-KR" altLang="en-US" sz="2400" dirty="0" err="1"/>
              <a:t>저수준</a:t>
            </a:r>
            <a:r>
              <a:rPr lang="ko-KR" altLang="en-US" sz="2400" dirty="0"/>
              <a:t> 변환은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from_chars</a:t>
            </a:r>
            <a:r>
              <a:rPr lang="en-US" altLang="ko-KR" sz="2400" dirty="0"/>
              <a:t>() </a:t>
            </a:r>
            <a:r>
              <a:rPr lang="ko-KR" altLang="en-US" sz="2400" dirty="0"/>
              <a:t>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7EC47-D24B-0F4D-98EC-A07766FF4894}"/>
              </a:ext>
            </a:extLst>
          </p:cNvPr>
          <p:cNvSpPr txBox="1"/>
          <p:nvPr/>
        </p:nvSpPr>
        <p:spPr>
          <a:xfrm>
            <a:off x="522982" y="3212976"/>
            <a:ext cx="7465020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to_string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stoi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"12A"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remaining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from_chars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6687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FC88-F03C-CB94-4487-3F25BB7B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11.7.6 </a:t>
            </a:r>
            <a:r>
              <a:rPr lang="ko-KR" altLang="en-US" dirty="0"/>
              <a:t>문자열의 저장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8D711-4739-519B-5ADE-C5DCCA048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std::string</a:t>
            </a:r>
            <a:r>
              <a:rPr lang="ko-KR" altLang="en-US" sz="2000" dirty="0"/>
              <a:t>도 </a:t>
            </a:r>
            <a:r>
              <a:rPr lang="en-US" altLang="ko-KR" sz="2000" dirty="0"/>
              <a:t>size()</a:t>
            </a:r>
            <a:r>
              <a:rPr lang="ko-KR" altLang="en-US" sz="2000" dirty="0"/>
              <a:t>와 </a:t>
            </a:r>
            <a:r>
              <a:rPr lang="en-US" altLang="ko-KR" sz="2000" dirty="0"/>
              <a:t>capacity()</a:t>
            </a:r>
            <a:r>
              <a:rPr lang="ko-KR" altLang="en-US" sz="2000" dirty="0"/>
              <a:t>를 가짐</a:t>
            </a:r>
          </a:p>
          <a:p>
            <a:r>
              <a:rPr lang="en-US" altLang="ko-KR" sz="2000" dirty="0"/>
              <a:t>reserve()</a:t>
            </a:r>
            <a:r>
              <a:rPr lang="ko-KR" altLang="en-US" sz="2000" dirty="0"/>
              <a:t>로 저장 용량 확보 가능</a:t>
            </a:r>
          </a:p>
          <a:p>
            <a:r>
              <a:rPr lang="en-US" altLang="ko-KR" sz="2000" dirty="0"/>
              <a:t>data()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c_str</a:t>
            </a:r>
            <a:r>
              <a:rPr lang="en-US" altLang="ko-KR" sz="2000" dirty="0"/>
              <a:t>()</a:t>
            </a:r>
            <a:r>
              <a:rPr lang="ko-KR" altLang="en-US" sz="2000" dirty="0"/>
              <a:t>은 문자 배열 주소 반환</a:t>
            </a:r>
          </a:p>
          <a:p>
            <a:r>
              <a:rPr lang="ko-KR" altLang="en-US" sz="2000" dirty="0"/>
              <a:t>문자열 수정으로 재할당이 발생하면 기존 포인터</a:t>
            </a:r>
            <a:r>
              <a:rPr lang="en-US" altLang="ko-KR" sz="2000" dirty="0"/>
              <a:t>, </a:t>
            </a:r>
            <a:r>
              <a:rPr lang="ko-KR" altLang="en-US" sz="2000" dirty="0"/>
              <a:t>반복자</a:t>
            </a:r>
            <a:r>
              <a:rPr lang="en-US" altLang="ko-KR" sz="2000" dirty="0"/>
              <a:t>, </a:t>
            </a:r>
            <a:r>
              <a:rPr lang="ko-KR" altLang="en-US" sz="2000" dirty="0"/>
              <a:t>참조 무효화</a:t>
            </a:r>
          </a:p>
          <a:p>
            <a:r>
              <a:rPr lang="ko-KR" altLang="en-US" sz="2000" dirty="0"/>
              <a:t>짧은 문자열 최적화는 구현 세부 사항</a:t>
            </a:r>
            <a:endParaRPr lang="en-US" altLang="ko-KR" sz="2000" dirty="0"/>
          </a:p>
          <a:p>
            <a:pPr lvl="0"/>
            <a:r>
              <a:rPr lang="ko-KR" altLang="ko-KR" sz="2000" dirty="0"/>
              <a:t>문자열 크기 밖에 쓰면 안 됨</a:t>
            </a:r>
          </a:p>
          <a:p>
            <a:pPr lvl="0"/>
            <a:r>
              <a:rPr lang="ko-KR" altLang="ko-KR" sz="2000" dirty="0"/>
              <a:t>널 종료 규칙을 깨뜨리면 안 됨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1C6CE-0F2C-FA48-3E18-5AA44D13176C}"/>
              </a:ext>
            </a:extLst>
          </p:cNvPr>
          <p:cNvSpPr txBox="1"/>
          <p:nvPr/>
        </p:nvSpPr>
        <p:spPr>
          <a:xfrm>
            <a:off x="539750" y="3464049"/>
            <a:ext cx="6552530" cy="286232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Hello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text.capacity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text.reserve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cText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text.c_str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abc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'A'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C++17 이후 수정 가능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793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6714-2A05-7D1E-353A-E7230D63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BCC45-6FEC-84CD-7352-9981AE99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 </a:t>
            </a:r>
            <a:r>
              <a:rPr lang="ko-KR" altLang="en-US" dirty="0"/>
              <a:t>순차 컨테이너 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79271-C17A-4661-0895-BBFB5EBE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단일 연산의 이론적 복잡도만으로 결정하지 않음</a:t>
            </a:r>
          </a:p>
          <a:p>
            <a:r>
              <a:rPr lang="ko-KR" altLang="en-US" sz="2400" dirty="0"/>
              <a:t>원소 수</a:t>
            </a:r>
            <a:r>
              <a:rPr lang="en-US" altLang="ko-KR" sz="2400" dirty="0"/>
              <a:t>, </a:t>
            </a:r>
            <a:r>
              <a:rPr lang="ko-KR" altLang="en-US" sz="2400" dirty="0"/>
              <a:t>접근 패턴</a:t>
            </a:r>
            <a:r>
              <a:rPr lang="en-US" altLang="ko-KR" sz="2400" dirty="0"/>
              <a:t>, </a:t>
            </a:r>
            <a:r>
              <a:rPr lang="ko-KR" altLang="en-US" sz="2400" dirty="0"/>
              <a:t>메모리 배치 확인</a:t>
            </a:r>
          </a:p>
          <a:p>
            <a:r>
              <a:rPr lang="ko-KR" altLang="en-US" sz="2400" dirty="0"/>
              <a:t>반복자 안정성과 외부 </a:t>
            </a:r>
            <a:r>
              <a:rPr lang="en-US" altLang="ko-KR" sz="2400" dirty="0"/>
              <a:t>API </a:t>
            </a:r>
            <a:r>
              <a:rPr lang="ko-KR" altLang="en-US" sz="2400" dirty="0"/>
              <a:t>연결도 고려</a:t>
            </a:r>
          </a:p>
          <a:p>
            <a:r>
              <a:rPr lang="ko-KR" altLang="en-US" sz="2400" dirty="0"/>
              <a:t>실제 성능은 데이터로 측정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770117F-7D95-067B-A864-CBFBA1CDB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42013"/>
              </p:ext>
            </p:extLst>
          </p:nvPr>
        </p:nvGraphicFramePr>
        <p:xfrm>
          <a:off x="551928" y="2636912"/>
          <a:ext cx="7404448" cy="2992120"/>
        </p:xfrm>
        <a:graphic>
          <a:graphicData uri="http://schemas.openxmlformats.org/drawingml/2006/table">
            <a:tbl>
              <a:tblPr/>
              <a:tblGrid>
                <a:gridCol w="4827435">
                  <a:extLst>
                    <a:ext uri="{9D8B030D-6E8A-4147-A177-3AD203B41FA5}">
                      <a16:colId xmlns:a16="http://schemas.microsoft.com/office/drawing/2014/main" val="46392246"/>
                    </a:ext>
                  </a:extLst>
                </a:gridCol>
                <a:gridCol w="2577013">
                  <a:extLst>
                    <a:ext uri="{9D8B030D-6E8A-4147-A177-3AD203B41FA5}">
                      <a16:colId xmlns:a16="http://schemas.microsoft.com/office/drawing/2014/main" val="2107493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요구 사항</a:t>
                      </a:r>
                      <a:endParaRPr lang="ko-KR" sz="32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우선 검토할 타입</a:t>
                      </a:r>
                      <a:endParaRPr lang="ko-KR" sz="32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54545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 고정 크기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9906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가변 크기, 빠른 순회, 임의 접근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2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앞과 뒤의 빈번한 삽입과 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2474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위치를 알고 있는 중간 삽입과 참조 안정성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942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 방향 순회만 필요한 최소 연결 구조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forward_list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7055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가변 길이 문자 시퀀스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9464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B2C336-C0A9-E61F-5C38-9CE09470C9E5}"/>
              </a:ext>
            </a:extLst>
          </p:cNvPr>
          <p:cNvSpPr txBox="1"/>
          <p:nvPr/>
        </p:nvSpPr>
        <p:spPr>
          <a:xfrm>
            <a:off x="534416" y="5659130"/>
            <a:ext cx="7421960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가변 크기 순차 데이터 → 먼저 </a:t>
            </a:r>
            <a:r>
              <a:rPr lang="ko-KR" altLang="ko-KR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검토</a:t>
            </a:r>
            <a:b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충족하지 못하는 구체 요구 → 다른 컨테이너 선택</a:t>
            </a:r>
            <a:endParaRPr lang="ko-KR" altLang="en-US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906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ED6D-5E3C-B494-C4E8-026835A0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8C55B-A03C-9161-6BAA-E73C2AC2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11.8.1 </a:t>
            </a:r>
            <a:r>
              <a:rPr lang="ko-KR" altLang="en-US" dirty="0"/>
              <a:t>고정 크기와 가변 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478F7-4843-5A5C-4285-4D974FEC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크기가 컴파일 시점에 정해지고 바뀌지 않으면 </a:t>
            </a:r>
            <a:r>
              <a:rPr lang="en-US" altLang="ko-KR" sz="2000" dirty="0"/>
              <a:t>std::array</a:t>
            </a:r>
          </a:p>
          <a:p>
            <a:r>
              <a:rPr lang="ko-KR" altLang="en-US" sz="2000" dirty="0"/>
              <a:t>원소 수가 실행 중 결정되거나 증가</a:t>
            </a:r>
            <a:r>
              <a:rPr lang="en-US" altLang="ko-KR" sz="2000" dirty="0"/>
              <a:t>·</a:t>
            </a:r>
            <a:r>
              <a:rPr lang="ko-KR" altLang="en-US" sz="2000" dirty="0"/>
              <a:t>감소하면 </a:t>
            </a:r>
            <a:r>
              <a:rPr lang="en-US" altLang="ko-KR" sz="2000" dirty="0"/>
              <a:t>std::vector</a:t>
            </a:r>
          </a:p>
          <a:p>
            <a:r>
              <a:rPr lang="ko-KR" altLang="en-US" sz="2000" dirty="0"/>
              <a:t>최대 크기만 정해져 있다고 항상 </a:t>
            </a:r>
            <a:r>
              <a:rPr lang="en-US" altLang="ko-KR" sz="2000" dirty="0"/>
              <a:t>std::array</a:t>
            </a:r>
            <a:r>
              <a:rPr lang="ko-KR" altLang="en-US" sz="2000" dirty="0"/>
              <a:t>를 사용할 필요는 없음</a:t>
            </a:r>
          </a:p>
          <a:p>
            <a:r>
              <a:rPr lang="ko-KR" altLang="en-US" sz="2000" dirty="0"/>
              <a:t>실제 원소 수를 따로 관리해야 하면 </a:t>
            </a:r>
            <a:r>
              <a:rPr lang="en-US" altLang="ko-KR" sz="2000" dirty="0"/>
              <a:t>vector + reserve()</a:t>
            </a:r>
            <a:r>
              <a:rPr lang="ko-KR" altLang="en-US" sz="2000" dirty="0"/>
              <a:t>가 단순할 수 있음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2AF57-0E81-D5B3-72D1-D8EA0ADD81A7}"/>
              </a:ext>
            </a:extLst>
          </p:cNvPr>
          <p:cNvSpPr txBox="1"/>
          <p:nvPr/>
        </p:nvSpPr>
        <p:spPr>
          <a:xfrm>
            <a:off x="539750" y="2492896"/>
            <a:ext cx="45720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3&gt;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scores.reserve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B5A6151-6BF4-E5B3-C5D3-9C6B414EC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01645"/>
              </p:ext>
            </p:extLst>
          </p:nvPr>
        </p:nvGraphicFramePr>
        <p:xfrm>
          <a:off x="539750" y="3999260"/>
          <a:ext cx="7920682" cy="1696720"/>
        </p:xfrm>
        <a:graphic>
          <a:graphicData uri="http://schemas.openxmlformats.org/drawingml/2006/table">
            <a:tbl>
              <a:tblPr/>
              <a:tblGrid>
                <a:gridCol w="3901732">
                  <a:extLst>
                    <a:ext uri="{9D8B030D-6E8A-4147-A177-3AD203B41FA5}">
                      <a16:colId xmlns:a16="http://schemas.microsoft.com/office/drawing/2014/main" val="1433771643"/>
                    </a:ext>
                  </a:extLst>
                </a:gridCol>
                <a:gridCol w="4018950">
                  <a:extLst>
                    <a:ext uri="{9D8B030D-6E8A-4147-A177-3AD203B41FA5}">
                      <a16:colId xmlns:a16="http://schemas.microsoft.com/office/drawing/2014/main" val="364953292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상황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선택</a:t>
                      </a:r>
                      <a:endParaRPr lang="ko-KR" sz="3200" b="1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1268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 좌표 3개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float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3&gt;</a:t>
                      </a:r>
                      <a:endParaRPr lang="ko-KR" sz="36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150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추가되는 점수 목록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81698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최대 100개지만 실제 개수 변동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+ </a:t>
                      </a:r>
                      <a:r>
                        <a:rPr lang="ko-KR" sz="2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reserve</a:t>
                      </a: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(100)</a:t>
                      </a:r>
                      <a:endParaRPr lang="ko-KR" sz="3600" b="1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191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627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6689-8AE0-7F33-FCC5-092C2E76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B8885-B0C1-2F4A-FB84-68D37340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11.8.2 </a:t>
            </a:r>
            <a:r>
              <a:rPr lang="ko-KR" altLang="en-US" dirty="0"/>
              <a:t>연속 메모리와 캐시 지역성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89B578-B839-BB47-2F63-B334973AD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연속 메모리가 필요하면 </a:t>
            </a:r>
            <a:r>
              <a:rPr lang="en-US" altLang="ko-KR" sz="2000" dirty="0"/>
              <a:t>array, vector, string</a:t>
            </a:r>
          </a:p>
          <a:p>
            <a:r>
              <a:rPr lang="ko-KR" altLang="en-US" sz="2000" dirty="0"/>
              <a:t>그래픽</a:t>
            </a:r>
            <a:r>
              <a:rPr lang="en-US" altLang="ko-KR" sz="2000" dirty="0"/>
              <a:t>, </a:t>
            </a:r>
            <a:r>
              <a:rPr lang="ko-KR" altLang="en-US" sz="2000" dirty="0"/>
              <a:t>오디오</a:t>
            </a:r>
            <a:r>
              <a:rPr lang="en-US" altLang="ko-KR" sz="2000" dirty="0"/>
              <a:t>, </a:t>
            </a:r>
            <a:r>
              <a:rPr lang="ko-KR" altLang="en-US" sz="2000" dirty="0"/>
              <a:t>네트워크</a:t>
            </a:r>
            <a:r>
              <a:rPr lang="en-US" altLang="ko-KR" sz="2000" dirty="0"/>
              <a:t>, </a:t>
            </a:r>
            <a:r>
              <a:rPr lang="ko-KR" altLang="en-US" sz="2000" dirty="0"/>
              <a:t>파일 </a:t>
            </a:r>
            <a:r>
              <a:rPr lang="en-US" altLang="ko-KR" sz="2000" dirty="0"/>
              <a:t>API</a:t>
            </a:r>
            <a:r>
              <a:rPr lang="ko-KR" altLang="en-US" sz="2000" dirty="0"/>
              <a:t>에 버퍼 전달할 때 중요</a:t>
            </a:r>
          </a:p>
          <a:p>
            <a:r>
              <a:rPr lang="ko-KR" altLang="en-US" sz="2000" dirty="0"/>
              <a:t>순차 처리에서도 캐시 지역성에 유리</a:t>
            </a:r>
          </a:p>
          <a:p>
            <a:r>
              <a:rPr lang="ko-KR" altLang="en-US" sz="2000" dirty="0"/>
              <a:t>연결 리스트는 원소 이동은 적지만 포인터 추적과 개별 할당 비용 발생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FE804-89E3-2D2C-EB32-C7A165F24576}"/>
              </a:ext>
            </a:extLst>
          </p:cNvPr>
          <p:cNvSpPr txBox="1"/>
          <p:nvPr/>
        </p:nvSpPr>
        <p:spPr>
          <a:xfrm>
            <a:off x="539750" y="2564904"/>
            <a:ext cx="5328394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ProcessAudio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samples.data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BDD3D-BD3E-D9EC-334A-4A7382921935}"/>
              </a:ext>
            </a:extLst>
          </p:cNvPr>
          <p:cNvSpPr txBox="1"/>
          <p:nvPr/>
        </p:nvSpPr>
        <p:spPr>
          <a:xfrm>
            <a:off x="539750" y="3744340"/>
            <a:ext cx="532839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연속 저장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E0513-B5FE-C0E0-97A6-5DE7DE185183}"/>
              </a:ext>
            </a:extLst>
          </p:cNvPr>
          <p:cNvSpPr txBox="1"/>
          <p:nvPr/>
        </p:nvSpPr>
        <p:spPr>
          <a:xfrm>
            <a:off x="539750" y="4487648"/>
            <a:ext cx="532839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노드 저장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-&gt; 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62CE1-8A7C-3C3B-2AF1-3DEF9EF42D59}"/>
              </a:ext>
            </a:extLst>
          </p:cNvPr>
          <p:cNvSpPr txBox="1"/>
          <p:nvPr/>
        </p:nvSpPr>
        <p:spPr>
          <a:xfrm>
            <a:off x="530200" y="5262299"/>
            <a:ext cx="5337944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성능은 자료 크기와 접근 패턴으로 측정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9206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24CD-047C-C54B-48F9-EDBCEF20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7DC56-0B4F-4FFD-34FD-6D7169D0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11.8.3 </a:t>
            </a:r>
            <a:r>
              <a:rPr lang="ko-KR" altLang="en-US" dirty="0"/>
              <a:t>삽입과 제거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D974E-41AD-2082-C055-3246D7401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끝에서만 추가</a:t>
            </a:r>
            <a:r>
              <a:rPr lang="en-US" altLang="ko-KR" sz="2400" dirty="0"/>
              <a:t>·</a:t>
            </a:r>
            <a:r>
              <a:rPr lang="ko-KR" altLang="en-US" sz="2400" dirty="0"/>
              <a:t>제거하면 </a:t>
            </a:r>
            <a:r>
              <a:rPr lang="en-US" altLang="ko-KR" sz="2400" dirty="0"/>
              <a:t>std::vector</a:t>
            </a:r>
          </a:p>
          <a:p>
            <a:r>
              <a:rPr lang="ko-KR" altLang="en-US" sz="2400" dirty="0"/>
              <a:t>앞과 뒤 양쪽에서 작업하면 </a:t>
            </a:r>
            <a:r>
              <a:rPr lang="en-US" altLang="ko-KR" sz="2400" dirty="0"/>
              <a:t>std::deque</a:t>
            </a:r>
          </a:p>
          <a:p>
            <a:r>
              <a:rPr lang="ko-KR" altLang="en-US" sz="2400" dirty="0"/>
              <a:t>위치 반복자를 이미 가지고 있고 참조 안정성이 중요하면 </a:t>
            </a:r>
            <a:r>
              <a:rPr lang="en-US" altLang="ko-KR" sz="2400" dirty="0"/>
              <a:t>std::list</a:t>
            </a:r>
          </a:p>
          <a:p>
            <a:r>
              <a:rPr lang="ko-KR" altLang="en-US" sz="2400" dirty="0"/>
              <a:t>원소 순서가 중요하지 않으면 벡터에서 빠른 제거 방식 가능</a:t>
            </a:r>
            <a:endParaRPr lang="en-US" altLang="ko-KR" sz="2400" dirty="0"/>
          </a:p>
          <a:p>
            <a:r>
              <a:rPr lang="ko-KR" altLang="en-US" sz="2400" dirty="0"/>
              <a:t>순서가 의미 있는 데이터에는 사용할 수 없음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7A9E8-DF32-7F0A-20D6-E5EFB8A476CE}"/>
              </a:ext>
            </a:extLst>
          </p:cNvPr>
          <p:cNvSpPr txBox="1"/>
          <p:nvPr/>
        </p:nvSpPr>
        <p:spPr>
          <a:xfrm>
            <a:off x="539750" y="3068960"/>
            <a:ext cx="7560642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UnorderedErase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values.pop_back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563F9-A041-35A1-B1D0-5B3B55B14C36}"/>
              </a:ext>
            </a:extLst>
          </p:cNvPr>
          <p:cNvSpPr txBox="1"/>
          <p:nvPr/>
        </p:nvSpPr>
        <p:spPr>
          <a:xfrm>
            <a:off x="539750" y="5858621"/>
            <a:ext cx="756064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순서 유지 제거 → 뒤쪽 원소 이동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순서 무시 제거 → 마지막 원소와 교체 후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pop_back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1050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57BBA-0A16-8DF8-4BA3-BCB3E387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2F842-2D08-FD3B-D67A-07609A4F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11.8.4 </a:t>
            </a:r>
            <a:r>
              <a:rPr lang="ko-KR" altLang="en-US" dirty="0"/>
              <a:t>임의 접근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57BD1-EF98-A102-3953-FCE3E6730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인덱스로 자주 접근하면 </a:t>
            </a:r>
            <a:r>
              <a:rPr lang="en-US" altLang="ko-KR" sz="2000" dirty="0"/>
              <a:t>array, vector, deque</a:t>
            </a:r>
          </a:p>
          <a:p>
            <a:r>
              <a:rPr lang="ko-KR" altLang="en-US" sz="2000" dirty="0"/>
              <a:t>세 컨테이너는 임의 접근 반복자 제공</a:t>
            </a:r>
          </a:p>
          <a:p>
            <a:r>
              <a:rPr lang="en-US" altLang="ko-KR" sz="2000" dirty="0"/>
              <a:t>list, </a:t>
            </a:r>
            <a:r>
              <a:rPr lang="en-US" altLang="ko-KR" sz="2000" dirty="0" err="1"/>
              <a:t>forward_list</a:t>
            </a:r>
            <a:r>
              <a:rPr lang="ko-KR" altLang="en-US" sz="2000" dirty="0"/>
              <a:t>에서 </a:t>
            </a:r>
            <a:r>
              <a:rPr lang="en-US" altLang="ko-KR" sz="2000" dirty="0"/>
              <a:t>n</a:t>
            </a:r>
            <a:r>
              <a:rPr lang="ko-KR" altLang="en-US" sz="2000" dirty="0"/>
              <a:t>번째 접근은 </a:t>
            </a:r>
            <a:r>
              <a:rPr lang="en-US" altLang="ko-KR" sz="2000" dirty="0"/>
              <a:t>n</a:t>
            </a:r>
            <a:r>
              <a:rPr lang="ko-KR" altLang="en-US" sz="2000" dirty="0"/>
              <a:t>에 비례</a:t>
            </a:r>
          </a:p>
          <a:p>
            <a:r>
              <a:rPr lang="ko-KR" altLang="en-US" sz="2000" dirty="0"/>
              <a:t>인덱스 접근이 필요한 구조를 연결 리스트로 만들면 불리할 수 있음</a:t>
            </a:r>
          </a:p>
          <a:p>
            <a:r>
              <a:rPr lang="ko-KR" altLang="en-US" sz="2000" dirty="0"/>
              <a:t>정렬 알고리즘 선택도 반복자 범주에 영향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1AD02-4002-3257-A1AB-8110FF5230FB}"/>
              </a:ext>
            </a:extLst>
          </p:cNvPr>
          <p:cNvSpPr txBox="1"/>
          <p:nvPr/>
        </p:nvSpPr>
        <p:spPr>
          <a:xfrm>
            <a:off x="539750" y="2780928"/>
            <a:ext cx="4608314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nodes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nodes.sort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FC4A05-B24C-DBFE-EFA6-BCD00C68D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23913"/>
              </p:ext>
            </p:extLst>
          </p:nvPr>
        </p:nvGraphicFramePr>
        <p:xfrm>
          <a:off x="539750" y="4396105"/>
          <a:ext cx="4608314" cy="2128520"/>
        </p:xfrm>
        <a:graphic>
          <a:graphicData uri="http://schemas.openxmlformats.org/drawingml/2006/table">
            <a:tbl>
              <a:tblPr/>
              <a:tblGrid>
                <a:gridCol w="1286737">
                  <a:extLst>
                    <a:ext uri="{9D8B030D-6E8A-4147-A177-3AD203B41FA5}">
                      <a16:colId xmlns:a16="http://schemas.microsoft.com/office/drawing/2014/main" val="3884529312"/>
                    </a:ext>
                  </a:extLst>
                </a:gridCol>
                <a:gridCol w="1571016">
                  <a:extLst>
                    <a:ext uri="{9D8B030D-6E8A-4147-A177-3AD203B41FA5}">
                      <a16:colId xmlns:a16="http://schemas.microsoft.com/office/drawing/2014/main" val="2470041165"/>
                    </a:ext>
                  </a:extLst>
                </a:gridCol>
                <a:gridCol w="1750561">
                  <a:extLst>
                    <a:ext uri="{9D8B030D-6E8A-4147-A177-3AD203B41FA5}">
                      <a16:colId xmlns:a16="http://schemas.microsoft.com/office/drawing/2014/main" val="3214017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컨테이너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인덱스 접근</a:t>
                      </a:r>
                      <a:endParaRPr lang="ko-KR" sz="320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정렬 방식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0310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빠름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0196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빠름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std::sort()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35022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빠름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6407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960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455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50D8-7AF1-B358-972E-64E57606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71DDD-5D41-7C07-FD64-83FEE04B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11.8.5 </a:t>
            </a:r>
            <a:r>
              <a:rPr lang="ko-KR" altLang="en-US" dirty="0"/>
              <a:t>컨테이너 선택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27548-F885-D440-7566-902EDBC37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원소 수가 고정인지 가변인지 확인</a:t>
            </a:r>
          </a:p>
          <a:p>
            <a:r>
              <a:rPr lang="ko-KR" altLang="en-US" sz="2000" dirty="0"/>
              <a:t>연속 메모리가 필요한지 확인</a:t>
            </a:r>
          </a:p>
          <a:p>
            <a:r>
              <a:rPr lang="ko-KR" altLang="en-US" sz="2000" dirty="0"/>
              <a:t>인덱스 접근 빈도 확인</a:t>
            </a:r>
          </a:p>
          <a:p>
            <a:r>
              <a:rPr lang="ko-KR" altLang="en-US" sz="2000" dirty="0"/>
              <a:t>삽입과 제거 위치 확인</a:t>
            </a:r>
          </a:p>
          <a:p>
            <a:r>
              <a:rPr lang="ko-KR" altLang="en-US" sz="2000" dirty="0"/>
              <a:t>반복자</a:t>
            </a:r>
            <a:r>
              <a:rPr lang="en-US" altLang="ko-KR" sz="2000" dirty="0"/>
              <a:t>,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, </a:t>
            </a:r>
            <a:r>
              <a:rPr lang="ko-KR" altLang="en-US" sz="2000" dirty="0"/>
              <a:t>참조 안정성 확인</a:t>
            </a:r>
          </a:p>
          <a:p>
            <a:r>
              <a:rPr lang="ko-KR" altLang="en-US" sz="2000" dirty="0"/>
              <a:t>원소당 메모리 부가 비용 확인</a:t>
            </a:r>
          </a:p>
          <a:p>
            <a:r>
              <a:rPr lang="ko-KR" altLang="en-US" sz="2000" dirty="0"/>
              <a:t>외부 </a:t>
            </a:r>
            <a:r>
              <a:rPr lang="en-US" altLang="ko-KR" sz="2000" dirty="0"/>
              <a:t>API </a:t>
            </a:r>
            <a:r>
              <a:rPr lang="ko-KR" altLang="en-US" sz="2000" dirty="0"/>
              <a:t>전달 여부 확인</a:t>
            </a:r>
          </a:p>
          <a:p>
            <a:r>
              <a:rPr lang="ko-KR" altLang="en-US" sz="2000" dirty="0"/>
              <a:t>예상이 아니라 실제 데이터로 성능 측정</a:t>
            </a:r>
          </a:p>
          <a:p>
            <a:endParaRPr lang="ko-KR" alt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9BD2259-107D-DE35-9898-35DD2A239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9666"/>
              </p:ext>
            </p:extLst>
          </p:nvPr>
        </p:nvGraphicFramePr>
        <p:xfrm>
          <a:off x="5148064" y="981901"/>
          <a:ext cx="2736304" cy="2421600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161436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요구 사항 분석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구조 선택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무효화 규칙 확인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성능 측정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9641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E68028-CE00-FFC5-BD2D-778F0E1B0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615485"/>
              </p:ext>
            </p:extLst>
          </p:nvPr>
        </p:nvGraphicFramePr>
        <p:xfrm>
          <a:off x="539750" y="3933056"/>
          <a:ext cx="7344618" cy="1696720"/>
        </p:xfrm>
        <a:graphic>
          <a:graphicData uri="http://schemas.openxmlformats.org/drawingml/2006/table">
            <a:tbl>
              <a:tblPr/>
              <a:tblGrid>
                <a:gridCol w="2496846">
                  <a:extLst>
                    <a:ext uri="{9D8B030D-6E8A-4147-A177-3AD203B41FA5}">
                      <a16:colId xmlns:a16="http://schemas.microsoft.com/office/drawing/2014/main" val="3212933010"/>
                    </a:ext>
                  </a:extLst>
                </a:gridCol>
                <a:gridCol w="4847772">
                  <a:extLst>
                    <a:ext uri="{9D8B030D-6E8A-4147-A177-3AD203B41FA5}">
                      <a16:colId xmlns:a16="http://schemas.microsoft.com/office/drawing/2014/main" val="29926249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기본 판단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sz="3200" b="1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79602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먼저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검토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대부분의 가변 순차 데이터에 적합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489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다른 컨테이너 선택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벡터가 충족하지 못하는 요구가 분명할 때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7170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성능 판단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데이터와 접근 패턴으로 확인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969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5456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45D2-5830-9617-E569-31F513E3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61B2F-573A-D09B-4A2B-970F53A2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6A9F51-4DCF-C91F-6AD2-BCD1D8A6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표준 라이브러리는 자료 구조와 알고리즘을 템플릿과 반복자로 연결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컨테이너는 원소 저장과 수명 관리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반복자는 원소 위치와 범위 표현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알고리즘은 반복자 범위에 작업 적용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함수 객체와 람다는 비교와 판정 규칙 전달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STL</a:t>
            </a:r>
            <a:r>
              <a:rPr lang="ko-KR" altLang="en-US" sz="2000" dirty="0"/>
              <a:t> 전체가 아니라 컨테이너</a:t>
            </a:r>
            <a:r>
              <a:rPr lang="en-US" altLang="ko-KR" sz="2000" dirty="0"/>
              <a:t>·</a:t>
            </a:r>
            <a:r>
              <a:rPr lang="ko-KR" altLang="en-US" sz="2000" dirty="0"/>
              <a:t>반복자</a:t>
            </a:r>
            <a:r>
              <a:rPr lang="en-US" altLang="ko-KR" sz="2000" dirty="0"/>
              <a:t>·</a:t>
            </a:r>
            <a:r>
              <a:rPr lang="ko-KR" altLang="en-US" sz="2000" dirty="0"/>
              <a:t>알고리즘 중심 설계에서 출발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표준 컨테이너는 공통 이름을 제공하지만 저장 구조에 따라 기능과 비용이 다름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size(), empty(), begin(), end()</a:t>
            </a:r>
            <a:r>
              <a:rPr lang="ko-KR" altLang="en-US" sz="2000" dirty="0"/>
              <a:t>는 여러 컨테이너에서 사용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인덱스 접근</a:t>
            </a:r>
            <a:r>
              <a:rPr lang="en-US" altLang="ko-KR" sz="2000" dirty="0"/>
              <a:t>, </a:t>
            </a:r>
            <a:r>
              <a:rPr lang="ko-KR" altLang="en-US" sz="2000" dirty="0"/>
              <a:t>뒤쪽 접근</a:t>
            </a:r>
            <a:r>
              <a:rPr lang="en-US" altLang="ko-KR" sz="2000" dirty="0"/>
              <a:t>, </a:t>
            </a:r>
            <a:r>
              <a:rPr lang="ko-KR" altLang="en-US" sz="2000" dirty="0"/>
              <a:t>역방향 반복</a:t>
            </a:r>
            <a:r>
              <a:rPr lang="en-US" altLang="ko-KR" sz="2000" dirty="0"/>
              <a:t>, data()</a:t>
            </a:r>
            <a:r>
              <a:rPr lang="ko-KR" altLang="en-US" sz="2000" dirty="0"/>
              <a:t>는 모든 순차 컨테이너에 공통이 아님</a:t>
            </a:r>
          </a:p>
        </p:txBody>
      </p:sp>
    </p:spTree>
    <p:extLst>
      <p:ext uri="{BB962C8B-B14F-4D97-AF65-F5344CB8AC3E}">
        <p14:creationId xmlns:p14="http://schemas.microsoft.com/office/powerpoint/2010/main" val="28171274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E17D6-D7F7-0D66-1D9F-D11CA664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F8D75-93D8-BBEC-EF39-44B8EF5DD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반복자 무효화는 컨테이너 변경 뒤 기존 위치 객체 사용 가능 여부를 결정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std::array</a:t>
            </a:r>
            <a:r>
              <a:rPr lang="ko-KR" altLang="en-US" sz="2000" dirty="0"/>
              <a:t>는 고정 크기와 연속 메모리 제공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std::vector</a:t>
            </a:r>
            <a:r>
              <a:rPr lang="ko-KR" altLang="en-US" sz="2000" dirty="0"/>
              <a:t>는 연속 메모리</a:t>
            </a:r>
            <a:r>
              <a:rPr lang="en-US" altLang="ko-KR" sz="2000" dirty="0"/>
              <a:t>, </a:t>
            </a:r>
            <a:r>
              <a:rPr lang="ko-KR" altLang="en-US" sz="2000" dirty="0"/>
              <a:t>가변 크기</a:t>
            </a:r>
            <a:r>
              <a:rPr lang="en-US" altLang="ko-KR" sz="2000" dirty="0"/>
              <a:t>, </a:t>
            </a:r>
            <a:r>
              <a:rPr lang="ko-KR" altLang="en-US" sz="2000" dirty="0"/>
              <a:t>빠른 임의 접근 제공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reserve()</a:t>
            </a:r>
            <a:r>
              <a:rPr lang="ko-KR" altLang="en-US" sz="2000" dirty="0"/>
              <a:t>는 용량 확보</a:t>
            </a:r>
            <a:r>
              <a:rPr lang="en-US" altLang="ko-KR" sz="2000" dirty="0"/>
              <a:t>, resize()</a:t>
            </a:r>
            <a:r>
              <a:rPr lang="ko-KR" altLang="en-US" sz="2000" dirty="0"/>
              <a:t>는 원소 수 변경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std::deque</a:t>
            </a:r>
            <a:r>
              <a:rPr lang="ko-KR" altLang="en-US" sz="2000" dirty="0"/>
              <a:t>는 양쪽 끝 삽입과 제거가 효율적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std::list</a:t>
            </a:r>
            <a:r>
              <a:rPr lang="ko-KR" altLang="en-US" sz="2000" dirty="0"/>
              <a:t>와 </a:t>
            </a:r>
            <a:r>
              <a:rPr lang="en-US" altLang="ko-KR" sz="2000" dirty="0"/>
              <a:t>std::</a:t>
            </a:r>
            <a:r>
              <a:rPr lang="en-US" altLang="ko-KR" sz="2000" dirty="0" err="1"/>
              <a:t>forward_list</a:t>
            </a:r>
            <a:r>
              <a:rPr lang="ko-KR" altLang="en-US" sz="2000" dirty="0"/>
              <a:t>는 노드 기반 연결 구조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연결 리스트는 삽입 위치를 알고 있고 참조 안정성이 중요할 때 검토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std::string</a:t>
            </a:r>
            <a:r>
              <a:rPr lang="ko-KR" altLang="en-US" sz="2000" dirty="0"/>
              <a:t>은 연속 문자 데이터를 소유하고 문자열 조작 기능 제공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숫자 변환은 </a:t>
            </a:r>
            <a:r>
              <a:rPr lang="en-US" altLang="ko-KR" sz="2000" dirty="0" err="1"/>
              <a:t>stoi</a:t>
            </a:r>
            <a:r>
              <a:rPr lang="en-US" altLang="ko-KR" sz="2000" dirty="0"/>
              <a:t>() </a:t>
            </a:r>
            <a:r>
              <a:rPr lang="ko-KR" altLang="en-US" sz="2000" dirty="0"/>
              <a:t>계열과 </a:t>
            </a:r>
            <a:r>
              <a:rPr lang="en-US" altLang="ko-KR" sz="2000" dirty="0" err="1"/>
              <a:t>from_chars</a:t>
            </a:r>
            <a:r>
              <a:rPr lang="en-US" altLang="ko-KR" sz="2000" dirty="0"/>
              <a:t>()</a:t>
            </a:r>
            <a:r>
              <a:rPr lang="ko-KR" altLang="en-US" sz="2000" dirty="0"/>
              <a:t>를 상황에 맞게 선택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가변 크기 순차 컨테이너의 기본 선택은 </a:t>
            </a:r>
            <a:r>
              <a:rPr lang="en-US" altLang="ko-KR" sz="2000" dirty="0"/>
              <a:t>std::vector</a:t>
            </a:r>
          </a:p>
          <a:p>
            <a:pPr>
              <a:lnSpc>
                <a:spcPct val="120000"/>
              </a:lnSpc>
            </a:pPr>
            <a:r>
              <a:rPr lang="ko-KR" altLang="en-US" sz="2000" dirty="0"/>
              <a:t>벡터가 충족하지 못하는 구체 요구가 있을 때 다른 컨테이너 선택</a:t>
            </a:r>
          </a:p>
        </p:txBody>
      </p:sp>
    </p:spTree>
    <p:extLst>
      <p:ext uri="{BB962C8B-B14F-4D97-AF65-F5344CB8AC3E}">
        <p14:creationId xmlns:p14="http://schemas.microsoft.com/office/powerpoint/2010/main" val="423211761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100" b="0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12041</TotalTime>
  <Words>6164</Words>
  <Application>Microsoft Office PowerPoint</Application>
  <PresentationFormat>화면 슬라이드 쇼(4:3)</PresentationFormat>
  <Paragraphs>700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2" baseType="lpstr">
      <vt:lpstr>Pretendard ExtraBold</vt:lpstr>
      <vt:lpstr>가을체</vt:lpstr>
      <vt:lpstr>나눔고딕 ExtraBold</vt:lpstr>
      <vt:lpstr>굴림</vt:lpstr>
      <vt:lpstr>Arial</vt:lpstr>
      <vt:lpstr>Wingdings</vt:lpstr>
      <vt:lpstr>나눔바른고딕</vt:lpstr>
      <vt:lpstr>Consolas</vt:lpstr>
      <vt:lpstr>HY견고딕</vt:lpstr>
      <vt:lpstr>기본 디자인</vt:lpstr>
      <vt:lpstr>11. 표준 라이브러리와 순차 컨테이너</vt:lpstr>
      <vt:lpstr>11. 표준 라이브러리와 순차 컨테이너</vt:lpstr>
      <vt:lpstr>11.1 표준 라이브러리의 구조</vt:lpstr>
      <vt:lpstr>11.1.1 표준 라이브러리와 STL</vt:lpstr>
      <vt:lpstr>11.1.2 컨테이너</vt:lpstr>
      <vt:lpstr>11.1.3 반복자</vt:lpstr>
      <vt:lpstr>11.1.3 반복자 범주</vt:lpstr>
      <vt:lpstr>11.1.4 알고리즘</vt:lpstr>
      <vt:lpstr>11.1.5 함수 객체</vt:lpstr>
      <vt:lpstr>11.1.6 자료구조와 알고리즘의 분리</vt:lpstr>
      <vt:lpstr>11.2 컨테이너 공통 기능</vt:lpstr>
      <vt:lpstr>11.2.1 원소 타입과 크기</vt:lpstr>
      <vt:lpstr>11.2.2 원소 접근</vt:lpstr>
      <vt:lpstr>11.2.3 삽입과 제거</vt:lpstr>
      <vt:lpstr>11.2.4 begin과 end</vt:lpstr>
      <vt:lpstr>11.2.5 복사와 이동</vt:lpstr>
      <vt:lpstr>11.2.6 반복자·포인터·참조의 무효화</vt:lpstr>
      <vt:lpstr>11.2.6 무효화 규칙 요약</vt:lpstr>
      <vt:lpstr>11.3 std::array</vt:lpstr>
      <vt:lpstr>11.3.1 C 배열과 std::array</vt:lpstr>
      <vt:lpstr>11.3.2 고정 크기와 초기화</vt:lpstr>
      <vt:lpstr>11.3.3 반복자, 대입과 비교</vt:lpstr>
      <vt:lpstr>11.3.5 함수 인수로 전달하기</vt:lpstr>
      <vt:lpstr>11.4 std::vector</vt:lpstr>
      <vt:lpstr>11.4.1 연속 메모리</vt:lpstr>
      <vt:lpstr>11.4.2 원소 추가와 제거</vt:lpstr>
      <vt:lpstr>11.4.3 size와 capacity</vt:lpstr>
      <vt:lpstr>11.4.4 재할당</vt:lpstr>
      <vt:lpstr>11.4.5 reserve와 resize</vt:lpstr>
      <vt:lpstr>11.4.6 vector 무효화 규칙</vt:lpstr>
      <vt:lpstr>11.4.7 push_back과 emplace_back</vt:lpstr>
      <vt:lpstr>11.5 std::deque</vt:lpstr>
      <vt:lpstr>11.5.2 deque 메모리 구조</vt:lpstr>
      <vt:lpstr>11.5.4 vector와 deque 비교</vt:lpstr>
      <vt:lpstr>11.6 std::list와 std::forward_list</vt:lpstr>
      <vt:lpstr>11.6.2 list와 forward_list</vt:lpstr>
      <vt:lpstr>11.6.3 삽입과 제거</vt:lpstr>
      <vt:lpstr>11.6.4 순회 비용과 선택 기준</vt:lpstr>
      <vt:lpstr>11.7 std::string</vt:lpstr>
      <vt:lpstr>11.7.2 연결과 비교</vt:lpstr>
      <vt:lpstr>11.7.3 검색과 부분 문자열</vt:lpstr>
      <vt:lpstr>11.7.4 삽입과 제거</vt:lpstr>
      <vt:lpstr>11.7.5 숫자와 문자열 변환</vt:lpstr>
      <vt:lpstr>11.7.6 문자열의 저장 공간</vt:lpstr>
      <vt:lpstr>11.8 순차 컨테이너 선택</vt:lpstr>
      <vt:lpstr>11.8.1 고정 크기와 가변 크기</vt:lpstr>
      <vt:lpstr>11.8.2 연속 메모리와 캐시 지역성</vt:lpstr>
      <vt:lpstr>11.8.3 삽입과 제거 위치</vt:lpstr>
      <vt:lpstr>11.8.4 임의 접근</vt:lpstr>
      <vt:lpstr>11.8.5 컨테이너 선택 기준</vt:lpstr>
      <vt:lpstr>11.9 학습 정리</vt:lpstr>
      <vt:lpstr>11.9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430</cp:revision>
  <dcterms:created xsi:type="dcterms:W3CDTF">2003-11-30T16:03:20Z</dcterms:created>
  <dcterms:modified xsi:type="dcterms:W3CDTF">2026-08-24T11:25:44Z</dcterms:modified>
</cp:coreProperties>
</file>