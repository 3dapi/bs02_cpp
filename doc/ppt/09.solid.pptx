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328" r:id="rId2"/>
    <p:sldId id="329" r:id="rId3"/>
    <p:sldId id="330" r:id="rId4"/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8" r:id="rId21"/>
    <p:sldId id="349" r:id="rId22"/>
    <p:sldId id="350" r:id="rId23"/>
    <p:sldId id="351" r:id="rId24"/>
    <p:sldId id="352" r:id="rId25"/>
    <p:sldId id="353" r:id="rId26"/>
    <p:sldId id="354" r:id="rId27"/>
    <p:sldId id="355" r:id="rId28"/>
    <p:sldId id="356" r:id="rId29"/>
    <p:sldId id="358" r:id="rId30"/>
    <p:sldId id="359" r:id="rId31"/>
    <p:sldId id="360" r:id="rId32"/>
    <p:sldId id="361" r:id="rId33"/>
    <p:sldId id="362" r:id="rId34"/>
    <p:sldId id="363" r:id="rId35"/>
    <p:sldId id="364" r:id="rId36"/>
    <p:sldId id="365" r:id="rId37"/>
    <p:sldId id="366" r:id="rId38"/>
    <p:sldId id="367" r:id="rId39"/>
    <p:sldId id="369" r:id="rId40"/>
    <p:sldId id="370" r:id="rId41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44"/>
      <p:bold r:id="rId45"/>
      <p:italic r:id="rId46"/>
      <p:boldItalic r:id="rId47"/>
    </p:embeddedFont>
    <p:embeddedFont>
      <p:font typeface="D2Coding" panose="020B0609020101020101" pitchFamily="49" charset="-127"/>
      <p:regular r:id="rId48"/>
      <p:bold r:id="rId49"/>
    </p:embeddedFont>
    <p:embeddedFont>
      <p:font typeface="HY견고딕" panose="02030600000101010101" pitchFamily="18" charset="-127"/>
      <p:regular r:id="rId50"/>
    </p:embeddedFont>
    <p:embeddedFont>
      <p:font typeface="Pretendard ExtraBold" panose="02000903000000020004" pitchFamily="50" charset="-127"/>
      <p:bold r:id="rId51"/>
    </p:embeddedFont>
    <p:embeddedFont>
      <p:font typeface="가을체" panose="02030600000101010101" pitchFamily="18" charset="-127"/>
      <p:regular r:id="rId52"/>
    </p:embeddedFont>
    <p:embeddedFont>
      <p:font typeface="나눔고딕 ExtraBold" panose="020D0904000000000000" pitchFamily="50" charset="-127"/>
      <p:bold r:id="rId53"/>
    </p:embeddedFont>
    <p:embeddedFont>
      <p:font typeface="나눔바른고딕" panose="020B0603020101020101" pitchFamily="50" charset="-127"/>
      <p:regular r:id="rId54"/>
      <p:bold r:id="rId55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FAFAFA"/>
    <a:srgbClr val="3399FF"/>
    <a:srgbClr val="EFEFED"/>
    <a:srgbClr val="C18401"/>
    <a:srgbClr val="CC00CC"/>
    <a:srgbClr val="FF9900"/>
    <a:srgbClr val="CC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41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806" y="102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6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48" Type="http://schemas.openxmlformats.org/officeDocument/2006/relationships/font" Target="fonts/font5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A2FCDCC-75BC-443E-E33D-96FB3B93C7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DEC5783-C421-C2A7-6C8A-427BD3E44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3F608-D938-42A6-9A0B-23DC3D655BD5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7BFB7D-E523-05DD-7599-0B8AE06D2A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A37456-DBCD-50BC-A8E2-5D301F7B0F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4F7A42-FA84-4141-97EA-F328B808C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553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37CE4-DC6E-0507-7ADF-E2E78392D644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ko-KR" altLang="ko-KR" dirty="0"/>
              <a:t>0</a:t>
            </a:r>
            <a:r>
              <a:rPr lang="en-US" altLang="ko-KR" dirty="0"/>
              <a:t>9</a:t>
            </a:r>
            <a:r>
              <a:rPr lang="ko-KR" altLang="ko-KR" dirty="0"/>
              <a:t>. 객체지향 설계 원칙</a:t>
            </a:r>
            <a:br>
              <a:rPr lang="en-US" altLang="ko-KR" dirty="0"/>
            </a:br>
            <a:r>
              <a:rPr lang="en-US" altLang="ko-KR" dirty="0"/>
              <a:t>(SOLID)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C4D6CF-876E-1297-9505-78713601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09. </a:t>
            </a:r>
            <a:r>
              <a:rPr lang="ko-KR" altLang="en-US" dirty="0"/>
              <a:t>객체지향 설계 원칙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52B0F5-62DA-ED20-E668-36A10B59F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30000"/>
              </a:lnSpc>
            </a:pPr>
            <a:r>
              <a:rPr lang="ko-KR" altLang="ko-KR" sz="2400" dirty="0"/>
              <a:t>책임과 협력</a:t>
            </a:r>
          </a:p>
          <a:p>
            <a:pPr lvl="0">
              <a:lnSpc>
                <a:spcPct val="130000"/>
              </a:lnSpc>
            </a:pPr>
            <a:r>
              <a:rPr lang="ko-KR" altLang="ko-KR" sz="2400" dirty="0"/>
              <a:t>응집도와 결합도</a:t>
            </a:r>
          </a:p>
          <a:p>
            <a:pPr lvl="0">
              <a:lnSpc>
                <a:spcPct val="130000"/>
              </a:lnSpc>
            </a:pPr>
            <a:r>
              <a:rPr lang="ko-KR" altLang="ko-KR" sz="2400" dirty="0"/>
              <a:t>인터페이스 설계</a:t>
            </a:r>
          </a:p>
          <a:p>
            <a:pPr lvl="0">
              <a:lnSpc>
                <a:spcPct val="130000"/>
              </a:lnSpc>
            </a:pPr>
            <a:r>
              <a:rPr lang="ko-KR" altLang="ko-KR" sz="2400" dirty="0"/>
              <a:t>단일 책임 원칙(SRP)</a:t>
            </a:r>
          </a:p>
          <a:p>
            <a:pPr lvl="0">
              <a:lnSpc>
                <a:spcPct val="130000"/>
              </a:lnSpc>
            </a:pPr>
            <a:r>
              <a:rPr lang="ko-KR" altLang="ko-KR" sz="2400" dirty="0"/>
              <a:t>개방-폐쇄 원칙(OCP)</a:t>
            </a:r>
          </a:p>
          <a:p>
            <a:pPr lvl="0">
              <a:lnSpc>
                <a:spcPct val="130000"/>
              </a:lnSpc>
            </a:pPr>
            <a:r>
              <a:rPr lang="ko-KR" altLang="ko-KR" sz="2400" dirty="0" err="1"/>
              <a:t>리스코프</a:t>
            </a:r>
            <a:r>
              <a:rPr lang="ko-KR" altLang="ko-KR" sz="2400" dirty="0"/>
              <a:t> 치환 원칙(LSP)</a:t>
            </a:r>
          </a:p>
          <a:p>
            <a:pPr lvl="0">
              <a:lnSpc>
                <a:spcPct val="130000"/>
              </a:lnSpc>
            </a:pPr>
            <a:r>
              <a:rPr lang="ko-KR" altLang="ko-KR" sz="2400" dirty="0"/>
              <a:t>인터페이스 분리 원칙(ISP)</a:t>
            </a:r>
          </a:p>
          <a:p>
            <a:pPr lvl="0">
              <a:lnSpc>
                <a:spcPct val="130000"/>
              </a:lnSpc>
            </a:pPr>
            <a:r>
              <a:rPr lang="ko-KR" altLang="ko-KR" sz="2400" dirty="0"/>
              <a:t>의존 역전 원칙(DIP)</a:t>
            </a:r>
          </a:p>
          <a:p>
            <a:pPr lvl="0">
              <a:lnSpc>
                <a:spcPct val="130000"/>
              </a:lnSpc>
            </a:pPr>
            <a:r>
              <a:rPr lang="ko-KR" altLang="ko-KR" sz="2400" dirty="0"/>
              <a:t>객체지향 설계의 적용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6DEAADA-E659-FDB3-5020-C489AE68E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893538"/>
              </p:ext>
            </p:extLst>
          </p:nvPr>
        </p:nvGraphicFramePr>
        <p:xfrm>
          <a:off x="4788123" y="1916832"/>
          <a:ext cx="3528392" cy="2848320"/>
        </p:xfrm>
        <a:graphic>
          <a:graphicData uri="http://schemas.openxmlformats.org/drawingml/2006/table">
            <a:tbl>
              <a:tblPr/>
              <a:tblGrid>
                <a:gridCol w="3528392">
                  <a:extLst>
                    <a:ext uri="{9D8B030D-6E8A-4147-A177-3AD203B41FA5}">
                      <a16:colId xmlns:a16="http://schemas.microsoft.com/office/drawing/2014/main" val="908409071"/>
                    </a:ext>
                  </a:extLst>
                </a:gridCol>
              </a:tblGrid>
              <a:tr h="280831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클래스 문법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객체의 책임 배치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공개 인터페이스로 협력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변경 영향 범위 축소</a:t>
                      </a:r>
                      <a:endParaRPr lang="ko-KR" sz="4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011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896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A2932-A544-A2C5-4953-576A23376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BF92B-1B3E-795E-D509-1C59AD50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9.1 책임과 협력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CCC20B-487E-3AD6-B6BC-D41E63EF0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객체지향 프로그램은 여러 객체가 협력하여 기능을 완성</a:t>
            </a:r>
          </a:p>
          <a:p>
            <a:pPr lvl="0"/>
            <a:r>
              <a:rPr lang="ko-KR" altLang="ko-KR" sz="2400" dirty="0"/>
              <a:t>책임: 객체가 알고 있거나 수행해야 할 일</a:t>
            </a:r>
          </a:p>
          <a:p>
            <a:pPr lvl="0"/>
            <a:r>
              <a:rPr lang="ko-KR" altLang="ko-KR" sz="2400" dirty="0"/>
              <a:t>협력: 여러 객체가 요청과 응답으로 기능을 완성하는 구조</a:t>
            </a:r>
          </a:p>
          <a:p>
            <a:pPr lvl="0"/>
            <a:r>
              <a:rPr lang="ko-KR" altLang="ko-KR" sz="2400" dirty="0"/>
              <a:t>메시지: 객체의 공개 기능 호출</a:t>
            </a:r>
          </a:p>
          <a:p>
            <a:pPr lvl="0"/>
            <a:r>
              <a:rPr lang="ko-KR" altLang="ko-KR" sz="2400" dirty="0"/>
              <a:t>객체는 자신의 상태와 규칙을 관리</a:t>
            </a:r>
            <a:r>
              <a:rPr lang="en-US" altLang="ko-KR" sz="2400" dirty="0"/>
              <a:t>, </a:t>
            </a:r>
            <a:r>
              <a:rPr lang="ko-KR" altLang="ko-KR" sz="2400" dirty="0"/>
              <a:t>객체는 필요한 작업을 요청</a:t>
            </a:r>
          </a:p>
          <a:p>
            <a:endParaRPr lang="ko-KR" altLang="en-US" sz="2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E86652B-8E82-1877-6E3B-01CC7B0E7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585858"/>
              </p:ext>
            </p:extLst>
          </p:nvPr>
        </p:nvGraphicFramePr>
        <p:xfrm>
          <a:off x="683568" y="3140968"/>
          <a:ext cx="2448272" cy="3214080"/>
        </p:xfrm>
        <a:graphic>
          <a:graphicData uri="http://schemas.openxmlformats.org/drawingml/2006/table">
            <a:tbl>
              <a:tblPr/>
              <a:tblGrid>
                <a:gridCol w="2448272">
                  <a:extLst>
                    <a:ext uri="{9D8B030D-6E8A-4147-A177-3AD203B41FA5}">
                      <a16:colId xmlns:a16="http://schemas.microsoft.com/office/drawing/2014/main" val="26843615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t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    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 공격 요청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AttackBehavior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  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↓ 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피해량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계산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HealthComponent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  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↓ 체력 변경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</a:t>
                      </a:r>
                      <a:r>
                        <a:rPr lang="ko-KR" sz="16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CombatLog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  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↓ 결과 기록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985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8797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D7D67-B483-3455-6C4D-E49389289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C7A931-A718-1B53-1CD4-8C2DF6A37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9.1.1 </a:t>
            </a:r>
            <a:r>
              <a:rPr lang="ko-KR" altLang="en-US" dirty="0"/>
              <a:t>객체의 책임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A1AEF7-50B3-CCC9-0DC4-95D95C81C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책임은 객체가 알아야 하는 정보와 수행해야 하는 동작</a:t>
            </a:r>
          </a:p>
          <a:p>
            <a:pPr lvl="0"/>
            <a:r>
              <a:rPr lang="ko-KR" altLang="ko-KR" sz="2400" dirty="0"/>
              <a:t>상태와 상태를 다루는 규칙을 함께 검토</a:t>
            </a:r>
          </a:p>
          <a:p>
            <a:pPr lvl="0"/>
            <a:r>
              <a:rPr lang="ko-KR" altLang="ko-KR" sz="2400" dirty="0"/>
              <a:t>클래스 이름과 공개 인터페이스에서 책임이 드러나야 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41D911-5DF4-66E8-15AD-C7C5B679E866}"/>
              </a:ext>
            </a:extLst>
          </p:cNvPr>
          <p:cNvSpPr txBox="1"/>
          <p:nvPr/>
        </p:nvSpPr>
        <p:spPr>
          <a:xfrm>
            <a:off x="611560" y="2379652"/>
            <a:ext cx="4572000" cy="378565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HealthComponent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HealthComponent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Recover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GetMaxHp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IsDead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976A4A-A26D-4AB3-1E43-BD4B73F740B9}"/>
              </a:ext>
            </a:extLst>
          </p:cNvPr>
          <p:cNvSpPr txBox="1"/>
          <p:nvPr/>
        </p:nvSpPr>
        <p:spPr>
          <a:xfrm>
            <a:off x="3960440" y="5334307"/>
            <a:ext cx="4572000" cy="83099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maxHp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→ 체력 상태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Recover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→ 체력 변경 규칙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IsDead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→ 체력 상태 판단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7224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ACCF0-8BB3-F005-112B-9276B8771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FF429-8BF3-8C1B-55D2-FC022C0C4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9.1.2 </a:t>
            </a:r>
            <a:r>
              <a:rPr lang="ko-KR" altLang="en-US" dirty="0"/>
              <a:t>객체의 역할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BE2A01-A7BC-090B-28D9-AF4399A94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역할은 협력 안에서 객체가 제공하는 능력</a:t>
            </a:r>
          </a:p>
          <a:p>
            <a:pPr lvl="0"/>
            <a:r>
              <a:rPr lang="ko-KR" altLang="ko-KR" sz="2400" dirty="0"/>
              <a:t>하나의 구체 클래스가 여러 역할을 수행할 수 있음</a:t>
            </a:r>
          </a:p>
          <a:p>
            <a:pPr lvl="0"/>
            <a:r>
              <a:rPr lang="ko-KR" altLang="ko-KR" sz="2400" dirty="0"/>
              <a:t>같은 역할을 여러 구체 클래스가 수행할 수 있음</a:t>
            </a:r>
          </a:p>
          <a:p>
            <a:pPr lvl="0"/>
            <a:r>
              <a:rPr lang="ko-KR" altLang="ko-KR" sz="2400" dirty="0"/>
              <a:t>C++에서는 작은 추상 클래스로 역할을 표현 가능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4A5C3D-A2A2-C1D7-0030-B9B17B59FC90}"/>
              </a:ext>
            </a:extLst>
          </p:cNvPr>
          <p:cNvSpPr txBox="1"/>
          <p:nvPr/>
        </p:nvSpPr>
        <p:spPr>
          <a:xfrm>
            <a:off x="539750" y="2636912"/>
            <a:ext cx="6480720" cy="32932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IDamageable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IDamageable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IsDead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ApplyExplosionDamage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IDamageable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target.TakeDamage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66C92F-9215-F5DB-A413-2C2E88F25490}"/>
              </a:ext>
            </a:extLst>
          </p:cNvPr>
          <p:cNvSpPr txBox="1"/>
          <p:nvPr/>
        </p:nvSpPr>
        <p:spPr>
          <a:xfrm>
            <a:off x="4283968" y="5301208"/>
            <a:ext cx="4572000" cy="36933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호출 코드는 대상의 구체 타입보다 역할에 의존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7978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7F7F-3B5D-C32B-ED9F-8047EF0D2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132E30-DE0E-5E41-A458-CD0FF441A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9.1.3 </a:t>
            </a:r>
            <a:r>
              <a:rPr lang="ko-KR" altLang="en-US" dirty="0"/>
              <a:t>데이터와 행위의 배치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988B6C-39B2-2240-519E-0FBBF3752CF3}"/>
              </a:ext>
            </a:extLst>
          </p:cNvPr>
          <p:cNvSpPr txBox="1"/>
          <p:nvPr/>
        </p:nvSpPr>
        <p:spPr>
          <a:xfrm>
            <a:off x="707554" y="785864"/>
            <a:ext cx="6312718" cy="1815882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외부가 체력 규칙을 처리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target.GetHp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-= </a:t>
            </a:r>
            <a:r>
              <a:rPr lang="ko-KR" altLang="ko-KR" sz="1600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target.SetHp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5DDFE0-127B-2B57-F2BE-989F8BD8D9F2}"/>
              </a:ext>
            </a:extLst>
          </p:cNvPr>
          <p:cNvSpPr txBox="1"/>
          <p:nvPr/>
        </p:nvSpPr>
        <p:spPr>
          <a:xfrm>
            <a:off x="699938" y="2598003"/>
            <a:ext cx="6320334" cy="58477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상태를 가진 객체에 작업 요청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actualDamage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target.TakeDamage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attackPower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ADDD3-1963-7105-15CD-85872C596B45}"/>
              </a:ext>
            </a:extLst>
          </p:cNvPr>
          <p:cNvSpPr txBox="1"/>
          <p:nvPr/>
        </p:nvSpPr>
        <p:spPr>
          <a:xfrm>
            <a:off x="707554" y="5316719"/>
            <a:ext cx="6320334" cy="46166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핵심 규칙을 외부가 대신 수행하지 않도록 함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BB81E882-A2E1-0598-0040-0A45A4001C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0041500"/>
              </p:ext>
            </p:extLst>
          </p:nvPr>
        </p:nvGraphicFramePr>
        <p:xfrm>
          <a:off x="699938" y="3411996"/>
          <a:ext cx="6320334" cy="1673248"/>
        </p:xfrm>
        <a:graphic>
          <a:graphicData uri="http://schemas.openxmlformats.org/drawingml/2006/table">
            <a:tbl>
              <a:tblPr/>
              <a:tblGrid>
                <a:gridCol w="3185737">
                  <a:extLst>
                    <a:ext uri="{9D8B030D-6E8A-4147-A177-3AD203B41FA5}">
                      <a16:colId xmlns:a16="http://schemas.microsoft.com/office/drawing/2014/main" val="866655456"/>
                    </a:ext>
                  </a:extLst>
                </a:gridCol>
                <a:gridCol w="3134597">
                  <a:extLst>
                    <a:ext uri="{9D8B030D-6E8A-4147-A177-3AD203B41FA5}">
                      <a16:colId xmlns:a16="http://schemas.microsoft.com/office/drawing/2014/main" val="16316062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외부에서 처리</a:t>
                      </a:r>
                      <a:endParaRPr lang="ko-KR" sz="32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객체가 처리</a:t>
                      </a:r>
                      <a:endParaRPr lang="ko-KR" sz="32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4835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체력 규칙을 외부가 알아야 함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체력 규칙을 내부에 유지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775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같은 보정 코드 반복 가능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변경 지점 집중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986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내부 표현과 결합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 있는 작업에 의존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45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043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82A60-D53E-1185-EDD9-83D03AF06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37BC64-12C8-8ECC-90A1-B235C7034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9.1.4 </a:t>
            </a:r>
            <a:r>
              <a:rPr lang="ko-KR" altLang="en-US" dirty="0"/>
              <a:t>책임이 많은 객체와 책임 분리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F6B5BAF-1902-1673-F769-91A890DDC0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4306555"/>
              </p:ext>
            </p:extLst>
          </p:nvPr>
        </p:nvGraphicFramePr>
        <p:xfrm>
          <a:off x="395536" y="980728"/>
          <a:ext cx="3456384" cy="3432556"/>
        </p:xfrm>
        <a:graphic>
          <a:graphicData uri="http://schemas.openxmlformats.org/drawingml/2006/table">
            <a:tbl>
              <a:tblPr/>
              <a:tblGrid>
                <a:gridCol w="3456384">
                  <a:extLst>
                    <a:ext uri="{9D8B030D-6E8A-4147-A177-3AD203B41FA5}">
                      <a16:colId xmlns:a16="http://schemas.microsoft.com/office/drawing/2014/main" val="2177070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5000"/>
                        </a:lnSpc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책임 집중</a:t>
                      </a:r>
                      <a:endParaRPr lang="en-US" altLang="ko-KR" sz="2000" b="1" i="0" u="none" strike="noStrike" dirty="0">
                        <a:solidFill>
                          <a:srgbClr val="383A4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Pretendard ExtraBold" panose="02000903000000020004" pitchFamily="50" charset="-127"/>
                      </a:endParaRPr>
                    </a:p>
                    <a:p>
                      <a:pPr rtl="0" fontAlgn="t">
                        <a:lnSpc>
                          <a:spcPct val="95000"/>
                        </a:lnSpc>
                        <a:buNone/>
                      </a:pP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Player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├─ 입력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├─ 이동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├─ 전투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├─ 체력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├─ 저장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├─ UI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└─ 사운드</a:t>
                      </a:r>
                      <a:endParaRPr lang="ko-KR" sz="2400" b="1" dirty="0">
                        <a:effectLst/>
                        <a:latin typeface="Consolas" panose="020B0609020204030204" pitchFamily="49" charset="0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91684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29FDC50-F2C5-76B9-132C-CC94273F2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382297"/>
              </p:ext>
            </p:extLst>
          </p:nvPr>
        </p:nvGraphicFramePr>
        <p:xfrm>
          <a:off x="4139952" y="980728"/>
          <a:ext cx="3816424" cy="2390140"/>
        </p:xfrm>
        <a:graphic>
          <a:graphicData uri="http://schemas.openxmlformats.org/drawingml/2006/table">
            <a:tbl>
              <a:tblPr/>
              <a:tblGrid>
                <a:gridCol w="3816424">
                  <a:extLst>
                    <a:ext uri="{9D8B030D-6E8A-4147-A177-3AD203B41FA5}">
                      <a16:colId xmlns:a16="http://schemas.microsoft.com/office/drawing/2014/main" val="41606855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5000"/>
                        </a:lnSpc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책임 분리</a:t>
                      </a:r>
                      <a:endParaRPr lang="en-US" altLang="ko-KR" sz="2000" b="1" i="0" u="none" strike="noStrike" dirty="0">
                        <a:solidFill>
                          <a:srgbClr val="383A4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Pretendard ExtraBold" panose="02000903000000020004" pitchFamily="50" charset="-127"/>
                      </a:endParaRPr>
                    </a:p>
                    <a:p>
                      <a:pPr rtl="0" fontAlgn="t">
                        <a:lnSpc>
                          <a:spcPct val="95000"/>
                        </a:lnSpc>
                        <a:buNone/>
                      </a:pP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Player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2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HealthComponent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2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AttackBehavior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24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Inventory</a:t>
                      </a:r>
                      <a:b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└─ 외부 서비스와 협력</a:t>
                      </a:r>
                      <a:endParaRPr lang="ko-KR" sz="2400" b="1" dirty="0">
                        <a:effectLst/>
                        <a:latin typeface="Consolas" panose="020B0609020204030204" pitchFamily="49" charset="0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09392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C39CE3D-4F47-46B5-3DFB-237745BE2972}"/>
              </a:ext>
            </a:extLst>
          </p:cNvPr>
          <p:cNvSpPr txBox="1"/>
          <p:nvPr/>
        </p:nvSpPr>
        <p:spPr>
          <a:xfrm>
            <a:off x="395536" y="4581128"/>
            <a:ext cx="7560840" cy="1631216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객체 수가 적다고 좋은 설계가 되는 것은 아님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클래스 수가 많다고 좋은 설계가 되는 것도 아님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함께 변경되는 상태와 행위는 모음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독립적으로 변경되는 책임은 분리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무엇을 나눌 것인가보다 왜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나누는가가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중요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5396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97968-EE14-D033-40B0-F0E1BE143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6BFEE-007C-236C-4B40-658F3A4DD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</a:t>
            </a:r>
            <a:r>
              <a:rPr lang="ko-KR" altLang="en-US" dirty="0"/>
              <a:t>응집도와 결합도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CE7384E-059F-BD83-1728-6C49C244B6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1144797"/>
              </p:ext>
            </p:extLst>
          </p:nvPr>
        </p:nvGraphicFramePr>
        <p:xfrm>
          <a:off x="544710" y="836712"/>
          <a:ext cx="7699696" cy="1978048"/>
        </p:xfrm>
        <a:graphic>
          <a:graphicData uri="http://schemas.openxmlformats.org/drawingml/2006/table">
            <a:tbl>
              <a:tblPr/>
              <a:tblGrid>
                <a:gridCol w="1188431">
                  <a:extLst>
                    <a:ext uri="{9D8B030D-6E8A-4147-A177-3AD203B41FA5}">
                      <a16:colId xmlns:a16="http://schemas.microsoft.com/office/drawing/2014/main" val="1677957413"/>
                    </a:ext>
                  </a:extLst>
                </a:gridCol>
                <a:gridCol w="2812063">
                  <a:extLst>
                    <a:ext uri="{9D8B030D-6E8A-4147-A177-3AD203B41FA5}">
                      <a16:colId xmlns:a16="http://schemas.microsoft.com/office/drawing/2014/main" val="1150208426"/>
                    </a:ext>
                  </a:extLst>
                </a:gridCol>
                <a:gridCol w="3699202">
                  <a:extLst>
                    <a:ext uri="{9D8B030D-6E8A-4147-A177-3AD203B41FA5}">
                      <a16:colId xmlns:a16="http://schemas.microsoft.com/office/drawing/2014/main" val="25634056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기준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좋은 방향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나쁜 신호</a:t>
                      </a:r>
                      <a:endParaRPr lang="ko-KR" sz="36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425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응집도</a:t>
                      </a:r>
                      <a:endParaRPr lang="ko-KR" sz="4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하나의 목적 </a:t>
                      </a:r>
                      <a:r>
                        <a:rPr 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중심</a:t>
                      </a:r>
                      <a:endParaRPr lang="ko-KR" sz="4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관련 없는 기능</a:t>
                      </a:r>
                      <a:r>
                        <a:rPr 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혼합</a:t>
                      </a:r>
                      <a:endParaRPr lang="ko-KR" sz="4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827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결합도</a:t>
                      </a:r>
                      <a:endParaRPr lang="ko-KR" sz="4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안정적인 역할</a:t>
                      </a:r>
                      <a:r>
                        <a:rPr lang="ko-KR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에 의존</a:t>
                      </a:r>
                      <a:endParaRPr lang="ko-KR" sz="4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구체 구현과 내부 표현에 의존</a:t>
                      </a:r>
                      <a:endParaRPr lang="ko-KR" sz="4000" dirty="0">
                        <a:solidFill>
                          <a:srgbClr val="C0000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636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변경</a:t>
                      </a:r>
                      <a:endParaRPr lang="ko-KR" sz="4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수정 지점이 좁음</a:t>
                      </a:r>
                      <a:endParaRPr lang="ko-KR" sz="4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C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한 변경이 여러 파일로 확산</a:t>
                      </a:r>
                      <a:endParaRPr lang="ko-KR" sz="4000" dirty="0">
                        <a:solidFill>
                          <a:srgbClr val="C0000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374514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D912D38-7201-FD54-7C61-68788A956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921964"/>
              </p:ext>
            </p:extLst>
          </p:nvPr>
        </p:nvGraphicFramePr>
        <p:xfrm>
          <a:off x="539749" y="3078041"/>
          <a:ext cx="5904656" cy="1955800"/>
        </p:xfrm>
        <a:graphic>
          <a:graphicData uri="http://schemas.openxmlformats.org/drawingml/2006/table">
            <a:tbl>
              <a:tblPr/>
              <a:tblGrid>
                <a:gridCol w="5904656">
                  <a:extLst>
                    <a:ext uri="{9D8B030D-6E8A-4147-A177-3AD203B41FA5}">
                      <a16:colId xmlns:a16="http://schemas.microsoft.com/office/drawing/2014/main" val="12844177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높은 응집도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</a:t>
                      </a: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관련 상태 + 관련 행위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낮은 결합도</a:t>
                      </a:r>
                      <a:b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</a:t>
                      </a:r>
                      <a:r>
                        <a:rPr lang="ko-KR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공개 인터페이스 + 역할 중심 의존</a:t>
                      </a:r>
                      <a:endParaRPr lang="ko-KR" sz="4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24099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61CB98D-9ADA-CBC9-E675-A478EA06CEFD}"/>
              </a:ext>
            </a:extLst>
          </p:cNvPr>
          <p:cNvSpPr txBox="1"/>
          <p:nvPr/>
        </p:nvSpPr>
        <p:spPr>
          <a:xfrm>
            <a:off x="539749" y="5395792"/>
            <a:ext cx="5904656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절대적인 수치가 아니라 설계를 판단하는 기준</a:t>
            </a:r>
            <a:endParaRPr lang="ko-KR" altLang="en-US" sz="4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5368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AC413-BFD3-09D0-7C66-0D72EFFA9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06C91-3F1B-2537-90AC-8623986CF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9.2.1 </a:t>
            </a:r>
            <a:r>
              <a:rPr lang="ko-KR" altLang="en-US" dirty="0"/>
              <a:t>응집도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5EA99D-0B1C-218C-8804-BE2D28A0C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하나의 목적을 중심으로 상태와 행위가 모이면 응집도가 높음</a:t>
            </a:r>
          </a:p>
          <a:p>
            <a:pPr lvl="0"/>
            <a:r>
              <a:rPr lang="ko-KR" altLang="ko-KR" sz="2400" dirty="0"/>
              <a:t>함수들이 같은 데이터와 같은 규칙을 다룸</a:t>
            </a:r>
          </a:p>
          <a:p>
            <a:pPr lvl="0"/>
            <a:r>
              <a:rPr lang="ko-KR" altLang="ko-KR" sz="2400" dirty="0"/>
              <a:t>클래스 이름과 멤버 목록이 같은 방향을 가져야 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C3702-5A17-17FB-1317-858AADD11D43}"/>
              </a:ext>
            </a:extLst>
          </p:cNvPr>
          <p:cNvSpPr txBox="1"/>
          <p:nvPr/>
        </p:nvSpPr>
        <p:spPr>
          <a:xfrm>
            <a:off x="611560" y="2485002"/>
            <a:ext cx="4572000" cy="2445248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 lIns="216000" tIns="144000" rIns="216000" bIns="144000">
            <a:spAutoFit/>
          </a:bodyPr>
          <a:lstStyle/>
          <a:p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HealthComponent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├─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├─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maxHp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├─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├─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Recover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└─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IsDead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→ 모두 체력 상태와 규칙에 관련</a:t>
            </a:r>
            <a:endParaRPr lang="ko-KR" alt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4364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A9359-5C13-5AF7-8DFC-13CFCA357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9DA42-1E08-8972-C40B-9C8A2EF8F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9.2.2 </a:t>
            </a:r>
            <a:r>
              <a:rPr lang="ko-KR" altLang="en-US" dirty="0"/>
              <a:t>결합도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35EDD-7A20-A319-B4B9-DD2D47ED3B88}"/>
              </a:ext>
            </a:extLst>
          </p:cNvPr>
          <p:cNvSpPr txBox="1"/>
          <p:nvPr/>
        </p:nvSpPr>
        <p:spPr>
          <a:xfrm>
            <a:off x="493316" y="836712"/>
            <a:ext cx="5374828" cy="397031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ICombatLog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Write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message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CombatService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CombatService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3C5DB6A-A6A5-46FC-C041-4B4DFF1B3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061901"/>
              </p:ext>
            </p:extLst>
          </p:nvPr>
        </p:nvGraphicFramePr>
        <p:xfrm>
          <a:off x="4355976" y="3573016"/>
          <a:ext cx="4464496" cy="1651000"/>
        </p:xfrm>
        <a:graphic>
          <a:graphicData uri="http://schemas.openxmlformats.org/drawingml/2006/table">
            <a:tbl>
              <a:tblPr/>
              <a:tblGrid>
                <a:gridCol w="4464496">
                  <a:extLst>
                    <a:ext uri="{9D8B030D-6E8A-4147-A177-3AD203B41FA5}">
                      <a16:colId xmlns:a16="http://schemas.microsoft.com/office/drawing/2014/main" val="40677880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       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CombatService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                   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 ↓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           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ICombatLog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           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↙   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 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 ↓    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↘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ConsoleLog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FileLog</a:t>
                      </a:r>
                      <a:r>
                        <a:rPr lang="en-US" alt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MemoryLog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53733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4A93A01-0040-7C1D-EC91-DC750FF22F15}"/>
              </a:ext>
            </a:extLst>
          </p:cNvPr>
          <p:cNvSpPr txBox="1"/>
          <p:nvPr/>
        </p:nvSpPr>
        <p:spPr>
          <a:xfrm>
            <a:off x="493316" y="5517232"/>
            <a:ext cx="5590852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협력하려면 의존은 필요함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변하기 쉬운 구체 구현보다 안정적인 역할에 의존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6212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C1AE9-1E5D-3627-4869-67107B6EA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05FB7-825D-128D-8B0C-E39A70643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9.2.3 </a:t>
            </a:r>
            <a:r>
              <a:rPr lang="ko-KR" altLang="en-US" dirty="0"/>
              <a:t>변경의 영향 범위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92B6FA-8ADB-1A98-18D4-6C633D5966E0}"/>
              </a:ext>
            </a:extLst>
          </p:cNvPr>
          <p:cNvSpPr txBox="1"/>
          <p:nvPr/>
        </p:nvSpPr>
        <p:spPr>
          <a:xfrm>
            <a:off x="364282" y="764704"/>
            <a:ext cx="6079926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F5DF63-F393-C410-39E5-6A0A80F0BC7F}"/>
              </a:ext>
            </a:extLst>
          </p:cNvPr>
          <p:cNvSpPr txBox="1"/>
          <p:nvPr/>
        </p:nvSpPr>
        <p:spPr>
          <a:xfrm>
            <a:off x="364282" y="2700209"/>
            <a:ext cx="6079926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LevelDamagePolicy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attackPower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attackPower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919AB-C110-B407-BC5B-50A6F88E787C}"/>
              </a:ext>
            </a:extLst>
          </p:cNvPr>
          <p:cNvSpPr txBox="1"/>
          <p:nvPr/>
        </p:nvSpPr>
        <p:spPr>
          <a:xfrm>
            <a:off x="364282" y="1732746"/>
            <a:ext cx="6079926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같은 계산 규칙이 여러 곳에 있으면</a:t>
            </a:r>
            <a:br>
              <a:rPr lang="en-US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공식 변경 시 여러 클래스를 수정해야 함</a:t>
            </a:r>
            <a:endParaRPr lang="ko-KR" alt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5CC929-A1DE-B6C4-2149-5BF408A18E85}"/>
              </a:ext>
            </a:extLst>
          </p:cNvPr>
          <p:cNvSpPr txBox="1"/>
          <p:nvPr/>
        </p:nvSpPr>
        <p:spPr>
          <a:xfrm>
            <a:off x="364282" y="4869160"/>
            <a:ext cx="6079926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설계 품질은 요구 사항이 바뀔 때 드러남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변경 축을 찾아 변경 지점을 줄이는 것이 목표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6218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EBA9B-9FBC-4D24-60A3-89BD90A3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BFBED8-BD1E-5086-5E71-74D2ABBC0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 </a:t>
            </a:r>
            <a:r>
              <a:rPr lang="ko-KR" altLang="en-US" dirty="0"/>
              <a:t>인터페이스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6E7D56-6CAF-7435-7598-CB41B5C0B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인터페이스는 객체가 외부에 제공하는 사용 방법과 계약</a:t>
            </a:r>
          </a:p>
          <a:p>
            <a:pPr lvl="0"/>
            <a:r>
              <a:rPr lang="ko-KR" altLang="ko-KR" sz="2400" dirty="0"/>
              <a:t>C++에서는 공개 멤버 함수, 매개변수, 반환 타입, </a:t>
            </a:r>
            <a:r>
              <a:rPr lang="ko-KR" altLang="ko-KR" sz="2400" dirty="0" err="1"/>
              <a:t>const</a:t>
            </a:r>
            <a:r>
              <a:rPr lang="ko-KR" altLang="ko-KR" sz="2400" dirty="0"/>
              <a:t>, 예외 사양, 소유권 타입이 모두 인터페이스에 포함</a:t>
            </a:r>
          </a:p>
          <a:p>
            <a:pPr lvl="0"/>
            <a:r>
              <a:rPr lang="ko-KR" altLang="ko-KR" sz="2400" dirty="0"/>
              <a:t>좋은 인터페이스는 객체가 무엇을 할 수 있는지 분명히 보여 줌</a:t>
            </a:r>
          </a:p>
          <a:p>
            <a:pPr lvl="0"/>
            <a:r>
              <a:rPr lang="ko-KR" altLang="ko-KR" sz="2400" dirty="0"/>
              <a:t>내부 구현을 변경해도 사용자 코드 영향이 적어야 함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4E92C40-7E5D-F9D3-1B64-50AB1B3EA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915910"/>
              </p:ext>
            </p:extLst>
          </p:nvPr>
        </p:nvGraphicFramePr>
        <p:xfrm>
          <a:off x="539750" y="3140968"/>
          <a:ext cx="4392290" cy="2865120"/>
        </p:xfrm>
        <a:graphic>
          <a:graphicData uri="http://schemas.openxmlformats.org/drawingml/2006/table">
            <a:tbl>
              <a:tblPr/>
              <a:tblGrid>
                <a:gridCol w="1872010">
                  <a:extLst>
                    <a:ext uri="{9D8B030D-6E8A-4147-A177-3AD203B41FA5}">
                      <a16:colId xmlns:a16="http://schemas.microsoft.com/office/drawing/2014/main" val="3811097587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3847191975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인터페이스 요소</a:t>
                      </a:r>
                      <a:endParaRPr lang="ko-KR" sz="18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표현하는 의미</a:t>
                      </a:r>
                      <a:endParaRPr lang="ko-KR" sz="18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85405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 이름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작업의 목적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26902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매개변수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필요한 입력과 의존성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56249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반환 타입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결과와 실패 표현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44958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상태 변경 여부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34366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참조·포인터</a:t>
                      </a:r>
                      <a:br>
                        <a:rPr lang="en-US" alt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스마트 포인터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소유권과 수명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94074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349398C-3C50-173D-6C24-FEBC2CAF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805067"/>
              </p:ext>
            </p:extLst>
          </p:nvPr>
        </p:nvGraphicFramePr>
        <p:xfrm>
          <a:off x="5220072" y="4122088"/>
          <a:ext cx="3168154" cy="1884000"/>
        </p:xfrm>
        <a:graphic>
          <a:graphicData uri="http://schemas.openxmlformats.org/drawingml/2006/table">
            <a:tbl>
              <a:tblPr/>
              <a:tblGrid>
                <a:gridCol w="3168154">
                  <a:extLst>
                    <a:ext uri="{9D8B030D-6E8A-4147-A177-3AD203B41FA5}">
                      <a16:colId xmlns:a16="http://schemas.microsoft.com/office/drawing/2014/main" val="1259065156"/>
                    </a:ext>
                  </a:extLst>
                </a:gridCol>
              </a:tblGrid>
              <a:tr h="144016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좋은 인터페이스</a:t>
                      </a:r>
                      <a:b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 필요한 기능만 공개</a:t>
                      </a:r>
                      <a:b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 실패 표현이 명확</a:t>
                      </a:r>
                      <a:b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 소유권이 드러남</a:t>
                      </a:r>
                      <a:b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- 내부 표현에 의존하지 않음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144000" marT="216000" marB="144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654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3428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4DFC6-CCAA-334F-4753-83615DF10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27FCF-7BA2-A1FF-1D49-09D5DBE9A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9.3.1 </a:t>
            </a:r>
            <a:r>
              <a:rPr lang="ko-KR" altLang="en-US" dirty="0"/>
              <a:t>최소 인터페이스와 </a:t>
            </a:r>
            <a:r>
              <a:rPr lang="ko-KR" altLang="en-US" dirty="0" err="1"/>
              <a:t>불변식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86AC89-9733-AC3A-7761-BBC5609F2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객체 역할 수행에 필요한 기능만 공개</a:t>
            </a:r>
            <a:endParaRPr lang="en-US" altLang="ko-KR" sz="2400" dirty="0"/>
          </a:p>
          <a:p>
            <a:pPr lvl="0"/>
            <a:r>
              <a:rPr lang="ko-KR" altLang="ko-KR" sz="2400" dirty="0"/>
              <a:t>생성자와 공개 멤버 함수는 객체의 </a:t>
            </a:r>
            <a:r>
              <a:rPr lang="ko-KR" altLang="ko-KR" sz="2400" dirty="0" err="1"/>
              <a:t>불변식</a:t>
            </a:r>
            <a:r>
              <a:rPr lang="en-US" altLang="ko-KR" sz="2400" dirty="0"/>
              <a:t>(</a:t>
            </a:r>
            <a:r>
              <a:rPr lang="ko-KR" altLang="en-US" sz="2400" dirty="0"/>
              <a:t>논리적</a:t>
            </a:r>
            <a:r>
              <a:rPr lang="en-US" altLang="ko-KR" sz="2400" dirty="0"/>
              <a:t> </a:t>
            </a:r>
            <a:r>
              <a:rPr lang="ko-KR" altLang="en-US" sz="2400" dirty="0"/>
              <a:t>유효성</a:t>
            </a:r>
            <a:r>
              <a:rPr lang="en-US" altLang="ko-KR" sz="2400" dirty="0"/>
              <a:t>)</a:t>
            </a:r>
            <a:r>
              <a:rPr lang="ko-KR" altLang="ko-KR" sz="2400" dirty="0"/>
              <a:t> 유지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D741C-2449-1C7F-3CC6-F6BAFC51A724}"/>
              </a:ext>
            </a:extLst>
          </p:cNvPr>
          <p:cNvSpPr txBox="1"/>
          <p:nvPr/>
        </p:nvSpPr>
        <p:spPr>
          <a:xfrm>
            <a:off x="539750" y="1718631"/>
            <a:ext cx="3312170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좋지 않은 공개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health.Hp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-500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health.MaxHp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4E9C9B-C12E-07DF-DB4C-85543B45C28D}"/>
              </a:ext>
            </a:extLst>
          </p:cNvPr>
          <p:cNvSpPr txBox="1"/>
          <p:nvPr/>
        </p:nvSpPr>
        <p:spPr>
          <a:xfrm>
            <a:off x="539750" y="3538828"/>
            <a:ext cx="3312170" cy="132343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의미 있는 작업을 공개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Recover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IsDead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7F5D5B-0AA0-433D-1ADB-13FA9E6CD4A7}"/>
              </a:ext>
            </a:extLst>
          </p:cNvPr>
          <p:cNvSpPr txBox="1"/>
          <p:nvPr/>
        </p:nvSpPr>
        <p:spPr>
          <a:xfrm>
            <a:off x="3851920" y="3160610"/>
            <a:ext cx="4896544" cy="280076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불변식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유지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oldHp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clamp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oldHp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8966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270B4-E269-82DF-63D1-A85A0A3A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ABA019-8733-2AC0-B1F1-2B5661054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9.3.3 </a:t>
            </a:r>
            <a:r>
              <a:rPr lang="ko-KR" altLang="en-US" dirty="0"/>
              <a:t>명령과 질의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521631-379D-678A-C8F3-4E806DB1E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명령(</a:t>
            </a:r>
            <a:r>
              <a:rPr lang="ko-KR" altLang="ko-KR" dirty="0" err="1"/>
              <a:t>command</a:t>
            </a:r>
            <a:r>
              <a:rPr lang="ko-KR" altLang="ko-KR" dirty="0"/>
              <a:t>): 객체 상태를 변경하는 작업</a:t>
            </a:r>
          </a:p>
          <a:p>
            <a:pPr lvl="0"/>
            <a:r>
              <a:rPr lang="ko-KR" altLang="ko-KR" dirty="0"/>
              <a:t>질의(</a:t>
            </a:r>
            <a:r>
              <a:rPr lang="ko-KR" altLang="ko-KR" dirty="0" err="1"/>
              <a:t>query</a:t>
            </a:r>
            <a:r>
              <a:rPr lang="ko-KR" altLang="ko-KR" dirty="0"/>
              <a:t>): 상태를 관찰하여 값을 반환하는 작업</a:t>
            </a:r>
          </a:p>
          <a:p>
            <a:pPr lvl="0"/>
            <a:r>
              <a:rPr lang="ko-KR" altLang="ko-KR" dirty="0"/>
              <a:t>함수 이름만 보고 상태 변경 여부를 예측할 수 있어야 함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374A28-8E1D-5447-A9FC-7EF63BE1FAAD}"/>
              </a:ext>
            </a:extLst>
          </p:cNvPr>
          <p:cNvSpPr txBox="1"/>
          <p:nvPr/>
        </p:nvSpPr>
        <p:spPr>
          <a:xfrm>
            <a:off x="539750" y="2720821"/>
            <a:ext cx="5328394" cy="2308324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        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명령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RemoveItem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     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명령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Contains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질의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size_t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GetItemCount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질의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++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조회처럼 보이지만 상태 변경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46C1DD-7BD7-A8FD-B11E-7082786C0532}"/>
              </a:ext>
            </a:extLst>
          </p:cNvPr>
          <p:cNvSpPr txBox="1"/>
          <p:nvPr/>
        </p:nvSpPr>
        <p:spPr>
          <a:xfrm>
            <a:off x="2810247" y="4829090"/>
            <a:ext cx="5328394" cy="400110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조회 함수가 숨은 부작용을 만들지 않도록 설계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8021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ACA19-F28B-D324-2160-9B0F90C74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03D7A-0F90-1F7E-D694-A4C9F382C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9.3.4 </a:t>
            </a:r>
            <a:r>
              <a:rPr lang="ko-KR" altLang="en-US" dirty="0"/>
              <a:t>오류와 실패의 표현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B6390DF9-D575-3CC5-97BD-3138F169C0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3402564"/>
              </p:ext>
            </p:extLst>
          </p:nvPr>
        </p:nvGraphicFramePr>
        <p:xfrm>
          <a:off x="550044" y="908720"/>
          <a:ext cx="7334324" cy="2213480"/>
        </p:xfrm>
        <a:graphic>
          <a:graphicData uri="http://schemas.openxmlformats.org/drawingml/2006/table">
            <a:tbl>
              <a:tblPr/>
              <a:tblGrid>
                <a:gridCol w="3373884">
                  <a:extLst>
                    <a:ext uri="{9D8B030D-6E8A-4147-A177-3AD203B41FA5}">
                      <a16:colId xmlns:a16="http://schemas.microsoft.com/office/drawing/2014/main" val="4102913750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1417768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상황</a:t>
                      </a:r>
                      <a:endParaRPr lang="ko-KR" sz="18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표현 방법</a:t>
                      </a:r>
                      <a:endParaRPr lang="ko-KR" sz="18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242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값이 없을 수 있음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optional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012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여러 실패 이유 구분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결과 열거형 또는 결과 객체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19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유효한 객체 생성 불가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예외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258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호출자가 지켜야 하는 조건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전제 조건 문서화와 검증</a:t>
                      </a:r>
                      <a:endParaRPr lang="ko-KR" sz="20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3612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AC9717E-7B7D-E2C9-1330-C9695448AAEB}"/>
              </a:ext>
            </a:extLst>
          </p:cNvPr>
          <p:cNvSpPr txBox="1"/>
          <p:nvPr/>
        </p:nvSpPr>
        <p:spPr>
          <a:xfrm>
            <a:off x="539750" y="3266888"/>
            <a:ext cx="7344618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값이 존재할 수도, 없을 수도 있는 상태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를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표현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탐색 실패 시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nullptr나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임의의 매직 넘버(예: -1)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를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반환하던 관행을 대체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97DFFB-7597-A2C8-5361-CDD2B431F820}"/>
              </a:ext>
            </a:extLst>
          </p:cNvPr>
          <p:cNvSpPr txBox="1"/>
          <p:nvPr/>
        </p:nvSpPr>
        <p:spPr>
          <a:xfrm>
            <a:off x="539750" y="4012783"/>
            <a:ext cx="4572000" cy="255454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optional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FindById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(item.id ==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nullopt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8AE689-CAF5-2E75-3108-57735AE0F0AE}"/>
              </a:ext>
            </a:extLst>
          </p:cNvPr>
          <p:cNvSpPr txBox="1"/>
          <p:nvPr/>
        </p:nvSpPr>
        <p:spPr>
          <a:xfrm>
            <a:off x="4212059" y="5013176"/>
            <a:ext cx="4572000" cy="1077218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en-US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inventory.FindById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5350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425B1-23C2-95F9-9F56-AC344F8A4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99A00-8087-52A0-D98B-BC78543E1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9.3.5 </a:t>
            </a:r>
            <a:r>
              <a:rPr lang="ko-KR" altLang="en-US" dirty="0"/>
              <a:t>소유권과 수명의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B87947-916C-6C04-EB21-09D5FA724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C++ 인터페이스는 타입으로 소유권과 수명 관계를 표현</a:t>
            </a:r>
          </a:p>
          <a:p>
            <a:pPr lvl="0"/>
            <a:r>
              <a:rPr lang="ko-KR" altLang="ko-KR" sz="2400" dirty="0"/>
              <a:t>소유권을 숨기지 않으면 객체 파괴 책임이 분명해짐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AB48BA9-029B-0DBA-F885-6148D98BA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642797"/>
              </p:ext>
            </p:extLst>
          </p:nvPr>
        </p:nvGraphicFramePr>
        <p:xfrm>
          <a:off x="539750" y="1844824"/>
          <a:ext cx="7001743" cy="2662272"/>
        </p:xfrm>
        <a:graphic>
          <a:graphicData uri="http://schemas.openxmlformats.org/drawingml/2006/table">
            <a:tbl>
              <a:tblPr/>
              <a:tblGrid>
                <a:gridCol w="3564236">
                  <a:extLst>
                    <a:ext uri="{9D8B030D-6E8A-4147-A177-3AD203B41FA5}">
                      <a16:colId xmlns:a16="http://schemas.microsoft.com/office/drawing/2014/main" val="4029395682"/>
                    </a:ext>
                  </a:extLst>
                </a:gridCol>
                <a:gridCol w="3437507">
                  <a:extLst>
                    <a:ext uri="{9D8B030D-6E8A-4147-A177-3AD203B41FA5}">
                      <a16:colId xmlns:a16="http://schemas.microsoft.com/office/drawing/2014/main" val="36844490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선언</a:t>
                      </a:r>
                      <a:endParaRPr lang="ko-KR" sz="3200" b="1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3200" b="1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815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const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&amp;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읽기 전용, 소유권 없음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889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*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null</a:t>
                      </a: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가능, 일반적으로 </a:t>
                      </a:r>
                      <a:r>
                        <a:rPr lang="ko-KR" sz="2000" b="0" i="0" u="none" strike="noStrike" dirty="0" err="1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비소유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928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 반환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고유 소유권 전달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50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 매개변수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소유권 이전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32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shared_ptr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7030A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공유 소유권</a:t>
                      </a:r>
                      <a:endParaRPr lang="ko-KR" sz="3600" dirty="0">
                        <a:solidFill>
                          <a:srgbClr val="7030A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649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1856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7F2A43A-3F82-9AF0-FD69-BCD040DE1B11}"/>
              </a:ext>
            </a:extLst>
          </p:cNvPr>
          <p:cNvSpPr txBox="1"/>
          <p:nvPr/>
        </p:nvSpPr>
        <p:spPr>
          <a:xfrm>
            <a:off x="522585" y="4625841"/>
            <a:ext cx="7001743" cy="1323439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(GameObject*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&lt;GameObject&gt;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CreateObject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&lt;GameObject&gt;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shared_ptr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LoadSharedResource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7751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59993-427B-83F6-C03C-48BE545C0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CE9D6D-B3D8-A6D1-2E5A-F9C60847D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9.4 </a:t>
            </a:r>
            <a:r>
              <a:rPr lang="ko-KR" altLang="en-US" dirty="0"/>
              <a:t>단일 책임 원칙</a:t>
            </a:r>
            <a:r>
              <a:rPr lang="en-US" altLang="ko-KR" dirty="0"/>
              <a:t>(SRP)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604BF-972D-A407-B14B-DD43FC984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 err="1"/>
              <a:t>Single</a:t>
            </a:r>
            <a:r>
              <a:rPr lang="ko-KR" altLang="ko-KR" dirty="0"/>
              <a:t> </a:t>
            </a:r>
            <a:r>
              <a:rPr lang="ko-KR" altLang="ko-KR" dirty="0" err="1"/>
              <a:t>Responsibility</a:t>
            </a:r>
            <a:r>
              <a:rPr lang="ko-KR" altLang="ko-KR" dirty="0"/>
              <a:t> </a:t>
            </a:r>
            <a:r>
              <a:rPr lang="ko-KR" altLang="ko-KR" dirty="0" err="1"/>
              <a:t>Principle</a:t>
            </a:r>
            <a:endParaRPr lang="ko-KR" altLang="ko-KR" dirty="0"/>
          </a:p>
          <a:p>
            <a:pPr lvl="1"/>
            <a:r>
              <a:rPr lang="ko-KR" altLang="ko-KR" dirty="0"/>
              <a:t>클래스가 하나의 변경 이유를 가지도록 설계</a:t>
            </a:r>
          </a:p>
          <a:p>
            <a:pPr lvl="1"/>
            <a:r>
              <a:rPr lang="ko-KR" altLang="ko-KR" dirty="0"/>
              <a:t>함수 하나만 가져야 한다는 뜻이 아님</a:t>
            </a:r>
          </a:p>
          <a:p>
            <a:pPr lvl="1"/>
            <a:r>
              <a:rPr lang="ko-KR" altLang="ko-KR" dirty="0"/>
              <a:t>서로 다른 이유로 변경되는 기능이 한 클래스에 모이면 수정 범위가 넓어짐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0970B55-444F-8880-055F-BAD5451B9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639412"/>
              </p:ext>
            </p:extLst>
          </p:nvPr>
        </p:nvGraphicFramePr>
        <p:xfrm>
          <a:off x="4427984" y="3608387"/>
          <a:ext cx="4320480" cy="2077720"/>
        </p:xfrm>
        <a:graphic>
          <a:graphicData uri="http://schemas.openxmlformats.org/drawingml/2006/table">
            <a:tbl>
              <a:tblPr/>
              <a:tblGrid>
                <a:gridCol w="4320480">
                  <a:extLst>
                    <a:ext uri="{9D8B030D-6E8A-4147-A177-3AD203B41FA5}">
                      <a16:colId xmlns:a16="http://schemas.microsoft.com/office/drawing/2014/main" val="40403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Player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├─ 전투 규칙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├─ UI 출력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├─ 저장 형식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├─ 네트워크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└─ 사운드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</a:br>
                      <a:endParaRPr lang="en-US" altLang="ko-KR" sz="1600" b="1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rtl="0" fontAlgn="t"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→ 서로 다른 변경 이유가 한 클래스에 집중</a:t>
                      </a:r>
                      <a:endParaRPr lang="ko-KR" sz="28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84137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6F351CC-A188-5303-BE23-6D8C7A6F63D5}"/>
              </a:ext>
            </a:extLst>
          </p:cNvPr>
          <p:cNvSpPr txBox="1"/>
          <p:nvPr/>
        </p:nvSpPr>
        <p:spPr>
          <a:xfrm>
            <a:off x="539750" y="3212976"/>
            <a:ext cx="3816226" cy="2800767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DrawStatusPanel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SaveAsJson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SendToServer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PlayAttackSound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7588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B4E67-EEDB-B85D-0CE8-3C1A1B0F9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E029E-8029-A9C1-089D-56DEB11AB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9.4.1 </a:t>
            </a:r>
            <a:r>
              <a:rPr lang="ko-KR" altLang="en-US" dirty="0"/>
              <a:t>변경 이유와 책임 분리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6A774B-2ED2-5E56-5E76-71177B9B1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클래스가 누구의 요구에 의해 바뀌는지 확인</a:t>
            </a:r>
          </a:p>
          <a:p>
            <a:pPr lvl="0"/>
            <a:r>
              <a:rPr lang="ko-KR" altLang="ko-KR" sz="2400" dirty="0"/>
              <a:t>전투, UI, 저장, 사운드, 네트워크는 서로 다른 변경 축</a:t>
            </a:r>
          </a:p>
          <a:p>
            <a:pPr lvl="0"/>
            <a:r>
              <a:rPr lang="ko-KR" altLang="ko-KR" sz="2400" dirty="0"/>
              <a:t>변경 이유별로 책임을 분리하면 충돌과 회귀 오류 감소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CE0E0-4F18-CEEC-81CC-76E4A837B427}"/>
              </a:ext>
            </a:extLst>
          </p:cNvPr>
          <p:cNvSpPr txBox="1"/>
          <p:nvPr/>
        </p:nvSpPr>
        <p:spPr>
          <a:xfrm>
            <a:off x="508546" y="2204864"/>
            <a:ext cx="4207470" cy="440120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IDamageable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PlayerStatusView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Draw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IPlayerRepository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IPlayerRepository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7820814-137D-6081-F073-BBF4611E79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331227"/>
              </p:ext>
            </p:extLst>
          </p:nvPr>
        </p:nvGraphicFramePr>
        <p:xfrm>
          <a:off x="4228306" y="3980195"/>
          <a:ext cx="4824536" cy="1346200"/>
        </p:xfrm>
        <a:graphic>
          <a:graphicData uri="http://schemas.openxmlformats.org/drawingml/2006/table">
            <a:tbl>
              <a:tblPr/>
              <a:tblGrid>
                <a:gridCol w="4824536">
                  <a:extLst>
                    <a:ext uri="{9D8B030D-6E8A-4147-A177-3AD203B41FA5}">
                      <a16:colId xmlns:a16="http://schemas.microsoft.com/office/drawing/2014/main" val="18366643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spc="-150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20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            → 게임 상태와 전투 규칙</a:t>
                      </a:r>
                      <a:br>
                        <a:rPr lang="ko-KR" sz="20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spc="-150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PlayerStatusView</a:t>
                      </a:r>
                      <a:r>
                        <a:rPr lang="ko-KR" sz="20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  → 표시</a:t>
                      </a:r>
                      <a:br>
                        <a:rPr lang="ko-KR" sz="20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spc="-150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Repository</a:t>
                      </a:r>
                      <a:r>
                        <a:rPr lang="ko-KR" sz="20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        → 저장 방식</a:t>
                      </a:r>
                      <a:br>
                        <a:rPr lang="ko-KR" sz="20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spc="-150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AudioService</a:t>
                      </a:r>
                      <a:r>
                        <a:rPr lang="ko-KR" sz="20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      → 사운드 출력</a:t>
                      </a:r>
                      <a:endParaRPr lang="ko-KR" sz="2000" b="1" spc="-150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506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05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C4BB1-682C-F488-5A7E-5ECD02170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6FBF5-DFD9-1E0A-62BB-AE7CAC0A8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9.4.3 </a:t>
            </a:r>
            <a:r>
              <a:rPr lang="ko-KR" altLang="en-US" dirty="0"/>
              <a:t>단일 책임의 범위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5895A1-0AB6-4DC9-9F99-F1905B8C2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SRP를</a:t>
            </a:r>
            <a:r>
              <a:rPr lang="ko-KR" altLang="ko-KR" sz="2400" dirty="0"/>
              <a:t> 지나치게 적용하면 불필요한 클래스가 늘어남</a:t>
            </a:r>
          </a:p>
          <a:p>
            <a:pPr lvl="0"/>
            <a:r>
              <a:rPr lang="ko-KR" altLang="ko-KR" sz="2400" dirty="0"/>
              <a:t>변경 빈도, 재사용, 시험 요구에 따라 분리 범위를 결정</a:t>
            </a:r>
            <a:endParaRPr lang="en-US" altLang="ko-KR" sz="2400" dirty="0"/>
          </a:p>
          <a:p>
            <a:r>
              <a:rPr lang="ko-KR" altLang="ko-KR" sz="2400" dirty="0"/>
              <a:t>피해, 회복, 사망 판정은 모두 체력 규칙이라는</a:t>
            </a:r>
            <a:br>
              <a:rPr lang="en-US" altLang="ko-KR" sz="2400" dirty="0"/>
            </a:br>
            <a:r>
              <a:rPr lang="ko-KR" altLang="ko-KR" sz="2400" dirty="0"/>
              <a:t>하나의 책임으로 볼 수 있음</a:t>
            </a:r>
          </a:p>
          <a:p>
            <a:pPr lvl="0"/>
            <a:endParaRPr lang="ko-KR" altLang="ko-KR" sz="2400" dirty="0"/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741B4B3-116F-42A4-7E80-A057EED36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104937"/>
              </p:ext>
            </p:extLst>
          </p:nvPr>
        </p:nvGraphicFramePr>
        <p:xfrm>
          <a:off x="683568" y="2778760"/>
          <a:ext cx="5472608" cy="1955800"/>
        </p:xfrm>
        <a:graphic>
          <a:graphicData uri="http://schemas.openxmlformats.org/drawingml/2006/table">
            <a:tbl>
              <a:tblPr/>
              <a:tblGrid>
                <a:gridCol w="5472608">
                  <a:extLst>
                    <a:ext uri="{9D8B030D-6E8A-4147-A177-3AD203B41FA5}">
                      <a16:colId xmlns:a16="http://schemas.microsoft.com/office/drawing/2014/main" val="15544394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분리</a:t>
                      </a:r>
                      <a: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할 것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   </a:t>
                      </a:r>
                      <a:r>
                        <a:rPr lang="ko-KR" alt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→ </a:t>
                      </a: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독립적으로 변경되는 책임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묶을 것</a:t>
                      </a:r>
                      <a:br>
                        <a:rPr 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en-US" altLang="ko-KR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altLang="en-US" sz="24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→ </a:t>
                      </a:r>
                      <a:r>
                        <a:rPr lang="ko-KR" sz="24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항상 함께 변경되는 상태와 규칙</a:t>
                      </a:r>
                      <a:endParaRPr lang="ko-KR" sz="24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8209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BD37C09-305B-BC70-E334-AE8C781A8201}"/>
              </a:ext>
            </a:extLst>
          </p:cNvPr>
          <p:cNvSpPr txBox="1"/>
          <p:nvPr/>
        </p:nvSpPr>
        <p:spPr>
          <a:xfrm>
            <a:off x="683568" y="4906010"/>
            <a:ext cx="5472608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206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가장 작은 클래스를 만드는 원칙이 아님</a:t>
            </a:r>
            <a:endParaRPr lang="ko-KR" altLang="ko-KR" sz="2800" b="0" i="0" u="none" strike="noStrike" dirty="0">
              <a:solidFill>
                <a:srgbClr val="002060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31882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6530A-E71C-B08B-99AC-077FE6331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EFB91-B910-CB65-0C6E-3FAD8D60E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9.5 </a:t>
            </a:r>
            <a:r>
              <a:rPr lang="ko-KR" altLang="en-US" dirty="0"/>
              <a:t>개방</a:t>
            </a:r>
            <a:r>
              <a:rPr lang="en-US" altLang="ko-KR" dirty="0"/>
              <a:t>-</a:t>
            </a:r>
            <a:r>
              <a:rPr lang="ko-KR" altLang="en-US" dirty="0"/>
              <a:t>폐쇄 원칙</a:t>
            </a:r>
            <a:r>
              <a:rPr lang="en-US" altLang="ko-KR" dirty="0"/>
              <a:t>(OCP)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B9BEF5-702F-533A-1A0A-806BD51BA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 err="1"/>
              <a:t>Open-Closed</a:t>
            </a:r>
            <a:r>
              <a:rPr lang="ko-KR" altLang="ko-KR" dirty="0"/>
              <a:t> </a:t>
            </a:r>
            <a:r>
              <a:rPr lang="ko-KR" altLang="ko-KR" dirty="0" err="1"/>
              <a:t>Principle</a:t>
            </a:r>
            <a:endParaRPr lang="ko-KR" altLang="ko-KR" dirty="0"/>
          </a:p>
          <a:p>
            <a:pPr lvl="1"/>
            <a:r>
              <a:rPr lang="ko-KR" altLang="ko-KR" dirty="0"/>
              <a:t>확장에는 열려 있고</a:t>
            </a:r>
            <a:r>
              <a:rPr lang="en-US" altLang="ko-KR" dirty="0"/>
              <a:t>,</a:t>
            </a:r>
            <a:r>
              <a:rPr lang="ko-KR" altLang="ko-KR" dirty="0"/>
              <a:t> 기존 코드 변경에는 닫혀 있는 구조 지향</a:t>
            </a:r>
          </a:p>
          <a:p>
            <a:pPr lvl="1"/>
            <a:r>
              <a:rPr lang="ko-KR" altLang="ko-KR" dirty="0"/>
              <a:t>반복해서 변하는 지점을 안정적인 인터페이스와 교체 가능한 구현으로 분리</a:t>
            </a:r>
            <a:endParaRPr lang="en-US" altLang="ko-KR" dirty="0"/>
          </a:p>
          <a:p>
            <a:pPr lvl="1"/>
            <a:r>
              <a:rPr lang="ko-KR" altLang="ko-KR" dirty="0"/>
              <a:t>기존 코드를 절대로 수정하지 말라는 뜻은 아님</a:t>
            </a:r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FB37D0-6B0F-7C85-812C-7ECEC065E6B4}"/>
              </a:ext>
            </a:extLst>
          </p:cNvPr>
          <p:cNvSpPr txBox="1"/>
          <p:nvPr/>
        </p:nvSpPr>
        <p:spPr>
          <a:xfrm>
            <a:off x="539750" y="3027898"/>
            <a:ext cx="4176266" cy="3323987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switch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attackType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AttackType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Melee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strength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*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2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AttackType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Ranged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dexterity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arrowPower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C30E5BC-C1FC-0F64-8F82-F9A615FCA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808763"/>
              </p:ext>
            </p:extLst>
          </p:nvPr>
        </p:nvGraphicFramePr>
        <p:xfrm>
          <a:off x="4791521" y="3501008"/>
          <a:ext cx="2412775" cy="2482560"/>
        </p:xfrm>
        <a:graphic>
          <a:graphicData uri="http://schemas.openxmlformats.org/drawingml/2006/table">
            <a:tbl>
              <a:tblPr/>
              <a:tblGrid>
                <a:gridCol w="2412775">
                  <a:extLst>
                    <a:ext uri="{9D8B030D-6E8A-4147-A177-3AD203B41FA5}">
                      <a16:colId xmlns:a16="http://schemas.microsoft.com/office/drawing/2014/main" val="3100536245"/>
                    </a:ext>
                  </a:extLst>
                </a:gridCol>
              </a:tblGrid>
              <a:tr h="161876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새 공격 방식 추가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기존 </a:t>
                      </a:r>
                      <a:r>
                        <a:rPr lang="ko-KR" sz="1600" b="0" i="0" u="none" strike="noStrike" dirty="0" err="1">
                          <a:solidFill>
                            <a:srgbClr val="A626A4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switch</a:t>
                      </a: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수정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기존 코드 변경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새 구현 클래스 추가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  ↓</a:t>
                      </a:r>
                      <a:b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안정된 코드 영향 감소</a:t>
                      </a:r>
                      <a:endParaRPr lang="ko-KR" sz="1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6390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4208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6585F-3C40-21F9-66EA-2737B3853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8CB40B-3967-EABA-44F1-266C480D9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9.5.1 </a:t>
            </a:r>
            <a:r>
              <a:rPr lang="ko-KR" altLang="en-US" dirty="0"/>
              <a:t>반복되는 조건문의 문제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89FAE-B8CD-1A45-E5B4-E4E99865A392}"/>
              </a:ext>
            </a:extLst>
          </p:cNvPr>
          <p:cNvSpPr txBox="1"/>
          <p:nvPr/>
        </p:nvSpPr>
        <p:spPr>
          <a:xfrm>
            <a:off x="539750" y="1052736"/>
            <a:ext cx="5760442" cy="2554545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switch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attackType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AttackType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Melee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근접 공격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break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AttackType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Ranged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원거리 공격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break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4D12E-01FE-6E36-1B6E-D54D698C78C3}"/>
              </a:ext>
            </a:extLst>
          </p:cNvPr>
          <p:cNvSpPr txBox="1"/>
          <p:nvPr/>
        </p:nvSpPr>
        <p:spPr>
          <a:xfrm>
            <a:off x="539750" y="3901782"/>
            <a:ext cx="5760442" cy="707886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조건문 자체가 문제는 아님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같은 종류의 분기가 여러 곳에 반복되는 것이 문제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DF5780-4B39-9F71-9B08-0BBDA8D92FB8}"/>
              </a:ext>
            </a:extLst>
          </p:cNvPr>
          <p:cNvSpPr txBox="1"/>
          <p:nvPr/>
        </p:nvSpPr>
        <p:spPr>
          <a:xfrm>
            <a:off x="539750" y="4685074"/>
            <a:ext cx="5760442" cy="400110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새 종류 추가 시 여러 분기를 동시에 수정해야 함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92F0A7C-3F1F-3554-4389-E1D83BF88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682756"/>
              </p:ext>
            </p:extLst>
          </p:nvPr>
        </p:nvGraphicFramePr>
        <p:xfrm>
          <a:off x="6516216" y="3607281"/>
          <a:ext cx="1944216" cy="1535176"/>
        </p:xfrm>
        <a:graphic>
          <a:graphicData uri="http://schemas.openxmlformats.org/drawingml/2006/table">
            <a:tbl>
              <a:tblPr/>
              <a:tblGrid>
                <a:gridCol w="1944216">
                  <a:extLst>
                    <a:ext uri="{9D8B030D-6E8A-4147-A177-3AD203B41FA5}">
                      <a16:colId xmlns:a16="http://schemas.microsoft.com/office/drawing/2014/main" val="25711371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2000"/>
                        </a:lnSpc>
                        <a:buNone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공격 방식 지식</a:t>
                      </a:r>
                      <a:br>
                        <a:rPr lang="ko-KR" sz="20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피해 계산</a:t>
                      </a:r>
                      <a:br>
                        <a:rPr lang="ko-KR" sz="20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사운드</a:t>
                      </a:r>
                      <a:br>
                        <a:rPr lang="ko-KR" sz="20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아이콘</a:t>
                      </a:r>
                      <a:br>
                        <a:rPr lang="ko-KR" sz="20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└─ 설명 문구</a:t>
                      </a:r>
                      <a:endParaRPr lang="ko-KR" sz="3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437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814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8A2DF-817F-D25C-5753-2CB3EAB57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60327-282E-CB1B-5D0E-1B1F98972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9.5.3 </a:t>
            </a:r>
            <a:r>
              <a:rPr lang="ko-KR" altLang="en-US" dirty="0"/>
              <a:t>추상화와 확장 지점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945B96-56CD-28FF-5492-2FD3262CC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여러 구현이 필요하거나 변화 가능성이 높은 지점에 공통 계약 정의</a:t>
            </a:r>
            <a:endParaRPr lang="en-US" altLang="ko-KR" sz="2400" dirty="0"/>
          </a:p>
          <a:p>
            <a:r>
              <a:rPr lang="ko-KR" altLang="ko-KR" sz="2400" dirty="0"/>
              <a:t>모든 클래스에 인터페이스를 만드는 것이 추상화의 목적은 아님</a:t>
            </a:r>
          </a:p>
          <a:p>
            <a:pPr lvl="0"/>
            <a:endParaRPr lang="ko-KR" altLang="ko-KR" sz="2400" dirty="0"/>
          </a:p>
          <a:p>
            <a:endParaRPr lang="ko-KR" alt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B7DCD7-AE93-ED95-AC0C-5F8F589271B8}"/>
              </a:ext>
            </a:extLst>
          </p:cNvPr>
          <p:cNvSpPr txBox="1"/>
          <p:nvPr/>
        </p:nvSpPr>
        <p:spPr>
          <a:xfrm>
            <a:off x="539750" y="1772816"/>
            <a:ext cx="5544418" cy="329320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IAttackBehavior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IAttackBehavior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MeleeAttack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IAttackBehavior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E2F9EA-6F05-23AE-8670-4E482D398FAE}"/>
              </a:ext>
            </a:extLst>
          </p:cNvPr>
          <p:cNvSpPr txBox="1"/>
          <p:nvPr/>
        </p:nvSpPr>
        <p:spPr>
          <a:xfrm>
            <a:off x="539750" y="5322694"/>
            <a:ext cx="5544418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새로운 공격은 새 구현 클래스로 추가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4529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ADA92-31A6-DF1E-52BD-D15B7006A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13B9D-9770-CDC6-61C6-838F69A6D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9.5.3 Player</a:t>
            </a:r>
            <a:r>
              <a:rPr lang="ko-KR" altLang="en-US" dirty="0"/>
              <a:t>와 공격 행동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4B8819-DDE5-59E7-D9FB-A51726C84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Player는</a:t>
            </a:r>
            <a:r>
              <a:rPr lang="ko-KR" altLang="ko-KR" sz="2400" dirty="0"/>
              <a:t> 공격 행동을 고유 소유</a:t>
            </a:r>
          </a:p>
          <a:p>
            <a:pPr lvl="0"/>
            <a:r>
              <a:rPr lang="ko-KR" altLang="ko-KR" sz="2400" dirty="0"/>
              <a:t>실행 중 다른 공격 행동으로 교체 가능</a:t>
            </a:r>
          </a:p>
          <a:p>
            <a:pPr lvl="0"/>
            <a:r>
              <a:rPr lang="ko-KR" altLang="ko-KR" sz="2400" dirty="0"/>
              <a:t>공격 종류 추가가 </a:t>
            </a:r>
            <a:r>
              <a:rPr lang="ko-KR" altLang="ko-KR" sz="2400" dirty="0" err="1"/>
              <a:t>Player의</a:t>
            </a:r>
            <a:r>
              <a:rPr lang="ko-KR" altLang="ko-KR" sz="2400" dirty="0"/>
              <a:t> 분기 증가로 이어지지 않음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E7216-0207-86B6-1CA1-96891EF6BBEA}"/>
              </a:ext>
            </a:extLst>
          </p:cNvPr>
          <p:cNvSpPr txBox="1"/>
          <p:nvPr/>
        </p:nvSpPr>
        <p:spPr>
          <a:xfrm>
            <a:off x="544314" y="2420888"/>
            <a:ext cx="7052022" cy="403187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IAttackBehavior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attackBehavior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attackBehavior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attackBehavior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attackBehavior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CalculateDamage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IAttackBehavior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attackBehavior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7918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E537C-BEEE-564B-E412-0119813DA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1E1CD3-00FE-868F-533E-9F2799C3E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9.5.4 </a:t>
            </a:r>
            <a:r>
              <a:rPr lang="ko-KR" altLang="en-US" dirty="0"/>
              <a:t>상속과 구성을 통한 확장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C1F383-6159-0E54-9726-65B6E886B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타입의 종류를 표현할 때는 상속 검토</a:t>
            </a:r>
          </a:p>
          <a:p>
            <a:pPr lvl="0"/>
            <a:r>
              <a:rPr lang="ko-KR" altLang="ko-KR" sz="2400" dirty="0"/>
              <a:t>교체 가능한 기능과 정책은 구성 우선 검토</a:t>
            </a:r>
          </a:p>
          <a:p>
            <a:endParaRPr lang="ko-KR" altLang="en-US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F6A06B3-F555-A845-8C2E-02224F9688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968327"/>
              </p:ext>
            </p:extLst>
          </p:nvPr>
        </p:nvGraphicFramePr>
        <p:xfrm>
          <a:off x="467544" y="1988840"/>
          <a:ext cx="3384376" cy="2115820"/>
        </p:xfrm>
        <a:graphic>
          <a:graphicData uri="http://schemas.openxmlformats.org/drawingml/2006/table">
            <a:tbl>
              <a:tblPr/>
              <a:tblGrid>
                <a:gridCol w="3384376">
                  <a:extLst>
                    <a:ext uri="{9D8B030D-6E8A-4147-A177-3AD203B41FA5}">
                      <a16:colId xmlns:a16="http://schemas.microsoft.com/office/drawing/2014/main" val="33420564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상속만 사용</a:t>
                      </a:r>
                      <a:endParaRPr lang="en-US" altLang="ko-KR" sz="2000" b="1" i="0" u="none" strike="noStrike" dirty="0">
                        <a:solidFill>
                          <a:srgbClr val="383A4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Pretendard ExtraBold" panose="02000903000000020004" pitchFamily="50" charset="-127"/>
                      </a:endParaRPr>
                    </a:p>
                    <a:p>
                      <a:pPr rtl="0" fontAlgn="t">
                        <a:buNone/>
                      </a:pPr>
                      <a:br>
                        <a:rPr lang="ko-KR" sz="105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Player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MeleePlayer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RangedPlayer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MagicPlayer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└─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PoisonPlayer</a:t>
                      </a:r>
                      <a:endParaRPr lang="ko-KR" sz="2000" b="1" dirty="0">
                        <a:effectLst/>
                        <a:latin typeface="Consolas" panose="020B0609020204030204" pitchFamily="49" charset="0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66846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61791E1-1A39-E0D6-7308-AD8954762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13163"/>
              </p:ext>
            </p:extLst>
          </p:nvPr>
        </p:nvGraphicFramePr>
        <p:xfrm>
          <a:off x="4139952" y="3993108"/>
          <a:ext cx="4536504" cy="431800"/>
        </p:xfrm>
        <a:graphic>
          <a:graphicData uri="http://schemas.openxmlformats.org/drawingml/2006/table">
            <a:tbl>
              <a:tblPr/>
              <a:tblGrid>
                <a:gridCol w="4536504">
                  <a:extLst>
                    <a:ext uri="{9D8B030D-6E8A-4147-A177-3AD203B41FA5}">
                      <a16:colId xmlns:a16="http://schemas.microsoft.com/office/drawing/2014/main" val="10137297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spc="-150" dirty="0">
                          <a:solidFill>
                            <a:srgbClr val="383A42"/>
                          </a:solidFill>
                          <a:effectLst/>
                          <a:latin typeface="+mn-ea"/>
                          <a:ea typeface="+mn-ea"/>
                        </a:rPr>
                        <a:t>공격 + 방어 조합</a:t>
                      </a:r>
                      <a:r>
                        <a:rPr lang="en-US" altLang="ko-KR" sz="2000" b="0" i="0" u="none" strike="noStrike" spc="-150" dirty="0">
                          <a:solidFill>
                            <a:srgbClr val="383A42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2000" b="0" i="0" u="none" strike="noStrike" spc="-150" dirty="0">
                          <a:solidFill>
                            <a:srgbClr val="383A42"/>
                          </a:solidFill>
                          <a:effectLst/>
                          <a:latin typeface="+mn-ea"/>
                          <a:ea typeface="+mn-ea"/>
                        </a:rPr>
                        <a:t>→ 파생 타입 수 </a:t>
                      </a:r>
                      <a:r>
                        <a:rPr lang="ko-KR" altLang="en-US" sz="2000" b="0" i="0" u="none" strike="noStrike" spc="-150" dirty="0">
                          <a:solidFill>
                            <a:srgbClr val="383A42"/>
                          </a:solidFill>
                          <a:effectLst/>
                          <a:latin typeface="+mn-ea"/>
                          <a:ea typeface="+mn-ea"/>
                        </a:rPr>
                        <a:t>폭발적 </a:t>
                      </a:r>
                      <a:r>
                        <a:rPr lang="ko-KR" sz="2000" b="0" i="0" u="none" strike="noStrike" spc="-150" dirty="0">
                          <a:solidFill>
                            <a:srgbClr val="383A42"/>
                          </a:solidFill>
                          <a:effectLst/>
                          <a:latin typeface="+mn-ea"/>
                          <a:ea typeface="+mn-ea"/>
                        </a:rPr>
                        <a:t>증가</a:t>
                      </a:r>
                      <a:endParaRPr lang="ko-KR" sz="2000" b="0" spc="-15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84259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0E8F12D-F2C0-39AB-6E04-20610D321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94187"/>
              </p:ext>
            </p:extLst>
          </p:nvPr>
        </p:nvGraphicFramePr>
        <p:xfrm>
          <a:off x="467544" y="4365104"/>
          <a:ext cx="3401963" cy="1506220"/>
        </p:xfrm>
        <a:graphic>
          <a:graphicData uri="http://schemas.openxmlformats.org/drawingml/2006/table">
            <a:tbl>
              <a:tblPr/>
              <a:tblGrid>
                <a:gridCol w="3401963">
                  <a:extLst>
                    <a:ext uri="{9D8B030D-6E8A-4147-A177-3AD203B41FA5}">
                      <a16:colId xmlns:a16="http://schemas.microsoft.com/office/drawing/2014/main" val="39892142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구성 사용</a:t>
                      </a:r>
                      <a:endParaRPr lang="en-US" altLang="ko-KR" sz="2000" b="1" i="0" u="none" strike="noStrike" dirty="0">
                        <a:solidFill>
                          <a:srgbClr val="383A42"/>
                        </a:solidFill>
                        <a:effectLst/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rtl="0" fontAlgn="t">
                        <a:buNone/>
                      </a:pPr>
                      <a:br>
                        <a:rPr lang="ko-KR" sz="105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</a:b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Player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├─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IAttackBehavior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└─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IDefenseBehavior</a:t>
                      </a:r>
                      <a:endParaRPr lang="ko-KR" sz="2000" b="1" dirty="0">
                        <a:effectLst/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061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38181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F55D2-DB64-BEB6-957D-3EB29063F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260BE-261A-2F2E-97CF-F56F38BB4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9.6 </a:t>
            </a:r>
            <a:r>
              <a:rPr lang="ko-KR" altLang="en-US" dirty="0" err="1"/>
              <a:t>리스코프</a:t>
            </a:r>
            <a:r>
              <a:rPr lang="ko-KR" altLang="en-US" dirty="0"/>
              <a:t> 치환 원칙</a:t>
            </a:r>
            <a:r>
              <a:rPr lang="en-US" altLang="ko-KR" dirty="0"/>
              <a:t>(LSP)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897883-7BEA-831B-9645-63E296BA4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기반 타입을 사용하는 코드가 파생 타입으로 교체되어도 올바르게 동작해야 함</a:t>
            </a:r>
          </a:p>
          <a:p>
            <a:pPr lvl="0"/>
            <a:r>
              <a:rPr lang="ko-KR" altLang="ko-KR" sz="2400" dirty="0"/>
              <a:t>공개 상속은 기반 타입의 의미와 계약을 이어받는 관계</a:t>
            </a:r>
          </a:p>
          <a:p>
            <a:pPr lvl="0"/>
            <a:r>
              <a:rPr lang="ko-KR" altLang="ko-KR" sz="2400" dirty="0"/>
              <a:t>함수 형식이 맞아도 동작 의미가 깨지면 치환 가능하지 않음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A76C3-FA3D-F888-6336-2FB745B71427}"/>
              </a:ext>
            </a:extLst>
          </p:cNvPr>
          <p:cNvSpPr txBox="1"/>
          <p:nvPr/>
        </p:nvSpPr>
        <p:spPr>
          <a:xfrm>
            <a:off x="436141" y="2511381"/>
            <a:ext cx="4711924" cy="2031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IMovable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IMovable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E9DB25-A4FA-779A-5521-6B31D65819FE}"/>
              </a:ext>
            </a:extLst>
          </p:cNvPr>
          <p:cNvSpPr txBox="1"/>
          <p:nvPr/>
        </p:nvSpPr>
        <p:spPr>
          <a:xfrm>
            <a:off x="436141" y="4551551"/>
            <a:ext cx="4711924" cy="2031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MoveToOrigin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IMovable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object.MoveTo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object.GetX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!=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||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object.GetY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!=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throw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runtime_error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did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AFBD33-C6A4-9C4C-ED38-50915A6C5D10}"/>
              </a:ext>
            </a:extLst>
          </p:cNvPr>
          <p:cNvSpPr txBox="1"/>
          <p:nvPr/>
        </p:nvSpPr>
        <p:spPr>
          <a:xfrm>
            <a:off x="3966096" y="4351496"/>
            <a:ext cx="5143971" cy="40011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모든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IMovable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구현은 이 기대를 만족해야 함</a:t>
            </a:r>
            <a:endParaRPr lang="ko-KR" altLang="ko-KR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1287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5DA12-C337-097A-692C-332115863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BFC47C-BB2C-FAA6-C5EF-0F08247C7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9.6.2 </a:t>
            </a:r>
            <a:r>
              <a:rPr lang="ko-KR" altLang="en-US" dirty="0"/>
              <a:t>계약</a:t>
            </a:r>
            <a:r>
              <a:rPr lang="en-US" altLang="ko-KR" dirty="0"/>
              <a:t>(</a:t>
            </a:r>
            <a:r>
              <a:rPr lang="ko-KR" altLang="en-US" dirty="0"/>
              <a:t>객체간 약속</a:t>
            </a:r>
            <a:r>
              <a:rPr lang="en-US" altLang="ko-KR" dirty="0"/>
              <a:t>)</a:t>
            </a:r>
            <a:r>
              <a:rPr lang="ko-KR" altLang="en-US" dirty="0"/>
              <a:t> 유지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E5037CB4-50C4-D1DA-41B5-0D771603F1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7849297"/>
              </p:ext>
            </p:extLst>
          </p:nvPr>
        </p:nvGraphicFramePr>
        <p:xfrm>
          <a:off x="553467" y="764704"/>
          <a:ext cx="5458694" cy="2692752"/>
        </p:xfrm>
        <a:graphic>
          <a:graphicData uri="http://schemas.openxmlformats.org/drawingml/2006/table">
            <a:tbl>
              <a:tblPr/>
              <a:tblGrid>
                <a:gridCol w="1354237">
                  <a:extLst>
                    <a:ext uri="{9D8B030D-6E8A-4147-A177-3AD203B41FA5}">
                      <a16:colId xmlns:a16="http://schemas.microsoft.com/office/drawing/2014/main" val="1345962856"/>
                    </a:ext>
                  </a:extLst>
                </a:gridCol>
                <a:gridCol w="4104457">
                  <a:extLst>
                    <a:ext uri="{9D8B030D-6E8A-4147-A177-3AD203B41FA5}">
                      <a16:colId xmlns:a16="http://schemas.microsoft.com/office/drawing/2014/main" val="2108845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계약 요소</a:t>
                      </a:r>
                      <a:endParaRPr lang="ko-KR" sz="20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20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5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수행 작업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함수가 해야 하는 일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432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사전 조건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 전에 만족해야 할 조건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70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사후 조건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호출 후 보장되는 결과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076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불변식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객체가 항상 유지해야 하는 규칙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788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실패 표현</a:t>
                      </a:r>
                      <a:endParaRPr lang="ko-KR" sz="20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실패를 전달하는 방식</a:t>
                      </a:r>
                      <a:endParaRPr lang="ko-KR" sz="20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00699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10D859B-6026-05EB-D42D-66F05E7ABB37}"/>
              </a:ext>
            </a:extLst>
          </p:cNvPr>
          <p:cNvSpPr txBox="1"/>
          <p:nvPr/>
        </p:nvSpPr>
        <p:spPr>
          <a:xfrm>
            <a:off x="564878" y="3933056"/>
            <a:ext cx="4223146" cy="20621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Wall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IMovable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이동하지 않음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F218EC-6386-1C8E-6AF0-2AC5B6C12852}"/>
              </a:ext>
            </a:extLst>
          </p:cNvPr>
          <p:cNvSpPr txBox="1"/>
          <p:nvPr/>
        </p:nvSpPr>
        <p:spPr>
          <a:xfrm>
            <a:off x="4464496" y="4725144"/>
            <a:ext cx="4355976" cy="646331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Wall이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이동할 수 없다면 I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ovable</a:t>
            </a:r>
            <a:b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역할 자체가 적절하지 않음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93604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81998-C384-C0BB-E6F7-97DC8F61B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09BD0-99B4-282F-01E4-EA10EB4A6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9.6.3 </a:t>
            </a:r>
            <a:r>
              <a:rPr lang="ko-KR" altLang="en-US" dirty="0"/>
              <a:t>사전 조건과 사후 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AD1AA0-216A-A25B-1980-0D07F574C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파생 타입은 기반 타입보다 더 강한 사전 조건을 요구하면 안 됨</a:t>
            </a:r>
          </a:p>
          <a:p>
            <a:pPr lvl="0"/>
            <a:r>
              <a:rPr lang="ko-KR" altLang="ko-KR" sz="2400" dirty="0"/>
              <a:t>파생 타입은 기반 타입이 보장하는 사후 조건을 약화하면 안 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2B8EE-7CEB-BD24-2858-E77C34784CE1}"/>
              </a:ext>
            </a:extLst>
          </p:cNvPr>
          <p:cNvSpPr txBox="1"/>
          <p:nvPr/>
        </p:nvSpPr>
        <p:spPr>
          <a:xfrm>
            <a:off x="539750" y="1700808"/>
            <a:ext cx="4572000" cy="1877437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IDamageable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IDamageable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8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8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&gt;= 0이면 호출 가능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62003F-93F9-32B9-D17C-E4D6723A4247}"/>
              </a:ext>
            </a:extLst>
          </p:cNvPr>
          <p:cNvSpPr txBox="1"/>
          <p:nvPr/>
        </p:nvSpPr>
        <p:spPr>
          <a:xfrm>
            <a:off x="539750" y="3775680"/>
            <a:ext cx="6264498" cy="2677656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FragileObject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IDamageable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throw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invalid_argument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must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not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exceed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100"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F88EC7-9982-60F1-0753-351D2DB6CFDD}"/>
              </a:ext>
            </a:extLst>
          </p:cNvPr>
          <p:cNvSpPr txBox="1"/>
          <p:nvPr/>
        </p:nvSpPr>
        <p:spPr>
          <a:xfrm>
            <a:off x="4355976" y="3435846"/>
            <a:ext cx="4572000" cy="707886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파생 타입에서 </a:t>
            </a:r>
            <a:r>
              <a:rPr lang="ko-KR" altLang="ko-KR" sz="20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20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&lt;= 100만 허용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기반 타입보다 강한 사례</a:t>
            </a:r>
            <a:endParaRPr lang="ko-KR" alt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5460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E8077-7A07-308F-8486-4577D8E72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D543A-5D68-4CA0-8C9B-11059547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9.6.4 </a:t>
            </a:r>
            <a:r>
              <a:rPr lang="ko-KR" altLang="en-US" dirty="0"/>
              <a:t>잘못된 상속 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E6EB84-F1FD-C5E2-930E-396AB2035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코드 재사용만 보고 상속하지 않음</a:t>
            </a:r>
          </a:p>
          <a:p>
            <a:pPr lvl="0"/>
            <a:r>
              <a:rPr lang="ko-KR" altLang="ko-KR" sz="2400" dirty="0"/>
              <a:t>공통 상태와 실제 역할을 구분</a:t>
            </a: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D5A65-473D-1D2E-AB92-6DA18260C0B3}"/>
              </a:ext>
            </a:extLst>
          </p:cNvPr>
          <p:cNvSpPr txBox="1"/>
          <p:nvPr/>
        </p:nvSpPr>
        <p:spPr>
          <a:xfrm>
            <a:off x="107504" y="1772816"/>
            <a:ext cx="5400600" cy="138499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MovableObject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MovableObject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593E50-4BD5-D2EF-BC20-AA6B805883EB}"/>
              </a:ext>
            </a:extLst>
          </p:cNvPr>
          <p:cNvSpPr txBox="1"/>
          <p:nvPr/>
        </p:nvSpPr>
        <p:spPr>
          <a:xfrm>
            <a:off x="107504" y="3140968"/>
            <a:ext cx="5400600" cy="160043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StaticDecoration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MovableObject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throw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logic_error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decoration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cannot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26E25D-CF67-3309-BF8E-5CB120D3DFB4}"/>
              </a:ext>
            </a:extLst>
          </p:cNvPr>
          <p:cNvSpPr txBox="1"/>
          <p:nvPr/>
        </p:nvSpPr>
        <p:spPr>
          <a:xfrm>
            <a:off x="5220071" y="1539949"/>
            <a:ext cx="3816425" cy="138499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IMovable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IMovable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C0D096-5B7B-E195-B31F-DD3215649C1F}"/>
              </a:ext>
            </a:extLst>
          </p:cNvPr>
          <p:cNvSpPr txBox="1"/>
          <p:nvPr/>
        </p:nvSpPr>
        <p:spPr>
          <a:xfrm>
            <a:off x="5292081" y="2925596"/>
            <a:ext cx="3744416" cy="203132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endParaRPr lang="en-US" altLang="ko-KR" sz="14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en-US" altLang="ko-KR" sz="1400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                       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IMovable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SetPosition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B19934-FD5C-07AD-8DDF-367BE1B0756A}"/>
              </a:ext>
            </a:extLst>
          </p:cNvPr>
          <p:cNvSpPr txBox="1"/>
          <p:nvPr/>
        </p:nvSpPr>
        <p:spPr>
          <a:xfrm>
            <a:off x="4788123" y="4744194"/>
            <a:ext cx="4248472" cy="73866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StaticDecoration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AD00832-F0FA-9CD6-7C56-55DC34C38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21229"/>
              </p:ext>
            </p:extLst>
          </p:nvPr>
        </p:nvGraphicFramePr>
        <p:xfrm>
          <a:off x="827584" y="4741406"/>
          <a:ext cx="3981684" cy="1635760"/>
        </p:xfrm>
        <a:graphic>
          <a:graphicData uri="http://schemas.openxmlformats.org/drawingml/2006/table">
            <a:tbl>
              <a:tblPr/>
              <a:tblGrid>
                <a:gridCol w="3981684">
                  <a:extLst>
                    <a:ext uri="{9D8B030D-6E8A-4147-A177-3AD203B41FA5}">
                      <a16:colId xmlns:a16="http://schemas.microsoft.com/office/drawing/2014/main" val="28757369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6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개선 구조</a:t>
                      </a:r>
                      <a:endParaRPr lang="en-US" altLang="ko-KR" sz="1600" b="1" i="0" u="none" strike="noStrike" spc="-150" dirty="0">
                        <a:solidFill>
                          <a:srgbClr val="383A4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Pretendard ExtraBold" panose="02000903000000020004" pitchFamily="50" charset="-127"/>
                      </a:endParaRPr>
                    </a:p>
                    <a:p>
                      <a:pPr rtl="0" fontAlgn="t">
                        <a:buNone/>
                      </a:pPr>
                      <a:br>
                        <a:rPr lang="ko-KR" sz="11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GameObject  → 공통 상태</a:t>
                      </a:r>
                      <a:br>
                        <a:rPr lang="ko-KR" sz="18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1" i="0" u="none" strike="noStrike" spc="-150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IMovable</a:t>
                      </a:r>
                      <a:r>
                        <a:rPr lang="ko-KR" sz="18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    → 이동 역할</a:t>
                      </a:r>
                      <a:br>
                        <a:rPr lang="ko-KR" sz="18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1" i="0" u="none" strike="noStrike" spc="-150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18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      → GameObject + </a:t>
                      </a:r>
                      <a:r>
                        <a:rPr lang="ko-KR" sz="1800" b="1" i="0" u="none" strike="noStrike" spc="-150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IMovable</a:t>
                      </a:r>
                      <a:br>
                        <a:rPr lang="ko-KR" sz="18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1" i="0" u="none" strike="noStrike" spc="-150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StaticDecoration</a:t>
                      </a:r>
                      <a:r>
                        <a:rPr lang="ko-KR" sz="1800" b="1" i="0" u="none" strike="noStrike" spc="-150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 → GameObject</a:t>
                      </a:r>
                      <a:endParaRPr lang="ko-KR" sz="3200" b="1" spc="-150" dirty="0">
                        <a:effectLst/>
                        <a:latin typeface="Consolas" panose="020B0609020204030204" pitchFamily="49" charset="0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076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3583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ECE8-0360-036B-6A77-194CAE8D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975EF-8344-0913-6949-8A68094CA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 </a:t>
            </a:r>
            <a:r>
              <a:rPr lang="ko-KR" altLang="en-US" dirty="0"/>
              <a:t>인터페이스 분리 원칙</a:t>
            </a:r>
            <a:r>
              <a:rPr lang="en-US" altLang="ko-KR" dirty="0"/>
              <a:t>(ISP)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311526-8085-DAC9-BA24-82E7E679B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 err="1"/>
              <a:t>Interface</a:t>
            </a:r>
            <a:r>
              <a:rPr lang="ko-KR" altLang="ko-KR" sz="2400" dirty="0"/>
              <a:t> </a:t>
            </a:r>
            <a:r>
              <a:rPr lang="ko-KR" altLang="ko-KR" sz="2400" dirty="0" err="1"/>
              <a:t>Segregation</a:t>
            </a:r>
            <a:r>
              <a:rPr lang="ko-KR" altLang="ko-KR" sz="2400" dirty="0"/>
              <a:t> </a:t>
            </a:r>
            <a:r>
              <a:rPr lang="ko-KR" altLang="ko-KR" sz="2400" dirty="0" err="1"/>
              <a:t>Principle</a:t>
            </a:r>
            <a:endParaRPr lang="ko-KR" altLang="ko-KR" sz="2400" dirty="0"/>
          </a:p>
          <a:p>
            <a:pPr lvl="1"/>
            <a:r>
              <a:rPr lang="ko-KR" altLang="ko-KR" sz="2000" dirty="0"/>
              <a:t>사용자가 필요하지 않은 기능에 의존하도록 강요하지 않음</a:t>
            </a:r>
          </a:p>
          <a:p>
            <a:pPr lvl="1"/>
            <a:r>
              <a:rPr lang="ko-KR" altLang="ko-KR" sz="2000" dirty="0"/>
              <a:t>하나의 거대한 인터페이스보다 역할별 인터페이스를 검토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ECBF94-3F94-1596-D713-D7FF1D97596D}"/>
              </a:ext>
            </a:extLst>
          </p:cNvPr>
          <p:cNvSpPr txBox="1"/>
          <p:nvPr/>
        </p:nvSpPr>
        <p:spPr>
          <a:xfrm>
            <a:off x="755576" y="1988840"/>
            <a:ext cx="4572000" cy="230832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IGameEntity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2CF75D-05F8-DA08-8174-008168AE5B72}"/>
              </a:ext>
            </a:extLst>
          </p:cNvPr>
          <p:cNvSpPr txBox="1"/>
          <p:nvPr/>
        </p:nvSpPr>
        <p:spPr>
          <a:xfrm>
            <a:off x="734641" y="4293096"/>
            <a:ext cx="4572000" cy="246221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Wall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IGameEntity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  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en-US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…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ProcessInput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사용하지 않음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사용하지 않음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105E3-D77F-DFCB-0830-6A3BBC75CB7E}"/>
              </a:ext>
            </a:extLst>
          </p:cNvPr>
          <p:cNvSpPr txBox="1"/>
          <p:nvPr/>
        </p:nvSpPr>
        <p:spPr>
          <a:xfrm>
            <a:off x="3871614" y="3997298"/>
            <a:ext cx="4572000" cy="707886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Wall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20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ParticleEffect</a:t>
            </a:r>
            <a:r>
              <a:rPr lang="ko-KR" altLang="ko-KR" sz="20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등에는 필요 없는 기능이 생길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6867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0AD4-FB0E-033B-00EC-ADE1D85C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A8A3A8-5DFB-144D-621F-2E7CD990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9.7.2 </a:t>
            </a:r>
            <a:r>
              <a:rPr lang="ko-KR" altLang="en-US" dirty="0"/>
              <a:t>역할별 인터페이스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E572A6-12C2-31F6-884E-5876FFE58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/>
              <a:t>각 </a:t>
            </a:r>
            <a:r>
              <a:rPr lang="ko-KR" altLang="en-US" sz="2400" dirty="0"/>
              <a:t>시스템은</a:t>
            </a:r>
            <a:r>
              <a:rPr lang="ko-KR" altLang="ko-KR" sz="2400" dirty="0"/>
              <a:t> 자신이 실제 사용하는 역할에만 의존</a:t>
            </a:r>
            <a:r>
              <a:rPr lang="ko-KR" altLang="en-US" sz="2400" dirty="0"/>
              <a:t>하도록</a:t>
            </a:r>
            <a:r>
              <a:rPr lang="en-US" altLang="ko-KR" sz="2400" dirty="0"/>
              <a:t> </a:t>
            </a:r>
            <a:r>
              <a:rPr lang="ko-KR" altLang="en-US" sz="2400" dirty="0"/>
              <a:t>구성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C159A-78E1-B532-52F4-187DA936B2A4}"/>
              </a:ext>
            </a:extLst>
          </p:cNvPr>
          <p:cNvSpPr txBox="1"/>
          <p:nvPr/>
        </p:nvSpPr>
        <p:spPr>
          <a:xfrm>
            <a:off x="395536" y="1268760"/>
            <a:ext cx="4320480" cy="440120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IUpdatable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IUpdatable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en-US" altLang="ko-KR" sz="14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IRenderable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IRenderable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en-US" altLang="ko-KR" sz="14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IDamageable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IDamageable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5700F-DD49-5CB4-8272-371082891DFE}"/>
              </a:ext>
            </a:extLst>
          </p:cNvPr>
          <p:cNvSpPr txBox="1"/>
          <p:nvPr/>
        </p:nvSpPr>
        <p:spPr>
          <a:xfrm>
            <a:off x="3779912" y="3861048"/>
            <a:ext cx="5112568" cy="738664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IUpdatable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IRenderable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ApplyDamage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IDamageable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49691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8E7C2-75C5-D10F-6115-4AF7AADB9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95B82E-977D-6B15-9C44-D90CC47E5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9.7.3 </a:t>
            </a:r>
            <a:r>
              <a:rPr lang="ko-KR" altLang="en-US" dirty="0"/>
              <a:t>작은 인터페이스의 조합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33A975-1C5C-7117-7847-DC5D8DB54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작은 역할 인터페이스는 필요한 능력을 조합하기 쉬움</a:t>
            </a:r>
          </a:p>
          <a:p>
            <a:pPr lvl="0"/>
            <a:r>
              <a:rPr lang="ko-KR" altLang="ko-KR" sz="2400" dirty="0"/>
              <a:t>지나치게 잘게 나누면 호출 관계와 타입 수가 증가할 수 있음</a:t>
            </a:r>
          </a:p>
          <a:p>
            <a:pPr lvl="0"/>
            <a:r>
              <a:rPr lang="ko-KR" altLang="ko-KR" sz="2400" dirty="0"/>
              <a:t>분리 기준은 구현 클래스의 편의보다 사용하는 코드가 필요한 기능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FD1C9A-955A-A479-7019-C8B4A319E30B}"/>
              </a:ext>
            </a:extLst>
          </p:cNvPr>
          <p:cNvSpPr txBox="1"/>
          <p:nvPr/>
        </p:nvSpPr>
        <p:spPr>
          <a:xfrm>
            <a:off x="539750" y="2420888"/>
            <a:ext cx="4572000" cy="224676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IUpdatable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IRenderable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IInputReceiver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</a:t>
            </a:r>
            <a:r>
              <a:rPr lang="ko-KR" altLang="ko-KR" sz="20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IDamageable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20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...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2185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797C7-0462-1D62-25CD-16662FB41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3A2D99-B32D-C14A-D599-8854D2C3E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9.8 </a:t>
            </a:r>
            <a:r>
              <a:rPr lang="ko-KR" altLang="en-US" dirty="0"/>
              <a:t>의존 역전 원칙</a:t>
            </a:r>
            <a:r>
              <a:rPr lang="en-US" altLang="ko-KR" dirty="0"/>
              <a:t>(DIP)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B1E31C-2450-3D4C-3E4F-5EFA173A2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 err="1"/>
              <a:t>Dependency</a:t>
            </a:r>
            <a:r>
              <a:rPr lang="ko-KR" altLang="ko-KR" dirty="0"/>
              <a:t> </a:t>
            </a:r>
            <a:r>
              <a:rPr lang="ko-KR" altLang="ko-KR" dirty="0" err="1"/>
              <a:t>Inversion</a:t>
            </a:r>
            <a:r>
              <a:rPr lang="ko-KR" altLang="ko-KR" dirty="0"/>
              <a:t> </a:t>
            </a:r>
            <a:r>
              <a:rPr lang="ko-KR" altLang="ko-KR" dirty="0" err="1"/>
              <a:t>Principle</a:t>
            </a:r>
            <a:endParaRPr lang="ko-KR" altLang="ko-KR" dirty="0"/>
          </a:p>
          <a:p>
            <a:pPr lvl="1"/>
            <a:r>
              <a:rPr lang="ko-KR" altLang="ko-KR" dirty="0"/>
              <a:t>상위 수준의 정책 코드가 하위 수준의 구체 구현에 직접 의존하지 않도록 함</a:t>
            </a:r>
          </a:p>
          <a:p>
            <a:pPr lvl="1"/>
            <a:r>
              <a:rPr lang="ko-KR" altLang="ko-KR" dirty="0"/>
              <a:t>상위 수준과 하위 수준이 추상화에 의존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636070B-E699-2126-F4AD-C87163D08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798913"/>
              </p:ext>
            </p:extLst>
          </p:nvPr>
        </p:nvGraphicFramePr>
        <p:xfrm>
          <a:off x="683568" y="2799080"/>
          <a:ext cx="7632848" cy="1201420"/>
        </p:xfrm>
        <a:graphic>
          <a:graphicData uri="http://schemas.openxmlformats.org/drawingml/2006/table">
            <a:tbl>
              <a:tblPr/>
              <a:tblGrid>
                <a:gridCol w="7632848">
                  <a:extLst>
                    <a:ext uri="{9D8B030D-6E8A-4147-A177-3AD203B41FA5}">
                      <a16:colId xmlns:a16="http://schemas.microsoft.com/office/drawing/2014/main" val="2747744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나쁜 방향</a:t>
                      </a:r>
                      <a:endParaRPr lang="en-US" altLang="ko-KR" sz="2000" b="0" i="0" u="none" strike="noStrike" dirty="0">
                        <a:solidFill>
                          <a:srgbClr val="383A42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  <a:p>
                      <a:pPr rtl="0" fontAlgn="t">
                        <a:buNone/>
                      </a:pPr>
                      <a:br>
                        <a:rPr lang="ko-KR" sz="1050" b="0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CombatService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──&gt; </a:t>
                      </a:r>
                      <a:r>
                        <a:rPr lang="ko-KR" sz="20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::mt19937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CombatService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 ──&gt; </a:t>
                      </a:r>
                      <a:r>
                        <a:rPr lang="ko-KR" sz="20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1" i="0" u="none" strike="noStrike" dirty="0" err="1">
                          <a:solidFill>
                            <a:srgbClr val="C1840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cout</a:t>
                      </a:r>
                      <a:endParaRPr lang="ko-KR" sz="20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81838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7CF7D47-9C57-B7FA-C56B-5D97C51F7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937472"/>
              </p:ext>
            </p:extLst>
          </p:nvPr>
        </p:nvGraphicFramePr>
        <p:xfrm>
          <a:off x="683568" y="4141152"/>
          <a:ext cx="7632848" cy="1201420"/>
        </p:xfrm>
        <a:graphic>
          <a:graphicData uri="http://schemas.openxmlformats.org/drawingml/2006/table">
            <a:tbl>
              <a:tblPr/>
              <a:tblGrid>
                <a:gridCol w="7632848">
                  <a:extLst>
                    <a:ext uri="{9D8B030D-6E8A-4147-A177-3AD203B41FA5}">
                      <a16:colId xmlns:a16="http://schemas.microsoft.com/office/drawing/2014/main" val="1227500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개선 방향</a:t>
                      </a:r>
                      <a:endParaRPr lang="en-US" altLang="ko-KR" sz="2000" b="0" i="0" u="none" strike="noStrike" dirty="0">
                        <a:solidFill>
                          <a:srgbClr val="383A4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Pretendard ExtraBold" panose="02000903000000020004" pitchFamily="50" charset="-127"/>
                      </a:endParaRPr>
                    </a:p>
                    <a:p>
                      <a:pPr rtl="0" fontAlgn="t">
                        <a:buNone/>
                      </a:pPr>
                      <a:br>
                        <a:rPr lang="ko-KR" sz="105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CombatService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 ──&gt;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IRandomSource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 &lt;──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MtRandomSource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CombatService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 ──&gt;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ICombatLog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    &lt;──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ConsoleCombatLog</a:t>
                      </a:r>
                      <a:endParaRPr lang="ko-KR" sz="2000" b="1" dirty="0">
                        <a:effectLst/>
                        <a:latin typeface="Consolas" panose="020B0609020204030204" pitchFamily="49" charset="0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105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24586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9EAAC-F642-6176-61DB-2806B2E7E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347582-C66D-BDD8-D1BA-6DE5A9A00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9.8.1 </a:t>
            </a:r>
            <a:r>
              <a:rPr lang="ko-KR" altLang="en-US" dirty="0"/>
              <a:t>구체 구현에서 추상화로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FA3850C-2A03-8E22-55FE-AB10EDBB96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3702550"/>
              </p:ext>
            </p:extLst>
          </p:nvPr>
        </p:nvGraphicFramePr>
        <p:xfrm>
          <a:off x="397843" y="764704"/>
          <a:ext cx="4968354" cy="949960"/>
        </p:xfrm>
        <a:graphic>
          <a:graphicData uri="http://schemas.openxmlformats.org/drawingml/2006/table">
            <a:tbl>
              <a:tblPr/>
              <a:tblGrid>
                <a:gridCol w="4968354">
                  <a:extLst>
                    <a:ext uri="{9D8B030D-6E8A-4147-A177-3AD203B41FA5}">
                      <a16:colId xmlns:a16="http://schemas.microsoft.com/office/drawing/2014/main" val="3616880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CombatService가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 직접 아는 것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- 난수 엔진의 구체 타입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- 콘솔 출력</a:t>
                      </a:r>
                      <a:endParaRPr lang="ko-KR" sz="1800" b="1" dirty="0">
                        <a:effectLst/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584529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2CE4269-25B1-13A5-0659-7E6262916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511991"/>
              </p:ext>
            </p:extLst>
          </p:nvPr>
        </p:nvGraphicFramePr>
        <p:xfrm>
          <a:off x="397843" y="1772816"/>
          <a:ext cx="4968354" cy="949960"/>
        </p:xfrm>
        <a:graphic>
          <a:graphicData uri="http://schemas.openxmlformats.org/drawingml/2006/table">
            <a:tbl>
              <a:tblPr/>
              <a:tblGrid>
                <a:gridCol w="4968354">
                  <a:extLst>
                    <a:ext uri="{9D8B030D-6E8A-4147-A177-3AD203B41FA5}">
                      <a16:colId xmlns:a16="http://schemas.microsoft.com/office/drawing/2014/main" val="40980388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문제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- 실행 환경 변경 시 </a:t>
                      </a: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CombatService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 수정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</a:rPr>
                        <a:t>- 시험에서 난수 결과 제어</a:t>
                      </a:r>
                      <a:endParaRPr lang="ko-KR" sz="1800" b="1" dirty="0">
                        <a:effectLst/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70515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0869AFE-ED15-D036-C9CA-B5CA1DA4791C}"/>
              </a:ext>
            </a:extLst>
          </p:cNvPr>
          <p:cNvSpPr txBox="1"/>
          <p:nvPr/>
        </p:nvSpPr>
        <p:spPr>
          <a:xfrm>
            <a:off x="397843" y="2994090"/>
            <a:ext cx="3742109" cy="138499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IRandomSource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NextInt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9537DB-3D23-319E-900C-FDFD68518A4E}"/>
              </a:ext>
            </a:extLst>
          </p:cNvPr>
          <p:cNvSpPr txBox="1"/>
          <p:nvPr/>
        </p:nvSpPr>
        <p:spPr>
          <a:xfrm>
            <a:off x="397843" y="4273516"/>
            <a:ext cx="3742109" cy="1600438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ICombatLog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Write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string_view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message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A6B5AE-BB63-95A1-52D6-FBC87C3577BC}"/>
              </a:ext>
            </a:extLst>
          </p:cNvPr>
          <p:cNvSpPr txBox="1"/>
          <p:nvPr/>
        </p:nvSpPr>
        <p:spPr>
          <a:xfrm>
            <a:off x="3887416" y="2852936"/>
            <a:ext cx="4968354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CombatService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CombatService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88998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2E399-4C9C-9C09-C637-62B2D344F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0BEE62-99E3-CCB0-7C8F-40C6F1C4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9.8.4 </a:t>
            </a:r>
            <a:r>
              <a:rPr lang="ko-KR" altLang="en-US" dirty="0"/>
              <a:t>의존성 주입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90F27D-E5ED-158F-C3F5-88D97EAD9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필요한 객체를 내부에서 직접 생성하지 않고 외부에서 전달받음</a:t>
            </a:r>
          </a:p>
          <a:p>
            <a:pPr lvl="0"/>
            <a:r>
              <a:rPr lang="ko-KR" altLang="ko-KR" sz="2400" dirty="0"/>
              <a:t>생성자 주입은 반드시 필요한 의존성을 표현하기 좋음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A31253-D526-6B20-56F1-0B89FBA4608A}"/>
              </a:ext>
            </a:extLst>
          </p:cNvPr>
          <p:cNvSpPr txBox="1"/>
          <p:nvPr/>
        </p:nvSpPr>
        <p:spPr>
          <a:xfrm>
            <a:off x="511547" y="1772816"/>
            <a:ext cx="4572000" cy="310854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CombatService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CombatService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B1E4DC-080C-81FC-A4AD-3200C353C5C8}"/>
              </a:ext>
            </a:extLst>
          </p:cNvPr>
          <p:cNvSpPr txBox="1"/>
          <p:nvPr/>
        </p:nvSpPr>
        <p:spPr>
          <a:xfrm>
            <a:off x="511547" y="4879924"/>
            <a:ext cx="4652962" cy="160043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main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MtRandomSource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ConsoleCombatLog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CombatService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combatService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randomSource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combatLog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9A21C0-97CF-8357-3E74-A861042192D7}"/>
              </a:ext>
            </a:extLst>
          </p:cNvPr>
          <p:cNvSpPr txBox="1"/>
          <p:nvPr/>
        </p:nvSpPr>
        <p:spPr>
          <a:xfrm>
            <a:off x="4753421" y="4206325"/>
            <a:ext cx="3490987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+mn-ea"/>
              </a:rPr>
              <a:t>main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+mn-ea"/>
              </a:rPr>
              <a:t>()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+mn-ea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+mn-ea"/>
              </a:rPr>
              <a:t>├─ 난수 구현 생성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+mn-ea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+mn-ea"/>
              </a:rPr>
              <a:t>├─ 기록 구현 생성</a:t>
            </a:r>
            <a:b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+mn-ea"/>
              </a:rPr>
            </a:b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+mn-ea"/>
              </a:rPr>
              <a:t>└─ </a:t>
            </a:r>
            <a:r>
              <a:rPr lang="ko-KR" altLang="ko-KR" sz="20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  <a:ea typeface="+mn-ea"/>
              </a:rPr>
              <a:t>CombatService에</a:t>
            </a:r>
            <a:r>
              <a:rPr lang="ko-KR" altLang="ko-KR" sz="20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  <a:ea typeface="+mn-ea"/>
              </a:rPr>
              <a:t> 주입</a:t>
            </a:r>
            <a:endParaRPr lang="ko-KR" altLang="en-US" sz="2000" b="1" dirty="0">
              <a:latin typeface="Consolas" panose="020B0609020204030204" pitchFamily="49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351323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2F3A0-71BA-B1DE-DB33-D677A53D7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B9CAA-661E-BBF0-F731-AB6B8C07B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9.9 </a:t>
            </a:r>
            <a:r>
              <a:rPr lang="ko-KR" altLang="en-US" dirty="0"/>
              <a:t>객체지향 설계의 적용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7D4EE7-1E4C-75EE-58E5-3398A6D46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설계 원칙은 실제 코드에서 함께 작용</a:t>
            </a:r>
          </a:p>
          <a:p>
            <a:pPr lvl="0"/>
            <a:r>
              <a:rPr lang="ko-KR" altLang="ko-KR" sz="2400" dirty="0"/>
              <a:t>책임 분리 → 응집도 상승</a:t>
            </a:r>
          </a:p>
          <a:p>
            <a:pPr lvl="0"/>
            <a:r>
              <a:rPr lang="ko-KR" altLang="ko-KR" sz="2400" dirty="0"/>
              <a:t>작은 인터페이스 → 결합도와 변경 범위 감소</a:t>
            </a:r>
          </a:p>
          <a:p>
            <a:pPr lvl="0"/>
            <a:r>
              <a:rPr lang="ko-KR" altLang="ko-KR" sz="2400" dirty="0"/>
              <a:t>의존성 주입 → 실행 환경과 시험 환경 분리</a:t>
            </a:r>
          </a:p>
          <a:p>
            <a:pPr lvl="0"/>
            <a:r>
              <a:rPr lang="ko-KR" altLang="ko-KR" sz="2400" dirty="0"/>
              <a:t>목표는 클래스 수를 늘리는 것이 아니라 변경 축을 구분하는 것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4270AD1-70AE-491D-8E92-884A3FB82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638906"/>
              </p:ext>
            </p:extLst>
          </p:nvPr>
        </p:nvGraphicFramePr>
        <p:xfrm>
          <a:off x="539749" y="3283843"/>
          <a:ext cx="3350257" cy="2276820"/>
        </p:xfrm>
        <a:graphic>
          <a:graphicData uri="http://schemas.openxmlformats.org/drawingml/2006/table">
            <a:tbl>
              <a:tblPr/>
              <a:tblGrid>
                <a:gridCol w="3350257">
                  <a:extLst>
                    <a:ext uri="{9D8B030D-6E8A-4147-A177-3AD203B41FA5}">
                      <a16:colId xmlns:a16="http://schemas.microsoft.com/office/drawing/2014/main" val="322282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초기 구조</a:t>
                      </a:r>
                      <a:endParaRPr lang="ko-KR" sz="2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br>
                        <a:rPr lang="ko-KR" sz="105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Player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공격 종류 판정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전역 난수 사용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대상 체력 직접 변경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└─ 콘솔 출력</a:t>
                      </a:r>
                      <a:endParaRPr lang="ko-KR" sz="2000" b="1" dirty="0">
                        <a:effectLst/>
                      </a:endParaRPr>
                    </a:p>
                  </a:txBody>
                  <a:tcPr marL="216000" marR="216000" marT="144000" marB="144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223865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4021DE2-8254-8E45-4A51-0BC2B528E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714216"/>
              </p:ext>
            </p:extLst>
          </p:nvPr>
        </p:nvGraphicFramePr>
        <p:xfrm>
          <a:off x="4283968" y="3281561"/>
          <a:ext cx="3600400" cy="2581620"/>
        </p:xfrm>
        <a:graphic>
          <a:graphicData uri="http://schemas.openxmlformats.org/drawingml/2006/table">
            <a:tbl>
              <a:tblPr/>
              <a:tblGrid>
                <a:gridCol w="3600400">
                  <a:extLst>
                    <a:ext uri="{9D8B030D-6E8A-4147-A177-3AD203B41FA5}">
                      <a16:colId xmlns:a16="http://schemas.microsoft.com/office/drawing/2014/main" val="1068048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개선 구조</a:t>
                      </a:r>
                      <a:endParaRPr lang="ko-KR" sz="2000" dirty="0">
                        <a:effectLst/>
                      </a:endParaRPr>
                    </a:p>
                    <a:p>
                      <a:pPr rtl="0" fontAlgn="t">
                        <a:buNone/>
                      </a:pPr>
                      <a:br>
                        <a:rPr lang="ko-KR" sz="1050" b="0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Character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HealthComponent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IAttackBehavior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└─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CombatService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├─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IRandomSource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└─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ICombatLog</a:t>
                      </a:r>
                      <a:endParaRPr lang="ko-KR" sz="2000" b="1" dirty="0">
                        <a:effectLst/>
                      </a:endParaRPr>
                    </a:p>
                  </a:txBody>
                  <a:tcPr marL="216000" marR="216000" marT="144000" marB="144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214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5480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D6657-3243-35B4-9C7D-0536E3F4E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638CA9-B242-03C4-84B0-F3B3BC41A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9.9.2 </a:t>
            </a:r>
            <a:r>
              <a:rPr lang="ko-KR" altLang="en-US" dirty="0"/>
              <a:t>책임과 인터페이스 분리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A85974-D4C8-EE75-5F8B-395516DAE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000" dirty="0"/>
              <a:t>각 객체가 하나의 변경 이유를 가지도록 분리</a:t>
            </a: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C7753E-4E65-6B8E-256C-99213148090B}"/>
              </a:ext>
            </a:extLst>
          </p:cNvPr>
          <p:cNvSpPr txBox="1"/>
          <p:nvPr/>
        </p:nvSpPr>
        <p:spPr>
          <a:xfrm>
            <a:off x="611560" y="1296760"/>
            <a:ext cx="3744416" cy="378565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HealthComponent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현재 체력과 최대 체력 유지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피해 적용과 사망 판정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IAttackBehavior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공격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피해량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계산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공격 방식별 확률 규칙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이름과 체력 소유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공격 행동 객체 소유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공격 행동 교체</a:t>
            </a:r>
            <a:endParaRPr lang="ko-KR" alt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CAD349-BD6F-D5A2-4840-AAEEC73E0D2D}"/>
              </a:ext>
            </a:extLst>
          </p:cNvPr>
          <p:cNvSpPr txBox="1"/>
          <p:nvPr/>
        </p:nvSpPr>
        <p:spPr>
          <a:xfrm>
            <a:off x="4572000" y="1296760"/>
            <a:ext cx="3744416" cy="286232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CombatService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공격자와 대상의 협력 순서 조정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전투 결과 기록 요청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IRandomSource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범위 안의 난수 제공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ICombatLog</a:t>
            </a:r>
            <a:b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 전투 결과 출력 또는 저장</a:t>
            </a:r>
            <a:endParaRPr lang="ko-KR" altLang="en-US" sz="2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65339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B81DC-D338-13F5-71AF-95B4314C3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9.9.4 </a:t>
            </a:r>
            <a:r>
              <a:rPr lang="ko-KR" altLang="en-US" dirty="0"/>
              <a:t>구성과 명시적 의존성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279708-4A07-15A4-F007-952F6F8D5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공격 방식은 상속 계층보다 구성으로 교체</a:t>
            </a:r>
          </a:p>
          <a:p>
            <a:pPr lvl="0"/>
            <a:r>
              <a:rPr lang="ko-KR" altLang="ko-KR" sz="2400" dirty="0"/>
              <a:t>전역 난수와 전역 기록 객체를 제거</a:t>
            </a:r>
          </a:p>
          <a:p>
            <a:pPr lvl="0"/>
            <a:r>
              <a:rPr lang="ko-KR" altLang="ko-KR" sz="2400" dirty="0"/>
              <a:t>숨은 의존성을 생성자 매개변수로 드러냄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ABBE2FC-424D-6DDF-D085-6F6308A26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299752"/>
              </p:ext>
            </p:extLst>
          </p:nvPr>
        </p:nvGraphicFramePr>
        <p:xfrm>
          <a:off x="395536" y="2478087"/>
          <a:ext cx="5904656" cy="2260600"/>
        </p:xfrm>
        <a:graphic>
          <a:graphicData uri="http://schemas.openxmlformats.org/drawingml/2006/table">
            <a:tbl>
              <a:tblPr/>
              <a:tblGrid>
                <a:gridCol w="5904656">
                  <a:extLst>
                    <a:ext uri="{9D8B030D-6E8A-4147-A177-3AD203B41FA5}">
                      <a16:colId xmlns:a16="http://schemas.microsoft.com/office/drawing/2014/main" val="2831671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Character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HealthComponent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└─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IAttackBehavior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CombatService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IRandomSource</a:t>
                      </a: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&amp;</a:t>
                      </a:r>
                      <a:b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└─ </a:t>
                      </a:r>
                      <a:r>
                        <a:rPr lang="ko-KR" sz="20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Pretendard ExtraBold" panose="02000903000000020004" pitchFamily="50" charset="-127"/>
                        </a:rPr>
                        <a:t>ICombat</a:t>
                      </a:r>
                      <a:endParaRPr lang="ko-KR" sz="2000" b="1" dirty="0">
                        <a:effectLst/>
                        <a:latin typeface="Consolas" panose="020B0609020204030204" pitchFamily="49" charset="0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5860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30279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48B1D-02D8-1E1A-B499-BF3B89DB9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9.9.6 </a:t>
            </a:r>
            <a:r>
              <a:rPr lang="ko-KR" altLang="en-US" dirty="0"/>
              <a:t>과도한 추상화 피하기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E1A63F-6D7F-7E16-DCBA-562D1C41D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모든 구체 클래스에 인터페이스를 만들 필요는 없음</a:t>
            </a:r>
          </a:p>
          <a:p>
            <a:pPr lvl="0"/>
            <a:r>
              <a:rPr lang="ko-KR" altLang="ko-KR" sz="2400" dirty="0"/>
              <a:t>실제로 교체할 필요가 있는 부분만 분리</a:t>
            </a:r>
          </a:p>
          <a:p>
            <a:pPr lvl="0"/>
            <a:r>
              <a:rPr lang="ko-KR" altLang="ko-KR" sz="2400" dirty="0"/>
              <a:t>요구 사항이 확정되지 않았는데 잘못된 확장 지점을 먼저 고정하지 않음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E1313DB-269E-E6A4-80CE-C12186B4D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613882"/>
              </p:ext>
            </p:extLst>
          </p:nvPr>
        </p:nvGraphicFramePr>
        <p:xfrm>
          <a:off x="399331" y="2708920"/>
          <a:ext cx="5400403" cy="1673248"/>
        </p:xfrm>
        <a:graphic>
          <a:graphicData uri="http://schemas.openxmlformats.org/drawingml/2006/table">
            <a:tbl>
              <a:tblPr/>
              <a:tblGrid>
                <a:gridCol w="2880122">
                  <a:extLst>
                    <a:ext uri="{9D8B030D-6E8A-4147-A177-3AD203B41FA5}">
                      <a16:colId xmlns:a16="http://schemas.microsoft.com/office/drawing/2014/main" val="768674141"/>
                    </a:ext>
                  </a:extLst>
                </a:gridCol>
                <a:gridCol w="2520281">
                  <a:extLst>
                    <a:ext uri="{9D8B030D-6E8A-4147-A177-3AD203B41FA5}">
                      <a16:colId xmlns:a16="http://schemas.microsoft.com/office/drawing/2014/main" val="11499207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분리 가치가 높은 지점</a:t>
                      </a:r>
                      <a:endParaRPr lang="ko-KR" sz="32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이유</a:t>
                      </a:r>
                      <a:endParaRPr lang="ko-KR" sz="32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28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공격 계산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여러 공격 방식 존재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853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난수 공급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시험에서 제어 필요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313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전투 기록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출력 대상 교체 가능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817051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D91F0C3-A7A8-4693-5888-7851777B6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682922"/>
              </p:ext>
            </p:extLst>
          </p:nvPr>
        </p:nvGraphicFramePr>
        <p:xfrm>
          <a:off x="395536" y="4553618"/>
          <a:ext cx="5404198" cy="1673248"/>
        </p:xfrm>
        <a:graphic>
          <a:graphicData uri="http://schemas.openxmlformats.org/drawingml/2006/table">
            <a:tbl>
              <a:tblPr/>
              <a:tblGrid>
                <a:gridCol w="2883917">
                  <a:extLst>
                    <a:ext uri="{9D8B030D-6E8A-4147-A177-3AD203B41FA5}">
                      <a16:colId xmlns:a16="http://schemas.microsoft.com/office/drawing/2014/main" val="819402980"/>
                    </a:ext>
                  </a:extLst>
                </a:gridCol>
                <a:gridCol w="2520281">
                  <a:extLst>
                    <a:ext uri="{9D8B030D-6E8A-4147-A177-3AD203B41FA5}">
                      <a16:colId xmlns:a16="http://schemas.microsoft.com/office/drawing/2014/main" val="2136758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구체 클래스로 둘 수 있는 지점</a:t>
                      </a:r>
                      <a:endParaRPr lang="ko-KR" sz="32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이유</a:t>
                      </a:r>
                      <a:endParaRPr lang="ko-KR" sz="3200" b="1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30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HealthComponent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안정적인 체력 규칙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43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AttackRoll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단순 결과 값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697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PlayerData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단순 데이터 전달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04774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A830E4F-F365-2B14-C741-7A1BF64BDC3E}"/>
              </a:ext>
            </a:extLst>
          </p:cNvPr>
          <p:cNvSpPr txBox="1"/>
          <p:nvPr/>
        </p:nvSpPr>
        <p:spPr>
          <a:xfrm>
            <a:off x="5652120" y="4054897"/>
            <a:ext cx="3240360" cy="923330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좋은 추상화는 실제 변경과</a:t>
            </a:r>
            <a:b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중복이 드러난 지점에 도입</a:t>
            </a:r>
            <a:endParaRPr lang="ko-KR" altLang="ko-KR" sz="18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추상화도 유지 비용을 가짐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10282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84D14-C260-B979-F99E-2911CE75B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D6479-C660-7E0A-9A9D-1D738E640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9.10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8B2695-F624-F5D7-56AA-8A96AF298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sz="2400" dirty="0"/>
              <a:t>객체지향 설계</a:t>
            </a:r>
            <a:r>
              <a:rPr lang="en-US" altLang="ko-KR" sz="2400" dirty="0"/>
              <a:t>: </a:t>
            </a:r>
            <a:r>
              <a:rPr lang="ko-KR" altLang="ko-KR" sz="2400" dirty="0"/>
              <a:t>기능을 책임으로 분배</a:t>
            </a:r>
            <a:r>
              <a:rPr lang="en-US" altLang="ko-KR" sz="2400" dirty="0"/>
              <a:t>, </a:t>
            </a:r>
            <a:r>
              <a:rPr lang="ko-KR" altLang="ko-KR" sz="2400" dirty="0"/>
              <a:t>객체가 인터페이스로 협력</a:t>
            </a:r>
            <a:endParaRPr lang="en-US" altLang="ko-KR" sz="2400" dirty="0"/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객체는 자신의 상태와 규칙을</a:t>
            </a:r>
            <a:r>
              <a:rPr lang="en-US" altLang="ko-KR" sz="2400" dirty="0"/>
              <a:t> </a:t>
            </a:r>
            <a:r>
              <a:rPr lang="ko-KR" altLang="en-US" sz="2400" dirty="0"/>
              <a:t>관리</a:t>
            </a:r>
            <a:endParaRPr lang="ko-KR" altLang="ko-KR" sz="2400" dirty="0"/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역할은 협력 안에서 객체가 제공하는 능력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작은 인터페이스는 서로 다른 구체 객체를 같은 방식으로 사용</a:t>
            </a:r>
            <a:endParaRPr lang="en-US" altLang="ko-KR" sz="2400" dirty="0"/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응집도 높은 클래스는 하나의 목적과 관련된 상태와 행위를 모음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결합도 낮은 객체는 다른 객체의 내부 표현과 구체 구현을 적게 앎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인터페이스는 정상 동작, 실패 방식, 소유권과 수명을 사용자에게 제공</a:t>
            </a:r>
            <a:br>
              <a:rPr lang="en-US" altLang="ko-KR" sz="2400" dirty="0"/>
            </a:br>
            <a:endParaRPr lang="ko-KR" altLang="ko-KR" sz="2400" dirty="0"/>
          </a:p>
          <a:p>
            <a:pPr lvl="0">
              <a:lnSpc>
                <a:spcPct val="120000"/>
              </a:lnSpc>
            </a:pPr>
            <a:r>
              <a:rPr lang="en-US" altLang="ko-KR" sz="2400" dirty="0"/>
              <a:t>SRP: </a:t>
            </a:r>
            <a:r>
              <a:rPr lang="ko-KR" altLang="ko-KR" sz="2400" dirty="0"/>
              <a:t>하나의 변경 이유를 가지도록 책임을 분리</a:t>
            </a:r>
          </a:p>
          <a:p>
            <a:pPr lvl="0">
              <a:lnSpc>
                <a:spcPct val="120000"/>
              </a:lnSpc>
            </a:pPr>
            <a:r>
              <a:rPr lang="en-US" altLang="ko-KR" sz="2400" dirty="0"/>
              <a:t>OCP: </a:t>
            </a:r>
            <a:r>
              <a:rPr lang="ko-KR" altLang="ko-KR" sz="2400" dirty="0"/>
              <a:t>반복해서 변하는 지점을 추상</a:t>
            </a:r>
            <a:r>
              <a:rPr lang="en-US" altLang="ko-KR" sz="2400" dirty="0"/>
              <a:t>, </a:t>
            </a:r>
            <a:r>
              <a:rPr lang="ko-KR" altLang="ko-KR" sz="2400" dirty="0"/>
              <a:t>새 구현으로 확장</a:t>
            </a:r>
            <a:endParaRPr lang="en-US" altLang="ko-KR" sz="2400" dirty="0"/>
          </a:p>
          <a:p>
            <a:pPr lvl="0">
              <a:lnSpc>
                <a:spcPct val="120000"/>
              </a:lnSpc>
            </a:pPr>
            <a:r>
              <a:rPr lang="en-US" altLang="ko-KR" sz="2400" dirty="0"/>
              <a:t>LSP: </a:t>
            </a:r>
            <a:r>
              <a:rPr lang="ko-KR" altLang="ko-KR" sz="2400" dirty="0"/>
              <a:t>파생 타입이 기반 타입의 계약을 유지하도록 요구</a:t>
            </a:r>
          </a:p>
          <a:p>
            <a:pPr>
              <a:lnSpc>
                <a:spcPct val="120000"/>
              </a:lnSpc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126184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38BD0-E495-F5E1-32DC-84AFBF678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9.10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97C1F-7F99-05DE-5DA1-C2BFE92B9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en-US" altLang="ko-KR" sz="2400" dirty="0"/>
              <a:t>ISP: </a:t>
            </a:r>
            <a:r>
              <a:rPr lang="ko-KR" altLang="ko-KR" sz="2400" dirty="0"/>
              <a:t>필요 없는 함수에 의존하지 않도록 역할별 인터페이스 구성</a:t>
            </a:r>
          </a:p>
          <a:p>
            <a:pPr lvl="0">
              <a:lnSpc>
                <a:spcPct val="120000"/>
              </a:lnSpc>
            </a:pPr>
            <a:r>
              <a:rPr lang="en-US" altLang="ko-KR" sz="2400" dirty="0"/>
              <a:t>DIP: </a:t>
            </a:r>
            <a:r>
              <a:rPr lang="ko-KR" altLang="ko-KR" sz="2400" dirty="0"/>
              <a:t>핵심 정책이 세부 기술에 직접 의존하지 않</a:t>
            </a:r>
            <a:r>
              <a:rPr lang="ko-KR" altLang="en-US" sz="2400" dirty="0"/>
              <a:t>음</a:t>
            </a:r>
            <a:br>
              <a:rPr lang="en-US" altLang="ko-KR" sz="2400" dirty="0"/>
            </a:br>
            <a:r>
              <a:rPr lang="en-US" altLang="ko-KR" sz="2400" dirty="0"/>
              <a:t>	</a:t>
            </a:r>
            <a:endParaRPr lang="ko-KR" altLang="ko-KR" sz="2400" dirty="0"/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의존성 주입은 실행 환경과 시험 환경에서 구현을 교체할 수 있게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상속은 </a:t>
            </a:r>
            <a:r>
              <a:rPr lang="ko-KR" altLang="ko-KR" sz="2400" dirty="0" err="1"/>
              <a:t>is-a</a:t>
            </a:r>
            <a:r>
              <a:rPr lang="ko-KR" altLang="ko-KR" sz="2400" dirty="0"/>
              <a:t> 관계와 동적 대체가 필요할 때 사용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구성은 교체 가능한 기능과 정책을 표현할 때 유용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설계 원칙은 변경 가능성과 복잡도</a:t>
            </a:r>
            <a:r>
              <a:rPr lang="ko-KR" altLang="en-US" sz="2400" dirty="0"/>
              <a:t>로 판단</a:t>
            </a:r>
            <a:endParaRPr lang="ko-KR" altLang="ko-KR" sz="2400" dirty="0"/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작은 프로그램에 불필요한 계층을 먼저 만들 필요는 없음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함께 바뀌는 부분과 독립적으로 바뀌는 부분을 관찰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변경 비용과 구현 복잡도의 균형을 기준으로 적용</a:t>
            </a:r>
          </a:p>
          <a:p>
            <a:pPr>
              <a:lnSpc>
                <a:spcPct val="120000"/>
              </a:lnSpc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1479641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800" b="1" i="0" u="none" strike="noStrike" dirty="0">
            <a:solidFill>
              <a:srgbClr val="4078F2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12767</TotalTime>
  <Words>3964</Words>
  <Application>Microsoft Office PowerPoint</Application>
  <PresentationFormat>화면 슬라이드 쇼(4:3)</PresentationFormat>
  <Paragraphs>340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51" baseType="lpstr">
      <vt:lpstr>D2Coding</vt:lpstr>
      <vt:lpstr>Wingdings</vt:lpstr>
      <vt:lpstr>Pretendard ExtraBold</vt:lpstr>
      <vt:lpstr>HY견고딕</vt:lpstr>
      <vt:lpstr>가을체</vt:lpstr>
      <vt:lpstr>Consolas</vt:lpstr>
      <vt:lpstr>나눔고딕 ExtraBold</vt:lpstr>
      <vt:lpstr>Arial</vt:lpstr>
      <vt:lpstr>굴림</vt:lpstr>
      <vt:lpstr>나눔바른고딕</vt:lpstr>
      <vt:lpstr>기본 디자인</vt:lpstr>
      <vt:lpstr>09. 객체지향 설계 원칙 (SOLID)</vt:lpstr>
      <vt:lpstr>09. 객체지향 설계 원칙</vt:lpstr>
      <vt:lpstr>9.1 책임과 협력</vt:lpstr>
      <vt:lpstr> 9.1.1 객체의 책임</vt:lpstr>
      <vt:lpstr>9.1.2 객체의 역할</vt:lpstr>
      <vt:lpstr>9.1.3 데이터와 행위의 배치</vt:lpstr>
      <vt:lpstr>9.1.4 책임이 많은 객체와 책임 분리</vt:lpstr>
      <vt:lpstr>9.2 응집도와 결합도</vt:lpstr>
      <vt:lpstr>9.2.1 응집도</vt:lpstr>
      <vt:lpstr>9.2.2 결합도</vt:lpstr>
      <vt:lpstr>9.2.3 변경의 영향 범위</vt:lpstr>
      <vt:lpstr>9.3 인터페이스 설계</vt:lpstr>
      <vt:lpstr>9.3.1 최소 인터페이스와 불변식</vt:lpstr>
      <vt:lpstr>9.3.3 명령과 질의</vt:lpstr>
      <vt:lpstr>9.3.4 오류와 실패의 표현</vt:lpstr>
      <vt:lpstr>9.3.5 소유권과 수명의 표현</vt:lpstr>
      <vt:lpstr>9.4 단일 책임 원칙(SRP)</vt:lpstr>
      <vt:lpstr>9.4.1 변경 이유와 책임 분리</vt:lpstr>
      <vt:lpstr>9.4.3 단일 책임의 범위</vt:lpstr>
      <vt:lpstr>9.5 개방-폐쇄 원칙(OCP)</vt:lpstr>
      <vt:lpstr>9.5.1 반복되는 조건문의 문제</vt:lpstr>
      <vt:lpstr>9.5.3 추상화와 확장 지점</vt:lpstr>
      <vt:lpstr>9.5.3 Player와 공격 행동 구성</vt:lpstr>
      <vt:lpstr>9.5.4 상속과 구성을 통한 확장</vt:lpstr>
      <vt:lpstr>9.6 리스코프 치환 원칙(LSP)</vt:lpstr>
      <vt:lpstr>9.6.2 계약(객체간 약속) 유지</vt:lpstr>
      <vt:lpstr>9.6.3 사전 조건과 사후 조건</vt:lpstr>
      <vt:lpstr>9.6.4 잘못된 상속 관계</vt:lpstr>
      <vt:lpstr>9.7 인터페이스 분리 원칙(ISP)</vt:lpstr>
      <vt:lpstr>9.7.2 역할별 인터페이스</vt:lpstr>
      <vt:lpstr>9.7.3 작은 인터페이스의 조합</vt:lpstr>
      <vt:lpstr>9.8 의존 역전 원칙(DIP)</vt:lpstr>
      <vt:lpstr>9.8.1 구체 구현에서 추상화로</vt:lpstr>
      <vt:lpstr>9.8.4 의존성 주입</vt:lpstr>
      <vt:lpstr>9.9 객체지향 설계의 적용</vt:lpstr>
      <vt:lpstr>9.9.2 책임과 인터페이스 분리</vt:lpstr>
      <vt:lpstr>9.9.4 구성과 명시적 의존성</vt:lpstr>
      <vt:lpstr>9.9.6 과도한 추상화 피하기</vt:lpstr>
      <vt:lpstr>9.10 학습 정리</vt:lpstr>
      <vt:lpstr>9.10 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446</cp:revision>
  <dcterms:created xsi:type="dcterms:W3CDTF">2003-11-30T16:03:20Z</dcterms:created>
  <dcterms:modified xsi:type="dcterms:W3CDTF">2026-08-19T01:09:37Z</dcterms:modified>
</cp:coreProperties>
</file>