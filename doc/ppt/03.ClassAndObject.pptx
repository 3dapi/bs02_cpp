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3"/>
  </p:notesMasterIdLst>
  <p:sldIdLst>
    <p:sldId id="328" r:id="rId2"/>
    <p:sldId id="405" r:id="rId3"/>
    <p:sldId id="406" r:id="rId4"/>
    <p:sldId id="407" r:id="rId5"/>
    <p:sldId id="408" r:id="rId6"/>
    <p:sldId id="409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422" r:id="rId20"/>
    <p:sldId id="423" r:id="rId21"/>
    <p:sldId id="424" r:id="rId22"/>
    <p:sldId id="426" r:id="rId23"/>
    <p:sldId id="427" r:id="rId24"/>
    <p:sldId id="428" r:id="rId25"/>
    <p:sldId id="429" r:id="rId26"/>
    <p:sldId id="430" r:id="rId27"/>
    <p:sldId id="431" r:id="rId28"/>
    <p:sldId id="440" r:id="rId29"/>
    <p:sldId id="432" r:id="rId30"/>
    <p:sldId id="433" r:id="rId31"/>
    <p:sldId id="434" r:id="rId32"/>
    <p:sldId id="435" r:id="rId33"/>
    <p:sldId id="436" r:id="rId34"/>
    <p:sldId id="437" r:id="rId35"/>
    <p:sldId id="438" r:id="rId36"/>
    <p:sldId id="439" r:id="rId37"/>
    <p:sldId id="425" r:id="rId38"/>
    <p:sldId id="441" r:id="rId39"/>
    <p:sldId id="442" r:id="rId40"/>
    <p:sldId id="443" r:id="rId41"/>
    <p:sldId id="444" r:id="rId42"/>
    <p:sldId id="445" r:id="rId43"/>
    <p:sldId id="446" r:id="rId44"/>
    <p:sldId id="447" r:id="rId45"/>
    <p:sldId id="448" r:id="rId46"/>
    <p:sldId id="449" r:id="rId47"/>
    <p:sldId id="450" r:id="rId48"/>
    <p:sldId id="451" r:id="rId49"/>
    <p:sldId id="452" r:id="rId50"/>
    <p:sldId id="453" r:id="rId51"/>
    <p:sldId id="454" r:id="rId52"/>
    <p:sldId id="455" r:id="rId53"/>
    <p:sldId id="456" r:id="rId54"/>
    <p:sldId id="457" r:id="rId55"/>
    <p:sldId id="458" r:id="rId56"/>
    <p:sldId id="459" r:id="rId57"/>
    <p:sldId id="460" r:id="rId58"/>
    <p:sldId id="461" r:id="rId59"/>
    <p:sldId id="462" r:id="rId60"/>
    <p:sldId id="463" r:id="rId61"/>
    <p:sldId id="464" r:id="rId62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64"/>
      <p:bold r:id="rId65"/>
      <p:italic r:id="rId66"/>
      <p:boldItalic r:id="rId67"/>
    </p:embeddedFont>
    <p:embeddedFont>
      <p:font typeface="D2Coding" panose="020B0609020101020101" pitchFamily="49" charset="-127"/>
      <p:regular r:id="rId68"/>
      <p:bold r:id="rId69"/>
    </p:embeddedFont>
    <p:embeddedFont>
      <p:font typeface="HY견고딕" panose="02030600000101010101" pitchFamily="18" charset="-127"/>
      <p:regular r:id="rId70"/>
    </p:embeddedFont>
    <p:embeddedFont>
      <p:font typeface="Noto Sans KR" panose="020B0200000000000000" pitchFamily="50" charset="-127"/>
      <p:regular r:id="rId71"/>
      <p:bold r:id="rId72"/>
    </p:embeddedFont>
    <p:embeddedFont>
      <p:font typeface="Pretendard ExtraBold" panose="02000903000000020004" pitchFamily="50" charset="-127"/>
      <p:bold r:id="rId73"/>
    </p:embeddedFont>
    <p:embeddedFont>
      <p:font typeface="가을체" panose="02030600000101010101" pitchFamily="18" charset="-127"/>
      <p:regular r:id="rId74"/>
    </p:embeddedFont>
    <p:embeddedFont>
      <p:font typeface="나눔고딕 ExtraBold" panose="020D0904000000000000" pitchFamily="50" charset="-127"/>
      <p:bold r:id="rId75"/>
    </p:embeddedFont>
    <p:embeddedFont>
      <p:font typeface="나눔바른고딕" panose="020B0603020101020101" pitchFamily="50" charset="-127"/>
      <p:regular r:id="rId76"/>
      <p:bold r:id="rId77"/>
    </p:embeddedFont>
    <p:embeddedFont>
      <p:font typeface="넥슨Lv2고딕 Bold" panose="00000800000000000000" pitchFamily="2" charset="-127"/>
      <p:bold r:id="rId7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FF"/>
    <a:srgbClr val="FFFFCC"/>
    <a:srgbClr val="CC00CC"/>
    <a:srgbClr val="C18401"/>
    <a:srgbClr val="FF9900"/>
    <a:srgbClr val="EFEFED"/>
    <a:srgbClr val="FF00FF"/>
    <a:srgbClr val="CC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>
        <p:scale>
          <a:sx n="125" d="100"/>
          <a:sy n="125" d="100"/>
        </p:scale>
        <p:origin x="1836" y="13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1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77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9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7.fntdata"/><Relationship Id="rId75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73" Type="http://schemas.openxmlformats.org/officeDocument/2006/relationships/font" Target="fonts/font10.fntdata"/><Relationship Id="rId78" Type="http://schemas.openxmlformats.org/officeDocument/2006/relationships/font" Target="fonts/font15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3.fntdata"/><Relationship Id="rId7" Type="http://schemas.openxmlformats.org/officeDocument/2006/relationships/slide" Target="slides/slide6.xml"/><Relationship Id="rId71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ko-KR" altLang="ko-KR" dirty="0"/>
              <a:t>0</a:t>
            </a:r>
            <a:r>
              <a:rPr lang="en-US" altLang="ko-KR" dirty="0"/>
              <a:t>3</a:t>
            </a:r>
            <a:r>
              <a:rPr lang="ko-KR" altLang="ko-KR" dirty="0"/>
              <a:t>. </a:t>
            </a:r>
            <a:r>
              <a:rPr lang="ko-KR" altLang="en-US" dirty="0"/>
              <a:t>클래스와 객체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69AE7-B6CA-7B74-91D5-D313AF5C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3.0 </a:t>
            </a:r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A5DDA1-071B-FF1E-D9AA-514A0A05A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400" dirty="0"/>
              <a:t>소프트웨어 모델링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절차적 구조와 객체지향 구조 비교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객체 모델에서 C++ 클래스로 전환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 err="1"/>
              <a:t>class와</a:t>
            </a:r>
            <a:r>
              <a:rPr lang="ko-KR" altLang="ko-KR" sz="2400" dirty="0"/>
              <a:t> </a:t>
            </a:r>
            <a:r>
              <a:rPr lang="ko-KR" altLang="ko-KR" sz="2400" dirty="0" err="1"/>
              <a:t>struct의</a:t>
            </a:r>
            <a:r>
              <a:rPr lang="ko-KR" altLang="ko-KR" sz="2400" dirty="0"/>
              <a:t> 사용 기준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접근 제어와 캡슐화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멤버 함수와 </a:t>
            </a:r>
            <a:r>
              <a:rPr lang="ko-KR" altLang="ko-KR" sz="2400" dirty="0" err="1"/>
              <a:t>this</a:t>
            </a:r>
            <a:endParaRPr lang="ko-KR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정적 멤버와 클래스 상태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클래스 내부 선언과 </a:t>
            </a:r>
            <a:r>
              <a:rPr lang="ko-KR" altLang="ko-KR" sz="2400" dirty="0" err="1"/>
              <a:t>friend</a:t>
            </a:r>
            <a:endParaRPr lang="ko-KR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선언과 구현의 분리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UML 다이어그램과 C++ 코드</a:t>
            </a:r>
          </a:p>
          <a:p>
            <a:pPr>
              <a:lnSpc>
                <a:spcPct val="120000"/>
              </a:lnSpc>
            </a:pP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374E79D3-5855-82D3-A2F2-71FA03FD3E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806087"/>
              </p:ext>
            </p:extLst>
          </p:nvPr>
        </p:nvGraphicFramePr>
        <p:xfrm>
          <a:off x="6300192" y="1185799"/>
          <a:ext cx="1800200" cy="4486402"/>
        </p:xfrm>
        <a:graphic>
          <a:graphicData uri="http://schemas.openxmlformats.org/drawingml/2006/table">
            <a:tbl>
              <a:tblPr/>
              <a:tblGrid>
                <a:gridCol w="1800200">
                  <a:extLst>
                    <a:ext uri="{9D8B030D-6E8A-4147-A177-3AD203B41FA5}">
                      <a16:colId xmlns:a16="http://schemas.microsoft.com/office/drawing/2014/main" val="3717794197"/>
                    </a:ext>
                  </a:extLst>
                </a:gridCol>
              </a:tblGrid>
              <a:tr h="4464496">
                <a:tc>
                  <a:txBody>
                    <a:bodyPr/>
                    <a:lstStyle/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&lt;</a:t>
                      </a:r>
                      <a:r>
                        <a:rPr lang="ko-KR" altLang="en-US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소프트웨어 개발단계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&gt;</a:t>
                      </a: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</a:t>
                      </a: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┐</a:t>
                      </a:r>
                      <a:b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        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b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요구 사항 정의  </a:t>
                      </a: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endParaRPr lang="en-US" altLang="ko-KR" sz="12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        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b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</a:t>
                      </a: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──┘</a:t>
                      </a:r>
                      <a:b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⬇️</a:t>
                      </a:r>
                      <a:b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</a:t>
                      </a: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─────────┐</a:t>
                      </a:r>
                      <a:b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altLang="en-US" sz="1200" b="1" i="0" u="none" strike="noStrike" dirty="0">
                          <a:solidFill>
                            <a:srgbClr val="CC00CC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분석</a:t>
                      </a: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</a:t>
                      </a: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</a:t>
                      </a:r>
                      <a:endParaRPr lang="en-US" altLang="ko-KR" sz="12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└──────────────────┘</a:t>
                      </a:r>
                      <a:b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 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⬇️</a:t>
                      </a:r>
                      <a:b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┌──────────────────┐</a:t>
                      </a:r>
                      <a:endParaRPr lang="en-US" altLang="ko-KR" sz="12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</a:t>
                      </a:r>
                      <a:r>
                        <a:rPr lang="ko-KR" altLang="en-US" sz="1200" b="1" i="0" u="none" strike="noStrike" dirty="0">
                          <a:solidFill>
                            <a:srgbClr val="7030A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설계</a:t>
                      </a: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</a:t>
                      </a: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endParaRPr lang="en-US" altLang="ko-KR" sz="12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</a:t>
                      </a:r>
                      <a:r>
                        <a:rPr 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┘</a:t>
                      </a:r>
                      <a:endParaRPr lang="en-US" altLang="ko-KR" sz="12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     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⬇️</a:t>
                      </a:r>
                      <a:b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┌──────────────────┐</a:t>
                      </a:r>
                      <a:endParaRPr lang="en-US" altLang="ko-KR" sz="12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</a:t>
                      </a:r>
                      <a:r>
                        <a:rPr lang="ko-KR" alt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구현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endParaRPr lang="en-US" altLang="ko-KR" sz="12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└──────────────────┘</a:t>
                      </a:r>
                      <a:endParaRPr lang="ko-KR" altLang="ko-KR" sz="12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 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⬇️</a:t>
                      </a:r>
                      <a:b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┌──────────────────┐</a:t>
                      </a:r>
                      <a:endParaRPr lang="en-US" altLang="ko-KR" sz="12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altLang="en-US" sz="1200" b="1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테스트</a:t>
                      </a:r>
                      <a:r>
                        <a:rPr lang="ko-KR" altLang="en-US" sz="1200" b="1" i="0" u="none" strike="noStrike" dirty="0">
                          <a:solidFill>
                            <a:srgbClr val="7030A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endParaRPr lang="en-US" altLang="ko-KR" sz="12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└──────────────────┘</a:t>
                      </a:r>
                      <a:endParaRPr lang="ko-KR" altLang="ko-KR" sz="12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 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⬇️</a:t>
                      </a:r>
                      <a:b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┌──────────────────┐</a:t>
                      </a:r>
                      <a:endParaRPr lang="en-US" altLang="ko-KR" sz="12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        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b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</a:t>
                      </a:r>
                      <a:r>
                        <a:rPr lang="ko-KR" altLang="en-US" sz="1200" b="1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배포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endParaRPr lang="en-US" altLang="ko-KR" sz="12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        </a:t>
                      </a: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b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altLang="ko-KR" sz="12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└──────────────────┘</a:t>
                      </a:r>
                      <a:endParaRPr lang="ko-KR" sz="12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080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041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56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4D8F0E-4E78-61C0-B958-300128AAD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 소프트웨어 모델링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198882-7B8B-E648-C790-F3A003704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모델링</a:t>
            </a:r>
            <a:r>
              <a:rPr lang="en-US" altLang="ko-KR" sz="2000" dirty="0"/>
              <a:t>: </a:t>
            </a:r>
            <a:r>
              <a:rPr lang="ko-KR" altLang="ko-KR" sz="2000" dirty="0"/>
              <a:t>요구 사항 분석</a:t>
            </a:r>
            <a:r>
              <a:rPr lang="en-US" altLang="ko-KR" sz="2000" dirty="0"/>
              <a:t>, </a:t>
            </a:r>
            <a:r>
              <a:rPr lang="ko-KR" altLang="ko-KR" sz="2000" dirty="0"/>
              <a:t>프로그램으로 구현할 구조와 동작을 표현하는 과정</a:t>
            </a:r>
          </a:p>
          <a:p>
            <a:pPr lvl="0"/>
            <a:r>
              <a:rPr lang="ko-KR" altLang="ko-KR" sz="2000" dirty="0"/>
              <a:t>실제 시스템 전체를 그대로 옮기는 것이 아니라 필요한 요소를 선택하고 단순화</a:t>
            </a:r>
          </a:p>
          <a:p>
            <a:pPr lvl="0"/>
            <a:r>
              <a:rPr lang="ko-KR" altLang="ko-KR" sz="2000" dirty="0"/>
              <a:t>개발자 사이에서 구조를 공유하고 변경과 재작업을 줄이는 목적</a:t>
            </a:r>
          </a:p>
          <a:p>
            <a:endParaRPr lang="ko-KR" altLang="en-US" sz="20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B3556E2-BE75-3512-38AE-96EDFC096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978331"/>
              </p:ext>
            </p:extLst>
          </p:nvPr>
        </p:nvGraphicFramePr>
        <p:xfrm>
          <a:off x="543550" y="3053217"/>
          <a:ext cx="5290074" cy="2183000"/>
        </p:xfrm>
        <a:graphic>
          <a:graphicData uri="http://schemas.openxmlformats.org/drawingml/2006/table">
            <a:tbl>
              <a:tblPr/>
              <a:tblGrid>
                <a:gridCol w="1977706">
                  <a:extLst>
                    <a:ext uri="{9D8B030D-6E8A-4147-A177-3AD203B41FA5}">
                      <a16:colId xmlns:a16="http://schemas.microsoft.com/office/drawing/2014/main" val="2844785414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5641788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산출물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 내용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803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요구 사항 명세서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필요한 기능과 조건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54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순서도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작업의 처리 순서와 제어 흐름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86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DFD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데이터의 입력, 처리, 이동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146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UML 다이어그램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객체의 구조, 관계, 협력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471339"/>
                  </a:ext>
                </a:extLst>
              </a:tr>
            </a:tbl>
          </a:graphicData>
        </a:graphic>
      </p:graphicFrame>
      <p:graphicFrame>
        <p:nvGraphicFramePr>
          <p:cNvPr id="9" name="내용 개체 틀 4">
            <a:extLst>
              <a:ext uri="{FF2B5EF4-FFF2-40B4-BE49-F238E27FC236}">
                <a16:creationId xmlns:a16="http://schemas.microsoft.com/office/drawing/2014/main" id="{D24040AE-C2EC-AF07-024E-746DF48CF9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1561856"/>
              </p:ext>
            </p:extLst>
          </p:nvPr>
        </p:nvGraphicFramePr>
        <p:xfrm>
          <a:off x="6194694" y="2924944"/>
          <a:ext cx="2841802" cy="2311273"/>
        </p:xfrm>
        <a:graphic>
          <a:graphicData uri="http://schemas.openxmlformats.org/drawingml/2006/table">
            <a:tbl>
              <a:tblPr/>
              <a:tblGrid>
                <a:gridCol w="2841802">
                  <a:extLst>
                    <a:ext uri="{9D8B030D-6E8A-4147-A177-3AD203B41FA5}">
                      <a16:colId xmlns:a16="http://schemas.microsoft.com/office/drawing/2014/main" val="3717794197"/>
                    </a:ext>
                  </a:extLst>
                </a:gridCol>
              </a:tblGrid>
              <a:tr h="2058446">
                <a:tc>
                  <a:txBody>
                    <a:bodyPr/>
                    <a:lstStyle/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&lt;</a:t>
                      </a:r>
                      <a:r>
                        <a:rPr lang="ko-KR" altLang="en-US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소프트웨어 모델링</a:t>
                      </a: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&gt;</a:t>
                      </a: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</a:t>
                      </a:r>
                      <a:r>
                        <a:rPr lang="ko-KR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─────────────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┐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요구 사항 정의  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endParaRPr lang="en-US" altLang="ko-KR" sz="14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</a:t>
                      </a:r>
                      <a:r>
                        <a:rPr lang="ko-KR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</a:t>
                      </a:r>
                      <a:r>
                        <a:rPr lang="ko-KR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──┘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</a:t>
                      </a: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⬇️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</a:t>
                      </a:r>
                      <a:r>
                        <a:rPr lang="ko-KR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─────────────────────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─┐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r>
                        <a:rPr lang="ko-KR" altLang="en-US" sz="1400" b="1" i="0" u="none" strike="noStrike" dirty="0">
                          <a:solidFill>
                            <a:srgbClr val="CC00CC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필요한 데이터와 기능 추출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endParaRPr lang="en-US" altLang="ko-KR" sz="14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</a:t>
                      </a:r>
                      <a:r>
                        <a:rPr lang="ko-KR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────────────────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</a:t>
                      </a:r>
                      <a:r>
                        <a:rPr lang="ko-KR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──┘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</a:t>
                      </a: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   </a:t>
                      </a: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⬇️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┌────────────────────────┐</a:t>
                      </a:r>
                      <a:endParaRPr lang="en-US" altLang="ko-KR" sz="14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altLang="en-US" sz="1400" b="1" i="0" u="none" strike="noStrike" dirty="0">
                          <a:solidFill>
                            <a:srgbClr val="7030A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프로그램 구조로 표현 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endParaRPr lang="en-US" altLang="ko-KR" sz="14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└────────────────────────┘</a:t>
                      </a:r>
                      <a:endParaRPr lang="en-US" altLang="ko-KR" sz="14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60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041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41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0C448-43B6-D150-B34B-5F31C0D4D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3.1.3 절차적 모델링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5B462F-0245-338B-019A-F6BEE7EC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프로그램이 수행할 작업을 함수로 나눔</a:t>
            </a:r>
          </a:p>
          <a:p>
            <a:pPr lvl="0"/>
            <a:r>
              <a:rPr lang="ko-KR" altLang="ko-KR" dirty="0"/>
              <a:t>처리 순서와 데이터 흐름을 중심으로 구성</a:t>
            </a:r>
          </a:p>
          <a:p>
            <a:pPr lvl="0"/>
            <a:r>
              <a:rPr lang="ko-KR" altLang="ko-KR" dirty="0"/>
              <a:t>어떤 함수가 어떤 데이터를 처리하는지가 중요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FC2864-7A56-C656-D900-2879BB75B734}"/>
              </a:ext>
            </a:extLst>
          </p:cNvPr>
          <p:cNvSpPr txBox="1"/>
          <p:nvPr/>
        </p:nvSpPr>
        <p:spPr>
          <a:xfrm>
            <a:off x="683568" y="2939826"/>
            <a:ext cx="3698689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24000">
            <a:spAutoFit/>
          </a:bodyPr>
          <a:lstStyle/>
          <a:p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    </a:t>
            </a:r>
            <a:r>
              <a:rPr lang="ko-KR" altLang="ko-KR" sz="180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피해량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입력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   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↓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현재 체력에서 </a:t>
            </a:r>
            <a:r>
              <a:rPr lang="ko-KR" altLang="ko-KR" sz="180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피해량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차감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  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 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↓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체력이 </a:t>
            </a:r>
            <a:r>
              <a:rPr lang="ko-KR" altLang="ko-KR" sz="180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0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보다 작은가?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  ↙        ↘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예          </a:t>
            </a:r>
            <a:r>
              <a:rPr lang="ko-KR" altLang="ko-KR" sz="180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아니오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↓             ↓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체력을 </a:t>
            </a:r>
            <a:r>
              <a:rPr lang="ko-KR" altLang="ko-KR" sz="180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0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으로 설정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  ↘        ↙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   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종료</a:t>
            </a:r>
            <a:endParaRPr lang="ko-KR" altLang="en-US" sz="4000" dirty="0">
              <a:latin typeface="Consolas" panose="020B0609020204030204" pitchFamily="49" charset="0"/>
              <a:ea typeface="Noto Sans KR ExtraBold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C2CF4-5AFB-1B2D-93D6-80B56F56F4EE}"/>
              </a:ext>
            </a:extLst>
          </p:cNvPr>
          <p:cNvSpPr txBox="1"/>
          <p:nvPr/>
        </p:nvSpPr>
        <p:spPr>
          <a:xfrm>
            <a:off x="4788123" y="3429000"/>
            <a:ext cx="3240261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24000">
            <a:spAutoFit/>
          </a:bodyPr>
          <a:lstStyle/>
          <a:p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[적의 공격]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    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│ </a:t>
            </a:r>
            <a:r>
              <a:rPr lang="ko-KR" altLang="ko-KR" sz="180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피해량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   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↓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(피해 계산)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   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│ 변경된 체력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  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↓</a:t>
            </a:r>
            <a:b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  </a:t>
            </a:r>
            <a:r>
              <a:rPr lang="ko-KR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Noto Sans KR ExtraBold" panose="020B0200000000000000" pitchFamily="50" charset="-127"/>
              </a:rPr>
              <a:t>[캐릭터 데이터]</a:t>
            </a:r>
            <a:endParaRPr lang="ko-KR" altLang="en-US" sz="4000" dirty="0">
              <a:latin typeface="Consolas" panose="020B0609020204030204" pitchFamily="49" charset="0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9431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9C23E-521A-DEC2-DB75-C7503233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BAFCB-05B7-541F-3978-BF2C843D6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3.1.5 데이터와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8D57F-B897-7840-3635-B71E9D2E1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FCECE-B034-785E-368D-9094999D6C55}"/>
              </a:ext>
            </a:extLst>
          </p:cNvPr>
          <p:cNvSpPr txBox="1"/>
          <p:nvPr/>
        </p:nvSpPr>
        <p:spPr>
          <a:xfrm>
            <a:off x="395536" y="764704"/>
            <a:ext cx="7344816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Character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TakeDamage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damage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damage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3514DF-E08E-64A6-CC9F-D5A60B25F970}"/>
              </a:ext>
            </a:extLst>
          </p:cNvPr>
          <p:cNvSpPr txBox="1"/>
          <p:nvPr/>
        </p:nvSpPr>
        <p:spPr>
          <a:xfrm>
            <a:off x="395536" y="3917255"/>
            <a:ext cx="7344816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Character는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데이터를 저장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TakeDamage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()는 전달받은 데이터를 변경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처리 흐름이 단순하면 함수 중심 구조도 명확함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FB65DB-FA0C-86E5-1573-B817D5BD69B4}"/>
              </a:ext>
            </a:extLst>
          </p:cNvPr>
          <p:cNvSpPr txBox="1"/>
          <p:nvPr/>
        </p:nvSpPr>
        <p:spPr>
          <a:xfrm>
            <a:off x="395536" y="5036983"/>
            <a:ext cx="7344816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Attack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TakeDamage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damage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Recover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693594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3914C-272F-EF00-2DD6-E2B1E706E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3.1.6 절차적 구조의 한계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005FB2-0344-DF8E-3334-A28303DD0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프로그램이 커지면 여러 함수가 같은 데이터를 공유하고 변경</a:t>
            </a:r>
          </a:p>
          <a:p>
            <a:pPr lvl="0"/>
            <a:r>
              <a:rPr lang="ko-KR" altLang="ko-KR" sz="2400" dirty="0"/>
              <a:t>체력의 최소값, 최대값, 사망 조건 같은 규칙이 여러 함수에 흩어질 수 있음</a:t>
            </a:r>
          </a:p>
          <a:p>
            <a:pPr lvl="0"/>
            <a:r>
              <a:rPr lang="ko-KR" altLang="ko-KR" sz="2400" dirty="0"/>
              <a:t>규칙이 변경되면 관련된 함수를 모두 확인해야 함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C16C285-EF2F-6E22-C695-55DBC9E90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623969"/>
              </p:ext>
            </p:extLst>
          </p:nvPr>
        </p:nvGraphicFramePr>
        <p:xfrm>
          <a:off x="674316" y="3026141"/>
          <a:ext cx="3168154" cy="2410560"/>
        </p:xfrm>
        <a:graphic>
          <a:graphicData uri="http://schemas.openxmlformats.org/drawingml/2006/table">
            <a:tbl>
              <a:tblPr/>
              <a:tblGrid>
                <a:gridCol w="3168154">
                  <a:extLst>
                    <a:ext uri="{9D8B030D-6E8A-4147-A177-3AD203B41FA5}">
                      <a16:colId xmlns:a16="http://schemas.microsoft.com/office/drawing/2014/main" val="2520478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데이터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TakeDamage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Recover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Load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Reset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</a:t>
                      </a: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Save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ko-KR" sz="40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08000" marR="108000" marT="108000" marB="10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90625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FACCC9E-8396-7FE6-AD0A-451637FB8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707689"/>
              </p:ext>
            </p:extLst>
          </p:nvPr>
        </p:nvGraphicFramePr>
        <p:xfrm>
          <a:off x="3995936" y="3717032"/>
          <a:ext cx="4474145" cy="1719669"/>
        </p:xfrm>
        <a:graphic>
          <a:graphicData uri="http://schemas.openxmlformats.org/drawingml/2006/table">
            <a:tbl>
              <a:tblPr/>
              <a:tblGrid>
                <a:gridCol w="4474145">
                  <a:extLst>
                    <a:ext uri="{9D8B030D-6E8A-4147-A177-3AD203B41FA5}">
                      <a16:colId xmlns:a16="http://schemas.microsoft.com/office/drawing/2014/main" val="457421368"/>
                    </a:ext>
                  </a:extLst>
                </a:gridCol>
              </a:tblGrid>
              <a:tr h="171966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핵심 문제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함수의 수가 많은 것 자체가 문제는 아님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상태와 변경 규칙을 누가 책임지는지가 중요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상태 + 변경 규칙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    ⬇️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하나의 책임 단위로 묶는 구조 필요</a:t>
                      </a:r>
                      <a:endParaRPr lang="ko-KR" sz="2800" b="1" dirty="0">
                        <a:effectLst/>
                      </a:endParaRPr>
                    </a:p>
                  </a:txBody>
                  <a:tcPr marL="108000" marR="108000" marT="108000" marB="10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736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378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E0318-7FE7-B65B-B2BC-9CFC79C27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D874A-17F2-221E-1942-5D0E19E96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3.2 객체지향 모델링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A05798-4D68-63FF-E717-CAA5B7696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프로그램에 필요한 대상을 객체로 나눔</a:t>
            </a:r>
          </a:p>
          <a:p>
            <a:pPr lvl="0"/>
            <a:r>
              <a:rPr lang="ko-KR" altLang="ko-KR" dirty="0"/>
              <a:t>각 객체가 자신의 상태와 책임을 관리</a:t>
            </a:r>
          </a:p>
          <a:p>
            <a:pPr lvl="0"/>
            <a:r>
              <a:rPr lang="ko-KR" altLang="ko-KR" dirty="0"/>
              <a:t>객체 사이의 관계와 협력을 중심으로 구조를 표현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DD1289F-EFDD-71E8-3A63-C423754A2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05729"/>
              </p:ext>
            </p:extLst>
          </p:nvPr>
        </p:nvGraphicFramePr>
        <p:xfrm>
          <a:off x="1043608" y="2380530"/>
          <a:ext cx="5688632" cy="4330800"/>
        </p:xfrm>
        <a:graphic>
          <a:graphicData uri="http://schemas.openxmlformats.org/drawingml/2006/table">
            <a:tbl>
              <a:tblPr/>
              <a:tblGrid>
                <a:gridCol w="5688632">
                  <a:extLst>
                    <a:ext uri="{9D8B030D-6E8A-4147-A177-3AD203B41FA5}">
                      <a16:colId xmlns:a16="http://schemas.microsoft.com/office/drawing/2014/main" val="1746225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요구 사항과 대상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⬇️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필요한 특징 선택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⬇️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객체 식별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⬇️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객체의 상태와 책임 결정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⬇️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객체 사이의 관계와 협력 설계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⬇️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C++ 코드로 구현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객체는 물리적 사물만 의미하지 않음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계좌, 주문, 인벤토리, 게임 상태,</a:t>
                      </a:r>
                      <a:br>
                        <a:rPr lang="en-US" alt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입력 관리자도 객체가 될 수 있음</a:t>
                      </a:r>
                      <a:endParaRPr lang="ko-KR" sz="3200" b="1" dirty="0">
                        <a:effectLst/>
                      </a:endParaRPr>
                    </a:p>
                  </a:txBody>
                  <a:tcPr marL="108000" marR="108000" marT="108000" marB="10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21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48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7BDD5-4659-E220-4CDA-F62C9BA1E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CF88B-0D7A-71B0-C5B6-9BB9D52C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3.2.2 객체의 상태와 책임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0680FE-F22C-7F98-256F-474119482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객체지향 모델링의 질문</a:t>
            </a:r>
          </a:p>
          <a:p>
            <a:pPr lvl="1"/>
            <a:r>
              <a:rPr lang="ko-KR" altLang="ko-KR" sz="2000" dirty="0"/>
              <a:t>어떤 객체가 필요한가</a:t>
            </a:r>
          </a:p>
          <a:p>
            <a:pPr lvl="1"/>
            <a:r>
              <a:rPr lang="ko-KR" altLang="ko-KR" sz="2000" dirty="0"/>
              <a:t>객체가 어떤 상태를 가지는가</a:t>
            </a:r>
          </a:p>
          <a:p>
            <a:pPr lvl="1"/>
            <a:r>
              <a:rPr lang="ko-KR" altLang="ko-KR" sz="2000" dirty="0"/>
              <a:t>객체가 어떤 책임을 담당하는가</a:t>
            </a:r>
          </a:p>
          <a:p>
            <a:pPr lvl="1"/>
            <a:r>
              <a:rPr lang="ko-KR" altLang="ko-KR" sz="2000" dirty="0"/>
              <a:t>객체들이 어떤 관계를 맺는가</a:t>
            </a:r>
          </a:p>
          <a:p>
            <a:pPr lvl="1"/>
            <a:r>
              <a:rPr lang="ko-KR" altLang="ko-KR" sz="2000" dirty="0"/>
              <a:t>객체들이 어떻게 협력하는가</a:t>
            </a:r>
          </a:p>
          <a:p>
            <a:pPr lvl="1"/>
            <a:r>
              <a:rPr lang="ko-KR" altLang="ko-KR" sz="2000" dirty="0"/>
              <a:t>중요한 것은 데이터를 어느 객체가 관리하는지 결정</a:t>
            </a:r>
          </a:p>
          <a:p>
            <a:pPr lvl="1"/>
            <a:r>
              <a:rPr lang="ko-KR" altLang="ko-KR" sz="2000" dirty="0"/>
              <a:t>상태 변경 규칙은 그 상태를 가진 객체가 책임지는 구조</a:t>
            </a:r>
            <a:endParaRPr lang="ko-KR" altLang="en-US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8ECC14-B014-6A78-4E43-C92384EAF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06168"/>
              </p:ext>
            </p:extLst>
          </p:nvPr>
        </p:nvGraphicFramePr>
        <p:xfrm>
          <a:off x="971600" y="3992364"/>
          <a:ext cx="3024138" cy="2687320"/>
        </p:xfrm>
        <a:graphic>
          <a:graphicData uri="http://schemas.openxmlformats.org/drawingml/2006/table">
            <a:tbl>
              <a:tblPr/>
              <a:tblGrid>
                <a:gridCol w="3024138">
                  <a:extLst>
                    <a:ext uri="{9D8B030D-6E8A-4147-A177-3AD203B41FA5}">
                      <a16:colId xmlns:a16="http://schemas.microsoft.com/office/drawing/2014/main" val="393947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게임 캐릭터</a:t>
                      </a:r>
                      <a:b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alt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</a:t>
                      </a:r>
                      <a: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─ 상태</a:t>
                      </a:r>
                      <a:b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├─ 이름</a:t>
                      </a:r>
                      <a:b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├─ 체력</a:t>
                      </a:r>
                      <a:b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├─ 위치</a:t>
                      </a:r>
                      <a:b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└─ 공격력</a:t>
                      </a:r>
                      <a:endParaRPr lang="ko-KR" sz="4400" b="1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284489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388F3B2-B365-2111-F7FB-E002A8C44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088418"/>
              </p:ext>
            </p:extLst>
          </p:nvPr>
        </p:nvGraphicFramePr>
        <p:xfrm>
          <a:off x="4355976" y="3992364"/>
          <a:ext cx="3024138" cy="2687320"/>
        </p:xfrm>
        <a:graphic>
          <a:graphicData uri="http://schemas.openxmlformats.org/drawingml/2006/table">
            <a:tbl>
              <a:tblPr/>
              <a:tblGrid>
                <a:gridCol w="3024138">
                  <a:extLst>
                    <a:ext uri="{9D8B030D-6E8A-4147-A177-3AD203B41FA5}">
                      <a16:colId xmlns:a16="http://schemas.microsoft.com/office/drawing/2014/main" val="393947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게임 캐릭터</a:t>
                      </a:r>
                      <a:b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alt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│</a:t>
                      </a:r>
                      <a:b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동작</a:t>
                      </a:r>
                      <a:b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├─ 이동</a:t>
                      </a:r>
                      <a:b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├─ 공격</a:t>
                      </a:r>
                      <a:b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└─ 피해 처리</a:t>
                      </a:r>
                      <a:endParaRPr lang="ko-KR" sz="4400" b="1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284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305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1D1FE-5B20-FE85-428C-E0385E578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32658-06D3-4C00-A220-188303F5E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3.2.3 객체의 관계와 프로그램 구조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539288-32EB-7F12-8D0D-18665D18D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객체는 독립된 부품처럼 구성할 수 있음</a:t>
            </a:r>
          </a:p>
          <a:p>
            <a:pPr lvl="0"/>
            <a:r>
              <a:rPr lang="ko-KR" altLang="ko-KR" dirty="0"/>
              <a:t>작은 객체를 연결하여 더 큰 객체와 프로그램으로 확장</a:t>
            </a:r>
          </a:p>
          <a:p>
            <a:pPr lvl="0"/>
            <a:r>
              <a:rPr lang="ko-KR" altLang="ko-KR" dirty="0"/>
              <a:t>객체 사이의 관계에서 새로운 객체가 도출될 수 있음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791EB4E-9838-8106-FCF9-F0156AB44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365348"/>
              </p:ext>
            </p:extLst>
          </p:nvPr>
        </p:nvGraphicFramePr>
        <p:xfrm>
          <a:off x="539750" y="2792740"/>
          <a:ext cx="1511971" cy="1041400"/>
        </p:xfrm>
        <a:graphic>
          <a:graphicData uri="http://schemas.openxmlformats.org/drawingml/2006/table">
            <a:tbl>
              <a:tblPr/>
              <a:tblGrid>
                <a:gridCol w="1511971">
                  <a:extLst>
                    <a:ext uri="{9D8B030D-6E8A-4147-A177-3AD203B41FA5}">
                      <a16:colId xmlns:a16="http://schemas.microsoft.com/office/drawing/2014/main" val="3690460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학생</a:t>
                      </a:r>
                      <a:b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학번</a:t>
                      </a:r>
                      <a:b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이름</a:t>
                      </a:r>
                      <a:endParaRPr lang="ko-KR" sz="3600" b="1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715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8C8AA8E-571E-3BAC-6C08-0F987E04C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426795"/>
              </p:ext>
            </p:extLst>
          </p:nvPr>
        </p:nvGraphicFramePr>
        <p:xfrm>
          <a:off x="6061271" y="2937004"/>
          <a:ext cx="2255143" cy="1346200"/>
        </p:xfrm>
        <a:graphic>
          <a:graphicData uri="http://schemas.openxmlformats.org/drawingml/2006/table">
            <a:tbl>
              <a:tblPr/>
              <a:tblGrid>
                <a:gridCol w="2255143">
                  <a:extLst>
                    <a:ext uri="{9D8B030D-6E8A-4147-A177-3AD203B41FA5}">
                      <a16:colId xmlns:a16="http://schemas.microsoft.com/office/drawing/2014/main" val="332177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과목</a:t>
                      </a:r>
                      <a:b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과목 코드</a:t>
                      </a:r>
                      <a:b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과목명</a:t>
                      </a:r>
                      <a:b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이수 학점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69289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6C9FB4A-B746-8B8F-7E94-E7C860FFE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202030"/>
              </p:ext>
            </p:extLst>
          </p:nvPr>
        </p:nvGraphicFramePr>
        <p:xfrm>
          <a:off x="2267744" y="3121025"/>
          <a:ext cx="3384375" cy="431800"/>
        </p:xfrm>
        <a:graphic>
          <a:graphicData uri="http://schemas.openxmlformats.org/drawingml/2006/table">
            <a:tbl>
              <a:tblPr/>
              <a:tblGrid>
                <a:gridCol w="3384375">
                  <a:extLst>
                    <a:ext uri="{9D8B030D-6E8A-4147-A177-3AD203B41FA5}">
                      <a16:colId xmlns:a16="http://schemas.microsoft.com/office/drawing/2014/main" val="1042392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학생 &lt;──── 강좌 ────&gt; 과목</a:t>
                      </a:r>
                      <a:endParaRPr lang="ko-KR" sz="36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08143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EFB14B2-9DA5-4217-7D2E-E58DB9AC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355757"/>
              </p:ext>
            </p:extLst>
          </p:nvPr>
        </p:nvGraphicFramePr>
        <p:xfrm>
          <a:off x="2675236" y="3743225"/>
          <a:ext cx="2569389" cy="2260600"/>
        </p:xfrm>
        <a:graphic>
          <a:graphicData uri="http://schemas.openxmlformats.org/drawingml/2006/table">
            <a:tbl>
              <a:tblPr/>
              <a:tblGrid>
                <a:gridCol w="2569389">
                  <a:extLst>
                    <a:ext uri="{9D8B030D-6E8A-4147-A177-3AD203B41FA5}">
                      <a16:colId xmlns:a16="http://schemas.microsoft.com/office/drawing/2014/main" val="39934675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강좌</a:t>
                      </a:r>
                      <a:b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과목</a:t>
                      </a:r>
                      <a:b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수강 학생 목록</a:t>
                      </a:r>
                      <a:b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담당 교수</a:t>
                      </a:r>
                      <a:b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강의실</a:t>
                      </a:r>
                      <a:b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수업 시간</a:t>
                      </a:r>
                      <a:b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개설 학기</a:t>
                      </a:r>
                      <a:endParaRPr lang="ko-KR" sz="36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013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813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2CADA-6061-A5B1-F2F8-4D772D014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CF9BD-8F60-FDCF-0F8A-EA5839AB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3.2.4 객체의 협력과 실행 흐름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E187A0-A3CE-A8A4-DE87-18C06A141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객체지향 모델링은 구조뿐 아니라</a:t>
            </a:r>
            <a:br>
              <a:rPr lang="en-US" altLang="ko-KR" sz="2400" dirty="0"/>
            </a:br>
            <a:r>
              <a:rPr lang="ko-KR" altLang="ko-KR" sz="2400" dirty="0"/>
              <a:t>객체들이 어떤 순서로 요청하는지도 설계</a:t>
            </a:r>
            <a:endParaRPr lang="en-US" altLang="ko-KR" sz="2400" dirty="0"/>
          </a:p>
          <a:p>
            <a:pPr lvl="0"/>
            <a:endParaRPr lang="ko-KR" altLang="ko-KR" sz="2400" dirty="0"/>
          </a:p>
          <a:p>
            <a:pPr lvl="0"/>
            <a:r>
              <a:rPr lang="ko-KR" altLang="ko-KR" sz="2400"/>
              <a:t>Player가 모든 데이터를 직접 변경하면 책임이 커짐</a:t>
            </a:r>
          </a:p>
          <a:p>
            <a:pPr lvl="0"/>
            <a:r>
              <a:rPr lang="ko-KR" altLang="ko-KR" sz="2400"/>
              <a:t>각 </a:t>
            </a:r>
            <a:r>
              <a:rPr lang="ko-KR" altLang="ko-KR" sz="2400" dirty="0"/>
              <a:t>객체가 자신의 상태와 기능을 담당하도록 구성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6239F0C-98F6-C76B-F567-3A2855849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678233"/>
              </p:ext>
            </p:extLst>
          </p:nvPr>
        </p:nvGraphicFramePr>
        <p:xfrm>
          <a:off x="1619672" y="3396727"/>
          <a:ext cx="4032448" cy="1224280"/>
        </p:xfrm>
        <a:graphic>
          <a:graphicData uri="http://schemas.openxmlformats.org/drawingml/2006/table">
            <a:tbl>
              <a:tblPr/>
              <a:tblGrid>
                <a:gridCol w="4032448">
                  <a:extLst>
                    <a:ext uri="{9D8B030D-6E8A-4147-A177-3AD203B41FA5}">
                      <a16:colId xmlns:a16="http://schemas.microsoft.com/office/drawing/2014/main" val="19865658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──공격력 요청──▶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Weapon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Weapon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──공격력 반환──▶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──피해 처리 요청──▶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──체력 변경──▶ 자신의 상태</a:t>
                      </a:r>
                      <a:endParaRPr lang="ko-KR" sz="3200" b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745214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72B18B5-1F03-2E74-CE1A-C7784374F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755506"/>
              </p:ext>
            </p:extLst>
          </p:nvPr>
        </p:nvGraphicFramePr>
        <p:xfrm>
          <a:off x="1547664" y="4797152"/>
          <a:ext cx="4680520" cy="1642768"/>
        </p:xfrm>
        <a:graphic>
          <a:graphicData uri="http://schemas.openxmlformats.org/drawingml/2006/table">
            <a:tbl>
              <a:tblPr/>
              <a:tblGrid>
                <a:gridCol w="1190803">
                  <a:extLst>
                    <a:ext uri="{9D8B030D-6E8A-4147-A177-3AD203B41FA5}">
                      <a16:colId xmlns:a16="http://schemas.microsoft.com/office/drawing/2014/main" val="763352873"/>
                    </a:ext>
                  </a:extLst>
                </a:gridCol>
                <a:gridCol w="3489717">
                  <a:extLst>
                    <a:ext uri="{9D8B030D-6E8A-4147-A177-3AD203B41FA5}">
                      <a16:colId xmlns:a16="http://schemas.microsoft.com/office/drawing/2014/main" val="120517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책임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24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Player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공격 시작, 사용할 무기 선택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435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Weapon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공격력 관리와 제공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753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Enemy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체력 관리와 피해 처리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48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69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FF444-0303-4F81-63A5-37F8700CB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3515E7-A0A1-1127-AD25-E7FCD4FE7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3.2.5 절차적 구조와 객체지향 구조 비교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BDFF2A-498D-71C7-749E-566CEB7E6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객체지향 프로그래밍은 절차적 코드를 없애는 방식이 아님</a:t>
            </a:r>
          </a:p>
          <a:p>
            <a:pPr lvl="0"/>
            <a:r>
              <a:rPr lang="ko-KR" altLang="ko-KR" sz="2400" dirty="0"/>
              <a:t>핵심은 책임의 배치</a:t>
            </a:r>
          </a:p>
          <a:p>
            <a:endParaRPr lang="ko-KR" altLang="en-US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8DFD0E3-018E-FAB0-6439-409CC1760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716251"/>
              </p:ext>
            </p:extLst>
          </p:nvPr>
        </p:nvGraphicFramePr>
        <p:xfrm>
          <a:off x="521605" y="1772816"/>
          <a:ext cx="7704856" cy="2213480"/>
        </p:xfrm>
        <a:graphic>
          <a:graphicData uri="http://schemas.openxmlformats.org/drawingml/2006/table">
            <a:tbl>
              <a:tblPr/>
              <a:tblGrid>
                <a:gridCol w="1621262">
                  <a:extLst>
                    <a:ext uri="{9D8B030D-6E8A-4147-A177-3AD203B41FA5}">
                      <a16:colId xmlns:a16="http://schemas.microsoft.com/office/drawing/2014/main" val="238983444"/>
                    </a:ext>
                  </a:extLst>
                </a:gridCol>
                <a:gridCol w="3196203">
                  <a:extLst>
                    <a:ext uri="{9D8B030D-6E8A-4147-A177-3AD203B41FA5}">
                      <a16:colId xmlns:a16="http://schemas.microsoft.com/office/drawing/2014/main" val="1560433790"/>
                    </a:ext>
                  </a:extLst>
                </a:gridCol>
                <a:gridCol w="2887391">
                  <a:extLst>
                    <a:ext uri="{9D8B030D-6E8A-4147-A177-3AD203B41FA5}">
                      <a16:colId xmlns:a16="http://schemas.microsoft.com/office/drawing/2014/main" val="3115436308"/>
                    </a:ext>
                  </a:extLst>
                </a:gridCol>
              </a:tblGrid>
              <a:tr h="1799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절차적 구조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객체지향 구조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564056"/>
                  </a:ext>
                </a:extLst>
              </a:tr>
              <a:tr h="1799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중심</a:t>
                      </a:r>
                      <a:endParaRPr lang="ko-KR" sz="36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처리 순서와 함수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객체의 상태와 책임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962789"/>
                  </a:ext>
                </a:extLst>
              </a:tr>
              <a:tr h="1799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데이터</a:t>
                      </a:r>
                      <a:endParaRPr lang="ko-KR" sz="36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여러 함수가 공유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객체가 관리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163095"/>
                  </a:ext>
                </a:extLst>
              </a:tr>
              <a:tr h="1799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규칙</a:t>
                      </a:r>
                      <a:endParaRPr lang="ko-KR" sz="36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함수마다 알고 있을 수 있음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 내부로 모음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753729"/>
                  </a:ext>
                </a:extLst>
              </a:tr>
              <a:tr h="1799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적합한 상황</a:t>
                      </a:r>
                      <a:endParaRPr lang="ko-KR" sz="36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단순 계산, 순서 중심 처리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상태와 규칙이 많은 대상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4352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C4B00D9-8E8F-ABB1-F25C-7040DD370CE5}"/>
              </a:ext>
            </a:extLst>
          </p:cNvPr>
          <p:cNvSpPr txBox="1"/>
          <p:nvPr/>
        </p:nvSpPr>
        <p:spPr>
          <a:xfrm>
            <a:off x="519772" y="4365104"/>
            <a:ext cx="7704855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절차적 구조</a:t>
            </a:r>
            <a:br>
              <a:rPr lang="ko-KR" altLang="ko-KR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데이터 → 함수 → 함수 → 함수</a:t>
            </a:r>
            <a:endParaRPr lang="ko-KR" altLang="en-US" sz="48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7E9EA1-1776-49F2-01EF-6B86389BF698}"/>
              </a:ext>
            </a:extLst>
          </p:cNvPr>
          <p:cNvSpPr txBox="1"/>
          <p:nvPr/>
        </p:nvSpPr>
        <p:spPr>
          <a:xfrm>
            <a:off x="519771" y="5334307"/>
            <a:ext cx="7704855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객체지향 구조</a:t>
            </a:r>
            <a:br>
              <a:rPr lang="ko-KR" altLang="ko-KR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 ──메시지──▶ 객체 ──메시지──▶ 객체</a:t>
            </a:r>
            <a:endParaRPr lang="ko-KR" altLang="en-US" sz="48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7287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1BAA8-0957-B895-F537-924287833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CDC26-5C8F-E088-C26E-6EBBFCB1E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3.2.6 </a:t>
            </a:r>
            <a:r>
              <a:rPr lang="ko-KR" altLang="ko-KR" dirty="0" err="1"/>
              <a:t>UML의</a:t>
            </a:r>
            <a:r>
              <a:rPr lang="ko-KR" altLang="ko-KR" dirty="0"/>
              <a:t> 역할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F2321B-B521-07D0-C1E1-D02EDDD23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UML은</a:t>
            </a:r>
            <a:r>
              <a:rPr lang="ko-KR" altLang="ko-KR" sz="2400" dirty="0"/>
              <a:t> 객체지향 설계 내용을 다이어그램으로 표현하기 위한 모델링 언어</a:t>
            </a:r>
          </a:p>
          <a:p>
            <a:pPr lvl="0"/>
            <a:r>
              <a:rPr lang="ko-KR" altLang="ko-KR" sz="2400" dirty="0"/>
              <a:t>프로그램을 실행하는 언어가 아님</a:t>
            </a:r>
          </a:p>
          <a:p>
            <a:pPr lvl="0"/>
            <a:r>
              <a:rPr lang="ko-KR" altLang="ko-KR" sz="2400" dirty="0"/>
              <a:t>자동으로 코드를 완성해 주는 방법도 아님</a:t>
            </a:r>
          </a:p>
          <a:p>
            <a:pPr lvl="0"/>
            <a:r>
              <a:rPr lang="ko-KR" altLang="ko-KR" sz="2400" dirty="0"/>
              <a:t>구현 전에 구조를 검토하고 개발자 사이에서 공유하는 표현 수단</a:t>
            </a:r>
          </a:p>
          <a:p>
            <a:endParaRPr lang="ko-KR" altLang="en-US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BBE8B15-A9EE-779D-21E9-B81DB86C3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450295"/>
              </p:ext>
            </p:extLst>
          </p:nvPr>
        </p:nvGraphicFramePr>
        <p:xfrm>
          <a:off x="611560" y="3212976"/>
          <a:ext cx="7632848" cy="1437816"/>
        </p:xfrm>
        <a:graphic>
          <a:graphicData uri="http://schemas.openxmlformats.org/drawingml/2006/table">
            <a:tbl>
              <a:tblPr/>
              <a:tblGrid>
                <a:gridCol w="2657229">
                  <a:extLst>
                    <a:ext uri="{9D8B030D-6E8A-4147-A177-3AD203B41FA5}">
                      <a16:colId xmlns:a16="http://schemas.microsoft.com/office/drawing/2014/main" val="3512407211"/>
                    </a:ext>
                  </a:extLst>
                </a:gridCol>
                <a:gridCol w="4975619">
                  <a:extLst>
                    <a:ext uri="{9D8B030D-6E8A-4147-A177-3AD203B41FA5}">
                      <a16:colId xmlns:a16="http://schemas.microsoft.com/office/drawing/2014/main" val="40231199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다이어그램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 내용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596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클래스 다이어그램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객체의 상태, 기능, 클래스 사이의 관계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22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시퀀스 다이어그램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객체의 요청과 처리 순서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5845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424707-643A-15ED-1D32-937830BDED1B}"/>
              </a:ext>
            </a:extLst>
          </p:cNvPr>
          <p:cNvSpPr txBox="1"/>
          <p:nvPr/>
        </p:nvSpPr>
        <p:spPr>
          <a:xfrm>
            <a:off x="611560" y="4941378"/>
            <a:ext cx="7632847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객체의 상태와 기능, 관계 → 클래스 다이어그램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객체의 요청과 처리 순서   → 시퀀스 다이어그램</a:t>
            </a:r>
            <a:endParaRPr lang="ko-KR" altLang="en-US" sz="40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2119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2AB2-E2E5-8660-0419-791A08A9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08A4B-87DB-861F-87E2-562A6CB90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3.3 객체 모델에서 C++ 클래스로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35C867-79D6-91BA-F6CF-77350E7A7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객체지향 모델링에서 찾은 객체는 구현해야 할 논리적 대상</a:t>
            </a:r>
          </a:p>
          <a:p>
            <a:pPr lvl="0"/>
            <a:r>
              <a:rPr lang="ko-KR" altLang="ko-KR" sz="2400" dirty="0"/>
              <a:t>객체의 상태는 데이터로 표현</a:t>
            </a:r>
          </a:p>
          <a:p>
            <a:pPr lvl="0"/>
            <a:r>
              <a:rPr lang="ko-KR" altLang="ko-KR" sz="2400" dirty="0"/>
              <a:t>객체의 기능은 함수로 표현</a:t>
            </a:r>
          </a:p>
          <a:p>
            <a:pPr lvl="0"/>
            <a:r>
              <a:rPr lang="ko-KR" altLang="ko-KR" sz="2400" dirty="0"/>
              <a:t>C++에서는 데이터와 기능을 하나의 </a:t>
            </a:r>
            <a:r>
              <a:rPr lang="ko-KR" altLang="ko-KR" sz="2400" dirty="0">
                <a:solidFill>
                  <a:srgbClr val="0000FF"/>
                </a:solidFill>
              </a:rPr>
              <a:t>사용자 정의 타입</a:t>
            </a:r>
            <a:r>
              <a:rPr lang="ko-KR" altLang="ko-KR" sz="2400" dirty="0"/>
              <a:t>으로 묶기 위해 </a:t>
            </a:r>
            <a:r>
              <a:rPr lang="ko-KR" altLang="ko-KR" sz="2400" dirty="0">
                <a:solidFill>
                  <a:srgbClr val="0000FF"/>
                </a:solidFill>
              </a:rPr>
              <a:t>클래스</a:t>
            </a:r>
            <a:r>
              <a:rPr lang="ko-KR" altLang="ko-KR" sz="2400" dirty="0"/>
              <a:t>를 사용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8A26E-3A4D-52EB-4D33-6A5DDF5B7022}"/>
              </a:ext>
            </a:extLst>
          </p:cNvPr>
          <p:cNvSpPr txBox="1"/>
          <p:nvPr/>
        </p:nvSpPr>
        <p:spPr>
          <a:xfrm>
            <a:off x="136084" y="3933056"/>
            <a:ext cx="4536504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b="1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b="1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객체의 상태 → 멤버 변수</a:t>
            </a:r>
            <a:endParaRPr lang="ko-KR" altLang="ko-KR" b="1" dirty="0">
              <a:solidFill>
                <a:srgbClr val="0070C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b="1" dirty="0">
                <a:solidFill>
                  <a:srgbClr val="0070C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b="1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객체의 기능 → 멤버 함수</a:t>
            </a:r>
            <a:endParaRPr lang="ko-KR" altLang="ko-KR" b="1" dirty="0">
              <a:solidFill>
                <a:srgbClr val="0070C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b="1" dirty="0">
                <a:solidFill>
                  <a:srgbClr val="0070C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b="1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객체의 상태</a:t>
            </a:r>
            <a:r>
              <a:rPr lang="en-US" altLang="ko-KR" b="1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ko-KR" altLang="ko-KR" b="1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기능 정의 → 클래스</a:t>
            </a:r>
            <a:endParaRPr lang="ko-KR" altLang="en-US" b="1" dirty="0">
              <a:solidFill>
                <a:srgbClr val="0070C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21A28-6409-2C57-6B27-A3392DD599F7}"/>
              </a:ext>
            </a:extLst>
          </p:cNvPr>
          <p:cNvSpPr txBox="1"/>
          <p:nvPr/>
        </p:nvSpPr>
        <p:spPr>
          <a:xfrm>
            <a:off x="4896036" y="2924944"/>
            <a:ext cx="3888432" cy="34163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Move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Attack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TakeDamage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damage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800" b="1" i="0" u="none" strike="noStrike" dirty="0">
              <a:solidFill>
                <a:srgbClr val="383A42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attackPower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  <a:endParaRPr lang="ko-KR" altLang="en-US" sz="4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6964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D067-6261-1AB1-369D-5463B53F8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40F54-2AE9-DD01-F32B-71C524CF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3.3.2 멤버 변수와 멤버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E427F-8B1A-FFF9-0B25-9FA2CC351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클래스 안에 선언한 변수는 객체의 상태를 저장</a:t>
            </a:r>
          </a:p>
          <a:p>
            <a:pPr lvl="0"/>
            <a:r>
              <a:rPr lang="ko-KR" altLang="ko-KR" sz="2400" dirty="0"/>
              <a:t>클래스 안에 선언한 함수는 객체가 수행할 기능과</a:t>
            </a:r>
            <a:br>
              <a:rPr lang="en-US" altLang="ko-KR" sz="2400" dirty="0"/>
            </a:br>
            <a:r>
              <a:rPr lang="ko-KR" altLang="ko-KR" sz="2400" dirty="0"/>
              <a:t>상태 변경 규칙을 표현</a:t>
            </a:r>
          </a:p>
          <a:p>
            <a:pPr lvl="0"/>
            <a:r>
              <a:rPr lang="ko-KR" altLang="ko-KR" sz="2400" dirty="0"/>
              <a:t>멤버 함수는 같은 객체의 멤버 변수에 직접 접근 가능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4A5B9-A70B-1B7B-5EA0-9430CD7B042C}"/>
              </a:ext>
            </a:extLst>
          </p:cNvPr>
          <p:cNvSpPr txBox="1"/>
          <p:nvPr/>
        </p:nvSpPr>
        <p:spPr>
          <a:xfrm>
            <a:off x="395536" y="2636912"/>
            <a:ext cx="4176464" cy="363791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TakeDamage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TakeDamage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&lt;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endParaRPr lang="ko-KR" altLang="en-US" sz="3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681F7-0656-418E-39C3-BD4C2357B509}"/>
              </a:ext>
            </a:extLst>
          </p:cNvPr>
          <p:cNvSpPr txBox="1"/>
          <p:nvPr/>
        </p:nvSpPr>
        <p:spPr>
          <a:xfrm>
            <a:off x="4572000" y="4365104"/>
            <a:ext cx="4176464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외부에서는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hp를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직접 변경하지 않고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호출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체력 변경 규칙은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Character가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관리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7755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17712-BE94-B8C9-2437-596422AA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97EE0-89C3-E332-A698-5F75B3BB4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3.3.3 객체의 생성과 인스턴스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477371-42B9-B20C-0CEE-1D1FE8CD6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클래스 자체는 타입 정의</a:t>
            </a:r>
          </a:p>
          <a:p>
            <a:pPr lvl="0"/>
            <a:r>
              <a:rPr lang="ko-KR" altLang="ko-KR" sz="2400" dirty="0"/>
              <a:t>클래스 타입으로 변수를 선언하면 실제 객체 생성</a:t>
            </a:r>
          </a:p>
          <a:p>
            <a:pPr lvl="0"/>
            <a:r>
              <a:rPr lang="ko-KR" altLang="ko-KR" sz="2400" dirty="0"/>
              <a:t>같은 클래스에서 생성된 객체라도 각자 자신의 멤버 변수를 가짐</a:t>
            </a:r>
          </a:p>
          <a:p>
            <a:endParaRPr lang="ko-KR" altLang="en-US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226D94D-C886-0BA9-B972-92EB148B9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286265"/>
              </p:ext>
            </p:extLst>
          </p:nvPr>
        </p:nvGraphicFramePr>
        <p:xfrm>
          <a:off x="2915816" y="3054036"/>
          <a:ext cx="6035898" cy="1642768"/>
        </p:xfrm>
        <a:graphic>
          <a:graphicData uri="http://schemas.openxmlformats.org/drawingml/2006/table">
            <a:tbl>
              <a:tblPr/>
              <a:tblGrid>
                <a:gridCol w="1022862">
                  <a:extLst>
                    <a:ext uri="{9D8B030D-6E8A-4147-A177-3AD203B41FA5}">
                      <a16:colId xmlns:a16="http://schemas.microsoft.com/office/drawing/2014/main" val="1561042605"/>
                    </a:ext>
                  </a:extLst>
                </a:gridCol>
                <a:gridCol w="5013036">
                  <a:extLst>
                    <a:ext uri="{9D8B030D-6E8A-4147-A177-3AD203B41FA5}">
                      <a16:colId xmlns:a16="http://schemas.microsoft.com/office/drawing/2014/main" val="16062358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용어</a:t>
                      </a:r>
                      <a:endParaRPr lang="ko-KR" sz="28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8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200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클래스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객체의 상태와 기능을 정의한 C++ 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사용자 정의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타입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381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객체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클래스에 따라 생성되어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저장 공간을 가지는 실체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713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인스턴스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특정 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클래스에 따라 생성된 객체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임을 강조하는 표현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076160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053B88D-836D-6E60-EB47-2C4CD7ACA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477551"/>
              </p:ext>
            </p:extLst>
          </p:nvPr>
        </p:nvGraphicFramePr>
        <p:xfrm>
          <a:off x="323528" y="2348880"/>
          <a:ext cx="2304256" cy="3053080"/>
        </p:xfrm>
        <a:graphic>
          <a:graphicData uri="http://schemas.openxmlformats.org/drawingml/2006/table">
            <a:tbl>
              <a:tblPr/>
              <a:tblGrid>
                <a:gridCol w="2304256">
                  <a:extLst>
                    <a:ext uri="{9D8B030D-6E8A-4147-A177-3AD203B41FA5}">
                      <a16:colId xmlns:a16="http://schemas.microsoft.com/office/drawing/2014/main" val="25389319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Character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;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Character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;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Character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클래스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객체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│  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hp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│  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x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y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│  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attackPower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객체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hp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x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y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attackPower</a:t>
                      </a:r>
                      <a:endParaRPr lang="ko-KR" sz="2800" b="1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37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6043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4A4A2-6517-D05D-BF6D-96F9C368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97B83-C6D5-4F17-BF86-D2327979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3.4 객체지향 프로그래밍의 주요 특징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2704A7A-9ACF-6B88-B40C-77791B8EE9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028182"/>
              </p:ext>
            </p:extLst>
          </p:nvPr>
        </p:nvGraphicFramePr>
        <p:xfrm>
          <a:off x="395636" y="642702"/>
          <a:ext cx="8496746" cy="2128520"/>
        </p:xfrm>
        <a:graphic>
          <a:graphicData uri="http://schemas.openxmlformats.org/drawingml/2006/table">
            <a:tbl>
              <a:tblPr/>
              <a:tblGrid>
                <a:gridCol w="1251596">
                  <a:extLst>
                    <a:ext uri="{9D8B030D-6E8A-4147-A177-3AD203B41FA5}">
                      <a16:colId xmlns:a16="http://schemas.microsoft.com/office/drawing/2014/main" val="765786628"/>
                    </a:ext>
                  </a:extLst>
                </a:gridCol>
                <a:gridCol w="7245150">
                  <a:extLst>
                    <a:ext uri="{9D8B030D-6E8A-4147-A177-3AD203B41FA5}">
                      <a16:colId xmlns:a16="http://schemas.microsoft.com/office/drawing/2014/main" val="166959638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320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43909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추상화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필요한 상태와 기능만 선택하여 모델로 표현</a:t>
                      </a:r>
                      <a:endParaRPr lang="ko-KR" sz="36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01368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캡슐화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상태와 기능을 묶고 내부 상태 변경을 제한</a:t>
                      </a:r>
                      <a:endParaRPr lang="ko-KR" sz="36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11954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상속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클래스의 특성을 바탕으로 새 클래스 정의</a:t>
                      </a:r>
                      <a:endParaRPr lang="ko-KR" sz="36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25554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다형성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같은 인터페이스로 서로 다른 객체가 각자의 방식으로 동작</a:t>
                      </a:r>
                      <a:endParaRPr lang="ko-KR" sz="36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7991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31ECC3A-C050-B901-79EF-17E1ED2CE024}"/>
              </a:ext>
            </a:extLst>
          </p:cNvPr>
          <p:cNvSpPr txBox="1"/>
          <p:nvPr/>
        </p:nvSpPr>
        <p:spPr>
          <a:xfrm>
            <a:off x="395635" y="2883228"/>
            <a:ext cx="4392488" cy="358251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Character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TakeDamage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damage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damage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4D42C-0D8F-E626-FBDC-A95B9AF20D9D}"/>
              </a:ext>
            </a:extLst>
          </p:cNvPr>
          <p:cNvSpPr txBox="1"/>
          <p:nvPr/>
        </p:nvSpPr>
        <p:spPr>
          <a:xfrm>
            <a:off x="4867300" y="2883228"/>
            <a:ext cx="4025082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클래스는 네 가지 특징을 자동으로 완성하는 문법이 아님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접근 제어, 상속, 가상 함수 등을 함께 사용하여 객체지향 구조를 구현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8037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DE8D2-7DBF-883F-98B9-EFC60D61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C7E44-B7DB-082A-DBC2-EEB98439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3.5 </a:t>
            </a:r>
            <a:r>
              <a:rPr lang="ko-KR" altLang="ko-KR" dirty="0" err="1"/>
              <a:t>class와</a:t>
            </a:r>
            <a:r>
              <a:rPr lang="ko-KR" altLang="ko-KR" dirty="0"/>
              <a:t> </a:t>
            </a:r>
            <a:r>
              <a:rPr lang="ko-KR" altLang="ko-KR" dirty="0" err="1"/>
              <a:t>struct의</a:t>
            </a:r>
            <a:r>
              <a:rPr lang="ko-KR" altLang="ko-KR" dirty="0"/>
              <a:t> 사용 기준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E29DD2-C901-9E83-8797-10CCBCD0C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C++의 </a:t>
            </a:r>
            <a:r>
              <a:rPr lang="ko-KR" altLang="ko-KR" dirty="0" err="1"/>
              <a:t>class와</a:t>
            </a:r>
            <a:r>
              <a:rPr lang="ko-KR" altLang="ko-KR" dirty="0"/>
              <a:t> </a:t>
            </a:r>
            <a:r>
              <a:rPr lang="ko-KR" altLang="ko-KR" dirty="0" err="1"/>
              <a:t>struct는</a:t>
            </a:r>
            <a:r>
              <a:rPr lang="ko-KR" altLang="ko-KR" dirty="0"/>
              <a:t> 모두 </a:t>
            </a:r>
            <a:r>
              <a:rPr lang="ko-KR" altLang="ko-KR" dirty="0">
                <a:solidFill>
                  <a:srgbClr val="0000FF"/>
                </a:solidFill>
              </a:rPr>
              <a:t>클래스 타입</a:t>
            </a:r>
            <a:r>
              <a:rPr lang="ko-KR" altLang="ko-KR" dirty="0"/>
              <a:t>을 정의</a:t>
            </a:r>
          </a:p>
          <a:p>
            <a:pPr lvl="0"/>
            <a:r>
              <a:rPr lang="ko-KR" altLang="ko-KR" dirty="0"/>
              <a:t>사용할 수 있는 기능은 거의 같음</a:t>
            </a:r>
          </a:p>
          <a:p>
            <a:pPr lvl="0"/>
            <a:r>
              <a:rPr lang="ko-KR" altLang="ko-KR" dirty="0"/>
              <a:t>기본 접근 수준과 표현하는 </a:t>
            </a:r>
            <a:r>
              <a:rPr lang="ko-KR" altLang="ko-KR" dirty="0">
                <a:solidFill>
                  <a:srgbClr val="0000FF"/>
                </a:solidFill>
              </a:rPr>
              <a:t>설계 의도</a:t>
            </a:r>
            <a:r>
              <a:rPr lang="ko-KR" altLang="ko-KR" dirty="0"/>
              <a:t>가 다름</a:t>
            </a:r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A389406-9001-09C0-8D61-AEA97A5B3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847948"/>
              </p:ext>
            </p:extLst>
          </p:nvPr>
        </p:nvGraphicFramePr>
        <p:xfrm>
          <a:off x="467841" y="2636912"/>
          <a:ext cx="4320282" cy="3384378"/>
        </p:xfrm>
        <a:graphic>
          <a:graphicData uri="http://schemas.openxmlformats.org/drawingml/2006/table">
            <a:tbl>
              <a:tblPr/>
              <a:tblGrid>
                <a:gridCol w="2232050">
                  <a:extLst>
                    <a:ext uri="{9D8B030D-6E8A-4147-A177-3AD203B41FA5}">
                      <a16:colId xmlns:a16="http://schemas.microsoft.com/office/drawing/2014/main" val="2694907207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66512340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12038701"/>
                    </a:ext>
                  </a:extLst>
                </a:gridCol>
              </a:tblGrid>
              <a:tr h="53177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class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struct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99642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기본 멤버 접근 수준</a:t>
                      </a:r>
                      <a:endParaRPr lang="ko-KR" sz="36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private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public</a:t>
                      </a:r>
                      <a:endParaRPr lang="ko-KR" sz="3600" b="1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220426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기본 상속 접근 수준</a:t>
                      </a:r>
                      <a:endParaRPr lang="ko-KR" sz="36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private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public</a:t>
                      </a:r>
                      <a:endParaRPr lang="ko-KR" sz="3600" b="1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834358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멤버 함수</a:t>
                      </a:r>
                      <a:endParaRPr lang="ko-KR" sz="36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3600" b="1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004001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생성자와 </a:t>
                      </a:r>
                      <a:r>
                        <a:rPr lang="ko-KR" sz="2000" b="1" i="0" u="none" strike="noStrike" dirty="0" err="1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소멸자</a:t>
                      </a:r>
                      <a:endParaRPr lang="ko-KR" sz="36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956706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상속과 가상 함수</a:t>
                      </a:r>
                      <a:endParaRPr lang="ko-KR" sz="36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3600" b="1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1853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3692E0C-E94D-6FFD-C7F2-910281A351AD}"/>
              </a:ext>
            </a:extLst>
          </p:cNvPr>
          <p:cNvSpPr txBox="1"/>
          <p:nvPr/>
        </p:nvSpPr>
        <p:spPr>
          <a:xfrm>
            <a:off x="5004048" y="2780928"/>
            <a:ext cx="3384376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ClassTypeSample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{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; 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2000" b="0" i="1" u="none" strike="noStrike" dirty="0" err="1">
                <a:solidFill>
                  <a:srgbClr val="A0A1A7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private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</a:b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StructTypeSample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{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; 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2000" b="0" i="1" u="none" strike="noStrike" dirty="0" err="1">
                <a:solidFill>
                  <a:srgbClr val="A0A1A7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public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넥슨Lv2고딕 Bold" panose="00000800000000000000" pitchFamily="2" charset="-127"/>
                <a:ea typeface="넥슨Lv2고딕 Bold" panose="00000800000000000000" pitchFamily="2" charset="-127"/>
                <a:cs typeface="Pretendard ExtraBold" panose="02000903000000020004" pitchFamily="50" charset="-127"/>
              </a:rPr>
              <a:t>};</a:t>
            </a:r>
            <a:endParaRPr lang="ko-KR" altLang="en-US" sz="4400" dirty="0">
              <a:latin typeface="넥슨Lv2고딕 Bold" panose="00000800000000000000" pitchFamily="2" charset="-127"/>
              <a:ea typeface="넥슨Lv2고딕 Bold" panose="00000800000000000000" pitchFamily="2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0558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B0E1-2A6F-6236-0034-DB533A49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7E939-C0B8-72E0-425D-39B095CF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3.5.3 단순한 데이터 표현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668885-2385-B861-AD2F-509FA1D2A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서로 관련된 여러 데이터를 하나로 묶는 것이 목적이면</a:t>
            </a:r>
            <a:r>
              <a:rPr lang="en-US" altLang="ko-KR" sz="2000" dirty="0"/>
              <a:t> </a:t>
            </a:r>
            <a:r>
              <a:rPr lang="ko-KR" altLang="ko-KR" sz="2000" dirty="0" err="1"/>
              <a:t>struct가</a:t>
            </a:r>
            <a:r>
              <a:rPr lang="ko-KR" altLang="ko-KR" sz="2000" dirty="0"/>
              <a:t> 자연스러움</a:t>
            </a:r>
          </a:p>
          <a:p>
            <a:pPr lvl="0"/>
            <a:r>
              <a:rPr lang="ko-KR" altLang="ko-KR" sz="2000" dirty="0"/>
              <a:t>외부에서 멤버를 직접 읽고 변경해도</a:t>
            </a:r>
            <a:r>
              <a:rPr lang="en-US" altLang="ko-KR" sz="2000" dirty="0"/>
              <a:t> </a:t>
            </a:r>
            <a:r>
              <a:rPr lang="ko-KR" altLang="ko-KR" sz="2000" dirty="0"/>
              <a:t>타입의 의미가</a:t>
            </a:r>
            <a:r>
              <a:rPr lang="en-US" altLang="ko-KR" sz="2000" dirty="0"/>
              <a:t> </a:t>
            </a:r>
            <a:r>
              <a:rPr lang="ko-KR" altLang="ko-KR" sz="2000" dirty="0"/>
              <a:t>손상되지 않는 경우에 적합</a:t>
            </a:r>
            <a:endParaRPr lang="en-US" altLang="ko-KR" sz="2000" dirty="0"/>
          </a:p>
          <a:p>
            <a:pPr lvl="0"/>
            <a:endParaRPr lang="en-US" altLang="ko-KR" sz="1800" dirty="0"/>
          </a:p>
          <a:p>
            <a:r>
              <a:rPr lang="ko-KR" altLang="ko-KR" sz="2000" dirty="0"/>
              <a:t>구조체로 표현하기 좋은 데이터</a:t>
            </a:r>
            <a:endParaRPr lang="ko-KR" altLang="ko-KR" sz="1800" dirty="0"/>
          </a:p>
          <a:p>
            <a:pPr lvl="1"/>
            <a:r>
              <a:rPr lang="ko-KR" altLang="ko-KR" sz="1800" dirty="0"/>
              <a:t>좌표와 크기</a:t>
            </a:r>
          </a:p>
          <a:p>
            <a:pPr lvl="1"/>
            <a:r>
              <a:rPr lang="ko-KR" altLang="ko-KR" sz="1800" dirty="0" err="1"/>
              <a:t>색상값</a:t>
            </a:r>
            <a:endParaRPr lang="ko-KR" altLang="ko-KR" sz="1800" dirty="0"/>
          </a:p>
          <a:p>
            <a:pPr lvl="1"/>
            <a:r>
              <a:rPr lang="ko-KR" altLang="ko-KR" sz="1800" dirty="0"/>
              <a:t>날짜와 시간</a:t>
            </a:r>
          </a:p>
          <a:p>
            <a:pPr lvl="1"/>
            <a:r>
              <a:rPr lang="ko-KR" altLang="ko-KR" sz="1800" dirty="0"/>
              <a:t>정점 데이터</a:t>
            </a:r>
          </a:p>
          <a:p>
            <a:pPr lvl="1"/>
            <a:r>
              <a:rPr lang="ko-KR" altLang="ko-KR" sz="1800" dirty="0"/>
              <a:t>파일이나 네트워크에서 읽은 단순 데이터</a:t>
            </a:r>
          </a:p>
          <a:p>
            <a:pPr lvl="1"/>
            <a:r>
              <a:rPr lang="ko-KR" altLang="ko-KR" sz="1800" dirty="0"/>
              <a:t>함수의 여러 반환값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31CAE-CB28-2517-D9F0-433C31392B39}"/>
              </a:ext>
            </a:extLst>
          </p:cNvPr>
          <p:cNvSpPr txBox="1"/>
          <p:nvPr/>
        </p:nvSpPr>
        <p:spPr>
          <a:xfrm>
            <a:off x="5148064" y="2492896"/>
            <a:ext cx="3456384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struct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playerPosition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playerPosition.x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playerPosition.y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endParaRPr lang="ko-KR" altLang="en-US" sz="4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4221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57A2B-032C-32E9-9F65-75689CECD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87633-666A-BC49-4209-DB77AB7B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3.5.4 값 의미를 가지는 </a:t>
            </a:r>
            <a:r>
              <a:rPr lang="ko-KR" altLang="ko-KR" dirty="0" err="1"/>
              <a:t>struct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84AB1B-6922-159C-4B74-B91BE396A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값 자체가 중요한 타입은 </a:t>
            </a:r>
            <a:r>
              <a:rPr lang="ko-KR" altLang="ko-KR" sz="2400" dirty="0" err="1"/>
              <a:t>struct로</a:t>
            </a:r>
            <a:r>
              <a:rPr lang="ko-KR" altLang="ko-KR" sz="2400" dirty="0"/>
              <a:t> 표현하기 좋음</a:t>
            </a:r>
          </a:p>
          <a:p>
            <a:pPr lvl="0"/>
            <a:r>
              <a:rPr lang="ko-KR" altLang="ko-KR" sz="2400" dirty="0"/>
              <a:t>복사된 값은 원본과 독립적으로 사용</a:t>
            </a:r>
          </a:p>
          <a:p>
            <a:pPr lvl="0"/>
            <a:r>
              <a:rPr lang="ko-KR" altLang="ko-KR" sz="2400" dirty="0"/>
              <a:t>멤버를 직접 읽고 변경해도 의미가 손상되지 않는 경우에 적합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00920-A908-DCC9-42E5-29A5729857CD}"/>
              </a:ext>
            </a:extLst>
          </p:cNvPr>
          <p:cNvSpPr txBox="1"/>
          <p:nvPr/>
        </p:nvSpPr>
        <p:spPr>
          <a:xfrm>
            <a:off x="395536" y="2348880"/>
            <a:ext cx="5454352" cy="358251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Position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offsetX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offsetY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offsetX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offsetY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second.x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B673D-F905-B6A5-3583-01BB9B99C74A}"/>
              </a:ext>
            </a:extLst>
          </p:cNvPr>
          <p:cNvSpPr txBox="1"/>
          <p:nvPr/>
        </p:nvSpPr>
        <p:spPr>
          <a:xfrm>
            <a:off x="6075960" y="5219053"/>
            <a:ext cx="2664296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→ (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→ (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364828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3224-35A0-707A-D7AD-B3BA4E5C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27E3CF-0788-08CB-72EF-3871FDE8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3.5.5 객체 설계에 사용하는 </a:t>
            </a:r>
            <a:r>
              <a:rPr lang="ko-KR" altLang="ko-KR" dirty="0" err="1"/>
              <a:t>class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A3B573-3F41-F336-3AD8-FBD45A816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객체가 자신의 상태와 기능을 관리해야 한다면 </a:t>
            </a:r>
            <a:r>
              <a:rPr lang="ko-KR" altLang="ko-KR" sz="2400" dirty="0" err="1"/>
              <a:t>class가</a:t>
            </a:r>
            <a:r>
              <a:rPr lang="ko-KR" altLang="ko-KR" sz="2400" dirty="0"/>
              <a:t> 자연스러움</a:t>
            </a:r>
          </a:p>
          <a:p>
            <a:pPr lvl="0"/>
            <a:r>
              <a:rPr lang="ko-KR" altLang="ko-KR" sz="2400" dirty="0"/>
              <a:t>상태 변경 규칙이 있는 데이터는 외부에서 직접 변경하지 못하게 구성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D7D33-B5BA-29D0-282D-53C7F4B86BA3}"/>
              </a:ext>
            </a:extLst>
          </p:cNvPr>
          <p:cNvSpPr txBox="1"/>
          <p:nvPr/>
        </p:nvSpPr>
        <p:spPr>
          <a:xfrm>
            <a:off x="683568" y="1695611"/>
            <a:ext cx="4572000" cy="482901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BankAccount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...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...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...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304028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37166-661F-434E-9C62-CE0CD8BD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1748D-A7F8-551A-9CDF-071844D6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3.5.6 상태와 규칙이 있는 객체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AC4BE4-673A-5438-57CC-FD6DA4E81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객체의 상태에는 반드시 지켜야 하는 규칙이 </a:t>
            </a:r>
            <a:r>
              <a:rPr lang="ko-KR" altLang="en-US" dirty="0"/>
              <a:t>필요</a:t>
            </a:r>
            <a:endParaRPr lang="ko-KR" altLang="ko-KR" dirty="0"/>
          </a:p>
          <a:p>
            <a:pPr lvl="0"/>
            <a:r>
              <a:rPr lang="ko-KR" altLang="ko-KR" dirty="0"/>
              <a:t>객체가 항상 만족해야 하는 상태 조건을 </a:t>
            </a:r>
            <a:r>
              <a:rPr lang="ko-KR" altLang="ko-KR" dirty="0" err="1"/>
              <a:t>불변식</a:t>
            </a:r>
            <a:endParaRPr lang="en-US" altLang="ko-KR" dirty="0"/>
          </a:p>
          <a:p>
            <a:pPr lvl="0"/>
            <a:r>
              <a:rPr lang="ko-KR" altLang="ko-KR" dirty="0"/>
              <a:t>데이터를 </a:t>
            </a:r>
            <a:r>
              <a:rPr lang="ko-KR" altLang="en-US" dirty="0"/>
              <a:t>은닉</a:t>
            </a:r>
            <a:r>
              <a:rPr lang="ko-KR" altLang="ko-KR" dirty="0"/>
              <a:t>보다 상태 변경 규칙을 객체가 책임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AD72C7-5D95-B3E5-3457-97B5F58D1F7B}"/>
              </a:ext>
            </a:extLst>
          </p:cNvPr>
          <p:cNvSpPr txBox="1"/>
          <p:nvPr/>
        </p:nvSpPr>
        <p:spPr>
          <a:xfrm>
            <a:off x="467544" y="3212976"/>
            <a:ext cx="3888432" cy="163121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BankAccount</a:t>
            </a: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규칙</a:t>
            </a:r>
            <a:b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입금액은 </a:t>
            </a:r>
            <a:r>
              <a:rPr lang="ko-KR" altLang="ko-KR" sz="200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보다 커야 함</a:t>
            </a:r>
            <a:b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출금액은 </a:t>
            </a:r>
            <a:r>
              <a:rPr lang="ko-KR" altLang="ko-KR" sz="200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보다 커야 함</a:t>
            </a:r>
            <a:b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잔액보다 많은 금액은 출금 불가</a:t>
            </a:r>
            <a:b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잔액은 </a:t>
            </a:r>
            <a:r>
              <a:rPr lang="ko-KR" altLang="ko-KR" sz="200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보다 작아질 수 없음</a:t>
            </a:r>
            <a:endParaRPr lang="ko-KR" alt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526B1-E5A7-F71F-8B79-F00D9432DB14}"/>
              </a:ext>
            </a:extLst>
          </p:cNvPr>
          <p:cNvSpPr txBox="1"/>
          <p:nvPr/>
        </p:nvSpPr>
        <p:spPr>
          <a:xfrm>
            <a:off x="4518756" y="2905199"/>
            <a:ext cx="3005572" cy="22467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Withdraw</a:t>
            </a: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호출</a:t>
            </a:r>
            <a:b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↓</a:t>
            </a:r>
            <a:b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출금액과 잔액 확인</a:t>
            </a:r>
            <a:b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↙          ↘</a:t>
            </a:r>
            <a:b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가능          불가능</a:t>
            </a:r>
            <a:b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↓             ↓</a:t>
            </a:r>
            <a:b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잔액 감소     상태 유지</a:t>
            </a:r>
            <a:endParaRPr lang="ko-KR" alt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5507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B1913-2BA4-9DFB-6889-6CFE65A8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B9F25-1633-8BE2-DD7F-EEEA2CA1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3.5.7 프로젝트에서의 선택 기준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535CBB-BB90-1D97-2916-8C401E1F1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객체를 설계할 때의 기본 선택 → </a:t>
            </a:r>
            <a:r>
              <a:rPr lang="ko-KR" altLang="ko-KR" dirty="0" err="1"/>
              <a:t>class</a:t>
            </a:r>
            <a:endParaRPr lang="ko-KR" altLang="ko-KR" dirty="0"/>
          </a:p>
          <a:p>
            <a:r>
              <a:rPr lang="ko-KR" altLang="ko-KR" dirty="0"/>
              <a:t>단순한 데이터나 값의 표현 → </a:t>
            </a:r>
            <a:r>
              <a:rPr lang="ko-KR" altLang="ko-KR" dirty="0" err="1"/>
              <a:t>struct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950E1-58DC-CD68-E800-9ED974896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374060"/>
              </p:ext>
            </p:extLst>
          </p:nvPr>
        </p:nvGraphicFramePr>
        <p:xfrm>
          <a:off x="395536" y="1844824"/>
          <a:ext cx="7992888" cy="3645376"/>
        </p:xfrm>
        <a:graphic>
          <a:graphicData uri="http://schemas.openxmlformats.org/drawingml/2006/table">
            <a:tbl>
              <a:tblPr/>
              <a:tblGrid>
                <a:gridCol w="1656184">
                  <a:extLst>
                    <a:ext uri="{9D8B030D-6E8A-4147-A177-3AD203B41FA5}">
                      <a16:colId xmlns:a16="http://schemas.microsoft.com/office/drawing/2014/main" val="2131686601"/>
                    </a:ext>
                  </a:extLst>
                </a:gridCol>
                <a:gridCol w="3479070">
                  <a:extLst>
                    <a:ext uri="{9D8B030D-6E8A-4147-A177-3AD203B41FA5}">
                      <a16:colId xmlns:a16="http://schemas.microsoft.com/office/drawing/2014/main" val="1250887619"/>
                    </a:ext>
                  </a:extLst>
                </a:gridCol>
                <a:gridCol w="2857634">
                  <a:extLst>
                    <a:ext uri="{9D8B030D-6E8A-4147-A177-3AD203B41FA5}">
                      <a16:colId xmlns:a16="http://schemas.microsoft.com/office/drawing/2014/main" val="3513865918"/>
                    </a:ext>
                  </a:extLst>
                </a:gridCol>
              </a:tblGrid>
              <a:tr h="49481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3200" b="1" dirty="0"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</a:t>
                      </a:r>
                      <a:endParaRPr lang="ko-KR" sz="3200" b="1" dirty="0"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struct</a:t>
                      </a:r>
                      <a:endParaRPr lang="ko-KR" sz="3200" b="1"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405859"/>
                  </a:ext>
                </a:extLst>
              </a:tr>
              <a:tr h="49481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기본 접근 수준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private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public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697442"/>
                  </a:ext>
                </a:extLst>
              </a:tr>
              <a:tr h="49481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주된 용도</a:t>
                      </a:r>
                      <a:endParaRPr lang="ko-KR" sz="3200" b="1" dirty="0"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상태와 기능을 관리하는 객체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단순 데이터와 값 표현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134529"/>
                  </a:ext>
                </a:extLst>
              </a:tr>
              <a:tr h="49481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멤버 접근</a:t>
                      </a:r>
                      <a:endParaRPr lang="ko-KR" sz="3200" b="1"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공개된 멤버 함수를 통해 접근</a:t>
                      </a:r>
                      <a:endParaRPr lang="ko-KR" sz="32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직접 접근하는 경우가 많음</a:t>
                      </a:r>
                      <a:endParaRPr lang="ko-KR" sz="32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870640"/>
                  </a:ext>
                </a:extLst>
              </a:tr>
              <a:tr h="49481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상태 변경 규칙</a:t>
                      </a:r>
                      <a:endParaRPr lang="ko-KR" sz="3200" b="1"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객체가 직접 관리</a:t>
                      </a:r>
                      <a:endParaRPr lang="ko-KR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없거나 단순함</a:t>
                      </a:r>
                      <a:endParaRPr lang="ko-KR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27743"/>
                  </a:ext>
                </a:extLst>
              </a:tr>
              <a:tr h="1171281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대표 예</a:t>
                      </a:r>
                      <a:endParaRPr lang="ko-KR" sz="3200" b="1"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BankAccount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</a:t>
                      </a:r>
                      <a:b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Inventory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</a:t>
                      </a:r>
                      <a:b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Player</a:t>
                      </a:r>
                      <a:endParaRPr lang="ko-KR" sz="3200" b="1" dirty="0"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Position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</a:t>
                      </a:r>
                      <a:b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Vector2,</a:t>
                      </a:r>
                      <a:b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Color</a:t>
                      </a:r>
                      <a:endParaRPr lang="ko-KR" sz="3200" b="1" dirty="0">
                        <a:effectLst/>
                      </a:endParaRPr>
                    </a:p>
                  </a:txBody>
                  <a:tcPr marL="36000" marR="36000" marT="36000" marB="360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483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76365A5-A3B6-6CAE-6A0B-D18F2898EAE6}"/>
              </a:ext>
            </a:extLst>
          </p:cNvPr>
          <p:cNvSpPr txBox="1"/>
          <p:nvPr/>
        </p:nvSpPr>
        <p:spPr>
          <a:xfrm>
            <a:off x="395536" y="5865768"/>
            <a:ext cx="7992888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 기준은 절대적인 규칙이 아님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CC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타입의 역할과 사용 의도가 코드에서 분명하게 드러나는가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 기준으로 선택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6944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331DC-0A05-AFF3-E727-C3242B99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2C61B3-DF33-7FD0-B811-1B8A3545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3.6 접근 제어와 캡슐화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720FD-0586-60C4-56FF-C2EF487B0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접근 제어는 클래스 멤버를 어디에서 사용할 수 있는지 제한</a:t>
            </a:r>
          </a:p>
          <a:p>
            <a:pPr lvl="0"/>
            <a:r>
              <a:rPr lang="ko-KR" altLang="ko-KR" sz="2400" dirty="0" err="1"/>
              <a:t>public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protected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private</a:t>
            </a:r>
            <a:r>
              <a:rPr lang="ko-KR" altLang="ko-KR" sz="2400" dirty="0"/>
              <a:t> 접근 지정자 사용</a:t>
            </a:r>
          </a:p>
          <a:p>
            <a:pPr lvl="0"/>
            <a:r>
              <a:rPr lang="ko-KR" altLang="ko-KR" sz="2400" dirty="0"/>
              <a:t>캡슐화는 상태와 기능을 객체 단위로 묶고 외부 접근을 제어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8BBB494-6EA9-9722-9ECF-14ACBC090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423005"/>
              </p:ext>
            </p:extLst>
          </p:nvPr>
        </p:nvGraphicFramePr>
        <p:xfrm>
          <a:off x="284127" y="2636912"/>
          <a:ext cx="5656026" cy="2272839"/>
        </p:xfrm>
        <a:graphic>
          <a:graphicData uri="http://schemas.openxmlformats.org/drawingml/2006/table">
            <a:tbl>
              <a:tblPr/>
              <a:tblGrid>
                <a:gridCol w="1756919">
                  <a:extLst>
                    <a:ext uri="{9D8B030D-6E8A-4147-A177-3AD203B41FA5}">
                      <a16:colId xmlns:a16="http://schemas.microsoft.com/office/drawing/2014/main" val="821012867"/>
                    </a:ext>
                  </a:extLst>
                </a:gridCol>
                <a:gridCol w="1199726">
                  <a:extLst>
                    <a:ext uri="{9D8B030D-6E8A-4147-A177-3AD203B41FA5}">
                      <a16:colId xmlns:a16="http://schemas.microsoft.com/office/drawing/2014/main" val="605462071"/>
                    </a:ext>
                  </a:extLst>
                </a:gridCol>
                <a:gridCol w="1274708">
                  <a:extLst>
                    <a:ext uri="{9D8B030D-6E8A-4147-A177-3AD203B41FA5}">
                      <a16:colId xmlns:a16="http://schemas.microsoft.com/office/drawing/2014/main" val="907067500"/>
                    </a:ext>
                  </a:extLst>
                </a:gridCol>
                <a:gridCol w="1424673">
                  <a:extLst>
                    <a:ext uri="{9D8B030D-6E8A-4147-A177-3AD203B41FA5}">
                      <a16:colId xmlns:a16="http://schemas.microsoft.com/office/drawing/2014/main" val="1492849281"/>
                    </a:ext>
                  </a:extLst>
                </a:gridCol>
              </a:tblGrid>
              <a:tr h="5607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kern="700" spc="-150" baseline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접근 지정자</a:t>
                      </a:r>
                      <a:endParaRPr lang="ko-KR" sz="3200" b="1" kern="700" spc="-150" baseline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kern="700" spc="-150" baseline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 내부</a:t>
                      </a:r>
                      <a:endParaRPr lang="ko-KR" sz="3200" b="1" kern="700" spc="-150" baseline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kern="700" spc="-150" baseline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클래스</a:t>
                      </a:r>
                      <a:endParaRPr lang="ko-KR" sz="3200" b="1" kern="700" spc="-150" baseline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kern="700" spc="-150" baseline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 외부</a:t>
                      </a:r>
                      <a:endParaRPr lang="ko-KR" sz="3200" b="1" kern="700" spc="-150" baseline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385381"/>
                  </a:ext>
                </a:extLst>
              </a:tr>
              <a:tr h="5607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private</a:t>
                      </a:r>
                      <a:endParaRPr lang="ko-KR" sz="4400" b="1" kern="700" spc="-150" baseline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4400" b="1" kern="700" spc="-150" baseline="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불가능</a:t>
                      </a:r>
                      <a:endParaRPr lang="ko-KR" sz="4400" b="1" kern="700" spc="-150" baseline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불가능</a:t>
                      </a:r>
                      <a:endParaRPr lang="ko-KR" sz="4400" b="1" kern="700" spc="-150" baseline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71544"/>
                  </a:ext>
                </a:extLst>
              </a:tr>
              <a:tr h="5607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protected</a:t>
                      </a:r>
                      <a:endParaRPr lang="ko-KR" sz="4400" b="1" kern="700" spc="-150" baseline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4400" b="1" kern="700" spc="-150" baseline="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4400" b="1" kern="700" spc="-150" baseline="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불가능</a:t>
                      </a:r>
                      <a:endParaRPr lang="ko-KR" sz="4400" b="1" kern="700" spc="-150" baseline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033424"/>
                  </a:ext>
                </a:extLst>
              </a:tr>
              <a:tr h="5607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public</a:t>
                      </a:r>
                      <a:endParaRPr lang="ko-KR" sz="4400" b="1" kern="700" spc="-150" baseline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4400" b="1" kern="700" spc="-150" baseline="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4400" b="1" kern="700" spc="-150" baseline="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kern="700" spc="-150" baseline="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4400" b="1" kern="700" spc="-150" baseline="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0732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9D097C-0D9E-CE0D-9053-C139FAF76715}"/>
              </a:ext>
            </a:extLst>
          </p:cNvPr>
          <p:cNvSpPr txBox="1"/>
          <p:nvPr/>
        </p:nvSpPr>
        <p:spPr>
          <a:xfrm>
            <a:off x="6114949" y="2276872"/>
            <a:ext cx="2744924" cy="34778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44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848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F743C-6099-F734-D04A-1B883EC1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9C76F-7130-5DF8-09C2-BD458C670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3.6.1 </a:t>
            </a:r>
            <a:r>
              <a:rPr lang="ko-KR" altLang="ko-KR" dirty="0" err="1"/>
              <a:t>public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A732E5-B1BA-5518-FDDD-B4EE39005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public</a:t>
            </a:r>
            <a:r>
              <a:rPr lang="ko-KR" altLang="ko-KR" sz="2400" dirty="0"/>
              <a:t> 멤버는 클래스 외부에서 접근 가능</a:t>
            </a:r>
          </a:p>
          <a:p>
            <a:pPr lvl="0"/>
            <a:r>
              <a:rPr lang="ko-KR" altLang="ko-KR" sz="2400" dirty="0"/>
              <a:t>외부 객체가 사용할 수 있도록 공개한 멤버 함수는</a:t>
            </a:r>
            <a:br>
              <a:rPr lang="en-US" altLang="ko-KR" sz="2400" dirty="0"/>
            </a:br>
            <a:r>
              <a:rPr lang="ko-KR" altLang="ko-KR" sz="2400" dirty="0"/>
              <a:t>공개 인터페이스 구성</a:t>
            </a:r>
          </a:p>
          <a:p>
            <a:pPr lvl="0"/>
            <a:r>
              <a:rPr lang="ko-KR" altLang="ko-KR" sz="2400" dirty="0"/>
              <a:t>객체를 사용하는 데 필요한 기능만 외부에 공개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CFF9A-5D54-49FA-4818-0B88CFAD11EC}"/>
              </a:ext>
            </a:extLst>
          </p:cNvPr>
          <p:cNvSpPr txBox="1"/>
          <p:nvPr/>
        </p:nvSpPr>
        <p:spPr>
          <a:xfrm>
            <a:off x="395536" y="2624907"/>
            <a:ext cx="3600400" cy="34163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Door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isOpen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isOpen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endParaRPr lang="ko-KR" altLang="en-US" sz="4000" b="1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A4B031-7A64-B3FF-1DCE-BAEAC940634D}"/>
              </a:ext>
            </a:extLst>
          </p:cNvPr>
          <p:cNvSpPr txBox="1"/>
          <p:nvPr/>
        </p:nvSpPr>
        <p:spPr>
          <a:xfrm>
            <a:off x="4139953" y="2624907"/>
            <a:ext cx="3865214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IsOpen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isOpen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isOpen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4000" b="1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201C2-852E-B98C-2F8C-B9CC2B9B163B}"/>
              </a:ext>
            </a:extLst>
          </p:cNvPr>
          <p:cNvSpPr txBox="1"/>
          <p:nvPr/>
        </p:nvSpPr>
        <p:spPr>
          <a:xfrm>
            <a:off x="4163169" y="5117897"/>
            <a:ext cx="3865215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Door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door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door.Open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ko-KR" sz="1800" b="1" dirty="0" err="1">
                <a:solidFill>
                  <a:srgbClr val="383A42"/>
                </a:solidFill>
                <a:latin typeface="Consolas" panose="020B0609020204030204" pitchFamily="49" charset="0"/>
              </a:rPr>
              <a:t>door</a:t>
            </a:r>
            <a:r>
              <a:rPr lang="ko-KR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Close</a:t>
            </a:r>
            <a:r>
              <a:rPr lang="ko-KR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();</a:t>
            </a:r>
            <a:endParaRPr lang="ko-KR" altLang="en-US" sz="18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401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78DD8-77C6-88CF-5CB8-D516BCBA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5B507-0198-5C3C-1F72-90646483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3.6.2 </a:t>
            </a:r>
            <a:r>
              <a:rPr lang="ko-KR" altLang="ko-KR" dirty="0" err="1"/>
              <a:t>protected와</a:t>
            </a:r>
            <a:r>
              <a:rPr lang="ko-KR" altLang="ko-KR" dirty="0"/>
              <a:t> </a:t>
            </a:r>
            <a:r>
              <a:rPr lang="ko-KR" altLang="ko-KR" dirty="0" err="1"/>
              <a:t>private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AB29DC-B536-A084-51F2-6381D853C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dirty="0"/>
              <a:t>P</a:t>
            </a:r>
            <a:r>
              <a:rPr lang="ko-KR" altLang="ko-KR" dirty="0" err="1"/>
              <a:t>rotected</a:t>
            </a:r>
            <a:r>
              <a:rPr lang="en-US" altLang="ko-KR" dirty="0"/>
              <a:t>  </a:t>
            </a:r>
            <a:r>
              <a:rPr lang="ko-KR" altLang="en-US" dirty="0"/>
              <a:t>→</a:t>
            </a:r>
            <a:r>
              <a:rPr lang="ko-KR" altLang="ko-KR" dirty="0"/>
              <a:t> 클래스 외부에서는 접근 불가</a:t>
            </a:r>
          </a:p>
          <a:p>
            <a:pPr lvl="0"/>
            <a:r>
              <a:rPr lang="ko-KR" altLang="ko-KR" dirty="0"/>
              <a:t>해당 클래스를 상속한 파생 클래스에서는 접근 가능</a:t>
            </a:r>
          </a:p>
          <a:p>
            <a:pPr lvl="0"/>
            <a:r>
              <a:rPr lang="en-US" altLang="ko-KR" dirty="0"/>
              <a:t>P</a:t>
            </a:r>
            <a:r>
              <a:rPr lang="ko-KR" altLang="ko-KR" dirty="0" err="1"/>
              <a:t>rivate</a:t>
            </a:r>
            <a:r>
              <a:rPr lang="en-US" altLang="ko-KR" dirty="0"/>
              <a:t> </a:t>
            </a:r>
            <a:r>
              <a:rPr lang="ko-KR" altLang="en-US" dirty="0"/>
              <a:t>→</a:t>
            </a:r>
            <a:r>
              <a:rPr lang="ko-KR" altLang="ko-KR" dirty="0"/>
              <a:t> 클래스 내부의 멤버 함수에서만 직접 접근 가능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CBD67F-09D8-327B-C1D5-64EBB2B372F8}"/>
              </a:ext>
            </a:extLst>
          </p:cNvPr>
          <p:cNvSpPr txBox="1"/>
          <p:nvPr/>
        </p:nvSpPr>
        <p:spPr>
          <a:xfrm>
            <a:off x="425624" y="2407553"/>
            <a:ext cx="4362400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Character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Recover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31859-7BB0-31E4-BB9F-BFA5DA048E3C}"/>
              </a:ext>
            </a:extLst>
          </p:cNvPr>
          <p:cNvSpPr txBox="1"/>
          <p:nvPr/>
        </p:nvSpPr>
        <p:spPr>
          <a:xfrm>
            <a:off x="5077544" y="2407553"/>
            <a:ext cx="3511996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Counter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Increase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++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498824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D957F-F699-A540-FEC4-915E0221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0440E-39E7-A1A6-B04B-B8E83F785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/>
              <a:t>3.6.4 정보 은닉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04DBC2-C8C6-F071-F8A8-A8EEC7322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객체 사용에 필요하지 않은 내부 구현을 외부에 </a:t>
            </a:r>
            <a:r>
              <a:rPr lang="ko-KR" altLang="ko-KR" dirty="0" err="1"/>
              <a:t>노출</a:t>
            </a:r>
            <a:r>
              <a:rPr lang="ko-KR" altLang="en-US" dirty="0" err="1"/>
              <a:t>안함</a:t>
            </a:r>
            <a:endParaRPr lang="ko-KR" altLang="ko-KR" dirty="0"/>
          </a:p>
          <a:p>
            <a:pPr lvl="0"/>
            <a:r>
              <a:rPr lang="ko-KR" altLang="ko-KR" dirty="0"/>
              <a:t>외부에서는 객체가 제공하는 기능만 사용</a:t>
            </a:r>
          </a:p>
          <a:p>
            <a:pPr lvl="0"/>
            <a:r>
              <a:rPr lang="ko-KR" altLang="ko-KR" dirty="0"/>
              <a:t>내부 저장 방식이 바뀌어도 공개 인터페이스가 유지되면 외부 코드 영향 감소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FDF7161-C8DD-E8DD-1187-F5373A405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88878"/>
              </p:ext>
            </p:extLst>
          </p:nvPr>
        </p:nvGraphicFramePr>
        <p:xfrm>
          <a:off x="539750" y="2924944"/>
          <a:ext cx="2952130" cy="3329514"/>
        </p:xfrm>
        <a:graphic>
          <a:graphicData uri="http://schemas.openxmlformats.org/drawingml/2006/table">
            <a:tbl>
              <a:tblPr/>
              <a:tblGrid>
                <a:gridCol w="2952130">
                  <a:extLst>
                    <a:ext uri="{9D8B030D-6E8A-4147-A177-3AD203B41FA5}">
                      <a16:colId xmlns:a16="http://schemas.microsoft.com/office/drawing/2014/main" val="2882456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외부 코드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├─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AddItem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 요청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├─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RemoveItem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 요청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GetItemCount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 요청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en-US" alt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</a:t>
                      </a:r>
                    </a:p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</a:t>
                      </a:r>
                      <a:r>
                        <a:rPr lang="ko-KR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⬇️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</a:t>
                      </a:r>
                      <a:r>
                        <a:rPr lang="ko-KR" alt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───────┐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 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Inventory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│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내부 저장 방식 │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내부 변경 규칙 │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</a:t>
                      </a:r>
                      <a:r>
                        <a:rPr lang="ko-KR" alt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─────────────┘</a:t>
                      </a:r>
                      <a:endParaRPr lang="ko-KR" sz="32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80000" marR="180000" marT="180000" marB="18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5615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D86E028-84DC-8878-8F9D-C28FE8526081}"/>
              </a:ext>
            </a:extLst>
          </p:cNvPr>
          <p:cNvSpPr txBox="1"/>
          <p:nvPr/>
        </p:nvSpPr>
        <p:spPr>
          <a:xfrm>
            <a:off x="4021186" y="2924944"/>
            <a:ext cx="4799286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Inventory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AddItem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RemoveItem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GetItemCount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itemIds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4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645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0A63A-8740-7548-6BBD-8BCC4836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4E103-EAE2-7860-3BE7-E796D74F2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3.6.5 객체의 유효한 상태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78EC09-0C07-AB28-2C9B-F0C7D3703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불변식</a:t>
            </a:r>
            <a:r>
              <a:rPr lang="en-US" altLang="ko-KR" sz="2400" dirty="0"/>
              <a:t> </a:t>
            </a:r>
            <a:r>
              <a:rPr lang="ko-KR" altLang="en-US" sz="2400" dirty="0"/>
              <a:t>유지</a:t>
            </a:r>
            <a:endParaRPr lang="ko-KR" altLang="ko-KR" sz="2400" dirty="0"/>
          </a:p>
          <a:p>
            <a:pPr lvl="0"/>
            <a:r>
              <a:rPr lang="ko-KR" altLang="ko-KR" sz="2400" dirty="0"/>
              <a:t>값이 변경된 뒤에도 </a:t>
            </a:r>
            <a:r>
              <a:rPr lang="ko-KR" altLang="en-US" sz="2400" dirty="0" err="1"/>
              <a:t>불변식</a:t>
            </a:r>
            <a:r>
              <a:rPr lang="ko-KR" altLang="en-US" sz="2400" dirty="0"/>
              <a:t> </a:t>
            </a:r>
            <a:r>
              <a:rPr lang="ko-KR" altLang="ko-KR" sz="2400" dirty="0"/>
              <a:t>유지</a:t>
            </a:r>
          </a:p>
          <a:p>
            <a:pPr lvl="0"/>
            <a:r>
              <a:rPr lang="ko-KR" altLang="ko-KR" sz="2400" dirty="0"/>
              <a:t>외부에서 상태를 직접 변경하면 잘못된 상태가 만들어질 수 있음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00E99-D32F-C837-4574-97CC53B6B751}"/>
              </a:ext>
            </a:extLst>
          </p:cNvPr>
          <p:cNvSpPr txBox="1"/>
          <p:nvPr/>
        </p:nvSpPr>
        <p:spPr>
          <a:xfrm>
            <a:off x="539750" y="2331114"/>
            <a:ext cx="4572000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HealthData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maximum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HealthData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health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health.current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-100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health.maximum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0E4F0-06D3-7A51-D74B-097C82147A23}"/>
              </a:ext>
            </a:extLst>
          </p:cNvPr>
          <p:cNvSpPr txBox="1"/>
          <p:nvPr/>
        </p:nvSpPr>
        <p:spPr>
          <a:xfrm>
            <a:off x="539750" y="5257174"/>
            <a:ext cx="4572000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문법적으로 가능하지만 체력 데이터로는 올바르지 않음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6124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85381-5228-2A22-B7C2-14D9852A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8DBE58-6757-A60D-DBAA-D8D3D5AC0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3.6.5 객체의 유효한 상태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6D569F-4F23-139D-E356-7E8F972B1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/>
              <a:t>불변식</a:t>
            </a:r>
            <a:r>
              <a:rPr lang="ko-KR" altLang="ko-KR" dirty="0"/>
              <a:t> 우회하는 포인터 연산은 UB 유발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EFD00-1825-869E-E6E3-363C634F750A}"/>
              </a:ext>
            </a:extLst>
          </p:cNvPr>
          <p:cNvSpPr txBox="1"/>
          <p:nvPr/>
        </p:nvSpPr>
        <p:spPr>
          <a:xfrm>
            <a:off x="395536" y="1628800"/>
            <a:ext cx="4068960" cy="3754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namespace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PlayerStats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외부의 직접 변경 제한.</a:t>
            </a:r>
            <a:endParaRPr lang="en-US" altLang="ko-KR" sz="1400" b="1" i="1" u="none" strike="noStrike" dirty="0">
              <a:solidFill>
                <a:srgbClr val="A0A1A7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sz="1400" b="1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클래스의 변경 규칙을 통한</a:t>
            </a:r>
            <a:endParaRPr lang="en-US" altLang="ko-KR" sz="1400" b="1" i="1" u="none" strike="noStrike" dirty="0">
              <a:solidFill>
                <a:srgbClr val="A0A1A7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// </a:t>
            </a:r>
            <a:r>
              <a:rPr lang="ko-KR" altLang="ko-KR" sz="1400" b="1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불변식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Invariant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유지.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mp{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en-US" altLang="ko-KR" sz="1400" b="1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PlayerStats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GetMp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mp;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GetLevel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227CFF-AD97-6F51-5D5D-3DC858812593}"/>
              </a:ext>
            </a:extLst>
          </p:cNvPr>
          <p:cNvSpPr txBox="1"/>
          <p:nvPr/>
        </p:nvSpPr>
        <p:spPr>
          <a:xfrm>
            <a:off x="4464496" y="1628800"/>
            <a:ext cx="4563204" cy="461664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PlayerStats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playerStat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i &lt;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++i)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위험: 접근 제어와 캡슐화 우회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객체 시작 주소를 </a:t>
            </a:r>
            <a:r>
              <a:rPr lang="ko-KR" altLang="ko-KR" sz="1400" b="1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*로 강제 변환. </a:t>
            </a:r>
            <a:endParaRPr lang="en-US" altLang="ko-KR" sz="1400" b="1" i="1" u="none" strike="noStrike" dirty="0">
              <a:solidFill>
                <a:srgbClr val="A0A1A7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포인터 연산으로 객체 내부 메모리에 직접 접근.</a:t>
            </a:r>
            <a:br>
              <a:rPr lang="ko-KR" altLang="ko-KR" sz="14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*)&amp;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playerStat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i;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위험: 객체의 </a:t>
            </a:r>
            <a:r>
              <a:rPr lang="ko-KR" altLang="ko-KR" sz="1400" b="1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불변식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파괴. </a:t>
            </a:r>
            <a:r>
              <a:rPr lang="ko-KR" altLang="ko-KR" sz="1400" b="1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접근 제어 우회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상태 변경 규칙을 거치지 않고 값 변경.</a:t>
            </a:r>
            <a:endParaRPr lang="en-US" altLang="ko-KR" sz="1400" b="1" i="1" u="none" strike="noStrike" dirty="0">
              <a:solidFill>
                <a:srgbClr val="A0A1A7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객체를 </a:t>
            </a:r>
            <a:r>
              <a:rPr lang="ko-KR" altLang="ko-KR" sz="1400" b="1" i="1" dirty="0" err="1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배열처럼 가정한 접근</a:t>
            </a:r>
            <a:br>
              <a:rPr lang="ko-KR" altLang="ko-KR" sz="14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1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Undefined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Behavior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발생 가능.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*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i * i + i *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강제 메모리 변경 이후의 객체 상태 확인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"HP   : "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playerStat.GetHp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"MP   : "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playerStat.GetMp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playerStat.GetLevel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4561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D8E72-305E-B75D-16E0-1015F69B0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5B41C-75EA-3015-D11F-ED003C4B7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3.6.6 </a:t>
            </a:r>
            <a:r>
              <a:rPr lang="ko-KR" altLang="ko-KR" dirty="0" err="1"/>
              <a:t>접근자</a:t>
            </a:r>
            <a:r>
              <a:rPr lang="ko-KR" altLang="ko-KR" dirty="0"/>
              <a:t> 함수 사용 시 주의점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06F912-68E2-18B1-34DC-7ECE99465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비공개 멤버마다 기계적으로 </a:t>
            </a:r>
            <a:r>
              <a:rPr lang="ko-KR" altLang="ko-KR" sz="2000" dirty="0" err="1"/>
              <a:t>게터와</a:t>
            </a:r>
            <a:r>
              <a:rPr lang="ko-KR" altLang="ko-KR" sz="2000" dirty="0"/>
              <a:t> 세터를 만들면 캡슐화가 보장되지 않음</a:t>
            </a:r>
          </a:p>
          <a:p>
            <a:pPr lvl="0"/>
            <a:r>
              <a:rPr lang="ko-KR" altLang="ko-KR" sz="2000" dirty="0"/>
              <a:t>모든 값을 그대로 읽고 변경할 수 있으면 공개 멤버 변수와 큰 차이가 없을 수 있음</a:t>
            </a:r>
          </a:p>
          <a:p>
            <a:pPr lvl="0"/>
            <a:r>
              <a:rPr lang="ko-KR" altLang="ko-KR" sz="2000" dirty="0"/>
              <a:t>상태 변경 규칙이 있다면 의미가 분명한 멤버 함수를 제공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C817B-24CA-12CD-42E7-90836924F5AB}"/>
              </a:ext>
            </a:extLst>
          </p:cNvPr>
          <p:cNvSpPr txBox="1"/>
          <p:nvPr/>
        </p:nvSpPr>
        <p:spPr>
          <a:xfrm>
            <a:off x="683765" y="2087448"/>
            <a:ext cx="3431729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Player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  <a:endParaRPr lang="ko-KR" altLang="en-US" sz="4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6137C4-0195-8039-20B5-D753F5296A0A}"/>
              </a:ext>
            </a:extLst>
          </p:cNvPr>
          <p:cNvSpPr txBox="1"/>
          <p:nvPr/>
        </p:nvSpPr>
        <p:spPr>
          <a:xfrm>
            <a:off x="703163" y="5662989"/>
            <a:ext cx="6605141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-1000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   → 외부에서 객체 상태를 임의로 결정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TakeDamage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→ 객체가 피해 처리 규칙에 따라 상태 변경</a:t>
            </a:r>
            <a:endParaRPr lang="ko-KR" altLang="en-US" sz="4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26D6A-869C-11BD-AA19-9604DD436539}"/>
              </a:ext>
            </a:extLst>
          </p:cNvPr>
          <p:cNvSpPr txBox="1"/>
          <p:nvPr/>
        </p:nvSpPr>
        <p:spPr>
          <a:xfrm>
            <a:off x="4115495" y="4580438"/>
            <a:ext cx="3192809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Player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player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player.SetHp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-1000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endParaRPr lang="ko-KR" altLang="en-US" sz="4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271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D2BC5-D56C-D93D-4063-51FB09F1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AA14E-639E-572D-9C6F-6F2A55FA7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3.6.6 </a:t>
            </a:r>
            <a:r>
              <a:rPr lang="ko-KR" altLang="ko-KR" dirty="0" err="1"/>
              <a:t>비상수</a:t>
            </a:r>
            <a:r>
              <a:rPr lang="ko-KR" altLang="ko-KR" dirty="0"/>
              <a:t> 참조 반환 주의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AE4638-47E2-2436-EBC3-4CAC2CE05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비공개 멤버의 </a:t>
            </a:r>
            <a:r>
              <a:rPr lang="ko-KR" altLang="ko-KR" sz="2000" dirty="0" err="1"/>
              <a:t>비상수</a:t>
            </a:r>
            <a:r>
              <a:rPr lang="ko-KR" altLang="ko-KR" sz="2000" dirty="0"/>
              <a:t> 참조를 반환하면 외부 코드가 내부 상태를 직접 변경 가능</a:t>
            </a:r>
          </a:p>
          <a:p>
            <a:pPr lvl="0"/>
            <a:r>
              <a:rPr lang="ko-KR" altLang="ko-KR" sz="2000" dirty="0"/>
              <a:t>접근 제어를 우회하여 내부 상태를 공개하는 것과 비슷한 결과가 될 수 있음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EE49A-C8D1-9FA5-E90D-F17B0D005328}"/>
              </a:ext>
            </a:extLst>
          </p:cNvPr>
          <p:cNvSpPr txBox="1"/>
          <p:nvPr/>
        </p:nvSpPr>
        <p:spPr>
          <a:xfrm>
            <a:off x="539750" y="1628800"/>
            <a:ext cx="3888235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Profile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03E9F-1388-7DD0-83AE-5E933388DDD2}"/>
              </a:ext>
            </a:extLst>
          </p:cNvPr>
          <p:cNvSpPr txBox="1"/>
          <p:nvPr/>
        </p:nvSpPr>
        <p:spPr>
          <a:xfrm>
            <a:off x="539750" y="5090219"/>
            <a:ext cx="8191177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읽기만 필요하면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참조 반환을 고려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상태 변경에는 의미가 분명한 함수 제공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D6E2F9-944B-23F3-EEB7-A97051A6D015}"/>
              </a:ext>
            </a:extLst>
          </p:cNvPr>
          <p:cNvSpPr txBox="1"/>
          <p:nvPr/>
        </p:nvSpPr>
        <p:spPr>
          <a:xfrm>
            <a:off x="4421485" y="4115837"/>
            <a:ext cx="4320479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profile.GetName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93123D-E522-3617-9833-DB5B61925AC6}"/>
              </a:ext>
            </a:extLst>
          </p:cNvPr>
          <p:cNvSpPr txBox="1"/>
          <p:nvPr/>
        </p:nvSpPr>
        <p:spPr>
          <a:xfrm>
            <a:off x="539750" y="5734997"/>
            <a:ext cx="8191176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newName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63761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4C01B-72B9-A50A-74B1-74285DEE9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81D45-C1F7-09FE-F189-842E0987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3.7 멤버 함수와 </a:t>
            </a:r>
            <a:r>
              <a:rPr lang="ko-KR" altLang="ko-KR" dirty="0" err="1"/>
              <a:t>this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8819E-E7EC-EA2E-4D21-10B07D267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멤버 함수는 객체의 상태를 처리하거나 객체가 제공할 기능을 구현</a:t>
            </a:r>
          </a:p>
          <a:p>
            <a:pPr lvl="0"/>
            <a:r>
              <a:rPr lang="ko-KR" altLang="ko-KR" sz="2400" dirty="0"/>
              <a:t>일반 함수는 필요한 데이터를 매개변수로 전달받음</a:t>
            </a:r>
          </a:p>
          <a:p>
            <a:pPr lvl="0"/>
            <a:r>
              <a:rPr lang="ko-KR" altLang="ko-KR" sz="2400" dirty="0"/>
              <a:t>멤버 함수는 자신을 호출한 객체의 멤버에 직접 접근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9CA10-9778-9858-3F62-9C12DE5E797A}"/>
              </a:ext>
            </a:extLst>
          </p:cNvPr>
          <p:cNvSpPr txBox="1"/>
          <p:nvPr/>
        </p:nvSpPr>
        <p:spPr>
          <a:xfrm>
            <a:off x="683568" y="2255312"/>
            <a:ext cx="6840760" cy="427809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Player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offsetX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offsetY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position.x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offsetX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position.y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offsetY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Vector2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first.Move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10.0f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20.0f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second.Move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-5.0f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30.0f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1662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7388-8A19-E524-C6B7-D644B10E9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BA9BF-417E-42CB-C1C4-D4977AF2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>
                <a:latin typeface="+mn-ea"/>
                <a:ea typeface="+mn-ea"/>
              </a:rPr>
              <a:t>3.7.2 </a:t>
            </a:r>
            <a:r>
              <a:rPr lang="ko-KR" altLang="ko-KR" dirty="0" err="1">
                <a:latin typeface="+mn-ea"/>
                <a:ea typeface="+mn-ea"/>
              </a:rPr>
              <a:t>this</a:t>
            </a:r>
            <a:r>
              <a:rPr lang="ko-KR" altLang="ko-KR" dirty="0">
                <a:latin typeface="+mn-ea"/>
                <a:ea typeface="+mn-ea"/>
              </a:rPr>
              <a:t> 포인터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BD34CF-8DCD-B23F-A951-54C9725BA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>
                <a:latin typeface="+mn-ea"/>
                <a:ea typeface="+mn-ea"/>
              </a:rPr>
              <a:t>this는</a:t>
            </a:r>
            <a:r>
              <a:rPr lang="ko-KR" altLang="ko-KR" dirty="0">
                <a:latin typeface="+mn-ea"/>
                <a:ea typeface="+mn-ea"/>
              </a:rPr>
              <a:t> 현재 멤버 함수를 호출한 객체를 가리키는 포인터</a:t>
            </a:r>
          </a:p>
          <a:p>
            <a:pPr lvl="0"/>
            <a:r>
              <a:rPr lang="ko-KR" altLang="ko-KR" dirty="0">
                <a:latin typeface="+mn-ea"/>
                <a:ea typeface="+mn-ea"/>
              </a:rPr>
              <a:t>정적 멤버 함수가 아닌 모든 멤버 함수 안에서 사용 가능</a:t>
            </a:r>
          </a:p>
          <a:p>
            <a:pPr lvl="0"/>
            <a:r>
              <a:rPr lang="ko-KR" altLang="ko-KR" dirty="0">
                <a:latin typeface="+mn-ea"/>
                <a:ea typeface="+mn-ea"/>
              </a:rPr>
              <a:t>매개변수와 멤버 이름이 같을 때 구분에 사용</a:t>
            </a:r>
          </a:p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F8219-D639-DD06-8749-801019D94F0B}"/>
              </a:ext>
            </a:extLst>
          </p:cNvPr>
          <p:cNvSpPr txBox="1"/>
          <p:nvPr/>
        </p:nvSpPr>
        <p:spPr>
          <a:xfrm>
            <a:off x="323528" y="2555560"/>
            <a:ext cx="4464496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Window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SetSize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width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height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-&gt;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width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width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-&gt;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height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height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width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800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height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  <a:endParaRPr lang="ko-KR" altLang="en-US" sz="4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F7EAEEC-951D-778F-EDAC-0EFB3E9BA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406190"/>
              </p:ext>
            </p:extLst>
          </p:nvPr>
        </p:nvGraphicFramePr>
        <p:xfrm>
          <a:off x="4788024" y="2593377"/>
          <a:ext cx="4176464" cy="3063685"/>
        </p:xfrm>
        <a:graphic>
          <a:graphicData uri="http://schemas.openxmlformats.org/drawingml/2006/table">
            <a:tbl>
              <a:tblPr/>
              <a:tblGrid>
                <a:gridCol w="1584176">
                  <a:extLst>
                    <a:ext uri="{9D8B030D-6E8A-4147-A177-3AD203B41FA5}">
                      <a16:colId xmlns:a16="http://schemas.microsoft.com/office/drawing/2014/main" val="168617189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5920158"/>
                    </a:ext>
                  </a:extLst>
                </a:gridCol>
              </a:tblGrid>
              <a:tr h="612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표현</a:t>
                      </a:r>
                      <a:endParaRPr lang="ko-KR" sz="32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43511"/>
                  </a:ext>
                </a:extLst>
              </a:tr>
              <a:tr h="612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this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현재 객체의 주소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456820"/>
                  </a:ext>
                </a:extLst>
              </a:tr>
              <a:tr h="612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this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현재 객체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599164"/>
                  </a:ext>
                </a:extLst>
              </a:tr>
              <a:tr h="612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this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-&gt;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width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현재 객체의 멤버 </a:t>
                      </a: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width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695565"/>
                  </a:ext>
                </a:extLst>
              </a:tr>
              <a:tr h="612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(*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this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).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width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현재 객체의 멤버 </a:t>
                      </a: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width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990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667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0AEBA-C1F5-95FF-920C-F2FCC0DCE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2BBCA-20D7-D32D-1522-9DBB5FD5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3.7.3 객체 자신을 반환하기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3B0FC-D093-58DC-7EFF-C2C3D5A03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현재 객체를 가리키는 포인터는 </a:t>
            </a:r>
            <a:r>
              <a:rPr lang="ko-KR" altLang="ko-KR" dirty="0" err="1"/>
              <a:t>this</a:t>
            </a:r>
            <a:endParaRPr lang="ko-KR" altLang="ko-KR" dirty="0"/>
          </a:p>
          <a:p>
            <a:pPr lvl="0"/>
            <a:r>
              <a:rPr lang="ko-KR" altLang="ko-KR" dirty="0"/>
              <a:t>*</a:t>
            </a:r>
            <a:r>
              <a:rPr lang="ko-KR" altLang="ko-KR" dirty="0" err="1"/>
              <a:t>this는</a:t>
            </a:r>
            <a:r>
              <a:rPr lang="ko-KR" altLang="ko-KR" dirty="0"/>
              <a:t> 현재 객체 자체를 의미</a:t>
            </a:r>
          </a:p>
          <a:p>
            <a:pPr lvl="0"/>
            <a:r>
              <a:rPr lang="ko-KR" altLang="ko-KR" dirty="0"/>
              <a:t>같은 객체를 계속 사용하려면 일반적으로 참조 타입 반환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C2BD6-A285-15B0-8ECE-CC047EED33F4}"/>
              </a:ext>
            </a:extLst>
          </p:cNvPr>
          <p:cNvSpPr txBox="1"/>
          <p:nvPr/>
        </p:nvSpPr>
        <p:spPr>
          <a:xfrm>
            <a:off x="1043608" y="2441455"/>
            <a:ext cx="5760640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RenderOption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RenderOption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SetFullScreen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enabled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fullScreen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enabled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fullScreen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false</a:t>
            </a:r>
            <a:endParaRPr lang="ko-KR" altLang="en-US" sz="3600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639107D-1909-855E-C30B-4297C6508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31300"/>
              </p:ext>
            </p:extLst>
          </p:nvPr>
        </p:nvGraphicFramePr>
        <p:xfrm>
          <a:off x="1043608" y="5167450"/>
          <a:ext cx="5760641" cy="1429408"/>
        </p:xfrm>
        <a:graphic>
          <a:graphicData uri="http://schemas.openxmlformats.org/drawingml/2006/table">
            <a:tbl>
              <a:tblPr/>
              <a:tblGrid>
                <a:gridCol w="1798628">
                  <a:extLst>
                    <a:ext uri="{9D8B030D-6E8A-4147-A177-3AD203B41FA5}">
                      <a16:colId xmlns:a16="http://schemas.microsoft.com/office/drawing/2014/main" val="2107464395"/>
                    </a:ext>
                  </a:extLst>
                </a:gridCol>
                <a:gridCol w="1572227">
                  <a:extLst>
                    <a:ext uri="{9D8B030D-6E8A-4147-A177-3AD203B41FA5}">
                      <a16:colId xmlns:a16="http://schemas.microsoft.com/office/drawing/2014/main" val="4078414802"/>
                    </a:ext>
                  </a:extLst>
                </a:gridCol>
                <a:gridCol w="2389786">
                  <a:extLst>
                    <a:ext uri="{9D8B030D-6E8A-4147-A177-3AD203B41FA5}">
                      <a16:colId xmlns:a16="http://schemas.microsoft.com/office/drawing/2014/main" val="4288803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반환 타입</a:t>
                      </a:r>
                      <a:endParaRPr lang="ko-KR" sz="24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반환 표현</a:t>
                      </a:r>
                      <a:endParaRPr lang="ko-KR" sz="24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4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81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RenderOption</a:t>
                      </a:r>
                      <a:endParaRPr lang="ko-KR" sz="2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return</a:t>
                      </a:r>
                      <a:r>
                        <a:rPr 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 *</a:t>
                      </a:r>
                      <a:r>
                        <a:rPr lang="ko-KR" sz="14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this</a:t>
                      </a:r>
                      <a:r>
                        <a:rPr 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;</a:t>
                      </a:r>
                      <a:endParaRPr lang="ko-KR" sz="2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현재 객체의 </a:t>
                      </a:r>
                      <a:r>
                        <a:rPr 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복사본 반환</a:t>
                      </a:r>
                      <a:endParaRPr lang="ko-KR" sz="2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950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RenderOption</a:t>
                      </a:r>
                      <a:r>
                        <a:rPr 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endParaRPr lang="ko-KR" sz="2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return</a:t>
                      </a:r>
                      <a:r>
                        <a:rPr 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 *</a:t>
                      </a:r>
                      <a:r>
                        <a:rPr lang="ko-KR" sz="14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this</a:t>
                      </a:r>
                      <a:r>
                        <a:rPr 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;</a:t>
                      </a:r>
                      <a:endParaRPr lang="ko-KR" sz="2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현재 객체 </a:t>
                      </a:r>
                      <a:r>
                        <a:rPr 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참조 반환</a:t>
                      </a:r>
                      <a:endParaRPr lang="ko-KR" sz="2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885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RenderOption</a:t>
                      </a:r>
                      <a:r>
                        <a:rPr 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  <a:endParaRPr lang="ko-KR" sz="2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return</a:t>
                      </a:r>
                      <a:r>
                        <a:rPr 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4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this</a:t>
                      </a:r>
                      <a:r>
                        <a:rPr 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;</a:t>
                      </a:r>
                      <a:endParaRPr lang="ko-KR" sz="2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현재 객체 </a:t>
                      </a:r>
                      <a:r>
                        <a:rPr 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주소 반환</a:t>
                      </a:r>
                      <a:endParaRPr lang="ko-KR" sz="2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126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065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61F3C-2F6A-830C-8C22-20FFA439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EA6BF-D69A-0905-BB8F-8E38AAC05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3.7.4 메서드 </a:t>
            </a:r>
            <a:r>
              <a:rPr lang="ko-KR" altLang="ko-KR" dirty="0" err="1"/>
              <a:t>체이닝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6C21B6-0E46-C4AC-C2D5-BC0FFF382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 자신을 참조로 반환하면 멤버 함수를 연속해서 호출 가능</a:t>
            </a:r>
          </a:p>
          <a:p>
            <a:pPr lvl="0"/>
            <a:r>
              <a:rPr lang="ko-KR" altLang="ko-KR" sz="2400" dirty="0"/>
              <a:t>여러 단계로 객체를 설정하는 코드를 간결하게 만들 수 있음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02790-A0E7-47DF-DD23-1BE2FA99AA0D}"/>
              </a:ext>
            </a:extLst>
          </p:cNvPr>
          <p:cNvSpPr txBox="1"/>
          <p:nvPr/>
        </p:nvSpPr>
        <p:spPr>
          <a:xfrm>
            <a:off x="1259632" y="1905506"/>
            <a:ext cx="4752528" cy="328181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 tIns="108000" rIns="72000" bIns="216000">
            <a:spAutoFit/>
          </a:bodyPr>
          <a:lstStyle/>
          <a:p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RenderOption option;</a:t>
            </a:r>
            <a:b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option.SetResolution(</a:t>
            </a:r>
            <a:r>
              <a:rPr lang="ko-KR" altLang="ko-KR" sz="1600" b="1" i="0" u="none" strike="noStrike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1920</a:t>
            </a: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1080</a:t>
            </a: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.SetFullScreen(</a:t>
            </a:r>
            <a:r>
              <a:rPr lang="ko-KR" altLang="ko-KR" sz="1600" b="1" i="0" u="none" strike="noStrike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.SetVSync(</a:t>
            </a:r>
            <a:r>
              <a:rPr lang="ko-KR" altLang="ko-KR" sz="1600" b="1" i="0" u="none" strike="noStrike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option.SetResolution(</a:t>
            </a:r>
            <a:r>
              <a:rPr lang="ko-KR" altLang="ko-KR" sz="1600" b="1" i="0" u="none" strike="noStrike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1920</a:t>
            </a: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1080</a:t>
            </a: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│</a:t>
            </a:r>
            <a:b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└─ option의 참조 반환</a:t>
            </a:r>
            <a:b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⬇️</a:t>
            </a:r>
            <a:b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.SetFullScreen(</a:t>
            </a:r>
            <a:r>
              <a:rPr lang="ko-KR" altLang="ko-KR" sz="1600" b="1" i="0" u="none" strike="noStrike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⬇️</a:t>
            </a:r>
            <a:b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.SetVSync(</a:t>
            </a:r>
            <a:r>
              <a:rPr lang="ko-KR" altLang="ko-KR" sz="1600" b="1" i="0" u="none" strike="noStrike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600" b="1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C2225-94A9-3C14-6E1E-09B397052464}"/>
              </a:ext>
            </a:extLst>
          </p:cNvPr>
          <p:cNvSpPr txBox="1"/>
          <p:nvPr/>
        </p:nvSpPr>
        <p:spPr>
          <a:xfrm>
            <a:off x="1259632" y="5496966"/>
            <a:ext cx="4752528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체이닝을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위해 성공 여부 확인이 필요한 함수를</a:t>
            </a:r>
            <a:br>
              <a:rPr lang="en-US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억지로</a:t>
            </a:r>
            <a:r>
              <a:rPr lang="en-US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참조 반환으로 바꾸지 않음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80525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0905-E67B-13AD-8F22-B75F26E70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5C1DF-3A07-3893-CFC6-E262B08E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3.7.5 상수 멤버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C6E214-F1CB-404A-4365-AF6953599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객체의 상태를 변경하지 않는 멤버 함수는</a:t>
            </a:r>
            <a:br>
              <a:rPr lang="en-US" altLang="ko-KR" sz="2400" dirty="0"/>
            </a:br>
            <a:r>
              <a:rPr lang="ko-KR" altLang="ko-KR" sz="2400" dirty="0"/>
              <a:t>매개변수 목록 뒤에 </a:t>
            </a:r>
            <a:r>
              <a:rPr lang="ko-KR" altLang="ko-KR" sz="2400" dirty="0" err="1"/>
              <a:t>const를</a:t>
            </a:r>
            <a:r>
              <a:rPr lang="ko-KR" altLang="ko-KR" sz="2400" dirty="0"/>
              <a:t> 붙임</a:t>
            </a:r>
          </a:p>
          <a:p>
            <a:pPr lvl="0"/>
            <a:r>
              <a:rPr lang="ko-KR" altLang="ko-KR" sz="2400" dirty="0"/>
              <a:t>상수 멤버 함수에서는 일반 멤버 변수를 변경할 수 없음</a:t>
            </a:r>
          </a:p>
          <a:p>
            <a:pPr lvl="0"/>
            <a:r>
              <a:rPr lang="ko-KR" altLang="ko-KR" sz="2400" dirty="0"/>
              <a:t>상수 객체는 상수 멤버 함수만 호출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2FE4D-3B06-E823-CE36-EB871F765D6F}"/>
              </a:ext>
            </a:extLst>
          </p:cNvPr>
          <p:cNvSpPr txBox="1"/>
          <p:nvPr/>
        </p:nvSpPr>
        <p:spPr>
          <a:xfrm>
            <a:off x="536724" y="2687975"/>
            <a:ext cx="3171180" cy="34778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RenderOption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>
                <a:solidFill>
                  <a:srgbClr val="4078F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GetWidth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width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}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width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1280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  <a:endParaRPr lang="ko-KR" altLang="en-US" sz="4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FFED050-DC9E-84CC-7BE4-1FC496CD1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523072"/>
              </p:ext>
            </p:extLst>
          </p:nvPr>
        </p:nvGraphicFramePr>
        <p:xfrm>
          <a:off x="3815916" y="3202456"/>
          <a:ext cx="5112568" cy="1224456"/>
        </p:xfrm>
        <a:graphic>
          <a:graphicData uri="http://schemas.openxmlformats.org/drawingml/2006/table">
            <a:tbl>
              <a:tblPr/>
              <a:tblGrid>
                <a:gridCol w="2380454">
                  <a:extLst>
                    <a:ext uri="{9D8B030D-6E8A-4147-A177-3AD203B41FA5}">
                      <a16:colId xmlns:a16="http://schemas.microsoft.com/office/drawing/2014/main" val="70631504"/>
                    </a:ext>
                  </a:extLst>
                </a:gridCol>
                <a:gridCol w="2732114">
                  <a:extLst>
                    <a:ext uri="{9D8B030D-6E8A-4147-A177-3AD203B41FA5}">
                      <a16:colId xmlns:a16="http://schemas.microsoft.com/office/drawing/2014/main" val="12863528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멤버 함수</a:t>
                      </a:r>
                      <a:endParaRPr lang="ko-KR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916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GetWidth()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const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객체 상태를 변경하지 않음</a:t>
                      </a:r>
                      <a:endParaRPr lang="ko-KR" sz="32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037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void SetWidth(int)</a:t>
                      </a:r>
                      <a:endParaRPr lang="ko-KR" sz="32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객체 상태 변경 가능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2889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E16240-57F0-DB26-95E7-DB87B90BD6A8}"/>
              </a:ext>
            </a:extLst>
          </p:cNvPr>
          <p:cNvSpPr txBox="1"/>
          <p:nvPr/>
        </p:nvSpPr>
        <p:spPr>
          <a:xfrm>
            <a:off x="3923928" y="5518973"/>
            <a:ext cx="5004556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const는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호출 객체의 상태를 변경하지</a:t>
            </a:r>
            <a:br>
              <a:rPr lang="en-US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않는다는 의도를 인터페이스에 표현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19746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B787-1B0C-77B2-D6C4-7DFB4B35D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D4C5E-CDA0-5A79-9B76-8B5F9315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3.8 정적 멤버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28A9CA-D6A1-9DEA-5FE7-D088C2CBF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비정적 데이터 멤버는 객체마다 별도의 저장 공간을 가짐</a:t>
            </a:r>
          </a:p>
          <a:p>
            <a:pPr lvl="0"/>
            <a:r>
              <a:rPr lang="ko-KR" altLang="ko-KR" sz="2000" dirty="0"/>
              <a:t>정적 데이터 멤버는 클래스 전체에서 하나만 존재</a:t>
            </a:r>
          </a:p>
          <a:p>
            <a:pPr lvl="0"/>
            <a:r>
              <a:rPr lang="ko-KR" altLang="ko-KR" sz="2000" dirty="0"/>
              <a:t>모든 객체가 공유하는 클래스 상태를 표현</a:t>
            </a:r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782CB9E-63E6-4574-0BF9-DC8508256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805272"/>
              </p:ext>
            </p:extLst>
          </p:nvPr>
        </p:nvGraphicFramePr>
        <p:xfrm>
          <a:off x="539750" y="1844824"/>
          <a:ext cx="7056586" cy="2662272"/>
        </p:xfrm>
        <a:graphic>
          <a:graphicData uri="http://schemas.openxmlformats.org/drawingml/2006/table">
            <a:tbl>
              <a:tblPr/>
              <a:tblGrid>
                <a:gridCol w="1683957">
                  <a:extLst>
                    <a:ext uri="{9D8B030D-6E8A-4147-A177-3AD203B41FA5}">
                      <a16:colId xmlns:a16="http://schemas.microsoft.com/office/drawing/2014/main" val="3886144895"/>
                    </a:ext>
                  </a:extLst>
                </a:gridCol>
                <a:gridCol w="2646220">
                  <a:extLst>
                    <a:ext uri="{9D8B030D-6E8A-4147-A177-3AD203B41FA5}">
                      <a16:colId xmlns:a16="http://schemas.microsoft.com/office/drawing/2014/main" val="804599967"/>
                    </a:ext>
                  </a:extLst>
                </a:gridCol>
                <a:gridCol w="2726409">
                  <a:extLst>
                    <a:ext uri="{9D8B030D-6E8A-4147-A177-3AD203B41FA5}">
                      <a16:colId xmlns:a16="http://schemas.microsoft.com/office/drawing/2014/main" val="2348473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1800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비정적 데이터 멤버</a:t>
                      </a:r>
                      <a:endParaRPr lang="ko-KR" sz="1800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정적 데이터 멤버</a:t>
                      </a:r>
                      <a:endParaRPr lang="ko-KR" sz="1800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23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소속</a:t>
                      </a:r>
                      <a:endParaRPr lang="ko-KR" sz="2000" b="1" spc="-15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각각의 객체</a:t>
                      </a:r>
                      <a:endParaRPr lang="ko-KR" sz="20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클래스</a:t>
                      </a:r>
                      <a:endParaRPr lang="ko-KR" sz="20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333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저장 공간</a:t>
                      </a:r>
                      <a:endParaRPr lang="ko-KR" sz="2000" b="1" spc="-15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객체마다 별도</a:t>
                      </a:r>
                      <a:endParaRPr lang="ko-KR" sz="2000" b="1" spc="-1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클래스 전체에서 하나</a:t>
                      </a:r>
                      <a:endParaRPr lang="ko-KR" sz="20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743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값</a:t>
                      </a:r>
                      <a:endParaRPr lang="ko-KR" sz="2000" b="1" spc="-15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객체마다 다를 수 있음</a:t>
                      </a:r>
                      <a:endParaRPr lang="ko-KR" sz="2000" b="1" spc="-1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모든 객체가 공유</a:t>
                      </a:r>
                      <a:endParaRPr lang="ko-KR" sz="20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32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객체생성 필요</a:t>
                      </a:r>
                      <a:endParaRPr lang="ko-KR" sz="2000" b="1" spc="-15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객체가 생성되어야 존재</a:t>
                      </a:r>
                      <a:endParaRPr lang="ko-KR" sz="2000" b="1" spc="-1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객체가 없어도 사용 가능</a:t>
                      </a:r>
                      <a:endParaRPr lang="ko-KR" sz="20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523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접근 방법</a:t>
                      </a:r>
                      <a:endParaRPr lang="ko-KR" sz="2000" b="1" spc="-15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객체를 통해 접근</a:t>
                      </a:r>
                      <a:endParaRPr lang="ko-KR" sz="2000" b="1" spc="-1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클래스 범위로 접근</a:t>
                      </a:r>
                      <a:endParaRPr lang="ko-KR" sz="20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8913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1306A2E-61D9-B09D-EBF7-8750B8931DEB}"/>
              </a:ext>
            </a:extLst>
          </p:cNvPr>
          <p:cNvSpPr txBox="1"/>
          <p:nvPr/>
        </p:nvSpPr>
        <p:spPr>
          <a:xfrm>
            <a:off x="539750" y="4521557"/>
            <a:ext cx="7056586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Player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maxPlayerCount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maxPlayerCount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0647088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1C679-D13F-6441-5A8F-6070C6EF0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0B1A93-8034-37F8-CB65-4184C503E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3.8.1 정적 데이터 멤버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E4F26A-8A7F-F455-24EF-CA3B70FBC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클래스 안에서 선언하지만 일반적으로 클래스 밖에서 정의</a:t>
            </a:r>
          </a:p>
          <a:p>
            <a:pPr lvl="0"/>
            <a:r>
              <a:rPr lang="ko-KR" altLang="ko-KR" dirty="0"/>
              <a:t>클래스 밖 정의에는 </a:t>
            </a:r>
            <a:r>
              <a:rPr lang="ko-KR" altLang="ko-KR" dirty="0" err="1"/>
              <a:t>static을</a:t>
            </a:r>
            <a:r>
              <a:rPr lang="ko-KR" altLang="ko-KR" dirty="0"/>
              <a:t> 다시 쓰지 않음</a:t>
            </a:r>
          </a:p>
          <a:p>
            <a:pPr lvl="0"/>
            <a:r>
              <a:rPr lang="ko-KR" altLang="ko-KR" dirty="0"/>
              <a:t>정적 데이터 멤버는 객체의 저장 공간에 포함되지 않음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3E5EC-1FB5-CBC2-276C-7958F66F51A3}"/>
              </a:ext>
            </a:extLst>
          </p:cNvPr>
          <p:cNvSpPr txBox="1"/>
          <p:nvPr/>
        </p:nvSpPr>
        <p:spPr>
          <a:xfrm>
            <a:off x="235434" y="2564904"/>
            <a:ext cx="5730354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Player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maxPlayerCount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maxPlayerCount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maxPlayerCount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maxPlayerCount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55D281-D372-BB91-FDE5-97699A11C6EB}"/>
              </a:ext>
            </a:extLst>
          </p:cNvPr>
          <p:cNvSpPr txBox="1"/>
          <p:nvPr/>
        </p:nvSpPr>
        <p:spPr>
          <a:xfrm>
            <a:off x="6177037" y="3395901"/>
            <a:ext cx="2648210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spc="-150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클래스</a:t>
            </a:r>
            <a:b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└─ </a:t>
            </a:r>
            <a:r>
              <a:rPr lang="ko-KR" altLang="ko-KR" sz="1800" b="1" i="0" u="none" strike="noStrike" spc="-150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maxPlayerCount</a:t>
            </a:r>
            <a: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1" i="0" u="none" strike="noStrike" spc="-150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b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spc="-150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객체</a:t>
            </a:r>
            <a:b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└─ </a:t>
            </a:r>
            <a:r>
              <a:rPr lang="ko-KR" altLang="ko-KR" sz="1800" b="1" i="0" u="none" strike="noStrike" spc="-150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1" i="0" u="none" strike="noStrike" spc="-150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b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spc="-150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객체</a:t>
            </a:r>
            <a:b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└─ </a:t>
            </a:r>
            <a:r>
              <a:rPr lang="ko-KR" altLang="ko-KR" sz="1800" b="1" i="0" u="none" strike="noStrike" spc="-150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800" b="1" i="0" u="none" strike="noStrike" spc="-150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1" i="0" u="none" strike="noStrike" spc="-150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endParaRPr lang="ko-KR" altLang="en-US" sz="4000" b="1" spc="-15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8320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760E1-70D4-13DC-9B05-C7AFF4D45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3.8.2 정적 멤버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6C6807-4E16-6397-7DC6-AC2C27C48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정적 멤버 함수는 특정 객체가 아니라 클래스에 속한 함수</a:t>
            </a:r>
          </a:p>
          <a:p>
            <a:pPr lvl="0"/>
            <a:r>
              <a:rPr lang="ko-KR" altLang="ko-KR" sz="2400" dirty="0"/>
              <a:t>객체를 생성하지 않고 클래스 범위로 호출 가능</a:t>
            </a:r>
          </a:p>
          <a:p>
            <a:pPr lvl="0"/>
            <a:r>
              <a:rPr lang="ko-KR" altLang="ko-KR" sz="2400" dirty="0" err="1"/>
              <a:t>this</a:t>
            </a:r>
            <a:r>
              <a:rPr lang="ko-KR" altLang="ko-KR" sz="2400" dirty="0"/>
              <a:t> 포인터가 없음</a:t>
            </a:r>
            <a:r>
              <a:rPr lang="en-US" altLang="ko-KR" sz="2400" dirty="0"/>
              <a:t> </a:t>
            </a:r>
            <a:r>
              <a:rPr lang="ko-KR" altLang="en-US" sz="2400" dirty="0"/>
              <a:t>→ 클래스는 </a:t>
            </a:r>
            <a:r>
              <a:rPr lang="ko-KR" altLang="en-US" sz="2400" dirty="0" err="1"/>
              <a:t>스코프</a:t>
            </a:r>
            <a:endParaRPr lang="ko-KR" altLang="ko-KR" sz="2400" dirty="0"/>
          </a:p>
          <a:p>
            <a:pPr lvl="0"/>
            <a:r>
              <a:rPr lang="ko-KR" altLang="ko-KR" sz="2400" dirty="0"/>
              <a:t>비정적 데이터 멤버에 직접 접근할 수 없음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4F3B1-C823-1EC0-F9DE-BB95D22FF2CD}"/>
              </a:ext>
            </a:extLst>
          </p:cNvPr>
          <p:cNvSpPr txBox="1"/>
          <p:nvPr/>
        </p:nvSpPr>
        <p:spPr>
          <a:xfrm>
            <a:off x="384077" y="2734627"/>
            <a:ext cx="3955603" cy="3754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spc="-150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Player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spc="-15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SetMaxPlayerCount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spc="-15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400" b="1" i="0" u="none" strike="noStrike" spc="-15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ko-KR" altLang="ko-KR" sz="1400" b="1" i="0" u="none" strike="noStrike" spc="-15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ko-KR" altLang="ko-KR" sz="1400" b="1" i="0" u="none" strike="noStrike" spc="-15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maxPlayerCount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spc="-15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spc="-15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GetMaxPlayerCount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spc="-15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maxPlayerCount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spc="-15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spc="-15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maxPlayerCount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spc="-15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spc="-15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3200" b="1" spc="-15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B2170-A03D-68C8-B4FB-7B44C6B278BB}"/>
              </a:ext>
            </a:extLst>
          </p:cNvPr>
          <p:cNvSpPr txBox="1"/>
          <p:nvPr/>
        </p:nvSpPr>
        <p:spPr>
          <a:xfrm>
            <a:off x="4539977" y="5904240"/>
            <a:ext cx="4392488" cy="5232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SetMaxPlayerCount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GetMaxPlayerCount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00752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BFE27-CCAE-C992-9946-6949CB5CF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61BDE-2CB4-9DE2-6951-C3AD4BFCF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3.8.3 인라인 정적 멤버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1B80EE-308E-5685-31AC-3561B5CF7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C++17부터 정적 데이터 멤버에 </a:t>
            </a:r>
            <a:r>
              <a:rPr lang="ko-KR" altLang="ko-KR" sz="2400" dirty="0" err="1"/>
              <a:t>inline을</a:t>
            </a:r>
            <a:r>
              <a:rPr lang="ko-KR" altLang="ko-KR" sz="2400" dirty="0"/>
              <a:t> 사용하면</a:t>
            </a:r>
            <a:br>
              <a:rPr lang="en-US" altLang="ko-KR" sz="2400" dirty="0"/>
            </a:br>
            <a:r>
              <a:rPr lang="ko-KR" altLang="ko-KR" sz="2400" dirty="0"/>
              <a:t>클래스 안에서 정의와 초기화를 함께 작성 가능</a:t>
            </a:r>
          </a:p>
          <a:p>
            <a:pPr lvl="0"/>
            <a:r>
              <a:rPr lang="ko-KR" altLang="ko-KR" sz="2400" dirty="0"/>
              <a:t>클래스 밖에서 별도의 정의를 작성하지 않아도 됨</a:t>
            </a:r>
          </a:p>
          <a:p>
            <a:pPr lvl="0"/>
            <a:r>
              <a:rPr lang="ko-KR" altLang="ko-KR" sz="2400" dirty="0">
                <a:solidFill>
                  <a:srgbClr val="0070C0"/>
                </a:solidFill>
              </a:rPr>
              <a:t>constexpr 정적 데이터 멤버</a:t>
            </a:r>
            <a:r>
              <a:rPr lang="ko-KR" altLang="ko-KR" sz="2400" dirty="0"/>
              <a:t>는 C++17부터 </a:t>
            </a:r>
            <a:r>
              <a:rPr lang="ko-KR" altLang="ko-KR" sz="2400" dirty="0">
                <a:solidFill>
                  <a:srgbClr val="0070C0"/>
                </a:solidFill>
              </a:rPr>
              <a:t>암시적으로 </a:t>
            </a:r>
            <a:r>
              <a:rPr lang="ko-KR" altLang="ko-KR" sz="2400" dirty="0" err="1">
                <a:solidFill>
                  <a:srgbClr val="0070C0"/>
                </a:solidFill>
              </a:rPr>
              <a:t>inline</a:t>
            </a:r>
            <a:endParaRPr lang="ko-KR" altLang="ko-KR" sz="2400" dirty="0">
              <a:solidFill>
                <a:srgbClr val="0070C0"/>
              </a:solidFill>
            </a:endParaRP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9070A-92D1-4AFA-61FB-98F359B29344}"/>
              </a:ext>
            </a:extLst>
          </p:cNvPr>
          <p:cNvSpPr txBox="1"/>
          <p:nvPr/>
        </p:nvSpPr>
        <p:spPr>
          <a:xfrm>
            <a:off x="539750" y="2636912"/>
            <a:ext cx="7920682" cy="175432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GameConfig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maxPlayerCount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minimumPlayerCount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maximumStageCount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000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227F88C-ED05-F044-D382-266AA4DA9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055579"/>
              </p:ext>
            </p:extLst>
          </p:nvPr>
        </p:nvGraphicFramePr>
        <p:xfrm>
          <a:off x="611659" y="4653136"/>
          <a:ext cx="7848773" cy="1764688"/>
        </p:xfrm>
        <a:graphic>
          <a:graphicData uri="http://schemas.openxmlformats.org/drawingml/2006/table">
            <a:tbl>
              <a:tblPr/>
              <a:tblGrid>
                <a:gridCol w="3062560">
                  <a:extLst>
                    <a:ext uri="{9D8B030D-6E8A-4147-A177-3AD203B41FA5}">
                      <a16:colId xmlns:a16="http://schemas.microsoft.com/office/drawing/2014/main" val="4074454571"/>
                    </a:ext>
                  </a:extLst>
                </a:gridCol>
                <a:gridCol w="1721414">
                  <a:extLst>
                    <a:ext uri="{9D8B030D-6E8A-4147-A177-3AD203B41FA5}">
                      <a16:colId xmlns:a16="http://schemas.microsoft.com/office/drawing/2014/main" val="3455473177"/>
                    </a:ext>
                  </a:extLst>
                </a:gridCol>
                <a:gridCol w="3064799">
                  <a:extLst>
                    <a:ext uri="{9D8B030D-6E8A-4147-A177-3AD203B41FA5}">
                      <a16:colId xmlns:a16="http://schemas.microsoft.com/office/drawing/2014/main" val="17700555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선언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변경 가능 여부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컴파일 타임 상수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300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inline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static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아님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833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inline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static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const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불가능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초기화 방식에 따라 다름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97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static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constexpr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불가능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558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1287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74913-4F4C-4D93-9B62-DD4FA7FF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ADE3E-A29F-5849-B314-6A8265E22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3.8.4 객체 상태와 클래스 상태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4B054D-C70D-766D-F280-CE1A205C3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객체마다 서로 다른 값을 가져야 하면 비정적 데이터 멤버</a:t>
            </a:r>
          </a:p>
          <a:p>
            <a:pPr lvl="0"/>
            <a:r>
              <a:rPr lang="ko-KR" altLang="ko-KR" sz="2400" dirty="0"/>
              <a:t>모든 객체가 공유해야 하면 정적 데이터 멤버</a:t>
            </a:r>
          </a:p>
          <a:p>
            <a:pPr lvl="0"/>
            <a:r>
              <a:rPr lang="ko-KR" altLang="ko-KR" sz="2400" dirty="0"/>
              <a:t>값의 의미를 기준으로 판단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5246C-1A1C-C78B-7A1E-8453C0B922F7}"/>
              </a:ext>
            </a:extLst>
          </p:cNvPr>
          <p:cNvSpPr txBox="1"/>
          <p:nvPr/>
        </p:nvSpPr>
        <p:spPr>
          <a:xfrm>
            <a:off x="817514" y="2302167"/>
            <a:ext cx="6058741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Vector2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{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inline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movementLimit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1000.0f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40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B8859B-5707-6F0D-D686-1463A50C7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429557"/>
              </p:ext>
            </p:extLst>
          </p:nvPr>
        </p:nvGraphicFramePr>
        <p:xfrm>
          <a:off x="817514" y="4463545"/>
          <a:ext cx="6058742" cy="2061080"/>
        </p:xfrm>
        <a:graphic>
          <a:graphicData uri="http://schemas.openxmlformats.org/drawingml/2006/table">
            <a:tbl>
              <a:tblPr/>
              <a:tblGrid>
                <a:gridCol w="1887149">
                  <a:extLst>
                    <a:ext uri="{9D8B030D-6E8A-4147-A177-3AD203B41FA5}">
                      <a16:colId xmlns:a16="http://schemas.microsoft.com/office/drawing/2014/main" val="2200840294"/>
                    </a:ext>
                  </a:extLst>
                </a:gridCol>
                <a:gridCol w="1603367">
                  <a:extLst>
                    <a:ext uri="{9D8B030D-6E8A-4147-A177-3AD203B41FA5}">
                      <a16:colId xmlns:a16="http://schemas.microsoft.com/office/drawing/2014/main" val="725752900"/>
                    </a:ext>
                  </a:extLst>
                </a:gridCol>
                <a:gridCol w="2568226">
                  <a:extLst>
                    <a:ext uri="{9D8B030D-6E8A-4147-A177-3AD203B41FA5}">
                      <a16:colId xmlns:a16="http://schemas.microsoft.com/office/drawing/2014/main" val="2067081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멤버</a:t>
                      </a:r>
                      <a:endParaRPr lang="ko-KR" sz="28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상태 종류</a:t>
                      </a:r>
                      <a:endParaRPr lang="ko-KR" sz="28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저장 개수</a:t>
                      </a:r>
                      <a:endParaRPr lang="ko-KR" sz="28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041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position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객체 상태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객체마다 하나</a:t>
                      </a:r>
                      <a:endParaRPr lang="ko-KR" sz="3200" b="1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761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hp</a:t>
                      </a:r>
                      <a:endParaRPr lang="ko-KR" sz="3200" b="1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객체 상태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객체마다 하나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682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level</a:t>
                      </a:r>
                      <a:endParaRPr lang="ko-KR" sz="3200" b="1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객체 상태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객체마다 하나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1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movementLimit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클래스 상태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클래스 전체에서 하나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308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6412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FCE4C-3990-C6CC-DDC0-7B815D43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6773F-A0F8-D5AA-0B82-B1C9D96F5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3.8.5 전역 변수와 정적 멤버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602CEE-106F-ACDF-EDE3-AECEBD1DC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전역 변수와 정적 데이터 멤버는</a:t>
            </a:r>
            <a:br>
              <a:rPr lang="en-US" altLang="ko-KR" sz="2400" dirty="0"/>
            </a:br>
            <a:r>
              <a:rPr lang="ko-KR" altLang="ko-KR" sz="2400" dirty="0"/>
              <a:t>모두 프로그램 실행 동안 하나의 저장 공간 유지</a:t>
            </a:r>
          </a:p>
          <a:p>
            <a:pPr lvl="0"/>
            <a:r>
              <a:rPr lang="ko-KR" altLang="ko-KR" sz="2400" dirty="0"/>
              <a:t>정적 데이터 멤버는 특정 클래스에 속한다는 의미를 표현</a:t>
            </a:r>
          </a:p>
          <a:p>
            <a:pPr lvl="0"/>
            <a:r>
              <a:rPr lang="ko-KR" altLang="ko-KR" sz="2400" dirty="0"/>
              <a:t>접근 제어와 정적 멤버 함수로 변경 규칙을 적용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F15EB-3E37-0B8E-E5E7-3C6BF8E5BF5A}"/>
              </a:ext>
            </a:extLst>
          </p:cNvPr>
          <p:cNvSpPr txBox="1"/>
          <p:nvPr/>
        </p:nvSpPr>
        <p:spPr>
          <a:xfrm>
            <a:off x="347688" y="2918966"/>
            <a:ext cx="3600400" cy="32316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SetMaxPlayerCount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||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maxPlayerCount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inline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maxPlayerCount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2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49FF1CA-ED4A-F42E-86D9-AE0BE5165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337058"/>
              </p:ext>
            </p:extLst>
          </p:nvPr>
        </p:nvGraphicFramePr>
        <p:xfrm>
          <a:off x="4068179" y="4119609"/>
          <a:ext cx="4848225" cy="2069488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191998394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216599529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33863912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전역 변수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정적 데이터 멤버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516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소속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특정 클래스에</a:t>
                      </a:r>
                      <a:br>
                        <a:rPr lang="en-US" alt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속하지 않음</a:t>
                      </a:r>
                      <a:endParaRPr lang="ko-KR" sz="24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클래스에 속함</a:t>
                      </a:r>
                      <a:endParaRPr lang="ko-KR" sz="24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461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접근 제어</a:t>
                      </a:r>
                      <a:endParaRPr lang="ko-KR" sz="24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접근 지정자</a:t>
                      </a:r>
                      <a:br>
                        <a:rPr lang="en-US" alt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 불가</a:t>
                      </a:r>
                      <a:endParaRPr lang="ko-KR" sz="24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접근 지정자</a:t>
                      </a:r>
                      <a:br>
                        <a:rPr lang="en-US" altLang="ko-KR" sz="14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 가능</a:t>
                      </a:r>
                      <a:endParaRPr lang="ko-KR" sz="24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87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 전달</a:t>
                      </a:r>
                      <a:endParaRPr lang="ko-KR" sz="24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소속이 불분명</a:t>
                      </a:r>
                      <a:br>
                        <a:rPr lang="en-US" alt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할 수 있음</a:t>
                      </a:r>
                      <a:endParaRPr lang="ko-KR" sz="24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어떤 타입의 상태인지</a:t>
                      </a:r>
                      <a:br>
                        <a:rPr lang="en-US" altLang="ko-KR" sz="14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명확함</a:t>
                      </a:r>
                      <a:endParaRPr lang="ko-KR" sz="24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878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985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72D7-9742-397B-83C4-3CFDA9B2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65B2B-C4C4-1E30-7023-B20AE9DF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3.9 클래스 내부</a:t>
            </a:r>
            <a:r>
              <a:rPr lang="en-US" altLang="ko-KR" dirty="0"/>
              <a:t>(Nested)</a:t>
            </a:r>
            <a:r>
              <a:rPr lang="ko-KR" altLang="ko-KR" dirty="0"/>
              <a:t>의 선언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406518-1115-9040-152B-5B8C1C1F6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클래스 내부에는 클래스, 열거형,</a:t>
            </a:r>
            <a:br>
              <a:rPr lang="en-US" altLang="ko-KR" sz="2400" dirty="0"/>
            </a:br>
            <a:r>
              <a:rPr lang="ko-KR" altLang="ko-KR" sz="2400" dirty="0"/>
              <a:t>타입 별칭 같은 새로운 타입 선언 가능</a:t>
            </a:r>
          </a:p>
          <a:p>
            <a:pPr lvl="0"/>
            <a:r>
              <a:rPr lang="ko-KR" altLang="ko-KR" sz="2400" dirty="0"/>
              <a:t>클래스 내부에 선언된 이름은 해당 클래스의 범위에 속함</a:t>
            </a:r>
          </a:p>
          <a:p>
            <a:pPr lvl="0"/>
            <a:r>
              <a:rPr lang="ko-KR" altLang="ko-KR" sz="2400" dirty="0"/>
              <a:t>외부에서는 클래스 </a:t>
            </a:r>
            <a:r>
              <a:rPr lang="ko-KR" altLang="ko-KR" sz="2400" dirty="0">
                <a:solidFill>
                  <a:srgbClr val="CC00FF"/>
                </a:solidFill>
              </a:rPr>
              <a:t>범위 연산자 ::</a:t>
            </a:r>
            <a:r>
              <a:rPr lang="ko-KR" altLang="ko-KR" sz="2400" dirty="0" err="1"/>
              <a:t>를</a:t>
            </a:r>
            <a:r>
              <a:rPr lang="ko-KR" altLang="ko-KR" sz="2400" dirty="0"/>
              <a:t> 사용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EB457-167B-A24F-51B7-6F03C26ADB12}"/>
              </a:ext>
            </a:extLst>
          </p:cNvPr>
          <p:cNvSpPr txBox="1"/>
          <p:nvPr/>
        </p:nvSpPr>
        <p:spPr>
          <a:xfrm>
            <a:off x="681485" y="2860481"/>
            <a:ext cx="2738388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::State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45C9B7A-8F4B-8784-8BA5-05B3BE933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345235"/>
              </p:ext>
            </p:extLst>
          </p:nvPr>
        </p:nvGraphicFramePr>
        <p:xfrm>
          <a:off x="3635897" y="3226000"/>
          <a:ext cx="4752527" cy="2435248"/>
        </p:xfrm>
        <a:graphic>
          <a:graphicData uri="http://schemas.openxmlformats.org/drawingml/2006/table">
            <a:tbl>
              <a:tblPr/>
              <a:tblGrid>
                <a:gridCol w="2232248">
                  <a:extLst>
                    <a:ext uri="{9D8B030D-6E8A-4147-A177-3AD203B41FA5}">
                      <a16:colId xmlns:a16="http://schemas.microsoft.com/office/drawing/2014/main" val="1514182405"/>
                    </a:ext>
                  </a:extLst>
                </a:gridCol>
                <a:gridCol w="2520279">
                  <a:extLst>
                    <a:ext uri="{9D8B030D-6E8A-4147-A177-3AD203B41FA5}">
                      <a16:colId xmlns:a16="http://schemas.microsoft.com/office/drawing/2014/main" val="2339880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장점</a:t>
                      </a:r>
                      <a:endParaRPr lang="ko-KR" sz="24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설명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935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이름의</a:t>
                      </a:r>
                      <a:r>
                        <a:rPr lang="en-US" alt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소속</a:t>
                      </a:r>
                      <a:r>
                        <a:rPr lang="en-US" alt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표현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어떤 클래스와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관련되는지 명확함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236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이름</a:t>
                      </a:r>
                      <a:r>
                        <a:rPr lang="en-US" alt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충돌 방지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 범위 안에 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름 제한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380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관련</a:t>
                      </a:r>
                      <a:r>
                        <a:rPr lang="en-US" alt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선언 구성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함께 쓰는 타입을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 안에 모음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662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9533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5E286-119C-E8A0-B55A-14CD49B1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DB558-DB6A-07F9-C724-3D92A7EF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3.9.1 중첩 클래스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77AE8-14D0-5977-4DB6-4DFA1B3E0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z="2400" dirty="0"/>
              <a:t>중첩 클래스 → </a:t>
            </a:r>
            <a:r>
              <a:rPr lang="ko-KR" altLang="ko-KR" sz="2400" dirty="0"/>
              <a:t>클래스 내부에 선언된 클래스</a:t>
            </a:r>
          </a:p>
          <a:p>
            <a:pPr lvl="0"/>
            <a:r>
              <a:rPr lang="ko-KR" altLang="ko-KR" sz="2400" dirty="0"/>
              <a:t>중첩은 이름의 소속</a:t>
            </a:r>
            <a:r>
              <a:rPr lang="ko-KR" altLang="en-US" sz="2400" dirty="0"/>
              <a:t>만 </a:t>
            </a:r>
            <a:r>
              <a:rPr lang="ko-KR" altLang="ko-KR" sz="2400" dirty="0"/>
              <a:t>나타낼 뿐</a:t>
            </a:r>
            <a:r>
              <a:rPr lang="en-US" altLang="ko-KR" sz="2400" dirty="0"/>
              <a:t> </a:t>
            </a:r>
            <a:r>
              <a:rPr lang="ko-KR" altLang="ko-KR" sz="2400" dirty="0"/>
              <a:t>자동 포함 관계를 만들지 않음</a:t>
            </a:r>
          </a:p>
          <a:p>
            <a:pPr lvl="0"/>
            <a:r>
              <a:rPr lang="ko-KR" altLang="ko-KR" sz="2400" dirty="0"/>
              <a:t>접근 수준에 따라</a:t>
            </a:r>
            <a:r>
              <a:rPr lang="en-US" altLang="ko-KR" sz="2400" dirty="0"/>
              <a:t> </a:t>
            </a:r>
            <a:r>
              <a:rPr lang="ko-KR" altLang="ko-KR" sz="2400" dirty="0"/>
              <a:t>외부에서 타입 이름을 사용할 수 있는지 결정</a:t>
            </a:r>
          </a:p>
          <a:p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4768C-D658-A4CF-D696-E424224E384A}"/>
              </a:ext>
            </a:extLst>
          </p:cNvPr>
          <p:cNvSpPr txBox="1"/>
          <p:nvPr/>
        </p:nvSpPr>
        <p:spPr>
          <a:xfrm>
            <a:off x="539750" y="2123420"/>
            <a:ext cx="4149564" cy="452431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4F9FC4-402F-3856-F800-FEF26F626374}"/>
              </a:ext>
            </a:extLst>
          </p:cNvPr>
          <p:cNvSpPr txBox="1"/>
          <p:nvPr/>
        </p:nvSpPr>
        <p:spPr>
          <a:xfrm>
            <a:off x="5004048" y="5721292"/>
            <a:ext cx="3482690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item.Set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94070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355A9-AAF3-6E69-79D9-CFA6B955E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C9C2A-B2B5-89C5-7770-3296DD580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3.9.2 중첩 열거형과 타입 별칭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13507-E46D-9516-044A-D39308CD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클래스가 사용하는 상태나 종류를 클래스 내부 열거형으로 선언 가능</a:t>
            </a:r>
          </a:p>
          <a:p>
            <a:pPr lvl="0"/>
            <a:r>
              <a:rPr lang="ko-KR" altLang="ko-KR" sz="2400" dirty="0"/>
              <a:t>특정 클래스에서만 사용</a:t>
            </a:r>
            <a:r>
              <a:rPr lang="en-US" altLang="ko-KR" sz="2400" dirty="0"/>
              <a:t> </a:t>
            </a:r>
            <a:r>
              <a:rPr lang="ko-KR" altLang="en-US" sz="2400" dirty="0"/>
              <a:t>→ </a:t>
            </a:r>
            <a:r>
              <a:rPr lang="ko-KR" altLang="ko-KR" sz="2400" dirty="0"/>
              <a:t>내부 선언이 의미를 </a:t>
            </a:r>
            <a:r>
              <a:rPr lang="ko-KR" altLang="en-US" sz="2400" dirty="0"/>
              <a:t>명시</a:t>
            </a:r>
            <a:endParaRPr lang="ko-KR" altLang="ko-KR" sz="2400" dirty="0"/>
          </a:p>
          <a:p>
            <a:pPr lvl="0"/>
            <a:r>
              <a:rPr lang="ko-KR" altLang="ko-KR" sz="2400" dirty="0"/>
              <a:t>타입 별칭은 클래스가 사용하는 타입의 역할을 표현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E4EDF-8D58-C647-9618-F57953F3D4E4}"/>
              </a:ext>
            </a:extLst>
          </p:cNvPr>
          <p:cNvSpPr txBox="1"/>
          <p:nvPr/>
        </p:nvSpPr>
        <p:spPr>
          <a:xfrm>
            <a:off x="539750" y="2132856"/>
            <a:ext cx="3456186" cy="427809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enum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Dead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SetState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(State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newState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newState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State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State::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21F062-43E4-0C02-277A-46887986CC48}"/>
              </a:ext>
            </a:extLst>
          </p:cNvPr>
          <p:cNvSpPr txBox="1"/>
          <p:nvPr/>
        </p:nvSpPr>
        <p:spPr>
          <a:xfrm>
            <a:off x="4238203" y="4348847"/>
            <a:ext cx="4572000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AddItem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46245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D1333-6412-FD5E-79DE-6D3504889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D7024-97C1-7489-A8D0-CFBAA8984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3.9.4 </a:t>
            </a:r>
            <a:r>
              <a:rPr lang="ko-KR" altLang="ko-KR" dirty="0" err="1"/>
              <a:t>friend</a:t>
            </a:r>
            <a:r>
              <a:rPr lang="ko-KR" altLang="ko-KR" dirty="0"/>
              <a:t>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74689-2AE5-AE2F-11A0-22C6D8ED9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>
                <a:solidFill>
                  <a:srgbClr val="0000FF"/>
                </a:solidFill>
              </a:rPr>
              <a:t>friend</a:t>
            </a:r>
            <a:r>
              <a:rPr lang="ko-KR" altLang="ko-KR" sz="2400" dirty="0">
                <a:solidFill>
                  <a:srgbClr val="0000FF"/>
                </a:solidFill>
              </a:rPr>
              <a:t> 함수는 클래스의 멤버 함수가 아님</a:t>
            </a:r>
          </a:p>
          <a:p>
            <a:pPr lvl="0"/>
            <a:r>
              <a:rPr lang="ko-KR" altLang="ko-KR" sz="2400" dirty="0"/>
              <a:t>해당 클래스의 </a:t>
            </a:r>
            <a:r>
              <a:rPr lang="ko-KR" altLang="ko-KR" sz="2400" dirty="0" err="1"/>
              <a:t>private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protected</a:t>
            </a:r>
            <a:r>
              <a:rPr lang="ko-KR" altLang="ko-KR" sz="2400" dirty="0"/>
              <a:t> 멤버 접근을 </a:t>
            </a:r>
            <a:r>
              <a:rPr lang="ko-KR" altLang="ko-KR" sz="2400" dirty="0" err="1"/>
              <a:t>허용받은</a:t>
            </a:r>
            <a:r>
              <a:rPr lang="ko-KR" altLang="ko-KR" sz="2400" dirty="0"/>
              <a:t> 일반 함수</a:t>
            </a:r>
          </a:p>
          <a:p>
            <a:pPr lvl="0"/>
            <a:r>
              <a:rPr lang="ko-KR" altLang="ko-KR" sz="2400" dirty="0">
                <a:solidFill>
                  <a:srgbClr val="0000FF"/>
                </a:solidFill>
              </a:rPr>
              <a:t>왼쪽 피연산자가 클래스 객체가 아닌 연산자를 정의</a:t>
            </a:r>
            <a:r>
              <a:rPr lang="ko-KR" altLang="ko-KR" sz="2400" dirty="0"/>
              <a:t>할 때 사용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ADFC4-A37E-F191-78FC-1BC784EF7181}"/>
              </a:ext>
            </a:extLst>
          </p:cNvPr>
          <p:cNvSpPr txBox="1"/>
          <p:nvPr/>
        </p:nvSpPr>
        <p:spPr>
          <a:xfrm>
            <a:off x="539750" y="2284417"/>
            <a:ext cx="8136706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Vector2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Vector2(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: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{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friend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&lt;&lt;(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Vector2&amp;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3FAA9-743D-4582-82E9-C139B22A8F2D}"/>
              </a:ext>
            </a:extLst>
          </p:cNvPr>
          <p:cNvSpPr txBox="1"/>
          <p:nvPr/>
        </p:nvSpPr>
        <p:spPr>
          <a:xfrm>
            <a:off x="539750" y="5382773"/>
            <a:ext cx="8208714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friend</a:t>
            </a:r>
            <a:r>
              <a:rPr lang="ko-KR" altLang="ko-KR" sz="2000" b="1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선언은 접근 권한을 부여할 뿐 멤버 함수로 바꾸지 않음</a:t>
            </a:r>
            <a:endParaRPr lang="ko-KR" altLang="en-US" sz="4400" b="1" dirty="0">
              <a:solidFill>
                <a:srgbClr val="0070C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4351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51853-AE37-EBB0-3415-5484D9662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43EA7-F8A4-0E9C-99BE-5F959342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3.9.5 </a:t>
            </a:r>
            <a:r>
              <a:rPr lang="ko-KR" altLang="ko-KR" dirty="0" err="1"/>
              <a:t>friend</a:t>
            </a:r>
            <a:r>
              <a:rPr lang="ko-KR" altLang="ko-KR" dirty="0"/>
              <a:t> 클래스와 사용 주의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6B990E-910D-34FA-E407-467C37A02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특정 클래스의 모든 멤버 함수에</a:t>
            </a:r>
            <a:br>
              <a:rPr lang="en-US" altLang="ko-KR" sz="2400" dirty="0"/>
            </a:br>
            <a:r>
              <a:rPr lang="ko-KR" altLang="ko-KR" sz="2400" dirty="0"/>
              <a:t>비공개 멤버 접근을 허용하려면 </a:t>
            </a:r>
            <a:r>
              <a:rPr lang="ko-KR" altLang="ko-KR" sz="2400" dirty="0" err="1"/>
              <a:t>friend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class</a:t>
            </a:r>
            <a:r>
              <a:rPr lang="ko-KR" altLang="ko-KR" sz="2400" dirty="0"/>
              <a:t> 사용</a:t>
            </a:r>
          </a:p>
          <a:p>
            <a:pPr lvl="0"/>
            <a:r>
              <a:rPr lang="ko-KR" altLang="ko-KR" sz="2400" dirty="0"/>
              <a:t>친구 관계는 단방향, 비대칭, </a:t>
            </a:r>
            <a:r>
              <a:rPr lang="ko-KR" altLang="ko-KR" sz="2400" dirty="0" err="1"/>
              <a:t>비상속</a:t>
            </a:r>
            <a:r>
              <a:rPr lang="ko-KR" altLang="ko-KR" sz="2400" dirty="0"/>
              <a:t>, 비전이</a:t>
            </a:r>
          </a:p>
          <a:p>
            <a:pPr lvl="0"/>
            <a:r>
              <a:rPr lang="ko-KR" altLang="ko-KR" sz="2400" dirty="0"/>
              <a:t>내부 구현 의존성을 높일 수 있으므로 제한적으로 사용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0C91D-6FC2-45FE-23AB-BF79F8D22E32}"/>
              </a:ext>
            </a:extLst>
          </p:cNvPr>
          <p:cNvSpPr txBox="1"/>
          <p:nvPr/>
        </p:nvSpPr>
        <p:spPr>
          <a:xfrm>
            <a:off x="539750" y="2769309"/>
            <a:ext cx="4176266" cy="332398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GameData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friend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SaveSystem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SaveSystem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data.score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Stage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data.stage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00BA80C-41D8-A933-7A71-521ED72EC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356520"/>
              </p:ext>
            </p:extLst>
          </p:nvPr>
        </p:nvGraphicFramePr>
        <p:xfrm>
          <a:off x="4860230" y="4054288"/>
          <a:ext cx="4176266" cy="2008528"/>
        </p:xfrm>
        <a:graphic>
          <a:graphicData uri="http://schemas.openxmlformats.org/drawingml/2006/table">
            <a:tbl>
              <a:tblPr/>
              <a:tblGrid>
                <a:gridCol w="1840905">
                  <a:extLst>
                    <a:ext uri="{9D8B030D-6E8A-4147-A177-3AD203B41FA5}">
                      <a16:colId xmlns:a16="http://schemas.microsoft.com/office/drawing/2014/main" val="3186021849"/>
                    </a:ext>
                  </a:extLst>
                </a:gridCol>
                <a:gridCol w="2335361">
                  <a:extLst>
                    <a:ext uri="{9D8B030D-6E8A-4147-A177-3AD203B41FA5}">
                      <a16:colId xmlns:a16="http://schemas.microsoft.com/office/drawing/2014/main" val="1905278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필요한 접근</a:t>
                      </a:r>
                      <a:endParaRPr lang="ko-KR" sz="2400" b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권장 방법</a:t>
                      </a:r>
                      <a:endParaRPr lang="ko-KR" sz="2400" b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515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하나의 함수만</a:t>
                      </a:r>
                      <a:br>
                        <a:rPr lang="en-US" altLang="ko-KR" sz="16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비공개 멤버 접근</a:t>
                      </a:r>
                      <a:endParaRPr lang="ko-KR" sz="28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해당 함수만 </a:t>
                      </a:r>
                      <a:r>
                        <a:rPr lang="ko-KR" sz="1600" b="0" i="0" u="none" strike="noStrike" dirty="0" err="1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friend</a:t>
                      </a:r>
                      <a:endParaRPr lang="ko-KR" sz="28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684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값을 읽는</a:t>
                      </a:r>
                      <a:br>
                        <a:rPr lang="en-US" altLang="ko-KR" sz="16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기능만</a:t>
                      </a:r>
                      <a:r>
                        <a:rPr lang="en-US" altLang="ko-KR" sz="16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</a:t>
                      </a:r>
                      <a:endParaRPr lang="ko-KR" sz="28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공개 멤버 함수 제공</a:t>
                      </a:r>
                      <a:endParaRPr lang="ko-KR" sz="28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96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단순한 편의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friend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사용 재검토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889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089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261A3-06BF-435D-B800-C1A285F5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82AFE-F4AD-0419-194D-7CA40E3AF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3.10 클래스 선언과 구현의 분리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F19BE-42E1-B12C-EFA7-022FE44CE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작은 예제는 클래스 정의와 멤버 함수 본문을 한 파일에 작성 가능</a:t>
            </a:r>
          </a:p>
          <a:p>
            <a:pPr lvl="0"/>
            <a:r>
              <a:rPr lang="ko-KR" altLang="ko-KR" sz="2400" dirty="0"/>
              <a:t>프로젝트에서는 선언과 구현을 헤더 파일과 소스 파일로 분리</a:t>
            </a:r>
          </a:p>
          <a:p>
            <a:pPr lvl="0"/>
            <a:r>
              <a:rPr lang="ko-KR" altLang="ko-KR" sz="2400" dirty="0">
                <a:solidFill>
                  <a:srgbClr val="0070C0"/>
                </a:solidFill>
              </a:rPr>
              <a:t>헤더</a:t>
            </a:r>
            <a:r>
              <a:rPr lang="en-US" altLang="ko-KR" sz="2400" dirty="0">
                <a:solidFill>
                  <a:srgbClr val="0070C0"/>
                </a:solidFill>
              </a:rPr>
              <a:t> </a:t>
            </a:r>
            <a:r>
              <a:rPr lang="ko-KR" altLang="en-US" sz="2400" dirty="0">
                <a:solidFill>
                  <a:srgbClr val="0070C0"/>
                </a:solidFill>
              </a:rPr>
              <a:t>파일 →</a:t>
            </a:r>
            <a:r>
              <a:rPr lang="ko-KR" altLang="ko-KR" sz="2400" dirty="0">
                <a:solidFill>
                  <a:srgbClr val="0070C0"/>
                </a:solidFill>
              </a:rPr>
              <a:t> 클래스가 제공하는 기능 확인</a:t>
            </a:r>
          </a:p>
          <a:p>
            <a:pPr lvl="0"/>
            <a:r>
              <a:rPr lang="ko-KR" altLang="ko-KR" sz="2400" dirty="0">
                <a:solidFill>
                  <a:srgbClr val="0070C0"/>
                </a:solidFill>
              </a:rPr>
              <a:t>소스 파일</a:t>
            </a:r>
            <a:r>
              <a:rPr lang="ko-KR" altLang="en-US" sz="2400" dirty="0">
                <a:solidFill>
                  <a:srgbClr val="0070C0"/>
                </a:solidFill>
              </a:rPr>
              <a:t> →</a:t>
            </a:r>
            <a:r>
              <a:rPr lang="ko-KR" altLang="ko-KR" sz="2400" dirty="0">
                <a:solidFill>
                  <a:srgbClr val="0070C0"/>
                </a:solidFill>
              </a:rPr>
              <a:t> 각 기능의 처리 방법 구현</a:t>
            </a:r>
          </a:p>
          <a:p>
            <a:endParaRPr lang="ko-KR" altLang="en-US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464EA65-63B0-0576-AB36-A09EA4A40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266811"/>
              </p:ext>
            </p:extLst>
          </p:nvPr>
        </p:nvGraphicFramePr>
        <p:xfrm>
          <a:off x="519931" y="2935287"/>
          <a:ext cx="5276205" cy="1498600"/>
        </p:xfrm>
        <a:graphic>
          <a:graphicData uri="http://schemas.openxmlformats.org/drawingml/2006/table">
            <a:tbl>
              <a:tblPr/>
              <a:tblGrid>
                <a:gridCol w="5276205">
                  <a:extLst>
                    <a:ext uri="{9D8B030D-6E8A-4147-A177-3AD203B41FA5}">
                      <a16:colId xmlns:a16="http://schemas.microsoft.com/office/drawing/2014/main" val="38763795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Player.h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클래스의 구성과 멤버 함수 선언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Player.cpp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멤버 함수의 실제 처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085889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4BE3E5F-2866-CD94-11F1-6B219363B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553648"/>
              </p:ext>
            </p:extLst>
          </p:nvPr>
        </p:nvGraphicFramePr>
        <p:xfrm>
          <a:off x="601749" y="4790397"/>
          <a:ext cx="7940501" cy="1764688"/>
        </p:xfrm>
        <a:graphic>
          <a:graphicData uri="http://schemas.openxmlformats.org/drawingml/2006/table">
            <a:tbl>
              <a:tblPr/>
              <a:tblGrid>
                <a:gridCol w="2870796">
                  <a:extLst>
                    <a:ext uri="{9D8B030D-6E8A-4147-A177-3AD203B41FA5}">
                      <a16:colId xmlns:a16="http://schemas.microsoft.com/office/drawing/2014/main" val="1543694460"/>
                    </a:ext>
                  </a:extLst>
                </a:gridCol>
                <a:gridCol w="5069705">
                  <a:extLst>
                    <a:ext uri="{9D8B030D-6E8A-4147-A177-3AD203B41FA5}">
                      <a16:colId xmlns:a16="http://schemas.microsoft.com/office/drawing/2014/main" val="9728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주요 내용</a:t>
                      </a:r>
                      <a:endParaRPr lang="ko-KR" sz="320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00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헤더 파일 </a:t>
                      </a: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ko-KR" sz="20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h</a:t>
                      </a: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, .</a:t>
                      </a:r>
                      <a:r>
                        <a:rPr lang="ko-KR" sz="20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hpp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클래스와 구조체 정의, 함수 선언, 열거형, 상수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86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소스 파일 </a:t>
                      </a: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ko-KR" sz="20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cpp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함수와 멤버 함수 정의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736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프로그램 시작 파일 </a:t>
                      </a: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ko-KR" sz="20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cpp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main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 함수와 객체 사용 코드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799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78615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30AC-A530-E964-D6B4-0649A929C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B7082-BD3F-09CE-A72A-E9F0B1A3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3.10.1 헤더 파일과 소스 파일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0955AF-26B6-9B47-E623-2811D9D51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헤더 파일</a:t>
            </a:r>
            <a:endParaRPr lang="en-US" altLang="ko-KR" dirty="0"/>
          </a:p>
          <a:p>
            <a:pPr lvl="1"/>
            <a:r>
              <a:rPr lang="ko-KR" altLang="ko-KR" dirty="0"/>
              <a:t>헤더 파일이 여러 번 포함되면 같은 타입이 중복 정의될 수 있음</a:t>
            </a:r>
          </a:p>
          <a:p>
            <a:pPr lvl="1"/>
            <a:r>
              <a:rPr lang="ko-KR" altLang="ko-KR" dirty="0"/>
              <a:t>#pragma </a:t>
            </a:r>
            <a:r>
              <a:rPr lang="ko-KR" altLang="ko-KR" dirty="0" err="1"/>
              <a:t>once는</a:t>
            </a:r>
            <a:r>
              <a:rPr lang="ko-KR" altLang="ko-KR" dirty="0"/>
              <a:t> 하나의 번역 단위에서</a:t>
            </a:r>
            <a:br>
              <a:rPr lang="en-US" altLang="ko-KR" dirty="0"/>
            </a:br>
            <a:r>
              <a:rPr lang="ko-KR" altLang="ko-KR" dirty="0"/>
              <a:t>헤더가 한 번만 포함되도록 함</a:t>
            </a:r>
          </a:p>
          <a:p>
            <a:pPr lvl="1"/>
            <a:r>
              <a:rPr lang="ko-KR" altLang="ko-KR" dirty="0"/>
              <a:t>전통적인 헤더 가드</a:t>
            </a:r>
            <a:r>
              <a:rPr lang="en-US" altLang="ko-KR" dirty="0"/>
              <a:t> #ifndef</a:t>
            </a:r>
            <a:r>
              <a:rPr lang="ko-KR" altLang="en-US" dirty="0"/>
              <a:t> </a:t>
            </a:r>
            <a:r>
              <a:rPr lang="en-US" altLang="ko-KR" dirty="0"/>
              <a:t>~</a:t>
            </a:r>
            <a:r>
              <a:rPr lang="ko-KR" altLang="en-US" dirty="0"/>
              <a:t> </a:t>
            </a:r>
            <a:r>
              <a:rPr lang="en-US" altLang="ko-KR" dirty="0"/>
              <a:t>#endif </a:t>
            </a:r>
            <a:r>
              <a:rPr lang="ko-KR" altLang="ko-KR" dirty="0"/>
              <a:t>도 같은 목적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0F056-8C78-96B4-48E1-7829F312D436}"/>
              </a:ext>
            </a:extLst>
          </p:cNvPr>
          <p:cNvSpPr txBox="1"/>
          <p:nvPr/>
        </p:nvSpPr>
        <p:spPr>
          <a:xfrm>
            <a:off x="971600" y="3148211"/>
            <a:ext cx="3168352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Vector2.h</a:t>
            </a:r>
            <a:b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#pragma </a:t>
            </a:r>
            <a:r>
              <a:rPr lang="ko-KR" altLang="ko-KR" sz="160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once</a:t>
            </a:r>
            <a:b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Vector2</a:t>
            </a:r>
            <a:b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endParaRPr lang="en-US" altLang="ko-KR" sz="1600" i="0" u="none" strike="noStrike" dirty="0">
              <a:solidFill>
                <a:srgbClr val="986801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endParaRPr lang="en-US" altLang="ko-KR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48301D-E9B6-ECF2-134E-63F91B1BB885}"/>
              </a:ext>
            </a:extLst>
          </p:cNvPr>
          <p:cNvSpPr txBox="1"/>
          <p:nvPr/>
        </p:nvSpPr>
        <p:spPr>
          <a:xfrm>
            <a:off x="4261098" y="3117354"/>
            <a:ext cx="3168352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Vector2.h</a:t>
            </a:r>
            <a:b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#ifndef VECTOR2_H</a:t>
            </a:r>
            <a:br>
              <a:rPr lang="ko-KR" altLang="ko-KR" sz="160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#define VECTOR2_H</a:t>
            </a:r>
            <a:b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Vector2</a:t>
            </a:r>
            <a:b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en-US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…</a:t>
            </a:r>
            <a:br>
              <a:rPr lang="ko-KR" altLang="ko-KR" sz="160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#endif</a:t>
            </a:r>
            <a:endParaRPr lang="ko-KR" altLang="en-US" sz="3600" dirty="0">
              <a:solidFill>
                <a:srgbClr val="0000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996DD6C-DB96-BE02-91DB-835A5AD45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348099"/>
              </p:ext>
            </p:extLst>
          </p:nvPr>
        </p:nvGraphicFramePr>
        <p:xfrm>
          <a:off x="971600" y="5422089"/>
          <a:ext cx="6457850" cy="1102536"/>
        </p:xfrm>
        <a:graphic>
          <a:graphicData uri="http://schemas.openxmlformats.org/drawingml/2006/table">
            <a:tbl>
              <a:tblPr/>
              <a:tblGrid>
                <a:gridCol w="2600873">
                  <a:extLst>
                    <a:ext uri="{9D8B030D-6E8A-4147-A177-3AD203B41FA5}">
                      <a16:colId xmlns:a16="http://schemas.microsoft.com/office/drawing/2014/main" val="4027316817"/>
                    </a:ext>
                  </a:extLst>
                </a:gridCol>
                <a:gridCol w="3856977">
                  <a:extLst>
                    <a:ext uri="{9D8B030D-6E8A-4147-A177-3AD203B41FA5}">
                      <a16:colId xmlns:a16="http://schemas.microsoft.com/office/drawing/2014/main" val="821398143"/>
                    </a:ext>
                  </a:extLst>
                </a:gridCol>
              </a:tblGrid>
              <a:tr h="1799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포함 방식</a:t>
                      </a:r>
                      <a:endParaRPr lang="ko-KR" sz="2000" b="1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80000" marR="180000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일반적인 용도</a:t>
                      </a:r>
                      <a:endParaRPr lang="ko-KR" sz="2000" b="1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80000" marR="180000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1438"/>
                  </a:ext>
                </a:extLst>
              </a:tr>
              <a:tr h="17999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#include &lt;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string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80000" marR="180000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표준 라이브러리나 외부 라이브러리</a:t>
                      </a:r>
                      <a:endParaRPr lang="ko-KR" sz="2800" b="1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80000" marR="180000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188883"/>
                  </a:ext>
                </a:extLst>
              </a:tr>
              <a:tr h="17999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#include "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Vector2.h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"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80000" marR="180000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현재 프로젝트에서 작성한 헤더</a:t>
                      </a:r>
                      <a:endParaRPr lang="ko-KR" sz="2800" b="1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80000" marR="180000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507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7865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63B62-DB7B-FB4D-3F03-D9D21D346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A93B7-2893-4B4E-95C3-E19C4AAF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3.10.2 클래스 선언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7B1A3E-88C6-37B2-78E8-26636ACBE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B8CDA-D51F-3D31-EDA0-7AC8B3349212}"/>
              </a:ext>
            </a:extLst>
          </p:cNvPr>
          <p:cNvSpPr txBox="1"/>
          <p:nvPr/>
        </p:nvSpPr>
        <p:spPr>
          <a:xfrm>
            <a:off x="505495" y="620688"/>
            <a:ext cx="4930601" cy="624786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Player.h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#pragma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once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"Vector2.h"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en-US" altLang="ko-KR" sz="1600" b="1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EquipWeapon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GetAttackPower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Vector2&amp;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GetPosition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Vector2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87609-878E-B8DD-034B-62251BBEEB4D}"/>
              </a:ext>
            </a:extLst>
          </p:cNvPr>
          <p:cNvSpPr txBox="1"/>
          <p:nvPr/>
        </p:nvSpPr>
        <p:spPr>
          <a:xfrm>
            <a:off x="5292080" y="3212976"/>
            <a:ext cx="3744416" cy="147732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멤버 함수의 이름, 매개변수, 반환 타입만 작성하고 본문은 생략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컴파일러는 선언을 통해 함수를 어떻게 호출해야 하는지 알 수 있음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3017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F916B-E769-89BD-6A5D-A6A127606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187DD-5E28-8685-233B-1BD723CB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3.10.3 멤버 함수 정의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FAC3AB-475A-419C-D6A5-53B4A7C52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0F502-3C60-FD9F-7E78-4C73EF2AC552}"/>
              </a:ext>
            </a:extLst>
          </p:cNvPr>
          <p:cNvSpPr txBox="1"/>
          <p:nvPr/>
        </p:nvSpPr>
        <p:spPr>
          <a:xfrm>
            <a:off x="242044" y="692150"/>
            <a:ext cx="5554092" cy="60755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Player.cpp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Player.h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Weapon.h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  :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offsetX</a:t>
            </a:r>
            <a:endParaRPr lang="en-US" altLang="ko-KR" sz="1600" b="1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6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      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1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-= </a:t>
            </a:r>
            <a:r>
              <a:rPr lang="ko-KR" altLang="ko-KR" sz="1600" b="1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A8159-2209-7C78-9285-E47EA03BEA8B}"/>
              </a:ext>
            </a:extLst>
          </p:cNvPr>
          <p:cNvSpPr txBox="1"/>
          <p:nvPr/>
        </p:nvSpPr>
        <p:spPr>
          <a:xfrm>
            <a:off x="4489995" y="3262084"/>
            <a:ext cx="4572000" cy="147732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클래스 밖에서 멤버 함수를 정의할 때는 </a:t>
            </a: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Move처럼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소속 지정</a:t>
            </a:r>
            <a:br>
              <a:rPr lang="en-US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ko-KR" altLang="ko-KR" sz="18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헤더의 선언과 소스 파일의 정의는 이름, 반환 타입, 매개변수, </a:t>
            </a: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const가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일치해야 함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12048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1455-E398-13EB-520F-B7C8B561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0716F-603B-A586-F6F4-5C04236F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3.10.4 인터페이스와 구현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7A93C0-E597-45D5-3E71-C7E64B973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인터페이스는 외부에서 사용할 수 있도록 공개한 기능의 집합</a:t>
            </a:r>
          </a:p>
          <a:p>
            <a:pPr lvl="0"/>
            <a:r>
              <a:rPr lang="ko-KR" altLang="ko-KR" sz="2400" dirty="0"/>
              <a:t>구현은 그 기능이 내부에서 실제로 처리되는 방법</a:t>
            </a:r>
          </a:p>
          <a:p>
            <a:pPr lvl="0"/>
            <a:r>
              <a:rPr lang="ko-KR" altLang="ko-KR" sz="2400" dirty="0"/>
              <a:t>구현이 바뀌어도 인터페이스가 유지되면</a:t>
            </a:r>
            <a:br>
              <a:rPr lang="en-US" altLang="ko-KR" sz="2400" dirty="0"/>
            </a:br>
            <a:r>
              <a:rPr lang="ko-KR" altLang="ko-KR" sz="2400" dirty="0"/>
              <a:t>외부 호출 방법은 바뀌지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EA8E6-6157-392F-8A2C-61EB7B7D5F93}"/>
              </a:ext>
            </a:extLst>
          </p:cNvPr>
          <p:cNvSpPr txBox="1"/>
          <p:nvPr/>
        </p:nvSpPr>
        <p:spPr>
          <a:xfrm>
            <a:off x="473199" y="2636912"/>
            <a:ext cx="4320282" cy="3754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공개 인터페이스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구현은 바뀔 수 있음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player.Move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10.0f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20.0f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호출 방법 유지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1DEC7C-D308-0207-6AC7-E8F1B0BD51DA}"/>
              </a:ext>
            </a:extLst>
          </p:cNvPr>
          <p:cNvSpPr txBox="1"/>
          <p:nvPr/>
        </p:nvSpPr>
        <p:spPr>
          <a:xfrm>
            <a:off x="4991447" y="3553271"/>
            <a:ext cx="3847083" cy="30777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player.Move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10.0f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20.0f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호출 방법 유지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22831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5B91-9495-5405-12D8-FB286619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DBD48-42AA-6C02-6193-E81BE583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3.10.5 전방 선언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1413C-AA41-349E-4E05-FF67D7352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전방 선언은 타입의 이름만 컴파일러에 알리는 선언</a:t>
            </a:r>
          </a:p>
          <a:p>
            <a:pPr lvl="0"/>
            <a:r>
              <a:rPr lang="ko-KR" altLang="ko-KR" sz="2400" dirty="0"/>
              <a:t>전체 정의가 알려지지 않은 타입은 불완전 타입</a:t>
            </a:r>
          </a:p>
          <a:p>
            <a:pPr lvl="0"/>
            <a:r>
              <a:rPr lang="ko-KR" altLang="ko-KR" sz="2400" dirty="0"/>
              <a:t>포인터와 참조 선언에는 전체 크기가 필요하지 않음</a:t>
            </a:r>
          </a:p>
          <a:p>
            <a:pPr lvl="0"/>
            <a:r>
              <a:rPr lang="ko-KR" altLang="ko-KR" sz="2400" dirty="0"/>
              <a:t>값 타입 멤버, 객체 생성, 멤버 함수 호출에는 전체 정의 필요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0EC5F-4ED9-1C02-7771-2F0AF1FEBE3C}"/>
              </a:ext>
            </a:extLst>
          </p:cNvPr>
          <p:cNvSpPr txBox="1"/>
          <p:nvPr/>
        </p:nvSpPr>
        <p:spPr>
          <a:xfrm>
            <a:off x="107504" y="3284984"/>
            <a:ext cx="4740896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EquipWeapon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2330756-6E2C-047B-717D-0BDE8F80E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017721"/>
              </p:ext>
            </p:extLst>
          </p:nvPr>
        </p:nvGraphicFramePr>
        <p:xfrm>
          <a:off x="4953708" y="2854324"/>
          <a:ext cx="4039143" cy="3415864"/>
        </p:xfrm>
        <a:graphic>
          <a:graphicData uri="http://schemas.openxmlformats.org/drawingml/2006/table">
            <a:tbl>
              <a:tblPr/>
              <a:tblGrid>
                <a:gridCol w="2382960">
                  <a:extLst>
                    <a:ext uri="{9D8B030D-6E8A-4147-A177-3AD203B41FA5}">
                      <a16:colId xmlns:a16="http://schemas.microsoft.com/office/drawing/2014/main" val="1884401303"/>
                    </a:ext>
                  </a:extLst>
                </a:gridCol>
                <a:gridCol w="1656183">
                  <a:extLst>
                    <a:ext uri="{9D8B030D-6E8A-4147-A177-3AD203B41FA5}">
                      <a16:colId xmlns:a16="http://schemas.microsoft.com/office/drawing/2014/main" val="55843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작업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전방 선언만으로 가능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130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포인터 선언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99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참조 선언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82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포인터나 참조를</a:t>
                      </a:r>
                      <a:br>
                        <a:rPr lang="en-US" alt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사용하는 함수 선언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214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타입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데이터 멤버 선언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불가능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866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생성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불가능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887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함수 호출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불가능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99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4925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C97BB-0ACD-2D87-3FD0-57F747ECA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53DB9-AD67-E527-840B-D009FBA7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3.11 UML 다이어그램과 C++ 코드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0801C5-59BA-2D97-3F0F-5DBF6A06C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UML은</a:t>
            </a:r>
            <a:r>
              <a:rPr lang="ko-KR" altLang="ko-KR" sz="2400" dirty="0"/>
              <a:t> C++ 문법을 그대로 옮겨 적는 표기법이 아님</a:t>
            </a:r>
          </a:p>
          <a:p>
            <a:pPr lvl="0"/>
            <a:r>
              <a:rPr lang="ko-KR" altLang="ko-KR" sz="2400" dirty="0"/>
              <a:t>클래스, 상태, 기능, 관계와 동작 순서를 코드보다 간결하게 표현</a:t>
            </a:r>
          </a:p>
          <a:p>
            <a:pPr lvl="0"/>
            <a:r>
              <a:rPr lang="ko-KR" altLang="ko-KR" sz="2400" dirty="0"/>
              <a:t>클래스 다이어그램은 정적인 구조</a:t>
            </a:r>
          </a:p>
          <a:p>
            <a:pPr lvl="0"/>
            <a:r>
              <a:rPr lang="ko-KR" altLang="ko-KR" sz="2400" dirty="0"/>
              <a:t>시퀀스 다이어그램은 시간에 따른 협력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E713CB3-6FE5-7A6B-C30B-380961362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5407"/>
              </p:ext>
            </p:extLst>
          </p:nvPr>
        </p:nvGraphicFramePr>
        <p:xfrm>
          <a:off x="395536" y="3068960"/>
          <a:ext cx="3960440" cy="1742616"/>
        </p:xfrm>
        <a:graphic>
          <a:graphicData uri="http://schemas.openxmlformats.org/drawingml/2006/table">
            <a:tbl>
              <a:tblPr/>
              <a:tblGrid>
                <a:gridCol w="1440159">
                  <a:extLst>
                    <a:ext uri="{9D8B030D-6E8A-4147-A177-3AD203B41FA5}">
                      <a16:colId xmlns:a16="http://schemas.microsoft.com/office/drawing/2014/main" val="2485322991"/>
                    </a:ext>
                  </a:extLst>
                </a:gridCol>
                <a:gridCol w="2520281">
                  <a:extLst>
                    <a:ext uri="{9D8B030D-6E8A-4147-A177-3AD203B41FA5}">
                      <a16:colId xmlns:a16="http://schemas.microsoft.com/office/drawing/2014/main" val="29616215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다이어그램</a:t>
                      </a:r>
                      <a:endParaRPr lang="ko-KR" sz="24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표현하는 내용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76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</a:t>
                      </a:r>
                      <a:br>
                        <a:rPr lang="en-US" alt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다이어그램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클래스의 데이터와 기능,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 사이의 관계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687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시퀀스</a:t>
                      </a:r>
                      <a:br>
                        <a:rPr lang="en-US" alt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다이어그램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객체가 시간의 흐름에 따라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주고받는 메시지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670727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BE5816F-7BC0-5593-E4BD-CEDA36979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63271"/>
              </p:ext>
            </p:extLst>
          </p:nvPr>
        </p:nvGraphicFramePr>
        <p:xfrm>
          <a:off x="4644008" y="2924944"/>
          <a:ext cx="2134741" cy="1999860"/>
        </p:xfrm>
        <a:graphic>
          <a:graphicData uri="http://schemas.openxmlformats.org/drawingml/2006/table">
            <a:tbl>
              <a:tblPr/>
              <a:tblGrid>
                <a:gridCol w="2134741">
                  <a:extLst>
                    <a:ext uri="{9D8B030D-6E8A-4147-A177-3AD203B41FA5}">
                      <a16:colId xmlns:a16="http://schemas.microsoft.com/office/drawing/2014/main" val="2009806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</a:t>
                      </a:r>
                      <a:r>
                        <a:rPr lang="ko-KR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──┐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클래스 이름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├────────</a:t>
                      </a:r>
                      <a:r>
                        <a:rPr lang="ko-KR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──┤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멤버 변수 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├─────────</a:t>
                      </a:r>
                      <a:r>
                        <a:rPr lang="ko-KR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─┤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멤버 함수  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</a:t>
                      </a:r>
                      <a:r>
                        <a:rPr lang="ko-KR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─┘</a:t>
                      </a:r>
                      <a:endParaRPr lang="ko-KR" sz="3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08000" marR="108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007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3592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3D879-4265-B91D-391E-09A5F390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EB9E7-A53A-20D6-8452-812435D5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3.11.1 클래스 다이어그램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AF65C06-A148-30E0-DCF6-20FCB99557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5451601"/>
              </p:ext>
            </p:extLst>
          </p:nvPr>
        </p:nvGraphicFramePr>
        <p:xfrm>
          <a:off x="323528" y="764704"/>
          <a:ext cx="3159001" cy="2092579"/>
        </p:xfrm>
        <a:graphic>
          <a:graphicData uri="http://schemas.openxmlformats.org/drawingml/2006/table">
            <a:tbl>
              <a:tblPr/>
              <a:tblGrid>
                <a:gridCol w="3159001">
                  <a:extLst>
                    <a:ext uri="{9D8B030D-6E8A-4147-A177-3AD203B41FA5}">
                      <a16:colId xmlns:a16="http://schemas.microsoft.com/office/drawing/2014/main" val="41249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┌────────────────────────────────────────┐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Character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                        │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├────────────────────────────────────────┤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- 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name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</a:t>
                      </a:r>
                      <a:r>
                        <a:rPr lang="ko-KR" sz="11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std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::</a:t>
                      </a:r>
                      <a:r>
                        <a:rPr lang="ko-KR" sz="11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string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                  │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- 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position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Vector2                   │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- 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hp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</a:t>
                      </a:r>
                      <a:r>
                        <a:rPr lang="ko-KR" sz="11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= </a:t>
                      </a:r>
                      <a:r>
                        <a:rPr lang="ko-KR" sz="1100" b="1" i="0" u="none" strike="noStrike" dirty="0">
                          <a:solidFill>
                            <a:srgbClr val="9868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100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                      │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├────────────────────────────────────────┤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+ 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Move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x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</a:t>
                      </a:r>
                      <a:r>
                        <a:rPr lang="ko-KR" sz="11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float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y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</a:t>
                      </a:r>
                      <a:r>
                        <a:rPr lang="ko-KR" sz="11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float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 : </a:t>
                      </a:r>
                      <a:r>
                        <a:rPr lang="ko-KR" sz="11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void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│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+ 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TakeDamage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damage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</a:t>
                      </a:r>
                      <a:r>
                        <a:rPr lang="ko-KR" sz="11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 : </a:t>
                      </a:r>
                      <a:r>
                        <a:rPr lang="ko-KR" sz="11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void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│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+ 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GetName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 : </a:t>
                      </a:r>
                      <a:r>
                        <a:rPr lang="ko-KR" sz="11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const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1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std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::</a:t>
                      </a:r>
                      <a:r>
                        <a:rPr lang="ko-KR" sz="11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string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&amp;       │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+ 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GetPosition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 : </a:t>
                      </a:r>
                      <a:r>
                        <a:rPr lang="ko-KR" sz="11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const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Vector2&amp;       │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+ </a:t>
                      </a:r>
                      <a:r>
                        <a:rPr lang="ko-KR" sz="11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GetHp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 : </a:t>
                      </a:r>
                      <a:r>
                        <a:rPr lang="ko-KR" sz="11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                  │</a:t>
                      </a:r>
                      <a:b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1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└────────────────────────────────────────┘</a:t>
                      </a:r>
                      <a:endParaRPr lang="ko-KR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08000" marR="1080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80438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5A8A7DA-6674-DD5D-5399-E080B0A7B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12120"/>
              </p:ext>
            </p:extLst>
          </p:nvPr>
        </p:nvGraphicFramePr>
        <p:xfrm>
          <a:off x="3482529" y="989609"/>
          <a:ext cx="5193928" cy="1642768"/>
        </p:xfrm>
        <a:graphic>
          <a:graphicData uri="http://schemas.openxmlformats.org/drawingml/2006/table">
            <a:tbl>
              <a:tblPr/>
              <a:tblGrid>
                <a:gridCol w="2040992">
                  <a:extLst>
                    <a:ext uri="{9D8B030D-6E8A-4147-A177-3AD203B41FA5}">
                      <a16:colId xmlns:a16="http://schemas.microsoft.com/office/drawing/2014/main" val="536974828"/>
                    </a:ext>
                  </a:extLst>
                </a:gridCol>
                <a:gridCol w="3152936">
                  <a:extLst>
                    <a:ext uri="{9D8B030D-6E8A-4147-A177-3AD203B41FA5}">
                      <a16:colId xmlns:a16="http://schemas.microsoft.com/office/drawing/2014/main" val="1678621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UML 표기</a:t>
                      </a:r>
                      <a:endParaRPr lang="ko-KR" sz="2800" b="1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C++ 코드</a:t>
                      </a:r>
                      <a:endParaRPr lang="ko-KR" sz="2800" b="1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76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 </a:t>
                      </a: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hp</a:t>
                      </a: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: </a:t>
                      </a: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 100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private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 </a:t>
                      </a: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hp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 100;</a:t>
                      </a:r>
                      <a:endParaRPr lang="ko-KR" sz="3200" b="1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84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 </a:t>
                      </a: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(...) : </a:t>
                      </a: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public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 </a:t>
                      </a: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(...);</a:t>
                      </a:r>
                      <a:endParaRPr lang="ko-KR" sz="3200" b="1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195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 </a:t>
                      </a: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GetHp</a:t>
                      </a: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 : </a:t>
                      </a: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public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 </a:t>
                      </a: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GetHp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 </a:t>
                      </a: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;</a:t>
                      </a:r>
                      <a:endParaRPr lang="ko-KR" sz="3200" b="1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47049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E3BC8F0-51CF-AA02-0CBC-ADD314285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52972"/>
              </p:ext>
            </p:extLst>
          </p:nvPr>
        </p:nvGraphicFramePr>
        <p:xfrm>
          <a:off x="504304" y="3449960"/>
          <a:ext cx="4710882" cy="2770528"/>
        </p:xfrm>
        <a:graphic>
          <a:graphicData uri="http://schemas.openxmlformats.org/drawingml/2006/table">
            <a:tbl>
              <a:tblPr/>
              <a:tblGrid>
                <a:gridCol w="1758729">
                  <a:extLst>
                    <a:ext uri="{9D8B030D-6E8A-4147-A177-3AD203B41FA5}">
                      <a16:colId xmlns:a16="http://schemas.microsoft.com/office/drawing/2014/main" val="1372385480"/>
                    </a:ext>
                  </a:extLst>
                </a:gridCol>
                <a:gridCol w="2952153">
                  <a:extLst>
                    <a:ext uri="{9D8B030D-6E8A-4147-A177-3AD203B41FA5}">
                      <a16:colId xmlns:a16="http://schemas.microsoft.com/office/drawing/2014/main" val="554421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기호</a:t>
                      </a:r>
                      <a:endParaRPr lang="ko-KR" sz="5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접근 수준</a:t>
                      </a:r>
                      <a:endParaRPr lang="ko-KR" sz="5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714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3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</a:t>
                      </a:r>
                      <a:endParaRPr lang="ko-KR" sz="5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3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public</a:t>
                      </a:r>
                      <a:endParaRPr lang="ko-KR" sz="5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717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3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</a:t>
                      </a:r>
                      <a:endParaRPr lang="ko-KR" sz="54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3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private</a:t>
                      </a:r>
                      <a:endParaRPr lang="ko-KR" sz="5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823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3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#</a:t>
                      </a:r>
                      <a:endParaRPr lang="ko-KR" sz="54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3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protected</a:t>
                      </a:r>
                      <a:endParaRPr lang="ko-KR" sz="5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787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5364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7A926-F5DF-85DD-625D-07AF8D10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D0BE9-7D7C-9D14-E1C2-5E4532CCC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3.11.2 클래스 사이의 관계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3B7EDF3A-EC21-BE17-DA97-AB468CEE5C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8542733"/>
              </p:ext>
            </p:extLst>
          </p:nvPr>
        </p:nvGraphicFramePr>
        <p:xfrm>
          <a:off x="395536" y="980728"/>
          <a:ext cx="7488832" cy="2936592"/>
        </p:xfrm>
        <a:graphic>
          <a:graphicData uri="http://schemas.openxmlformats.org/drawingml/2006/table">
            <a:tbl>
              <a:tblPr/>
              <a:tblGrid>
                <a:gridCol w="877404">
                  <a:extLst>
                    <a:ext uri="{9D8B030D-6E8A-4147-A177-3AD203B41FA5}">
                      <a16:colId xmlns:a16="http://schemas.microsoft.com/office/drawing/2014/main" val="1626369702"/>
                    </a:ext>
                  </a:extLst>
                </a:gridCol>
                <a:gridCol w="3094933">
                  <a:extLst>
                    <a:ext uri="{9D8B030D-6E8A-4147-A177-3AD203B41FA5}">
                      <a16:colId xmlns:a16="http://schemas.microsoft.com/office/drawing/2014/main" val="1974820430"/>
                    </a:ext>
                  </a:extLst>
                </a:gridCol>
                <a:gridCol w="3516495">
                  <a:extLst>
                    <a:ext uri="{9D8B030D-6E8A-4147-A177-3AD203B41FA5}">
                      <a16:colId xmlns:a16="http://schemas.microsoft.com/office/drawing/2014/main" val="28685514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관계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C++에서 주로 나타나는 형태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844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일반화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상위 타입의 특성을</a:t>
                      </a:r>
                      <a:b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하위 타입이 이어받음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상속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991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의존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다른 객체를 일시적으로 사용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매개변수, 반환값, 지역 변수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224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연관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다른 객체와 지속적으로 연결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포인터나 참조 멤버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250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집합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독립 객체를 모아 관리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외부 객체의 포인터나 참조 저장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87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합성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구성 요소를 소유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 타입 멤버 또는 독점 소유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1239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EDE33A1-D8B0-61F9-51E9-DCBE9D437061}"/>
              </a:ext>
            </a:extLst>
          </p:cNvPr>
          <p:cNvSpPr txBox="1"/>
          <p:nvPr/>
        </p:nvSpPr>
        <p:spPr>
          <a:xfrm>
            <a:off x="395536" y="4268996"/>
            <a:ext cx="7272808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UML 관계가 특정 C++ 문법 하나와 항상 정확히 일치하는 것은 아님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객체의 역할, 소유권, 수명까지 함께 판단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889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7CF28-E561-B601-0EB9-B0F9E45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6E720-BFDB-6D39-5C0C-B818DC622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3.11.2 일반화와 의존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81C9F7-BE03-9ABB-A51B-B3689D060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일반화는 </a:t>
            </a:r>
            <a:r>
              <a:rPr lang="ko-KR" altLang="ko-KR" dirty="0" err="1"/>
              <a:t>is-a</a:t>
            </a:r>
            <a:r>
              <a:rPr lang="ko-KR" altLang="ko-KR" dirty="0"/>
              <a:t> 관계</a:t>
            </a:r>
          </a:p>
          <a:p>
            <a:pPr lvl="1"/>
            <a:r>
              <a:rPr lang="ko-KR" altLang="ko-KR" dirty="0" err="1"/>
              <a:t>Player는</a:t>
            </a:r>
            <a:r>
              <a:rPr lang="ko-KR" altLang="ko-KR" dirty="0"/>
              <a:t> </a:t>
            </a:r>
            <a:r>
              <a:rPr lang="ko-KR" altLang="ko-KR" dirty="0" err="1"/>
              <a:t>Character</a:t>
            </a:r>
            <a:r>
              <a:rPr lang="en-US" altLang="ko-KR" dirty="0"/>
              <a:t> </a:t>
            </a:r>
            <a:r>
              <a:rPr lang="ko-KR" altLang="ko-KR" dirty="0"/>
              <a:t>이다</a:t>
            </a:r>
            <a:endParaRPr lang="en-US" altLang="ko-KR" dirty="0"/>
          </a:p>
          <a:p>
            <a:pPr lvl="1"/>
            <a:r>
              <a:rPr lang="en-US" altLang="ko-KR" dirty="0"/>
              <a:t>Enemy</a:t>
            </a:r>
            <a:r>
              <a:rPr lang="ko-KR" altLang="en-US" dirty="0"/>
              <a:t>는 </a:t>
            </a:r>
            <a:r>
              <a:rPr lang="en-US" altLang="ko-KR" dirty="0"/>
              <a:t>Character </a:t>
            </a:r>
            <a:r>
              <a:rPr lang="ko-KR" altLang="en-US" dirty="0"/>
              <a:t>이다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ko-KR" dirty="0"/>
              <a:t>의존은 함수 실행 중 일시적으로 사용하는 관계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FA1F2-0A94-6F21-E166-DB3E5483A327}"/>
              </a:ext>
            </a:extLst>
          </p:cNvPr>
          <p:cNvSpPr txBox="1"/>
          <p:nvPr/>
        </p:nvSpPr>
        <p:spPr>
          <a:xfrm>
            <a:off x="329481" y="3212976"/>
            <a:ext cx="4248274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─────────▷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─────────▷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08B8F-E31B-BC12-2889-827AB2DCD418}"/>
              </a:ext>
            </a:extLst>
          </p:cNvPr>
          <p:cNvSpPr txBox="1"/>
          <p:nvPr/>
        </p:nvSpPr>
        <p:spPr>
          <a:xfrm>
            <a:off x="1979712" y="4122306"/>
            <a:ext cx="5826695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: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A188B9-0883-BC4E-3DA4-4356BEB6D1D7}"/>
              </a:ext>
            </a:extLst>
          </p:cNvPr>
          <p:cNvSpPr txBox="1"/>
          <p:nvPr/>
        </p:nvSpPr>
        <p:spPr>
          <a:xfrm>
            <a:off x="1979712" y="5397023"/>
            <a:ext cx="5826696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8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45002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59A36-F2F3-67F3-B55D-5E3E2F38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3.11.2 연관, 집합, 합성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603E939-B763-6E3C-A394-4C934FC3C0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547685"/>
              </p:ext>
            </p:extLst>
          </p:nvPr>
        </p:nvGraphicFramePr>
        <p:xfrm>
          <a:off x="395635" y="764704"/>
          <a:ext cx="8352730" cy="1947568"/>
        </p:xfrm>
        <a:graphic>
          <a:graphicData uri="http://schemas.openxmlformats.org/drawingml/2006/table">
            <a:tbl>
              <a:tblPr/>
              <a:tblGrid>
                <a:gridCol w="2952229">
                  <a:extLst>
                    <a:ext uri="{9D8B030D-6E8A-4147-A177-3AD203B41FA5}">
                      <a16:colId xmlns:a16="http://schemas.microsoft.com/office/drawing/2014/main" val="4196808342"/>
                    </a:ext>
                  </a:extLst>
                </a:gridCol>
                <a:gridCol w="5400501">
                  <a:extLst>
                    <a:ext uri="{9D8B030D-6E8A-4147-A177-3AD203B41FA5}">
                      <a16:colId xmlns:a16="http://schemas.microsoft.com/office/drawing/2014/main" val="30771925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관계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핵심 질문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954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연관</a:t>
                      </a:r>
                      <a:r>
                        <a:rPr lang="en-US" alt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 Association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지속적으로 알고 있는가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301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집합</a:t>
                      </a:r>
                      <a:r>
                        <a:rPr lang="en-US" alt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 Aggregation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부분 객체가 독립적으로 존재할 수 있는가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147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합성</a:t>
                      </a:r>
                      <a:r>
                        <a:rPr lang="en-US" alt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 Composition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전체 객체가 부분 객체의 수명을 책임지는가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83243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D7913B-CA49-73C4-84CD-AEDB547D24DC}"/>
              </a:ext>
            </a:extLst>
          </p:cNvPr>
          <p:cNvSpPr txBox="1"/>
          <p:nvPr/>
        </p:nvSpPr>
        <p:spPr>
          <a:xfrm>
            <a:off x="395635" y="2956276"/>
            <a:ext cx="4032349" cy="358251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연관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Party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members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{};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집합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memberCount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Vector2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합성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b="1" dirty="0">
              <a:latin typeface="Consolas" panose="020B0609020204030204" pitchFamily="49" charset="0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B23CF-F51C-4938-7C57-93551B90F7F3}"/>
              </a:ext>
            </a:extLst>
          </p:cNvPr>
          <p:cNvSpPr txBox="1"/>
          <p:nvPr/>
        </p:nvSpPr>
        <p:spPr>
          <a:xfrm>
            <a:off x="4427984" y="4742946"/>
            <a:ext cx="4464397" cy="95410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UML 관계 기호</a:t>
            </a:r>
            <a:endParaRPr lang="ko-KR" altLang="ko-KR" sz="14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연관 관계 (Association): ─ (단순 실선 또는 화살표)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집합 관계 (</a:t>
            </a:r>
            <a:r>
              <a:rPr lang="ko-KR" altLang="ko-KR" sz="14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Aggregation</a:t>
            </a: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): ◇─ (속이 빈 마름모 실선)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합성 관계 (</a:t>
            </a:r>
            <a:r>
              <a:rPr lang="ko-KR" altLang="ko-KR" sz="14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Composition</a:t>
            </a: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): ◆─ (속이 찬 마름모 실선)</a:t>
            </a:r>
          </a:p>
        </p:txBody>
      </p:sp>
    </p:spTree>
    <p:extLst>
      <p:ext uri="{BB962C8B-B14F-4D97-AF65-F5344CB8AC3E}">
        <p14:creationId xmlns:p14="http://schemas.microsoft.com/office/powerpoint/2010/main" val="16039921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CE307-4381-D1B8-EBF4-E90ED7CB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F8A8F-EF8D-D479-6369-7DA6D0A69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3.11.3 시퀀스 다이어그램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786B90-5B9A-7D68-EC4A-513F144BD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클래스 다이어그램은 정적인 구성</a:t>
            </a:r>
          </a:p>
          <a:p>
            <a:pPr lvl="0"/>
            <a:r>
              <a:rPr lang="ko-KR" altLang="ko-KR" sz="2400" dirty="0"/>
              <a:t>시퀀스 다이어그램은 객체가 어떤 순서로 협력하는지 표현</a:t>
            </a:r>
          </a:p>
          <a:p>
            <a:pPr lvl="0"/>
            <a:r>
              <a:rPr lang="ko-KR" altLang="ko-KR" sz="2400" dirty="0"/>
              <a:t>시간은 위에서 아래로 흐름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473A11E-FCC9-0A87-5D56-5D37BC750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571719"/>
              </p:ext>
            </p:extLst>
          </p:nvPr>
        </p:nvGraphicFramePr>
        <p:xfrm>
          <a:off x="540866" y="2276872"/>
          <a:ext cx="7055470" cy="1476502"/>
        </p:xfrm>
        <a:graphic>
          <a:graphicData uri="http://schemas.openxmlformats.org/drawingml/2006/table">
            <a:tbl>
              <a:tblPr/>
              <a:tblGrid>
                <a:gridCol w="7055470">
                  <a:extLst>
                    <a:ext uri="{9D8B030D-6E8A-4147-A177-3AD203B41FA5}">
                      <a16:colId xmlns:a16="http://schemas.microsoft.com/office/drawing/2014/main" val="34805458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game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Game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 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player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Player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     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weapon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Weapon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enemy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Enemy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│                    │                    │                   │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│──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Attack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enemy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 ──▶│                    │                   │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│                    │──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GetPower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 ─────▶│                   │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│                    │◀- -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power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- - - -</a:t>
                      </a: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│                   │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│                    │──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TakeDamage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power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─────────────────▶│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│◀- - 처리 완료 -</a:t>
                      </a: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- │                  </a:t>
                      </a: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│                   │</a:t>
                      </a:r>
                      <a:endParaRPr lang="ko-KR" sz="2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18106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07B8F9-1277-C21F-779E-1991165AA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630660"/>
              </p:ext>
            </p:extLst>
          </p:nvPr>
        </p:nvGraphicFramePr>
        <p:xfrm>
          <a:off x="1259632" y="4149080"/>
          <a:ext cx="4176464" cy="2183000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3205439144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4179232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요소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782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참여자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호출에 참여하는 객체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37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생명선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객체가 존재하는 시간 흐름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606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메시지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다른 객체의 기능 호출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530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반환 메시지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결과 반환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303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9310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8C5F-2DD1-69F5-1227-4D4CD036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02BDB-234A-E49B-BB87-CFE82096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3.11.3 시퀀스와 C++ 코드 대응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45E4C5-2744-FB76-FABF-0C8B9AD936CA}"/>
              </a:ext>
            </a:extLst>
          </p:cNvPr>
          <p:cNvSpPr txBox="1"/>
          <p:nvPr/>
        </p:nvSpPr>
        <p:spPr>
          <a:xfrm>
            <a:off x="539750" y="764704"/>
            <a:ext cx="3816226" cy="224676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400" b="1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power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GetPower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enemy.TakeDamage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power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BA5A8-D0A8-C010-E455-5F91EF497D52}"/>
              </a:ext>
            </a:extLst>
          </p:cNvPr>
          <p:cNvSpPr txBox="1"/>
          <p:nvPr/>
        </p:nvSpPr>
        <p:spPr>
          <a:xfrm>
            <a:off x="4355976" y="764704"/>
            <a:ext cx="3816226" cy="954107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GetPower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power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C8562-74C0-8D5E-C122-6C748B514844}"/>
              </a:ext>
            </a:extLst>
          </p:cNvPr>
          <p:cNvSpPr txBox="1"/>
          <p:nvPr/>
        </p:nvSpPr>
        <p:spPr>
          <a:xfrm>
            <a:off x="539750" y="3011473"/>
            <a:ext cx="3816226" cy="246221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1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-= </a:t>
            </a:r>
            <a:r>
              <a:rPr lang="ko-KR" altLang="ko-KR" sz="1400" b="1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4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4FD4F9B-EEF8-52B5-6C19-7DA8EB67FC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2397651"/>
              </p:ext>
            </p:extLst>
          </p:nvPr>
        </p:nvGraphicFramePr>
        <p:xfrm>
          <a:off x="3419872" y="4653136"/>
          <a:ext cx="5328592" cy="1545422"/>
        </p:xfrm>
        <a:graphic>
          <a:graphicData uri="http://schemas.openxmlformats.org/drawingml/2006/table">
            <a:tbl>
              <a:tblPr/>
              <a:tblGrid>
                <a:gridCol w="2226874">
                  <a:extLst>
                    <a:ext uri="{9D8B030D-6E8A-4147-A177-3AD203B41FA5}">
                      <a16:colId xmlns:a16="http://schemas.microsoft.com/office/drawing/2014/main" val="800666833"/>
                    </a:ext>
                  </a:extLst>
                </a:gridCol>
                <a:gridCol w="3101718">
                  <a:extLst>
                    <a:ext uri="{9D8B030D-6E8A-4147-A177-3AD203B41FA5}">
                      <a16:colId xmlns:a16="http://schemas.microsoft.com/office/drawing/2014/main" val="3854804824"/>
                    </a:ext>
                  </a:extLst>
                </a:gridCol>
              </a:tblGrid>
              <a:tr h="2333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시퀀스 다이어그램</a:t>
                      </a:r>
                      <a:endParaRPr lang="ko-KR" sz="24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C++ 코드</a:t>
                      </a:r>
                      <a:endParaRPr lang="ko-KR" sz="24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705572"/>
                  </a:ext>
                </a:extLst>
              </a:tr>
              <a:tr h="25320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Attack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player.Attack(enemy)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905629"/>
                  </a:ext>
                </a:extLst>
              </a:tr>
              <a:tr h="25320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GetPower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weapon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-&gt;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GetPower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259999"/>
                  </a:ext>
                </a:extLst>
              </a:tr>
              <a:tr h="41240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TakeDamage(power)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enemy.TakeDamage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power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48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65098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708B7-D13B-3EDB-765E-18041968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F61A9-B9A8-E6F7-D72A-2F359B106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3.11.4 UML</a:t>
            </a:r>
            <a:r>
              <a:rPr lang="en-US" altLang="ko-KR" dirty="0"/>
              <a:t> </a:t>
            </a:r>
            <a:r>
              <a:rPr lang="ko-KR" altLang="en-US" dirty="0"/>
              <a:t>→</a:t>
            </a:r>
            <a:r>
              <a:rPr lang="ko-KR" altLang="ko-KR" dirty="0"/>
              <a:t> C++ 코드로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2C8DAA-797F-67D7-429F-63EEA21B6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/>
              <a:t>UML의</a:t>
            </a:r>
            <a:r>
              <a:rPr lang="ko-KR" altLang="ko-KR" dirty="0"/>
              <a:t> 속성은 멤버 변수로 구현</a:t>
            </a:r>
          </a:p>
          <a:p>
            <a:pPr lvl="0"/>
            <a:r>
              <a:rPr lang="ko-KR" altLang="ko-KR" dirty="0" err="1"/>
              <a:t>UML의</a:t>
            </a:r>
            <a:r>
              <a:rPr lang="ko-KR" altLang="ko-KR" dirty="0"/>
              <a:t> 연산은 멤버 함수 선언과 정의로 구현</a:t>
            </a:r>
          </a:p>
          <a:p>
            <a:pPr lvl="0"/>
            <a:r>
              <a:rPr lang="ko-KR" altLang="ko-KR" dirty="0"/>
              <a:t>상태 변경 규칙은 클래스 내부 함수에서 처리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9C938-C1DE-4667-7727-D543B1AD496B}"/>
              </a:ext>
            </a:extLst>
          </p:cNvPr>
          <p:cNvSpPr txBox="1"/>
          <p:nvPr/>
        </p:nvSpPr>
        <p:spPr>
          <a:xfrm>
            <a:off x="611560" y="2382257"/>
            <a:ext cx="7920880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Character.h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#pragma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once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"Vector2.h"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Character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offsetX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offsetY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TakeDamage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Vector2&amp;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Vector2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endParaRPr lang="ko-KR" altLang="en-US" sz="32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2439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AF6F6-F3A5-32F1-251D-52ED343CA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DAC0C-AD89-1E62-E2C5-513475F06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3.12 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16E829-4E5A-C447-1151-89152A671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ko-KR" altLang="ko-KR" sz="2000" dirty="0"/>
              <a:t>객체지향 모델링</a:t>
            </a:r>
            <a:r>
              <a:rPr lang="en-US" altLang="ko-KR" sz="2000" dirty="0"/>
              <a:t>:</a:t>
            </a:r>
            <a:r>
              <a:rPr lang="ko-KR" altLang="ko-KR" sz="2000" dirty="0"/>
              <a:t> 객체를 식별하고 상태, 책임, 관계와 협력을 설계하는 과정</a:t>
            </a:r>
          </a:p>
          <a:p>
            <a:pPr lvl="0">
              <a:lnSpc>
                <a:spcPct val="150000"/>
              </a:lnSpc>
            </a:pPr>
            <a:r>
              <a:rPr lang="ko-KR" altLang="ko-KR" sz="2000" dirty="0"/>
              <a:t>UML</a:t>
            </a:r>
            <a:r>
              <a:rPr lang="en-US" altLang="ko-KR" sz="2000" dirty="0"/>
              <a:t>: </a:t>
            </a:r>
            <a:r>
              <a:rPr lang="ko-KR" altLang="ko-KR" sz="2000" dirty="0"/>
              <a:t> 객체의 구조와 동작을 다이어그램으로 표현하는 모델링 언어</a:t>
            </a:r>
          </a:p>
          <a:p>
            <a:pPr lvl="0">
              <a:lnSpc>
                <a:spcPct val="150000"/>
              </a:lnSpc>
            </a:pPr>
            <a:r>
              <a:rPr lang="ko-KR" altLang="ko-KR" sz="2000" dirty="0"/>
              <a:t>클래스</a:t>
            </a:r>
            <a:r>
              <a:rPr lang="en-US" altLang="ko-KR" sz="2000" dirty="0"/>
              <a:t>: </a:t>
            </a:r>
            <a:r>
              <a:rPr lang="ko-KR" altLang="ko-KR" sz="2000" dirty="0"/>
              <a:t> 객체의 상태와 기능을 정의하는 C++ 사용자 정의 타입</a:t>
            </a:r>
          </a:p>
          <a:p>
            <a:pPr lvl="0">
              <a:lnSpc>
                <a:spcPct val="150000"/>
              </a:lnSpc>
            </a:pPr>
            <a:r>
              <a:rPr lang="ko-KR" altLang="ko-KR" sz="2000" dirty="0" err="1"/>
              <a:t>class와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struct</a:t>
            </a:r>
            <a:r>
              <a:rPr lang="en-US" altLang="ko-KR" sz="2000" dirty="0"/>
              <a:t> :</a:t>
            </a:r>
            <a:r>
              <a:rPr lang="ko-KR" altLang="ko-KR" sz="2000" dirty="0"/>
              <a:t> </a:t>
            </a:r>
            <a:r>
              <a:rPr lang="ko-KR" altLang="en-US" sz="2000" dirty="0"/>
              <a:t>접근 제어 외 동일</a:t>
            </a:r>
            <a:r>
              <a:rPr lang="ko-KR" altLang="ko-KR" sz="2000" dirty="0"/>
              <a:t> 설계 의도를 구분하여 사용</a:t>
            </a:r>
          </a:p>
          <a:p>
            <a:pPr lvl="0">
              <a:lnSpc>
                <a:spcPct val="150000"/>
              </a:lnSpc>
            </a:pPr>
            <a:r>
              <a:rPr lang="ko-KR" altLang="ko-KR" sz="2000" dirty="0"/>
              <a:t>접근 제어</a:t>
            </a:r>
            <a:r>
              <a:rPr lang="en-US" altLang="ko-KR" sz="2000" dirty="0"/>
              <a:t>: </a:t>
            </a:r>
            <a:r>
              <a:rPr lang="ko-KR" altLang="ko-KR" sz="2000" dirty="0"/>
              <a:t>객체의 유효한 상태와 캡슐화를 유지하는 데 사용</a:t>
            </a:r>
          </a:p>
          <a:p>
            <a:pPr lvl="0">
              <a:lnSpc>
                <a:spcPct val="150000"/>
              </a:lnSpc>
            </a:pPr>
            <a:r>
              <a:rPr lang="ko-KR" altLang="ko-KR" sz="2000" dirty="0" err="1"/>
              <a:t>게터와</a:t>
            </a:r>
            <a:r>
              <a:rPr lang="ko-KR" altLang="ko-KR" sz="2000" dirty="0"/>
              <a:t> 세터</a:t>
            </a:r>
            <a:r>
              <a:rPr lang="en-US" altLang="ko-KR" sz="2000" dirty="0"/>
              <a:t>: </a:t>
            </a:r>
            <a:r>
              <a:rPr lang="ko-KR" altLang="ko-KR" sz="2000" dirty="0"/>
              <a:t>기계적으로 추가한다고 좋은 캡슐화가 되는 것은 아님</a:t>
            </a:r>
          </a:p>
          <a:p>
            <a:pPr lvl="0">
              <a:lnSpc>
                <a:spcPct val="150000"/>
              </a:lnSpc>
            </a:pPr>
            <a:r>
              <a:rPr lang="ko-KR" altLang="ko-KR" sz="2000" dirty="0" err="1"/>
              <a:t>this</a:t>
            </a:r>
            <a:r>
              <a:rPr lang="en-US" altLang="ko-KR" sz="2000" dirty="0"/>
              <a:t>: </a:t>
            </a:r>
            <a:r>
              <a:rPr lang="ko-KR" altLang="ko-KR" sz="2000" dirty="0"/>
              <a:t>현재 멤버 함수를 호출한 객체</a:t>
            </a:r>
            <a:r>
              <a:rPr lang="en-US" altLang="ko-KR" sz="2000" dirty="0"/>
              <a:t> </a:t>
            </a:r>
            <a:r>
              <a:rPr lang="ko-KR" altLang="en-US" sz="2000" dirty="0"/>
              <a:t>자신</a:t>
            </a:r>
            <a:endParaRPr lang="ko-KR" altLang="ko-KR" sz="2000" dirty="0"/>
          </a:p>
          <a:p>
            <a:pPr lvl="0">
              <a:lnSpc>
                <a:spcPct val="150000"/>
              </a:lnSpc>
            </a:pPr>
            <a:r>
              <a:rPr lang="ko-KR" altLang="ko-KR" sz="2000" dirty="0"/>
              <a:t>정적 멤버</a:t>
            </a:r>
            <a:r>
              <a:rPr lang="en-US" altLang="ko-KR" sz="2000" dirty="0"/>
              <a:t>:</a:t>
            </a:r>
            <a:r>
              <a:rPr lang="ko-KR" altLang="ko-KR" sz="2000" dirty="0"/>
              <a:t> 클래스 전체가 공유하는 상태와 기능을 표현</a:t>
            </a:r>
          </a:p>
          <a:p>
            <a:pPr lvl="0">
              <a:lnSpc>
                <a:spcPct val="150000"/>
              </a:lnSpc>
            </a:pPr>
            <a:r>
              <a:rPr lang="ko-KR" altLang="ko-KR" sz="2000" dirty="0"/>
              <a:t>전방 선언</a:t>
            </a:r>
            <a:r>
              <a:rPr lang="en-US" altLang="ko-KR" sz="2000" dirty="0"/>
              <a:t>:</a:t>
            </a:r>
            <a:r>
              <a:rPr lang="ko-KR" altLang="ko-KR" sz="2000" dirty="0"/>
              <a:t> 헤더 의존성을 줄이는 데 사용</a:t>
            </a:r>
          </a:p>
          <a:p>
            <a:pPr lvl="0">
              <a:lnSpc>
                <a:spcPct val="150000"/>
              </a:lnSpc>
            </a:pPr>
            <a:r>
              <a:rPr lang="ko-KR" altLang="ko-KR" sz="2000" dirty="0"/>
              <a:t>UML 관계</a:t>
            </a:r>
            <a:r>
              <a:rPr lang="en-US" altLang="ko-KR" sz="2000" dirty="0"/>
              <a:t>:</a:t>
            </a:r>
            <a:r>
              <a:rPr lang="ko-KR" altLang="ko-KR" sz="2000" dirty="0"/>
              <a:t> C++ 문법뿐 아니라 역할, 소유권, 수명을 함께 고려</a:t>
            </a:r>
          </a:p>
          <a:p>
            <a:pPr>
              <a:lnSpc>
                <a:spcPct val="150000"/>
              </a:lnSpc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1975251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1" i="0" u="none" strike="noStrike" dirty="0">
            <a:solidFill>
              <a:srgbClr val="4078F2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10028</TotalTime>
  <Words>6631</Words>
  <Application>Microsoft Office PowerPoint</Application>
  <PresentationFormat>화면 슬라이드 쇼(4:3)</PresentationFormat>
  <Paragraphs>707</Paragraphs>
  <Slides>61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74" baseType="lpstr">
      <vt:lpstr>Consolas</vt:lpstr>
      <vt:lpstr>Arial</vt:lpstr>
      <vt:lpstr>굴림</vt:lpstr>
      <vt:lpstr>Pretendard ExtraBold</vt:lpstr>
      <vt:lpstr>D2Coding</vt:lpstr>
      <vt:lpstr>넥슨Lv2고딕 Bold</vt:lpstr>
      <vt:lpstr>나눔바른고딕</vt:lpstr>
      <vt:lpstr>Wingdings</vt:lpstr>
      <vt:lpstr>나눔고딕 ExtraBold</vt:lpstr>
      <vt:lpstr>가을체</vt:lpstr>
      <vt:lpstr>HY견고딕</vt:lpstr>
      <vt:lpstr>Noto Sans KR</vt:lpstr>
      <vt:lpstr>기본 디자인</vt:lpstr>
      <vt:lpstr>03. 클래스와 객체</vt:lpstr>
      <vt:lpstr>3.0 목차</vt:lpstr>
      <vt:lpstr>3.1 소프트웨어 모델링</vt:lpstr>
      <vt:lpstr>3.1.3 절차적 모델링</vt:lpstr>
      <vt:lpstr>3.1.5 데이터와 함수</vt:lpstr>
      <vt:lpstr>3.1.6 절차적 구조의 한계</vt:lpstr>
      <vt:lpstr>3.2 객체지향 모델링</vt:lpstr>
      <vt:lpstr>3.2.2 객체의 상태와 책임</vt:lpstr>
      <vt:lpstr>3.2.3 객체의 관계와 프로그램 구조</vt:lpstr>
      <vt:lpstr>3.2.4 객체의 협력과 실행 흐름</vt:lpstr>
      <vt:lpstr>3.2.5 절차적 구조와 객체지향 구조 비교</vt:lpstr>
      <vt:lpstr>3.2.6 UML의 역할</vt:lpstr>
      <vt:lpstr>3.3 객체 모델에서 C++ 클래스로</vt:lpstr>
      <vt:lpstr>3.3.2 멤버 변수와 멤버 함수</vt:lpstr>
      <vt:lpstr>3.3.3 객체의 생성과 인스턴스</vt:lpstr>
      <vt:lpstr>3.4 객체지향 프로그래밍의 주요 특징</vt:lpstr>
      <vt:lpstr>3.5 class와 struct의 사용 기준</vt:lpstr>
      <vt:lpstr>3.5.3 단순한 데이터 표현</vt:lpstr>
      <vt:lpstr>3.5.4 값 의미를 가지는 struct</vt:lpstr>
      <vt:lpstr>3.5.5 객체 설계에 사용하는 class</vt:lpstr>
      <vt:lpstr>3.5.6 상태와 규칙이 있는 객체</vt:lpstr>
      <vt:lpstr>3.5.7 프로젝트에서의 선택 기준</vt:lpstr>
      <vt:lpstr>3.6 접근 제어와 캡슐화</vt:lpstr>
      <vt:lpstr>3.6.1 public</vt:lpstr>
      <vt:lpstr>3.6.2 protected와 private</vt:lpstr>
      <vt:lpstr>3.6.4 정보 은닉</vt:lpstr>
      <vt:lpstr>3.6.5 객체의 유효한 상태</vt:lpstr>
      <vt:lpstr>3.6.5 객체의 유효한 상태</vt:lpstr>
      <vt:lpstr>3.6.6 접근자 함수 사용 시 주의점</vt:lpstr>
      <vt:lpstr>3.6.6 비상수 참조 반환 주의</vt:lpstr>
      <vt:lpstr>3.7 멤버 함수와 this</vt:lpstr>
      <vt:lpstr>3.7.2 this 포인터</vt:lpstr>
      <vt:lpstr>3.7.3 객체 자신을 반환하기</vt:lpstr>
      <vt:lpstr>3.7.4 메서드 체이닝</vt:lpstr>
      <vt:lpstr>3.7.5 상수 멤버 함수</vt:lpstr>
      <vt:lpstr>3.8 정적 멤버</vt:lpstr>
      <vt:lpstr>3.8.1 정적 데이터 멤버</vt:lpstr>
      <vt:lpstr>3.8.2 정적 멤버 함수</vt:lpstr>
      <vt:lpstr>3.8.3 인라인 정적 멤버</vt:lpstr>
      <vt:lpstr>3.8.4 객체 상태와 클래스 상태</vt:lpstr>
      <vt:lpstr>3.8.5 전역 변수와 정적 멤버</vt:lpstr>
      <vt:lpstr>3.9 클래스 내부(Nested)의 선언</vt:lpstr>
      <vt:lpstr>3.9.1 중첩 클래스</vt:lpstr>
      <vt:lpstr>3.9.2 중첩 열거형과 타입 별칭</vt:lpstr>
      <vt:lpstr>3.9.4 friend 함수</vt:lpstr>
      <vt:lpstr>3.9.5 friend 클래스와 사용 주의</vt:lpstr>
      <vt:lpstr>3.10 클래스 선언과 구현의 분리</vt:lpstr>
      <vt:lpstr>3.10.1 헤더 파일과 소스 파일</vt:lpstr>
      <vt:lpstr>3.10.2 클래스 선언</vt:lpstr>
      <vt:lpstr>3.10.3 멤버 함수 정의</vt:lpstr>
      <vt:lpstr>3.10.4 인터페이스와 구현</vt:lpstr>
      <vt:lpstr>3.10.5 전방 선언</vt:lpstr>
      <vt:lpstr>3.11 UML 다이어그램과 C++ 코드</vt:lpstr>
      <vt:lpstr>3.11.1 클래스 다이어그램</vt:lpstr>
      <vt:lpstr>3.11.2 클래스 사이의 관계</vt:lpstr>
      <vt:lpstr>3.11.2 일반화와 의존</vt:lpstr>
      <vt:lpstr>3.11.2 연관, 집합, 합성</vt:lpstr>
      <vt:lpstr>3.11.3 시퀀스 다이어그램</vt:lpstr>
      <vt:lpstr>3.11.3 시퀀스와 C++ 코드 대응</vt:lpstr>
      <vt:lpstr>3.11.4 UML → C++ 코드로</vt:lpstr>
      <vt:lpstr>3.12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341</cp:revision>
  <dcterms:created xsi:type="dcterms:W3CDTF">2003-11-30T16:03:20Z</dcterms:created>
  <dcterms:modified xsi:type="dcterms:W3CDTF">2026-09-05T06:03:58Z</dcterms:modified>
</cp:coreProperties>
</file>