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328" r:id="rId2"/>
    <p:sldId id="372" r:id="rId3"/>
    <p:sldId id="329" r:id="rId4"/>
    <p:sldId id="373" r:id="rId5"/>
    <p:sldId id="330" r:id="rId6"/>
    <p:sldId id="331" r:id="rId7"/>
    <p:sldId id="332" r:id="rId8"/>
    <p:sldId id="333" r:id="rId9"/>
    <p:sldId id="335" r:id="rId10"/>
    <p:sldId id="334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74" r:id="rId31"/>
    <p:sldId id="355" r:id="rId32"/>
    <p:sldId id="356" r:id="rId33"/>
    <p:sldId id="357" r:id="rId34"/>
    <p:sldId id="358" r:id="rId35"/>
    <p:sldId id="359" r:id="rId36"/>
    <p:sldId id="360" r:id="rId37"/>
    <p:sldId id="361" r:id="rId38"/>
    <p:sldId id="362" r:id="rId39"/>
    <p:sldId id="363" r:id="rId40"/>
    <p:sldId id="364" r:id="rId41"/>
    <p:sldId id="365" r:id="rId42"/>
    <p:sldId id="366" r:id="rId43"/>
    <p:sldId id="367" r:id="rId44"/>
    <p:sldId id="368" r:id="rId45"/>
    <p:sldId id="369" r:id="rId46"/>
    <p:sldId id="370" r:id="rId47"/>
    <p:sldId id="371" r:id="rId48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HY견고딕" panose="02030600000101010101" pitchFamily="18" charset="-127"/>
      <p:regular r:id="rId54"/>
    </p:embeddedFont>
    <p:embeddedFont>
      <p:font typeface="Pretendard ExtraBold" panose="02000903000000020004" pitchFamily="50" charset="-127"/>
      <p:bold r:id="rId55"/>
    </p:embeddedFont>
    <p:embeddedFont>
      <p:font typeface="가을체" panose="02030600000101010101" pitchFamily="18" charset="-127"/>
      <p:regular r:id="rId56"/>
    </p:embeddedFont>
    <p:embeddedFont>
      <p:font typeface="나눔고딕 ExtraBold" panose="020D0904000000000000" pitchFamily="50" charset="-127"/>
      <p:bold r:id="rId57"/>
    </p:embeddedFont>
    <p:embeddedFont>
      <p:font typeface="나눔바른고딕" panose="020B0603020101020101" pitchFamily="50" charset="-127"/>
      <p:regular r:id="rId58"/>
      <p:bold r:id="rId59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EFEFED"/>
    <a:srgbClr val="0000FF"/>
    <a:srgbClr val="FF9900"/>
    <a:srgbClr val="C18401"/>
    <a:srgbClr val="3399FF"/>
    <a:srgbClr val="CC00FF"/>
    <a:srgbClr val="CC00CC"/>
    <a:srgbClr val="FF00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5" autoAdjust="0"/>
    <p:restoredTop sz="94582" autoAdjust="0"/>
  </p:normalViewPr>
  <p:slideViewPr>
    <p:cSldViewPr>
      <p:cViewPr>
        <p:scale>
          <a:sx n="100" d="100"/>
          <a:sy n="100" d="100"/>
        </p:scale>
        <p:origin x="1668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60" r:id="rId7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ko-KR" altLang="ko-KR" dirty="0"/>
              <a:t>0</a:t>
            </a:r>
            <a:r>
              <a:rPr lang="en-US" altLang="ko-KR" dirty="0"/>
              <a:t>6</a:t>
            </a:r>
            <a:r>
              <a:rPr lang="ko-KR" altLang="ko-KR" dirty="0"/>
              <a:t>. </a:t>
            </a:r>
            <a:r>
              <a:rPr lang="ko-KR" altLang="en-US" dirty="0"/>
              <a:t>연산자 오버로딩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63BE-90F3-3F9D-E67C-6EB4F113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8B7D6-DD4D-CD31-A47C-2166A7B8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6. 연산자 오버로딩과 사용자 정의 타입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2631D-AD66-6D3D-0927-DF80A65D8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dirty="0"/>
              <a:t>사용자 정의 타입에 자연스러운 연산 제공</a:t>
            </a:r>
          </a:p>
          <a:p>
            <a:pPr lvl="0">
              <a:lnSpc>
                <a:spcPct val="120000"/>
              </a:lnSpc>
            </a:pPr>
            <a:r>
              <a:rPr lang="ko-KR" altLang="ko-KR" dirty="0"/>
              <a:t>멤버 연산자와 </a:t>
            </a:r>
            <a:r>
              <a:rPr lang="ko-KR" altLang="en-US" dirty="0"/>
              <a:t>비 멤버</a:t>
            </a:r>
            <a:r>
              <a:rPr lang="ko-KR" altLang="ko-KR" dirty="0"/>
              <a:t> 연산자 구분</a:t>
            </a:r>
          </a:p>
          <a:p>
            <a:pPr lvl="0">
              <a:lnSpc>
                <a:spcPct val="120000"/>
              </a:lnSpc>
            </a:pPr>
            <a:r>
              <a:rPr lang="ko-KR" altLang="ko-KR" dirty="0"/>
              <a:t>복합 대입 연산자와 산술 연산자</a:t>
            </a:r>
          </a:p>
          <a:p>
            <a:pPr lvl="0">
              <a:lnSpc>
                <a:spcPct val="120000"/>
              </a:lnSpc>
            </a:pPr>
            <a:r>
              <a:rPr lang="ko-KR" altLang="ko-KR" dirty="0"/>
              <a:t>비교 연산자와 </a:t>
            </a:r>
            <a:r>
              <a:rPr lang="ko-KR" altLang="ko-KR" dirty="0" err="1"/>
              <a:t>삼방향</a:t>
            </a:r>
            <a:r>
              <a:rPr lang="ko-KR" altLang="ko-KR" dirty="0"/>
              <a:t> 비교</a:t>
            </a:r>
          </a:p>
          <a:p>
            <a:pPr lvl="0">
              <a:lnSpc>
                <a:spcPct val="120000"/>
              </a:lnSpc>
            </a:pPr>
            <a:r>
              <a:rPr lang="ko-KR" altLang="en-US" dirty="0"/>
              <a:t>첨자 연산자</a:t>
            </a:r>
            <a:endParaRPr lang="ko-KR" altLang="ko-KR" dirty="0"/>
          </a:p>
          <a:p>
            <a:pPr lvl="0">
              <a:lnSpc>
                <a:spcPct val="120000"/>
              </a:lnSpc>
            </a:pPr>
            <a:r>
              <a:rPr lang="ko-KR" altLang="ko-KR" dirty="0"/>
              <a:t>형 변환 연산자와 </a:t>
            </a:r>
            <a:r>
              <a:rPr lang="ko-KR" altLang="ko-KR" dirty="0" err="1"/>
              <a:t>explicit</a:t>
            </a:r>
            <a:endParaRPr lang="ko-KR" altLang="ko-KR" dirty="0"/>
          </a:p>
          <a:p>
            <a:pPr lvl="0">
              <a:lnSpc>
                <a:spcPct val="120000"/>
              </a:lnSpc>
            </a:pPr>
            <a:r>
              <a:rPr lang="ko-KR" altLang="ko-KR" dirty="0"/>
              <a:t>스트림 입출력 연산자</a:t>
            </a:r>
          </a:p>
          <a:p>
            <a:pPr lvl="0">
              <a:lnSpc>
                <a:spcPct val="120000"/>
              </a:lnSpc>
            </a:pPr>
            <a:r>
              <a:rPr lang="ko-KR" altLang="ko-KR" dirty="0"/>
              <a:t>연산자 오버로딩의 설계 기준</a:t>
            </a:r>
          </a:p>
          <a:p>
            <a:pPr>
              <a:lnSpc>
                <a:spcPct val="120000"/>
              </a:lnSpc>
            </a:pP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3D1AC87-4BD4-CC90-6F41-BCC61667E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292377"/>
              </p:ext>
            </p:extLst>
          </p:nvPr>
        </p:nvGraphicFramePr>
        <p:xfrm>
          <a:off x="5292080" y="2157947"/>
          <a:ext cx="3631307" cy="3175200"/>
        </p:xfrm>
        <a:graphic>
          <a:graphicData uri="http://schemas.openxmlformats.org/drawingml/2006/table">
            <a:tbl>
              <a:tblPr/>
              <a:tblGrid>
                <a:gridCol w="3631307">
                  <a:extLst>
                    <a:ext uri="{9D8B030D-6E8A-4147-A177-3AD203B41FA5}">
                      <a16:colId xmlns:a16="http://schemas.microsoft.com/office/drawing/2014/main" val="42371527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사용자 정의 타입</a:t>
                      </a:r>
                      <a:br>
                        <a:rPr 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타입의 의미에 맞는 연산 제공</a:t>
                      </a:r>
                      <a:br>
                        <a:rPr 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기본형처럼 자연스럽게</a:t>
                      </a:r>
                      <a:br>
                        <a:rPr lang="en-US" alt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ln>
                            <a:noFill/>
                          </a:ln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사용하는 값 타입 구성</a:t>
                      </a:r>
                      <a:endParaRPr lang="ko-KR" sz="3600" dirty="0">
                        <a:ln>
                          <a:noFill/>
                        </a:ln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44000" marR="216000" marT="216000" marB="216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653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966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E8910-0D43-26F2-8B53-39819A60C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6.1 연산자 오버로딩의 목적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6A411A-5697-96DB-A9FF-03876B031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연산자 오버로딩은 문법을 짧게 만드는 기능이 아님</a:t>
            </a:r>
          </a:p>
          <a:p>
            <a:pPr lvl="0"/>
            <a:r>
              <a:rPr lang="ko-KR" altLang="ko-KR" dirty="0"/>
              <a:t>타입이 나타내는 개념에 맞는 연산 제공</a:t>
            </a:r>
          </a:p>
          <a:p>
            <a:pPr lvl="0"/>
            <a:r>
              <a:rPr lang="ko-KR" altLang="ko-KR" dirty="0"/>
              <a:t>코드가 문제 영역의 의미를 직접 표현하도록 구성</a:t>
            </a:r>
          </a:p>
          <a:p>
            <a:pPr lvl="0"/>
            <a:r>
              <a:rPr lang="ko-KR" altLang="ko-KR" dirty="0"/>
              <a:t>기본형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ko-KR" dirty="0"/>
              <a:t>연산자의 의미를 사용자 정의 타입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확장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F00B2-64F8-856A-745D-0951E2AA2AE4}"/>
              </a:ext>
            </a:extLst>
          </p:cNvPr>
          <p:cNvSpPr txBox="1"/>
          <p:nvPr/>
        </p:nvSpPr>
        <p:spPr>
          <a:xfrm>
            <a:off x="1259632" y="2996952"/>
            <a:ext cx="6192688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first.Add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BB903EB-AEAE-6611-7E83-90599EA6E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686123"/>
              </p:ext>
            </p:extLst>
          </p:nvPr>
        </p:nvGraphicFramePr>
        <p:xfrm>
          <a:off x="1264593" y="4983118"/>
          <a:ext cx="6192688" cy="1346376"/>
        </p:xfrm>
        <a:graphic>
          <a:graphicData uri="http://schemas.openxmlformats.org/drawingml/2006/table">
            <a:tbl>
              <a:tblPr/>
              <a:tblGrid>
                <a:gridCol w="2544940">
                  <a:extLst>
                    <a:ext uri="{9D8B030D-6E8A-4147-A177-3AD203B41FA5}">
                      <a16:colId xmlns:a16="http://schemas.microsoft.com/office/drawing/2014/main" val="308829137"/>
                    </a:ext>
                  </a:extLst>
                </a:gridCol>
                <a:gridCol w="3647748">
                  <a:extLst>
                    <a:ext uri="{9D8B030D-6E8A-4147-A177-3AD203B41FA5}">
                      <a16:colId xmlns:a16="http://schemas.microsoft.com/office/drawing/2014/main" val="1652984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01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Add</a:t>
                      </a: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sz="2000" b="1" i="0" u="none" strike="noStrike" dirty="0" err="1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first</a:t>
                      </a: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second</a:t>
                      </a: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함수 이름으로 연산 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98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first</a:t>
                      </a: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 + </a:t>
                      </a:r>
                      <a:r>
                        <a:rPr lang="ko-KR" sz="2000" b="1" i="0" u="none" strike="noStrike" dirty="0" err="1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second</a:t>
                      </a:r>
                      <a:endParaRPr lang="ko-KR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수학적 덧셈 의미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를 직접 표현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283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44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1724D-D9C9-B32B-B2B6-0D5810A8A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01516-CE02-FA43-E393-C0E43A87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6.1.1 </a:t>
            </a:r>
            <a:r>
              <a:rPr lang="ko-KR" altLang="en-US" dirty="0"/>
              <a:t>사용자 정의 타입과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A8FB0B-CD68-CC81-4638-706D970F4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400" dirty="0"/>
              <a:t>Vector3는 수학 벡터의 각 성분을 표현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 err="1"/>
              <a:t>x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y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z를</a:t>
            </a:r>
            <a:r>
              <a:rPr lang="ko-KR" altLang="ko-KR" sz="2400" dirty="0"/>
              <a:t> 직접 변경해도 타입의 유효성이 손상되지 않음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값 타입에서는 연산자 오버로딩이 특히 유용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자연스럽게 기대할 수 있는 연산은 연산자로 제공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여러 해석이 가능한 동작은 이름이 있는 함수가 적합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3F513-BA51-CB81-4AC4-B102B4C95C25}"/>
              </a:ext>
            </a:extLst>
          </p:cNvPr>
          <p:cNvSpPr txBox="1"/>
          <p:nvPr/>
        </p:nvSpPr>
        <p:spPr>
          <a:xfrm>
            <a:off x="539750" y="3429000"/>
            <a:ext cx="7992690" cy="28346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Vector3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Vector3(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{}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ko-KR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Vector3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velocity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deltaTime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Vector3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velocity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deltaTime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endParaRPr lang="ko-KR" altLang="en-US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232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7B3B-9F30-E026-BD6B-9E0AE213B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0332A-8BFA-E69E-72D5-B1C9C551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6.1.2 </a:t>
            </a:r>
            <a:r>
              <a:rPr lang="ko-KR" altLang="en-US" dirty="0"/>
              <a:t>기존 연산자 의미 유지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394433-75D3-4BDC-614F-0B2B94CE9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연산자의 의미를 크게 바꾸면 이해하기 어려움</a:t>
            </a:r>
            <a:br>
              <a:rPr lang="en-US" altLang="ko-KR" sz="2400" dirty="0"/>
            </a:br>
            <a:r>
              <a:rPr lang="ko-KR" altLang="en-US" sz="2400" dirty="0"/>
              <a:t>→ 기본적인 개념을 유지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A5FFF4F-5B5A-3754-93AA-B8413BF42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170624"/>
              </p:ext>
            </p:extLst>
          </p:nvPr>
        </p:nvGraphicFramePr>
        <p:xfrm>
          <a:off x="359532" y="1628800"/>
          <a:ext cx="7092788" cy="3072176"/>
        </p:xfrm>
        <a:graphic>
          <a:graphicData uri="http://schemas.openxmlformats.org/drawingml/2006/table">
            <a:tbl>
              <a:tblPr/>
              <a:tblGrid>
                <a:gridCol w="1677459">
                  <a:extLst>
                    <a:ext uri="{9D8B030D-6E8A-4147-A177-3AD203B41FA5}">
                      <a16:colId xmlns:a16="http://schemas.microsoft.com/office/drawing/2014/main" val="2456022027"/>
                    </a:ext>
                  </a:extLst>
                </a:gridCol>
                <a:gridCol w="2932447">
                  <a:extLst>
                    <a:ext uri="{9D8B030D-6E8A-4147-A177-3AD203B41FA5}">
                      <a16:colId xmlns:a16="http://schemas.microsoft.com/office/drawing/2014/main" val="4095576870"/>
                    </a:ext>
                  </a:extLst>
                </a:gridCol>
                <a:gridCol w="2482882">
                  <a:extLst>
                    <a:ext uri="{9D8B030D-6E8A-4147-A177-3AD203B41FA5}">
                      <a16:colId xmlns:a16="http://schemas.microsoft.com/office/drawing/2014/main" val="2787010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sz="24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일반적인 의미</a:t>
                      </a:r>
                      <a:endParaRPr lang="ko-KR" sz="24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피연산자 변경</a:t>
                      </a:r>
                      <a:endParaRPr lang="ko-KR" sz="24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6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+, -, *, /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계산 결과를 새로운 값으로 생성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변경하지 않음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54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+=, -=, *=, /=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오른쪽 값을 현재 객체에 반영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왼쪽 객체 변경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772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==, !=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값의 동등성 비교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변경하지 않음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267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&lt;, &lt;=, &gt;, &gt;=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값의 순서 비교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변경하지 않음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82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[]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요소 접근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반환 참조에 따라 가능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729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++, --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현재 값을 한 단계 증가 또는 감소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현재 객체 변경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42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&lt;&lt;, &gt;&gt;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스트림 출력과 입력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스트림 또는 입력 대상 변경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5026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8878AF-83E1-94E5-6AF7-EA1B1C322DD9}"/>
              </a:ext>
            </a:extLst>
          </p:cNvPr>
          <p:cNvSpPr txBox="1"/>
          <p:nvPr/>
        </p:nvSpPr>
        <p:spPr>
          <a:xfrm>
            <a:off x="386197" y="5047297"/>
            <a:ext cx="7092788" cy="14773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same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8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40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0346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562B-6A8B-14FA-02B5-1D1E38C9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158003-6118-5617-A3A6-11613A40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6.1.3 </a:t>
            </a:r>
            <a:r>
              <a:rPr lang="ko-KR" altLang="en-US" dirty="0"/>
              <a:t>오버로딩 규칙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7A6F5C-270B-C657-F346-A2CE617D2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하나 이상의 피연산자가 사용자 정의 타입</a:t>
            </a:r>
          </a:p>
          <a:p>
            <a:pPr lvl="0"/>
            <a:r>
              <a:rPr lang="ko-KR" altLang="ko-KR" sz="2400" dirty="0"/>
              <a:t>기본형</a:t>
            </a:r>
            <a:r>
              <a:rPr lang="en-US" altLang="ko-KR" sz="2400" dirty="0"/>
              <a:t> </a:t>
            </a:r>
            <a:r>
              <a:rPr lang="ko-KR" altLang="en-US" sz="2400" dirty="0"/>
              <a:t>끼리</a:t>
            </a:r>
            <a:r>
              <a:rPr lang="ko-KR" altLang="ko-KR" sz="2400" dirty="0"/>
              <a:t> 연산</a:t>
            </a:r>
            <a:r>
              <a:rPr lang="ko-KR" altLang="en-US" sz="2400" dirty="0"/>
              <a:t>은</a:t>
            </a:r>
            <a:r>
              <a:rPr lang="ko-KR" altLang="ko-KR" sz="2400" dirty="0"/>
              <a:t> </a:t>
            </a:r>
            <a:r>
              <a:rPr lang="ko-KR" altLang="en-US" sz="2400" dirty="0"/>
              <a:t>오버로딩 불가</a:t>
            </a:r>
            <a:endParaRPr lang="ko-KR" altLang="ko-KR" sz="2400" dirty="0"/>
          </a:p>
          <a:p>
            <a:pPr lvl="0"/>
            <a:r>
              <a:rPr lang="ko-KR" altLang="ko-KR" sz="2400" dirty="0"/>
              <a:t>새로운 연산자 기호</a:t>
            </a:r>
            <a:r>
              <a:rPr lang="en-US" altLang="ko-KR" sz="2400" dirty="0"/>
              <a:t> </a:t>
            </a:r>
            <a:r>
              <a:rPr lang="ko-KR" altLang="en-US" sz="2400" dirty="0"/>
              <a:t>생성 불가 ← 오버로딩의 의미를 확인</a:t>
            </a:r>
            <a:endParaRPr lang="en-US" altLang="ko-KR" sz="2400" dirty="0"/>
          </a:p>
          <a:p>
            <a:pPr lvl="0"/>
            <a:r>
              <a:rPr lang="ko-KR" altLang="ko-KR" sz="2400" dirty="0"/>
              <a:t>피연산자 개수</a:t>
            </a:r>
            <a:r>
              <a:rPr lang="en-US" altLang="ko-KR" sz="2400" dirty="0"/>
              <a:t> </a:t>
            </a:r>
            <a:r>
              <a:rPr lang="ko-KR" altLang="ko-KR" sz="2400" dirty="0"/>
              <a:t> 변경</a:t>
            </a:r>
            <a:r>
              <a:rPr lang="en-US" altLang="ko-KR" sz="2400" dirty="0"/>
              <a:t> </a:t>
            </a:r>
            <a:r>
              <a:rPr lang="ko-KR" altLang="en-US" sz="2400" dirty="0"/>
              <a:t>불가</a:t>
            </a:r>
            <a:endParaRPr lang="ko-KR" altLang="ko-KR" sz="2400" dirty="0"/>
          </a:p>
          <a:p>
            <a:pPr lvl="0"/>
            <a:r>
              <a:rPr lang="ko-KR" altLang="ko-KR" sz="2400" dirty="0"/>
              <a:t>우선순위</a:t>
            </a:r>
            <a:r>
              <a:rPr lang="en-US" altLang="ko-KR" sz="2400" dirty="0"/>
              <a:t>, </a:t>
            </a:r>
            <a:r>
              <a:rPr lang="ko-KR" altLang="ko-KR" sz="2400" dirty="0"/>
              <a:t>결합 방향</a:t>
            </a:r>
            <a:r>
              <a:rPr lang="en-US" altLang="ko-KR" sz="2400" dirty="0"/>
              <a:t> </a:t>
            </a:r>
            <a:r>
              <a:rPr lang="ko-KR" altLang="en-US" sz="2400" dirty="0"/>
              <a:t>변경 불가</a:t>
            </a:r>
            <a:endParaRPr lang="ko-KR" altLang="ko-KR" sz="2400" dirty="0"/>
          </a:p>
          <a:p>
            <a:pPr lvl="1"/>
            <a:r>
              <a:rPr lang="ko-KR" altLang="ko-KR" sz="2000" dirty="0"/>
              <a:t>사용자 정의 타입에서도 *가 +보다 먼저 계산</a:t>
            </a:r>
          </a:p>
          <a:p>
            <a:r>
              <a:rPr lang="ko-KR" altLang="ko-KR" sz="2400" dirty="0"/>
              <a:t>&amp;&amp;, || 오버로딩</a:t>
            </a:r>
            <a:r>
              <a:rPr lang="ko-KR" altLang="en-US" sz="2400" dirty="0"/>
              <a:t>은</a:t>
            </a:r>
            <a:r>
              <a:rPr lang="ko-KR" altLang="ko-KR" sz="2400" dirty="0"/>
              <a:t> 기본 논리 연산자의 단락 평가를 기대할 수 없음</a:t>
            </a:r>
            <a:endParaRPr lang="en-US" altLang="ko-KR" sz="2400" dirty="0"/>
          </a:p>
          <a:p>
            <a:pPr lvl="1"/>
            <a:r>
              <a:rPr lang="ko-KR" altLang="ko-KR" sz="2000" dirty="0" err="1"/>
              <a:t>오버로딩된</a:t>
            </a:r>
            <a:r>
              <a:rPr lang="ko-KR" altLang="ko-KR" sz="2000" dirty="0"/>
              <a:t> 논리 연산자는 일반 함수로 호출되어 모든 항이 사전 평가됨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CA549-8408-7E83-FF8F-B916A0CEF58B}"/>
              </a:ext>
            </a:extLst>
          </p:cNvPr>
          <p:cNvSpPr txBox="1"/>
          <p:nvPr/>
        </p:nvSpPr>
        <p:spPr>
          <a:xfrm>
            <a:off x="395536" y="4581128"/>
            <a:ext cx="8352928" cy="188583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20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+(</a:t>
            </a:r>
            <a:r>
              <a:rPr lang="ko-KR" altLang="ko-KR" sz="20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// 허용되지 않음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+(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*(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1866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BF05-8461-3BEB-307E-0FCC2789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74261-7F76-433E-CF7E-639C9E5F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6.1.3 </a:t>
            </a:r>
            <a:r>
              <a:rPr lang="ko-KR" altLang="en-US" dirty="0" err="1"/>
              <a:t>오버로딩할</a:t>
            </a:r>
            <a:r>
              <a:rPr lang="ko-KR" altLang="en-US" dirty="0"/>
              <a:t> 수 없는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EC3539-60D1-D933-BD8F-55B4CCA3C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형 변환 문법 자체는 </a:t>
            </a:r>
            <a:r>
              <a:rPr lang="ko-KR" altLang="ko-KR" dirty="0" err="1"/>
              <a:t>오버로딩하지</a:t>
            </a:r>
            <a:r>
              <a:rPr lang="ko-KR" altLang="ko-KR" dirty="0"/>
              <a:t> 않음</a:t>
            </a:r>
          </a:p>
          <a:p>
            <a:pPr lvl="0"/>
            <a:r>
              <a:rPr lang="ko-KR" altLang="ko-KR" dirty="0"/>
              <a:t>변환 생성자와 형 변환 연산자로 사용자 정의 변환 제공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218C0DC-71ED-45C6-8C4C-73167761D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429644"/>
              </p:ext>
            </p:extLst>
          </p:nvPr>
        </p:nvGraphicFramePr>
        <p:xfrm>
          <a:off x="377739" y="2204864"/>
          <a:ext cx="4268465" cy="3734328"/>
        </p:xfrm>
        <a:graphic>
          <a:graphicData uri="http://schemas.openxmlformats.org/drawingml/2006/table">
            <a:tbl>
              <a:tblPr/>
              <a:tblGrid>
                <a:gridCol w="1184198">
                  <a:extLst>
                    <a:ext uri="{9D8B030D-6E8A-4147-A177-3AD203B41FA5}">
                      <a16:colId xmlns:a16="http://schemas.microsoft.com/office/drawing/2014/main" val="1011606670"/>
                    </a:ext>
                  </a:extLst>
                </a:gridCol>
                <a:gridCol w="3084267">
                  <a:extLst>
                    <a:ext uri="{9D8B030D-6E8A-4147-A177-3AD203B41FA5}">
                      <a16:colId xmlns:a16="http://schemas.microsoft.com/office/drawing/2014/main" val="8153757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오버로딩 불가</a:t>
                      </a:r>
                      <a:endParaRPr lang="ko-KR" sz="2800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60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::</a:t>
                      </a:r>
                      <a:endParaRPr lang="ko-KR" sz="32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범위 지정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5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ko-KR" sz="32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직접 멤버 접근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717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.*</a:t>
                      </a:r>
                      <a:endParaRPr lang="ko-KR" sz="32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멤버 포인터를 이용한 직접 접근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3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?:</a:t>
                      </a:r>
                      <a:endParaRPr lang="ko-KR" sz="32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조건 연산자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89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sizeof</a:t>
                      </a:r>
                      <a:endParaRPr lang="ko-KR" sz="32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 또는 타입의 크기 확인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878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-15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alignof</a:t>
                      </a:r>
                      <a:endParaRPr lang="ko-KR" sz="32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타입의 정렬 요구 사항 확인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539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-150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typeid</a:t>
                      </a:r>
                      <a:endParaRPr lang="ko-KR" sz="32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런타임 타입 정보 확인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884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-150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noexcept</a:t>
                      </a:r>
                      <a:endParaRPr lang="ko-KR" sz="3200" b="1" spc="-15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표현식의 예외 발생 가능성 확인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57203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7ECE6CE-889D-318F-3606-F534EB163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214657"/>
              </p:ext>
            </p:extLst>
          </p:nvPr>
        </p:nvGraphicFramePr>
        <p:xfrm>
          <a:off x="4860032" y="2204864"/>
          <a:ext cx="3726501" cy="2061080"/>
        </p:xfrm>
        <a:graphic>
          <a:graphicData uri="http://schemas.openxmlformats.org/drawingml/2006/table">
            <a:tbl>
              <a:tblPr/>
              <a:tblGrid>
                <a:gridCol w="1123597">
                  <a:extLst>
                    <a:ext uri="{9D8B030D-6E8A-4147-A177-3AD203B41FA5}">
                      <a16:colId xmlns:a16="http://schemas.microsoft.com/office/drawing/2014/main" val="3792589274"/>
                    </a:ext>
                  </a:extLst>
                </a:gridCol>
                <a:gridCol w="2602904">
                  <a:extLst>
                    <a:ext uri="{9D8B030D-6E8A-4147-A177-3AD203B41FA5}">
                      <a16:colId xmlns:a16="http://schemas.microsoft.com/office/drawing/2014/main" val="1949022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ko-KR" sz="1600" b="0" i="0" u="none" strike="noStrike" kern="1200" spc="-3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멤버 함수</a:t>
                      </a:r>
                      <a:r>
                        <a:rPr lang="en-US" altLang="ko-KR" sz="1600" b="0" i="0" u="none" strike="noStrike" kern="1200" spc="-3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ko-KR" sz="1600" b="0" i="0" u="none" strike="noStrike" kern="1200" spc="-3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구현</a:t>
                      </a:r>
                      <a:endParaRPr lang="ko-KR" sz="2800" spc="-3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60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대입</a:t>
                      </a:r>
                      <a:endParaRPr lang="ko-KR" sz="32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019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[]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인덱스 접근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562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 호출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48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-&gt;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포인터 형태의 멤버 접근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70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32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8B41-13F1-6C22-642C-5DD021A74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A71BE-4B58-BACB-87A8-0D639ABE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멤버 연산자와 비 멤버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2BE4A1-358C-999C-8C1E-B4597348E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연산자 함수는 멤버 함수 또는 </a:t>
            </a:r>
            <a:r>
              <a:rPr lang="ko-KR" altLang="en-US" sz="2400" dirty="0"/>
              <a:t>비 멤버</a:t>
            </a:r>
            <a:r>
              <a:rPr lang="ko-KR" altLang="ko-KR" sz="2400" dirty="0"/>
              <a:t> 함수로 정의 가능</a:t>
            </a:r>
          </a:p>
          <a:p>
            <a:pPr lvl="0"/>
            <a:r>
              <a:rPr lang="ko-KR" altLang="ko-KR" sz="2400" dirty="0"/>
              <a:t>구현 위치에 따라 피연산자 전달 방식이 달라짐</a:t>
            </a:r>
          </a:p>
          <a:p>
            <a:pPr lvl="0"/>
            <a:r>
              <a:rPr lang="ko-KR" altLang="ko-KR" sz="2400" dirty="0"/>
              <a:t>암시적 형 변환 적용 범위도 달라짐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79097EE-48E0-695A-C3E1-E6E7BD8C6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967771"/>
              </p:ext>
            </p:extLst>
          </p:nvPr>
        </p:nvGraphicFramePr>
        <p:xfrm>
          <a:off x="539750" y="2277251"/>
          <a:ext cx="7776666" cy="2662272"/>
        </p:xfrm>
        <a:graphic>
          <a:graphicData uri="http://schemas.openxmlformats.org/drawingml/2006/table">
            <a:tbl>
              <a:tblPr/>
              <a:tblGrid>
                <a:gridCol w="2736106">
                  <a:extLst>
                    <a:ext uri="{9D8B030D-6E8A-4147-A177-3AD203B41FA5}">
                      <a16:colId xmlns:a16="http://schemas.microsoft.com/office/drawing/2014/main" val="2145091007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274231009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4045730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기준</a:t>
                      </a:r>
                      <a:endParaRPr lang="ko-KR" sz="32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멤버 함수</a:t>
                      </a:r>
                      <a:endParaRPr lang="ko-KR" sz="32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 멤버</a:t>
                      </a:r>
                      <a:r>
                        <a:rPr lang="ko-KR" sz="1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함수</a:t>
                      </a:r>
                      <a:endParaRPr lang="ko-KR" sz="32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883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왼쪽 피연산자</a:t>
                      </a:r>
                      <a:endParaRPr lang="ko-KR" sz="3600" b="1" spc="-15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현재 객체로 고정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매개변수로 전달</a:t>
                      </a:r>
                      <a:endParaRPr lang="ko-KR" sz="3600" b="1" spc="-15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249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왼쪽 피연산자 암시적 변환</a:t>
                      </a:r>
                      <a:endParaRPr lang="ko-KR" sz="3600" b="1" spc="-15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제한적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적용 가능</a:t>
                      </a:r>
                      <a:endParaRPr lang="ko-KR" sz="3600" b="1" spc="-15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154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비공개 멤버 접근</a:t>
                      </a:r>
                      <a:endParaRPr lang="ko-KR" sz="3600" b="1" spc="-15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직접 가능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friend</a:t>
                      </a: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alt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</a:t>
                      </a: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공개 인터페이스 필요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534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대칭적인 이항 연산</a:t>
                      </a:r>
                      <a:endParaRPr lang="ko-KR" sz="3600" b="1" spc="-15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덜 유연함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적합함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88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상태 변경 연산</a:t>
                      </a:r>
                      <a:endParaRPr lang="ko-KR" sz="3600" b="1" spc="-15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적합함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멤버가 자연스러움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1716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99110A-D5DD-FC20-43F4-79975A2B2475}"/>
              </a:ext>
            </a:extLst>
          </p:cNvPr>
          <p:cNvSpPr txBox="1"/>
          <p:nvPr/>
        </p:nvSpPr>
        <p:spPr>
          <a:xfrm>
            <a:off x="2339752" y="5134190"/>
            <a:ext cx="3527717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멤버 연산자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+=(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 멤버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연산자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4430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98AD-5D25-4396-9983-5FF8DD546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1685F-62BF-0D38-B681-1EBC7F9C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6.2.1 </a:t>
            </a:r>
            <a:r>
              <a:rPr lang="ko-KR" altLang="en-US" dirty="0"/>
              <a:t>멤버 함수로 구현하는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350C2C-B8A8-84BE-1D4E-38052FF22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멤버 함수로 구현한 이항 연산자는 왼쪽 피연산자를 현재 객체로 사용</a:t>
            </a:r>
          </a:p>
          <a:p>
            <a:pPr lvl="0"/>
            <a:r>
              <a:rPr lang="ko-KR" altLang="ko-KR" sz="2400" dirty="0"/>
              <a:t>왼쪽 객체의 상태를 변경하는 연산에 자연스러움</a:t>
            </a:r>
          </a:p>
          <a:p>
            <a:pPr lvl="0"/>
            <a:r>
              <a:rPr lang="ko-KR" altLang="ko-KR" sz="2400" dirty="0"/>
              <a:t>대입, 복합 대입, 인덱스 접근은 멤버 함수가 적합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A2D21-D491-5EE3-F97B-C9C28CFD8864}"/>
              </a:ext>
            </a:extLst>
          </p:cNvPr>
          <p:cNvSpPr txBox="1"/>
          <p:nvPr/>
        </p:nvSpPr>
        <p:spPr>
          <a:xfrm>
            <a:off x="539750" y="2276872"/>
            <a:ext cx="4968354" cy="403187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Vector3&amp;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+=(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+=(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0EB43-84C0-4CC8-145E-79DB5B68E98E}"/>
              </a:ext>
            </a:extLst>
          </p:cNvPr>
          <p:cNvSpPr txBox="1"/>
          <p:nvPr/>
        </p:nvSpPr>
        <p:spPr>
          <a:xfrm>
            <a:off x="5219874" y="5600859"/>
            <a:ext cx="3384376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현재 객체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second는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매개변수로 전달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5163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FFD0-66F4-79FF-DD20-DD851443D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5EE9F-2785-4F15-1BDC-235D77445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6.2.1 </a:t>
            </a:r>
            <a:r>
              <a:rPr lang="ko-KR" altLang="ko-KR" dirty="0" err="1"/>
              <a:t>단항</a:t>
            </a:r>
            <a:r>
              <a:rPr lang="ko-KR" altLang="ko-KR" dirty="0"/>
              <a:t> 연산자와 </a:t>
            </a:r>
            <a:r>
              <a:rPr lang="ko-KR" altLang="ko-KR" dirty="0" err="1"/>
              <a:t>const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593A2D-FA69-B128-44BF-5D0792C89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단항</a:t>
            </a:r>
            <a:r>
              <a:rPr lang="ko-KR" altLang="ko-KR" sz="2400" dirty="0"/>
              <a:t> 연산자는 현재 객체 하나에 적용</a:t>
            </a:r>
          </a:p>
          <a:p>
            <a:pPr lvl="0"/>
            <a:r>
              <a:rPr lang="ko-KR" altLang="ko-KR" sz="2400" dirty="0"/>
              <a:t>별도의 피연산자 매개변수를 받지 않음</a:t>
            </a:r>
          </a:p>
          <a:p>
            <a:pPr lvl="0"/>
            <a:r>
              <a:rPr lang="ko-KR" altLang="en-US" sz="2400" dirty="0"/>
              <a:t>현재 </a:t>
            </a:r>
            <a:r>
              <a:rPr lang="ko-KR" altLang="ko-KR" sz="2400" dirty="0"/>
              <a:t>객체</a:t>
            </a:r>
            <a:r>
              <a:rPr lang="en-US" altLang="ko-KR" sz="2400" dirty="0"/>
              <a:t> </a:t>
            </a:r>
            <a:r>
              <a:rPr lang="ko-KR" altLang="ko-KR" sz="2400" dirty="0"/>
              <a:t>변경</a:t>
            </a:r>
            <a:r>
              <a:rPr lang="en-US" altLang="ko-KR" sz="2400" dirty="0"/>
              <a:t> </a:t>
            </a:r>
            <a:r>
              <a:rPr lang="ko-KR" altLang="en-US" sz="2400" dirty="0"/>
              <a:t>없음 → </a:t>
            </a:r>
            <a:r>
              <a:rPr lang="ko-KR" altLang="ko-KR" sz="2400" dirty="0"/>
              <a:t>연산자는 상수 멤버 함수로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BA275-F00E-82E9-6A67-035F9AC14A3D}"/>
              </a:ext>
            </a:extLst>
          </p:cNvPr>
          <p:cNvSpPr txBox="1"/>
          <p:nvPr/>
        </p:nvSpPr>
        <p:spPr>
          <a:xfrm>
            <a:off x="216123" y="2348880"/>
            <a:ext cx="4572000" cy="403187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Vector3&amp;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rhs)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+=(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97B9C52-D0A4-ACE2-E896-45727D1CE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134017"/>
              </p:ext>
            </p:extLst>
          </p:nvPr>
        </p:nvGraphicFramePr>
        <p:xfrm>
          <a:off x="3203849" y="3497712"/>
          <a:ext cx="5839866" cy="1490368"/>
        </p:xfrm>
        <a:graphic>
          <a:graphicData uri="http://schemas.openxmlformats.org/drawingml/2006/table">
            <a:tbl>
              <a:tblPr/>
              <a:tblGrid>
                <a:gridCol w="1160655">
                  <a:extLst>
                    <a:ext uri="{9D8B030D-6E8A-4147-A177-3AD203B41FA5}">
                      <a16:colId xmlns:a16="http://schemas.microsoft.com/office/drawing/2014/main" val="1914256485"/>
                    </a:ext>
                  </a:extLst>
                </a:gridCol>
                <a:gridCol w="1394286">
                  <a:extLst>
                    <a:ext uri="{9D8B030D-6E8A-4147-A177-3AD203B41FA5}">
                      <a16:colId xmlns:a16="http://schemas.microsoft.com/office/drawing/2014/main" val="4216837952"/>
                    </a:ext>
                  </a:extLst>
                </a:gridCol>
                <a:gridCol w="3284925">
                  <a:extLst>
                    <a:ext uri="{9D8B030D-6E8A-4147-A177-3AD203B41FA5}">
                      <a16:colId xmlns:a16="http://schemas.microsoft.com/office/drawing/2014/main" val="1656354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연산자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성격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선언 예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171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spc="-15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600" b="0" i="0" u="none" strike="noStrike" spc="-15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-()</a:t>
                      </a:r>
                      <a:endParaRPr lang="ko-KR" sz="2800" spc="-15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현재 </a:t>
                      </a:r>
                      <a:r>
                        <a:rPr lang="ko-KR" sz="16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변경</a:t>
                      </a:r>
                      <a:r>
                        <a:rPr lang="en-US" altLang="ko-KR" sz="16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X</a:t>
                      </a:r>
                      <a:endParaRPr lang="ko-KR" sz="2800" spc="-15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600" b="0" i="0" u="none" strike="noStrike" spc="-15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Vector3 </a:t>
                      </a:r>
                      <a:r>
                        <a:rPr lang="ko-KR" sz="1600" b="0" i="0" u="none" strike="noStrike" spc="-150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600" b="0" i="0" u="none" strike="noStrike" spc="-15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-() </a:t>
                      </a:r>
                      <a:r>
                        <a:rPr lang="ko-KR" sz="1600" b="0" i="0" u="none" strike="noStrike" spc="-150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endParaRPr lang="ko-KR" sz="2800" spc="-15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006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spc="-15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600" b="0" i="0" u="none" strike="noStrike" spc="-15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+=()</a:t>
                      </a:r>
                      <a:endParaRPr lang="ko-KR" sz="2800" spc="-15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현재 객체 변경</a:t>
                      </a:r>
                      <a:r>
                        <a:rPr lang="en-US" altLang="ko-KR" sz="16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O</a:t>
                      </a:r>
                      <a:endParaRPr lang="ko-KR" sz="2800" spc="-15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600" b="0" i="0" u="none" strike="noStrike" spc="-15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Vector3&amp; </a:t>
                      </a:r>
                      <a:r>
                        <a:rPr lang="ko-KR" sz="1600" b="0" i="0" u="none" strike="noStrike" spc="-150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600" b="0" i="0" u="none" strike="noStrike" spc="-15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+=(</a:t>
                      </a:r>
                      <a:r>
                        <a:rPr lang="ko-KR" sz="1600" b="0" i="0" u="none" strike="noStrike" spc="-150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600" b="0" i="0" u="none" strike="noStrike" spc="-15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Vector3&amp;)</a:t>
                      </a:r>
                      <a:endParaRPr lang="ko-KR" sz="2800" spc="-15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519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spc="-15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600" b="0" i="0" u="none" strike="noStrike" spc="-15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[]()</a:t>
                      </a:r>
                      <a:endParaRPr lang="ko-KR" sz="2800" spc="-15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spc="-15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접근</a:t>
                      </a:r>
                      <a:endParaRPr lang="ko-KR" sz="2800" spc="-15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600" b="0" i="0" u="none" strike="noStrike" spc="-150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float</a:t>
                      </a:r>
                      <a:r>
                        <a:rPr lang="ko-KR" sz="1600" b="0" i="0" u="none" strike="noStrike" spc="-15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 </a:t>
                      </a:r>
                      <a:r>
                        <a:rPr lang="ko-KR" sz="1600" b="0" i="0" u="none" strike="noStrike" spc="-150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600" b="0" i="0" u="none" strike="noStrike" spc="-15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[](</a:t>
                      </a:r>
                      <a:r>
                        <a:rPr lang="ko-KR" sz="1600" b="0" i="0" u="none" strike="noStrike" spc="-150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spc="-150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::size_t)</a:t>
                      </a:r>
                      <a:endParaRPr lang="ko-KR" sz="2800" spc="-15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98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16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90AB7-8B94-12B3-4A77-470723A8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E06B3-D578-689D-D81D-19F1C424F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6.2.2 </a:t>
            </a:r>
            <a:r>
              <a:rPr lang="ko-KR" altLang="en-US" dirty="0"/>
              <a:t>비 멤버 함수로 구현하는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77DCED-343D-5B93-DA70-6317424E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비</a:t>
            </a:r>
            <a:r>
              <a:rPr lang="en-US" altLang="ko-KR" dirty="0"/>
              <a:t> </a:t>
            </a:r>
            <a:r>
              <a:rPr lang="ko-KR" altLang="ko-KR" dirty="0"/>
              <a:t>멤버 연산자 함수는 모든 피연산자를 매개변수로 받음</a:t>
            </a:r>
          </a:p>
          <a:p>
            <a:pPr lvl="0"/>
            <a:r>
              <a:rPr lang="ko-KR" altLang="ko-KR" dirty="0"/>
              <a:t>왼쪽과 오른쪽 피연산자를 대칭적으로 처리하기 쉬움</a:t>
            </a:r>
          </a:p>
          <a:p>
            <a:pPr lvl="0"/>
            <a:r>
              <a:rPr lang="ko-KR" altLang="ko-KR" dirty="0"/>
              <a:t>왼쪽 피연산자가 클래스 타입이 아닐 수 있는 연산에 필요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0A2D8-760D-4D6A-5C84-EB0088980AFA}"/>
              </a:ext>
            </a:extLst>
          </p:cNvPr>
          <p:cNvSpPr txBox="1"/>
          <p:nvPr/>
        </p:nvSpPr>
        <p:spPr>
          <a:xfrm>
            <a:off x="683568" y="2394500"/>
            <a:ext cx="5544617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+(Vector3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740BB-BB8D-493A-9959-8920CE43E76B}"/>
              </a:ext>
            </a:extLst>
          </p:cNvPr>
          <p:cNvSpPr txBox="1"/>
          <p:nvPr/>
        </p:nvSpPr>
        <p:spPr>
          <a:xfrm>
            <a:off x="1187625" y="4221088"/>
            <a:ext cx="5544617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left는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first의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복사본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복사본에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right를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더한 뒤 반환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원본 피연산자는 변경되지 않음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F28ED0-4676-206C-CDCF-B51615F803CC}"/>
              </a:ext>
            </a:extLst>
          </p:cNvPr>
          <p:cNvSpPr txBox="1"/>
          <p:nvPr/>
        </p:nvSpPr>
        <p:spPr>
          <a:xfrm>
            <a:off x="683569" y="5301208"/>
            <a:ext cx="5544616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*(Vector3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Vector3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9309C1-6C59-7A34-DE34-2EBE6307AAC3}"/>
              </a:ext>
            </a:extLst>
          </p:cNvPr>
          <p:cNvSpPr txBox="1"/>
          <p:nvPr/>
        </p:nvSpPr>
        <p:spPr>
          <a:xfrm>
            <a:off x="1187625" y="5887501"/>
            <a:ext cx="5544616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vector는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별도 함수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203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C5FBF-4F08-8D08-25F1-BE2C1F5F3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FF25F-C1C9-4101-03B3-751C0FBE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6.2.3 friend</a:t>
            </a:r>
            <a:r>
              <a:rPr lang="ko-KR" altLang="en-US" dirty="0"/>
              <a:t>와 대칭적인 이항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EFF76-6216-1BD2-AB71-F3BDE88BB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 err="1"/>
              <a:t>scalar</a:t>
            </a:r>
            <a:r>
              <a:rPr lang="ko-KR" altLang="ko-KR" sz="2000" dirty="0"/>
              <a:t> * </a:t>
            </a:r>
            <a:r>
              <a:rPr lang="ko-KR" altLang="ko-KR" sz="2000" dirty="0" err="1"/>
              <a:t>vector는</a:t>
            </a:r>
            <a:r>
              <a:rPr lang="ko-KR" altLang="ko-KR" sz="2000" dirty="0"/>
              <a:t> 왼쪽 피연산자가 </a:t>
            </a:r>
            <a:r>
              <a:rPr lang="ko-KR" altLang="ko-KR" sz="2000" dirty="0" err="1"/>
              <a:t>float</a:t>
            </a:r>
            <a:endParaRPr lang="ko-KR" altLang="ko-KR" sz="2000" dirty="0"/>
          </a:p>
          <a:p>
            <a:pPr lvl="0"/>
            <a:r>
              <a:rPr lang="ko-KR" altLang="ko-KR" sz="2000" dirty="0"/>
              <a:t>Vector3의 멤버 함수로 구현할 수 없음</a:t>
            </a:r>
          </a:p>
          <a:p>
            <a:pPr lvl="0"/>
            <a:r>
              <a:rPr lang="ko-KR" altLang="ko-KR" sz="2000" dirty="0"/>
              <a:t>비 멤버 함수로 정의해야 함</a:t>
            </a:r>
          </a:p>
          <a:p>
            <a:pPr lvl="0"/>
            <a:r>
              <a:rPr lang="ko-KR" altLang="ko-KR" sz="2000" dirty="0"/>
              <a:t>공개 인터페이스만으로 구현 가능하면 </a:t>
            </a:r>
            <a:r>
              <a:rPr lang="ko-KR" altLang="ko-KR" sz="2000" dirty="0" err="1"/>
              <a:t>friend가</a:t>
            </a:r>
            <a:r>
              <a:rPr lang="ko-KR" altLang="ko-KR" sz="2000" dirty="0"/>
              <a:t> 필요하지 않음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AB9CE-6B1C-5915-96B2-2B8330036D24}"/>
              </a:ext>
            </a:extLst>
          </p:cNvPr>
          <p:cNvSpPr txBox="1"/>
          <p:nvPr/>
        </p:nvSpPr>
        <p:spPr>
          <a:xfrm>
            <a:off x="395536" y="2393385"/>
            <a:ext cx="5328394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*(Vector3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Vector3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32EC17-3D64-551A-C5B7-6D7FDD381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811216"/>
              </p:ext>
            </p:extLst>
          </p:nvPr>
        </p:nvGraphicFramePr>
        <p:xfrm>
          <a:off x="4067944" y="4221088"/>
          <a:ext cx="4833317" cy="2061080"/>
        </p:xfrm>
        <a:graphic>
          <a:graphicData uri="http://schemas.openxmlformats.org/drawingml/2006/table">
            <a:tbl>
              <a:tblPr/>
              <a:tblGrid>
                <a:gridCol w="2966986">
                  <a:extLst>
                    <a:ext uri="{9D8B030D-6E8A-4147-A177-3AD203B41FA5}">
                      <a16:colId xmlns:a16="http://schemas.microsoft.com/office/drawing/2014/main" val="2054736589"/>
                    </a:ext>
                  </a:extLst>
                </a:gridCol>
                <a:gridCol w="1866331">
                  <a:extLst>
                    <a:ext uri="{9D8B030D-6E8A-4147-A177-3AD203B41FA5}">
                      <a16:colId xmlns:a16="http://schemas.microsoft.com/office/drawing/2014/main" val="1167436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상황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선택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105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왼쪽 객체 직접 변경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함수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103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왼쪽 피연산자</a:t>
                      </a:r>
                      <a:r>
                        <a:rPr lang="en-US" alt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altLang="en-U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 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 타입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 멤버 함수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164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비공개 멤버 직접 접근 필요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제한적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friend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072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공개 함수로 구현 가능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비 멤버 함수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72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831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7EB6-18CC-F1B3-81DD-717F91588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FF4EB-3886-D591-5462-E9457B00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</a:t>
            </a:r>
            <a:r>
              <a:rPr lang="ko-KR" altLang="en-US" dirty="0"/>
              <a:t>복합 대입 연산자와 산술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0D85A-EB95-3CDC-1C08-FFFA54930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복합 대입 연산자를 먼저 구현</a:t>
            </a:r>
          </a:p>
          <a:p>
            <a:pPr lvl="0"/>
            <a:r>
              <a:rPr lang="ko-KR" altLang="ko-KR" sz="2400" dirty="0"/>
              <a:t>이항 산술 연산자가 복합 대입 연산자를 재사용</a:t>
            </a:r>
          </a:p>
          <a:p>
            <a:pPr lvl="0"/>
            <a:r>
              <a:rPr lang="ko-KR" altLang="ko-KR" sz="2400" dirty="0"/>
              <a:t>연산 규칙을 한곳에 모을 수 있음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C2815EC-C471-3454-821F-0EB609E2C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921951"/>
              </p:ext>
            </p:extLst>
          </p:nvPr>
        </p:nvGraphicFramePr>
        <p:xfrm>
          <a:off x="6128371" y="2924944"/>
          <a:ext cx="2544688" cy="2044800"/>
        </p:xfrm>
        <a:graphic>
          <a:graphicData uri="http://schemas.openxmlformats.org/drawingml/2006/table">
            <a:tbl>
              <a:tblPr/>
              <a:tblGrid>
                <a:gridCol w="2544688">
                  <a:extLst>
                    <a:ext uri="{9D8B030D-6E8A-4147-A177-3AD203B41FA5}">
                      <a16:colId xmlns:a16="http://schemas.microsoft.com/office/drawing/2014/main" val="1220138882"/>
                    </a:ext>
                  </a:extLst>
                </a:gridCol>
              </a:tblGrid>
              <a:tr h="1303387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A626A4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+= 구현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rgbClr val="A626A4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+에서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+= 재사용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덧셈 규칙 일관성 유지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108000" marT="108000" marB="108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371504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C72881-8ECF-47EF-ED7C-7BCF8BA26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3869"/>
              </p:ext>
            </p:extLst>
          </p:nvPr>
        </p:nvGraphicFramePr>
        <p:xfrm>
          <a:off x="381733" y="2564904"/>
          <a:ext cx="5472409" cy="2897704"/>
        </p:xfrm>
        <a:graphic>
          <a:graphicData uri="http://schemas.openxmlformats.org/drawingml/2006/table">
            <a:tbl>
              <a:tblPr/>
              <a:tblGrid>
                <a:gridCol w="978693">
                  <a:extLst>
                    <a:ext uri="{9D8B030D-6E8A-4147-A177-3AD203B41FA5}">
                      <a16:colId xmlns:a16="http://schemas.microsoft.com/office/drawing/2014/main" val="2589730109"/>
                    </a:ext>
                  </a:extLst>
                </a:gridCol>
                <a:gridCol w="2577684">
                  <a:extLst>
                    <a:ext uri="{9D8B030D-6E8A-4147-A177-3AD203B41FA5}">
                      <a16:colId xmlns:a16="http://schemas.microsoft.com/office/drawing/2014/main" val="3965330650"/>
                    </a:ext>
                  </a:extLst>
                </a:gridCol>
                <a:gridCol w="1916032">
                  <a:extLst>
                    <a:ext uri="{9D8B030D-6E8A-4147-A177-3AD203B41FA5}">
                      <a16:colId xmlns:a16="http://schemas.microsoft.com/office/drawing/2014/main" val="35624642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연산자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역할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반환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832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+=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현재 객체에 더함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현재 객체의 참조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958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-=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현재 객체에서 뺌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현재 객체의 참조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55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*=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현재 객체에 스칼라 반영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현재 객체의 참조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283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+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값을 만들어 반환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객체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49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값을 만들어 반환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객체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812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*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값을 만들어 반환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객체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109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783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2450-96A9-EE80-6E74-C061E21F1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D5D4F-CDB3-59B7-B91E-7D5887D9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6.3.1 </a:t>
            </a:r>
            <a:r>
              <a:rPr lang="ko-KR" altLang="en-US" dirty="0"/>
              <a:t>복합 대입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C9066-7CB4-188D-0906-B364D7B06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현재 객체를 변경</a:t>
            </a:r>
          </a:p>
          <a:p>
            <a:pPr lvl="0"/>
            <a:r>
              <a:rPr lang="ko-KR" altLang="ko-KR" sz="2400" dirty="0"/>
              <a:t>현재 객체의 참조 반환</a:t>
            </a:r>
          </a:p>
          <a:p>
            <a:pPr lvl="0"/>
            <a:r>
              <a:rPr lang="ko-KR" altLang="ko-KR" sz="2400" dirty="0"/>
              <a:t>기본형의 복합 대입 연산자와 같은 반환 규칙 제공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737FA-D0EB-F56A-E7BD-217866A1F8FB}"/>
              </a:ext>
            </a:extLst>
          </p:cNvPr>
          <p:cNvSpPr txBox="1"/>
          <p:nvPr/>
        </p:nvSpPr>
        <p:spPr>
          <a:xfrm>
            <a:off x="862806" y="2132856"/>
            <a:ext cx="4213250" cy="44012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Vector3&amp;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+=(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rhs)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Vector3&amp;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*=(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2DD85-6F28-2834-D191-915AA856BCF2}"/>
              </a:ext>
            </a:extLst>
          </p:cNvPr>
          <p:cNvSpPr txBox="1"/>
          <p:nvPr/>
        </p:nvSpPr>
        <p:spPr>
          <a:xfrm>
            <a:off x="5076056" y="3429000"/>
            <a:ext cx="2664296" cy="646331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2.0f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390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6682D-E0D5-9A31-D911-F8367E2D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8BF85-82C1-636E-8577-F99040D7B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6.3.1 </a:t>
            </a:r>
            <a:r>
              <a:rPr lang="ko-KR" altLang="en-US" dirty="0"/>
              <a:t>상태 규칙이 있는 복합 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D89BF-C447-3E8B-868B-09E8D9A39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연산자라고 해서 클래스의 상태 규칙을 우회하면 안 됨</a:t>
            </a:r>
          </a:p>
          <a:p>
            <a:pPr lvl="0"/>
            <a:r>
              <a:rPr lang="ko-KR" altLang="ko-KR" sz="2400" dirty="0"/>
              <a:t>객체의 유효한 상태를 유지해야 함</a:t>
            </a:r>
          </a:p>
          <a:p>
            <a:pPr lvl="0"/>
            <a:r>
              <a:rPr lang="ko-KR" altLang="ko-KR" sz="2400" dirty="0"/>
              <a:t>값의 범위, 단위, 의미를 검증해야 할 수 있음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6E3D6-04FA-9FEA-E131-6CB537B3FD36}"/>
              </a:ext>
            </a:extLst>
          </p:cNvPr>
          <p:cNvSpPr txBox="1"/>
          <p:nvPr/>
        </p:nvSpPr>
        <p:spPr>
          <a:xfrm>
            <a:off x="539750" y="2132856"/>
            <a:ext cx="3456186" cy="45243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78F094D-52B2-BD30-455F-D87813ED2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676247"/>
              </p:ext>
            </p:extLst>
          </p:nvPr>
        </p:nvGraphicFramePr>
        <p:xfrm>
          <a:off x="4139952" y="3573016"/>
          <a:ext cx="4248472" cy="2304254"/>
        </p:xfrm>
        <a:graphic>
          <a:graphicData uri="http://schemas.openxmlformats.org/drawingml/2006/table">
            <a:tbl>
              <a:tblPr/>
              <a:tblGrid>
                <a:gridCol w="1229461">
                  <a:extLst>
                    <a:ext uri="{9D8B030D-6E8A-4147-A177-3AD203B41FA5}">
                      <a16:colId xmlns:a16="http://schemas.microsoft.com/office/drawing/2014/main" val="199440741"/>
                    </a:ext>
                  </a:extLst>
                </a:gridCol>
                <a:gridCol w="3019011">
                  <a:extLst>
                    <a:ext uri="{9D8B030D-6E8A-4147-A177-3AD203B41FA5}">
                      <a16:colId xmlns:a16="http://schemas.microsoft.com/office/drawing/2014/main" val="3285763125"/>
                    </a:ext>
                  </a:extLst>
                </a:gridCol>
              </a:tblGrid>
              <a:tr h="43359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검증이 필요한 예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125064"/>
                  </a:ext>
                </a:extLst>
              </a:tr>
              <a:tr h="467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분수</a:t>
                      </a:r>
                      <a:endParaRPr lang="ko-KR" sz="32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분모가 0이 되지 않아야 함</a:t>
                      </a:r>
                      <a:endParaRPr lang="ko-KR" sz="3200" dirty="0">
                        <a:solidFill>
                          <a:srgbClr val="C1840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561888"/>
                  </a:ext>
                </a:extLst>
              </a:tr>
              <a:tr h="467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크기</a:t>
                      </a:r>
                      <a:endParaRPr lang="ko-KR" sz="32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음수가 되지 않아야 함</a:t>
                      </a:r>
                      <a:endParaRPr lang="ko-KR" sz="3200" dirty="0">
                        <a:solidFill>
                          <a:srgbClr val="C1840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264356"/>
                  </a:ext>
                </a:extLst>
              </a:tr>
              <a:tr h="467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체력</a:t>
                      </a:r>
                      <a:endParaRPr lang="ko-KR" sz="32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0보다 작아지지 않아야 함</a:t>
                      </a:r>
                      <a:endParaRPr lang="ko-KR" sz="3200" dirty="0">
                        <a:solidFill>
                          <a:srgbClr val="C1840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594655"/>
                  </a:ext>
                </a:extLst>
              </a:tr>
              <a:tr h="4676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C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자원 수량</a:t>
                      </a:r>
                      <a:endParaRPr lang="ko-KR" sz="3200" dirty="0">
                        <a:solidFill>
                          <a:srgbClr val="CC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최대 보유량을 넘지 않아야 함</a:t>
                      </a:r>
                      <a:endParaRPr lang="ko-KR" sz="3200" dirty="0">
                        <a:solidFill>
                          <a:srgbClr val="C1840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028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577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36E2E-7843-5D9C-E591-B58D721E3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77352-4407-9BD3-5E5A-79A8DC9A1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6.3.2 </a:t>
            </a:r>
            <a:r>
              <a:rPr lang="ko-KR" altLang="en-US" dirty="0"/>
              <a:t>이항 산술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E50BA-4305-2FB8-D69F-FBD1766D4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왼쪽 피연산자를 값으로 받아 복사본 생성</a:t>
            </a:r>
          </a:p>
          <a:p>
            <a:pPr lvl="0"/>
            <a:r>
              <a:rPr lang="ko-KR" altLang="ko-KR" dirty="0"/>
              <a:t>복사본에 복합 대입 연산 적용</a:t>
            </a:r>
          </a:p>
          <a:p>
            <a:pPr lvl="0"/>
            <a:r>
              <a:rPr lang="ko-KR" altLang="ko-KR" dirty="0"/>
              <a:t>복사본을 반환하여 원본 피연산자 유지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487A7-5A21-8B18-2C6C-A6BEDDFA08A7}"/>
              </a:ext>
            </a:extLst>
          </p:cNvPr>
          <p:cNvSpPr txBox="1"/>
          <p:nvPr/>
        </p:nvSpPr>
        <p:spPr>
          <a:xfrm>
            <a:off x="389856" y="2333685"/>
            <a:ext cx="5550296" cy="37856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+(Vector3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-(Vector3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*(Vector3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EDA66-FE05-C3F6-BA03-D3B6836CB4C9}"/>
              </a:ext>
            </a:extLst>
          </p:cNvPr>
          <p:cNvSpPr txBox="1"/>
          <p:nvPr/>
        </p:nvSpPr>
        <p:spPr>
          <a:xfrm>
            <a:off x="5077544" y="4077072"/>
            <a:ext cx="3744416" cy="64633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scaled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2.0f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CB16AA-1FC7-9671-CEC3-1476377B5312}"/>
              </a:ext>
            </a:extLst>
          </p:cNvPr>
          <p:cNvSpPr txBox="1"/>
          <p:nvPr/>
        </p:nvSpPr>
        <p:spPr>
          <a:xfrm>
            <a:off x="4639816" y="5480774"/>
            <a:ext cx="4182144" cy="83099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SzPct val="97000"/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왼쪽 피연산자가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lvalue이면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복사 발생 가능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임시 객체이면 이동 활용 가능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반환 과정에서는 복사 생략이나 이동 적용 가능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5958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17EE0-A72F-FA10-5DAF-599B1B948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F66F6-8DB3-11AB-1DEB-89DFB3E8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6.3.2 </a:t>
            </a:r>
            <a:r>
              <a:rPr lang="ko-KR" altLang="en-US" dirty="0"/>
              <a:t>피연산자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AF487-C122-FDBA-5F9C-E7D65ED8A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한쪽 순서의 연산자를 정의했다고 반대 순서를 자동 생성하지 않음</a:t>
            </a:r>
          </a:p>
          <a:p>
            <a:pPr lvl="0"/>
            <a:r>
              <a:rPr lang="ko-KR" altLang="ko-KR" sz="2400" dirty="0"/>
              <a:t>교환 법칙이 성립하는 연산이라면 반대 순서 함수를 별도 제공</a:t>
            </a:r>
          </a:p>
          <a:p>
            <a:pPr lvl="0"/>
            <a:r>
              <a:rPr lang="ko-KR" altLang="ko-KR" sz="2400" dirty="0"/>
              <a:t>교환 법칙이 성립하지 않는 연산은 피연산자 순서를 바꾸면 안 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DB884-DFDC-A810-6F19-EEDE170F02F7}"/>
              </a:ext>
            </a:extLst>
          </p:cNvPr>
          <p:cNvSpPr txBox="1"/>
          <p:nvPr/>
        </p:nvSpPr>
        <p:spPr>
          <a:xfrm>
            <a:off x="251520" y="2389386"/>
            <a:ext cx="5400402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Vector3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Matrix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52170B2-532C-90A9-928B-85AE73B0D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2605"/>
              </p:ext>
            </p:extLst>
          </p:nvPr>
        </p:nvGraphicFramePr>
        <p:xfrm>
          <a:off x="3923928" y="4074290"/>
          <a:ext cx="5112568" cy="2183000"/>
        </p:xfrm>
        <a:graphic>
          <a:graphicData uri="http://schemas.openxmlformats.org/drawingml/2006/table">
            <a:tbl>
              <a:tblPr/>
              <a:tblGrid>
                <a:gridCol w="2084009">
                  <a:extLst>
                    <a:ext uri="{9D8B030D-6E8A-4147-A177-3AD203B41FA5}">
                      <a16:colId xmlns:a16="http://schemas.microsoft.com/office/drawing/2014/main" val="4027739504"/>
                    </a:ext>
                  </a:extLst>
                </a:gridCol>
                <a:gridCol w="3028559">
                  <a:extLst>
                    <a:ext uri="{9D8B030D-6E8A-4147-A177-3AD203B41FA5}">
                      <a16:colId xmlns:a16="http://schemas.microsoft.com/office/drawing/2014/main" val="37004926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연산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순서 교환 가능성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355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벡터와 스칼라 곱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504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행렬 곱셈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불가능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304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문자열 연결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순서 의미 있음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91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날짜와 기간 덧셈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설계에 따라 결정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225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665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9D6FD-B92C-6F13-8D0B-61C2CE975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26D74-7D36-DF5E-2209-AF15EAF9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6.3.3 </a:t>
            </a:r>
            <a:r>
              <a:rPr lang="ko-KR" altLang="en-US" dirty="0" err="1"/>
              <a:t>단항</a:t>
            </a:r>
            <a:r>
              <a:rPr lang="ko-KR" altLang="en-US" dirty="0"/>
              <a:t>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D3A0C-131D-A984-AB08-223229F5C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단항</a:t>
            </a:r>
            <a:r>
              <a:rPr lang="ko-KR" altLang="ko-KR" sz="2400" dirty="0"/>
              <a:t> 연산자는 하나의 피연산자에 적용</a:t>
            </a:r>
          </a:p>
          <a:p>
            <a:pPr lvl="0"/>
            <a:r>
              <a:rPr lang="ko-KR" altLang="ko-KR" sz="2400" dirty="0"/>
              <a:t>현재 객체를 변경하지 않는다면 상수 멤버 함수</a:t>
            </a:r>
          </a:p>
          <a:p>
            <a:pPr lvl="0"/>
            <a:r>
              <a:rPr lang="ko-KR" altLang="ko-KR" sz="2400" dirty="0"/>
              <a:t>새로운 값을 반환하는 형태가 자연스러움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03759-631D-3E40-9665-F9F1EBF3431E}"/>
              </a:ext>
            </a:extLst>
          </p:cNvPr>
          <p:cNvSpPr txBox="1"/>
          <p:nvPr/>
        </p:nvSpPr>
        <p:spPr>
          <a:xfrm>
            <a:off x="395536" y="2351667"/>
            <a:ext cx="3528194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Vector3(-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-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-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B1FC5-7D4E-F7D2-9C2E-19375885D6B4}"/>
              </a:ext>
            </a:extLst>
          </p:cNvPr>
          <p:cNvSpPr txBox="1"/>
          <p:nvPr/>
        </p:nvSpPr>
        <p:spPr>
          <a:xfrm>
            <a:off x="3707706" y="4070641"/>
            <a:ext cx="2952328" cy="58477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reversed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-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copied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B3A5A0-1933-A1AA-D97E-5B644268F09B}"/>
              </a:ext>
            </a:extLst>
          </p:cNvPr>
          <p:cNvSpPr txBox="1"/>
          <p:nvPr/>
        </p:nvSpPr>
        <p:spPr>
          <a:xfrm>
            <a:off x="3701604" y="5232102"/>
            <a:ext cx="5190876" cy="1077218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단항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+의 의미가 필요하지 않다면 제공하지 않음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논리 부정 !은 상태의 반대 의미가 자연스러울 때만 사용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유효성 확인에는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()이</a:t>
            </a:r>
            <a:b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더 자연스러울 수 있음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231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5882-2741-FFCB-A687-153A770B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E781C-D369-1055-9EA8-82B3EA79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6.3.4 </a:t>
            </a:r>
            <a:r>
              <a:rPr lang="ko-KR" altLang="en-US" dirty="0"/>
              <a:t>증가와 감소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7F5CE-F054-B81F-73C0-FF51859B6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전위형과 후위형을 구분</a:t>
            </a:r>
          </a:p>
          <a:p>
            <a:pPr lvl="0"/>
            <a:r>
              <a:rPr lang="ko-KR" altLang="ko-KR" sz="2400" dirty="0"/>
              <a:t>전위형은 매개변수 없음</a:t>
            </a:r>
          </a:p>
          <a:p>
            <a:pPr lvl="0"/>
            <a:r>
              <a:rPr lang="ko-KR" altLang="ko-KR" sz="2400" dirty="0"/>
              <a:t>후위형은 구분용 </a:t>
            </a:r>
            <a:r>
              <a:rPr lang="ko-KR" altLang="ko-KR" sz="2400" dirty="0" err="1"/>
              <a:t>int</a:t>
            </a:r>
            <a:r>
              <a:rPr lang="ko-KR" altLang="ko-KR" sz="2400" dirty="0"/>
              <a:t> 매개변수 사용</a:t>
            </a:r>
          </a:p>
          <a:p>
            <a:pPr lvl="0"/>
            <a:r>
              <a:rPr lang="ko-KR" altLang="ko-KR" sz="2400" dirty="0"/>
              <a:t>후위형은 증가 전 값 반환</a:t>
            </a:r>
            <a:r>
              <a:rPr lang="en-US" altLang="ko-KR" sz="2400" dirty="0"/>
              <a:t>, </a:t>
            </a:r>
            <a:r>
              <a:rPr lang="ko-KR" altLang="ko-KR" sz="2400" dirty="0"/>
              <a:t>복사 비용이 추가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01CAF-2201-FC19-8FF9-115DF04FFDFA}"/>
              </a:ext>
            </a:extLst>
          </p:cNvPr>
          <p:cNvSpPr txBox="1"/>
          <p:nvPr/>
        </p:nvSpPr>
        <p:spPr>
          <a:xfrm>
            <a:off x="467544" y="2535456"/>
            <a:ext cx="3528392" cy="427809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++()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++(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previous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*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++(*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previous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0C189EC-79C8-7F3A-48CF-CFD19BF07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425523"/>
              </p:ext>
            </p:extLst>
          </p:nvPr>
        </p:nvGraphicFramePr>
        <p:xfrm>
          <a:off x="3598889" y="3717032"/>
          <a:ext cx="5365599" cy="2061080"/>
        </p:xfrm>
        <a:graphic>
          <a:graphicData uri="http://schemas.openxmlformats.org/drawingml/2006/table">
            <a:tbl>
              <a:tblPr/>
              <a:tblGrid>
                <a:gridCol w="1045119">
                  <a:extLst>
                    <a:ext uri="{9D8B030D-6E8A-4147-A177-3AD203B41FA5}">
                      <a16:colId xmlns:a16="http://schemas.microsoft.com/office/drawing/2014/main" val="2024379262"/>
                    </a:ext>
                  </a:extLst>
                </a:gridCol>
                <a:gridCol w="1992482">
                  <a:extLst>
                    <a:ext uri="{9D8B030D-6E8A-4147-A177-3AD203B41FA5}">
                      <a16:colId xmlns:a16="http://schemas.microsoft.com/office/drawing/2014/main" val="911787229"/>
                    </a:ext>
                  </a:extLst>
                </a:gridCol>
                <a:gridCol w="2327998">
                  <a:extLst>
                    <a:ext uri="{9D8B030D-6E8A-4147-A177-3AD203B41FA5}">
                      <a16:colId xmlns:a16="http://schemas.microsoft.com/office/drawing/2014/main" val="250902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선언</a:t>
                      </a:r>
                      <a:endParaRPr lang="ko-KR" sz="2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반환값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038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전위 증가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&amp;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++()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증가된 현재 객체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후위 증가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++(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증가하기 전 값 복사본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13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전위 감소</a:t>
                      </a:r>
                      <a:endParaRPr lang="ko-KR" sz="3200" b="1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&amp;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--()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감소된 현재 객체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878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후위 감소</a:t>
                      </a:r>
                      <a:endParaRPr lang="ko-KR" sz="3200" b="1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operator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--(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감소하기 전 값 복사본</a:t>
                      </a:r>
                      <a:endParaRPr lang="ko-KR" sz="32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897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303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8D3AD-A6E0-0AA7-C5B7-A29835DF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D2B0C-368A-DC92-C1DA-6B12EE72B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 </a:t>
            </a:r>
            <a:r>
              <a:rPr lang="ko-KR" altLang="en-US" dirty="0"/>
              <a:t>비교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A67B4-4B1F-82C7-C2CE-F5063798F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객체의 값 동일성과 순서를 표현</a:t>
            </a:r>
          </a:p>
          <a:p>
            <a:pPr lvl="0"/>
            <a:r>
              <a:rPr lang="ko-KR" altLang="ko-KR" sz="2400" dirty="0"/>
              <a:t>어떤 상태를 비교에 포함할지는 타입의 의미에 따라 결정</a:t>
            </a:r>
          </a:p>
          <a:p>
            <a:pPr lvl="0"/>
            <a:r>
              <a:rPr lang="ko-KR" altLang="ko-KR" sz="2400" dirty="0"/>
              <a:t>비교 과정에서 객체를 변경하지 않아야 함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47889-1EAD-F93C-FE63-963DB44F0DC7}"/>
              </a:ext>
            </a:extLst>
          </p:cNvPr>
          <p:cNvSpPr txBox="1"/>
          <p:nvPr/>
        </p:nvSpPr>
        <p:spPr>
          <a:xfrm>
            <a:off x="395536" y="2276872"/>
            <a:ext cx="4464496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rhs)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60C166C-938A-6AE0-C862-BA9DD34A7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028128"/>
              </p:ext>
            </p:extLst>
          </p:nvPr>
        </p:nvGraphicFramePr>
        <p:xfrm>
          <a:off x="4540697" y="4221088"/>
          <a:ext cx="4207767" cy="2061080"/>
        </p:xfrm>
        <a:graphic>
          <a:graphicData uri="http://schemas.openxmlformats.org/drawingml/2006/table">
            <a:tbl>
              <a:tblPr/>
              <a:tblGrid>
                <a:gridCol w="2047527">
                  <a:extLst>
                    <a:ext uri="{9D8B030D-6E8A-4147-A177-3AD203B41FA5}">
                      <a16:colId xmlns:a16="http://schemas.microsoft.com/office/drawing/2014/main" val="1500790599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5525522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비교 기준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적합한 표현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030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값의 동등성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==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376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동등성 기준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이름이 있는 함수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47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자연스러운 순서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&lt;, &lt;=&gt;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4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기준이 불명확한 순서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별도 비교 함수 객체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248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170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33848-0261-3F7D-0C4B-9FA617770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9D907-BB0C-9521-65C1-7A0EF67D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6.4.1 </a:t>
            </a:r>
            <a:r>
              <a:rPr lang="ko-KR" altLang="en-US" dirty="0"/>
              <a:t>동등 비교와 근사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14E65-E181-0A75-3C76-27F22A3F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==는 객체의 메모리 표현 비교가 아님</a:t>
            </a:r>
          </a:p>
          <a:p>
            <a:pPr lvl="0"/>
            <a:r>
              <a:rPr lang="ko-KR" altLang="ko-KR" dirty="0"/>
              <a:t>객체가 나타내는 의미가 같은지를 비교</a:t>
            </a:r>
          </a:p>
          <a:p>
            <a:pPr lvl="0"/>
            <a:r>
              <a:rPr lang="ko-KR" altLang="ko-KR" dirty="0"/>
              <a:t>부동소수점 값은 정확한 동등 비교 </a:t>
            </a:r>
            <a:r>
              <a:rPr lang="ko-KR" altLang="en-US" dirty="0"/>
              <a:t>부 </a:t>
            </a:r>
            <a:r>
              <a:rPr lang="ko-KR" altLang="ko-KR" dirty="0"/>
              <a:t>적합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  <a:endParaRPr lang="ko-KR" altLang="ko-KR" dirty="0"/>
          </a:p>
          <a:p>
            <a:pPr lvl="0"/>
            <a:r>
              <a:rPr lang="ko-KR" altLang="ko-KR" dirty="0"/>
              <a:t>근사 비교는 이름이 있는 함수가 명확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E07FA-FF1D-56CC-C47D-4639BC217EE1}"/>
              </a:ext>
            </a:extLst>
          </p:cNvPr>
          <p:cNvSpPr txBox="1"/>
          <p:nvPr/>
        </p:nvSpPr>
        <p:spPr>
          <a:xfrm>
            <a:off x="539750" y="3068960"/>
            <a:ext cx="7200800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NearlyEquals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rhs,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epsilon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fabs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epsilon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&amp;&amp;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fabs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epsilon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&amp;&amp;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fabs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epsilon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exact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nearly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first.NearlyEquals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0.0001f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5D59681-BBB1-3CD1-0493-73AC152DD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73188"/>
              </p:ext>
            </p:extLst>
          </p:nvPr>
        </p:nvGraphicFramePr>
        <p:xfrm>
          <a:off x="2195736" y="5227779"/>
          <a:ext cx="4446494" cy="1193976"/>
        </p:xfrm>
        <a:graphic>
          <a:graphicData uri="http://schemas.openxmlformats.org/drawingml/2006/table">
            <a:tbl>
              <a:tblPr/>
              <a:tblGrid>
                <a:gridCol w="1800200">
                  <a:extLst>
                    <a:ext uri="{9D8B030D-6E8A-4147-A177-3AD203B41FA5}">
                      <a16:colId xmlns:a16="http://schemas.microsoft.com/office/drawing/2014/main" val="1981224026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2972786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비교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75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==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정확한 값 비교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037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NearlyEquals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허용 오차 기반 근사 비교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718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989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5C685-297E-4376-4B82-BE41980A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DE4B5-3CD1-EA51-B5F0-CEA8A8C0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6.4.2 </a:t>
            </a:r>
            <a:r>
              <a:rPr lang="ko-KR" altLang="en-US" dirty="0"/>
              <a:t>순서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36FC68-F023-D274-BF15-B3423146E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값 사이에 자연스러운 순서가 있으면 순서 비교 제공</a:t>
            </a:r>
          </a:p>
          <a:p>
            <a:pPr lvl="0"/>
            <a:r>
              <a:rPr lang="ko-KR" altLang="ko-KR" sz="2400" dirty="0"/>
              <a:t>버전 정보는 주 버전, 부 버전, 패치 버전을 차례로 비교 가능</a:t>
            </a:r>
          </a:p>
          <a:p>
            <a:pPr lvl="0"/>
            <a:r>
              <a:rPr lang="ko-KR" altLang="ko-KR" sz="2400" dirty="0"/>
              <a:t>비교 함수는 일관된 순서를 제공해야 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66481-81EB-C0C2-8561-2FAAA47B1016}"/>
              </a:ext>
            </a:extLst>
          </p:cNvPr>
          <p:cNvSpPr txBox="1"/>
          <p:nvPr/>
        </p:nvSpPr>
        <p:spPr>
          <a:xfrm>
            <a:off x="539552" y="2277447"/>
            <a:ext cx="4572000" cy="403187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major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rhs)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major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rhs.major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major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rhs.major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rhs.minor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rhs.minor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rhs.patch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ED5C3-0E63-D9CA-BFB5-B8856FFA2860}"/>
              </a:ext>
            </a:extLst>
          </p:cNvPr>
          <p:cNvSpPr txBox="1"/>
          <p:nvPr/>
        </p:nvSpPr>
        <p:spPr>
          <a:xfrm>
            <a:off x="5111552" y="3901955"/>
            <a:ext cx="3168352" cy="1077218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older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3806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2855C-15BF-DF3A-EB14-8811A951D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36E7B-740D-6105-ED2B-CC0D5604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6.4.2 </a:t>
            </a:r>
            <a:r>
              <a:rPr lang="ko-KR" altLang="en-US" dirty="0"/>
              <a:t>일관된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C13048-E681-E42D-625C-B0C9676CB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객체가 자기 자신보다 작다고 판단하지 않음</a:t>
            </a:r>
          </a:p>
          <a:p>
            <a:pPr lvl="0"/>
            <a:r>
              <a:rPr lang="ko-KR" altLang="ko-KR" sz="2400" dirty="0" err="1"/>
              <a:t>a</a:t>
            </a:r>
            <a:r>
              <a:rPr lang="ko-KR" altLang="ko-KR" sz="2400" dirty="0"/>
              <a:t> &lt; </a:t>
            </a:r>
            <a:r>
              <a:rPr lang="ko-KR" altLang="ko-KR" sz="2400" dirty="0" err="1"/>
              <a:t>b와</a:t>
            </a:r>
            <a:r>
              <a:rPr lang="ko-KR" altLang="ko-KR" sz="2400" dirty="0"/>
              <a:t> </a:t>
            </a:r>
            <a:r>
              <a:rPr lang="ko-KR" altLang="ko-KR" sz="2400" dirty="0" err="1"/>
              <a:t>b</a:t>
            </a:r>
            <a:r>
              <a:rPr lang="ko-KR" altLang="ko-KR" sz="2400" dirty="0"/>
              <a:t> &lt; </a:t>
            </a:r>
            <a:r>
              <a:rPr lang="ko-KR" altLang="ko-KR" sz="2400" dirty="0" err="1"/>
              <a:t>a가</a:t>
            </a:r>
            <a:r>
              <a:rPr lang="ko-KR" altLang="ko-KR" sz="2400" dirty="0"/>
              <a:t> 동시에 참이 되지 않음</a:t>
            </a:r>
          </a:p>
          <a:p>
            <a:pPr lvl="0"/>
            <a:r>
              <a:rPr lang="ko-KR" altLang="ko-KR" sz="2400" dirty="0" err="1"/>
              <a:t>a</a:t>
            </a:r>
            <a:r>
              <a:rPr lang="ko-KR" altLang="ko-KR" sz="2400" dirty="0"/>
              <a:t> &lt; </a:t>
            </a:r>
            <a:r>
              <a:rPr lang="ko-KR" altLang="ko-KR" sz="2400" dirty="0" err="1"/>
              <a:t>b이고</a:t>
            </a:r>
            <a:r>
              <a:rPr lang="ko-KR" altLang="ko-KR" sz="2400" dirty="0"/>
              <a:t> </a:t>
            </a:r>
            <a:r>
              <a:rPr lang="ko-KR" altLang="ko-KR" sz="2400" dirty="0" err="1"/>
              <a:t>b</a:t>
            </a:r>
            <a:r>
              <a:rPr lang="ko-KR" altLang="ko-KR" sz="2400" dirty="0"/>
              <a:t> &lt; c이면 </a:t>
            </a:r>
            <a:r>
              <a:rPr lang="ko-KR" altLang="ko-KR" sz="2400" dirty="0" err="1"/>
              <a:t>a</a:t>
            </a:r>
            <a:r>
              <a:rPr lang="ko-KR" altLang="ko-KR" sz="2400" dirty="0"/>
              <a:t> &lt; </a:t>
            </a:r>
            <a:r>
              <a:rPr lang="ko-KR" altLang="ko-KR" sz="2400" dirty="0" err="1"/>
              <a:t>c가</a:t>
            </a:r>
            <a:r>
              <a:rPr lang="ko-KR" altLang="ko-KR" sz="2400" dirty="0"/>
              <a:t> 성립</a:t>
            </a:r>
          </a:p>
          <a:p>
            <a:pPr lvl="0"/>
            <a:r>
              <a:rPr lang="ko-KR" altLang="ko-KR" sz="2400" dirty="0"/>
              <a:t>동등한 값에 대해 비교 결과가 일관됨</a:t>
            </a:r>
          </a:p>
          <a:p>
            <a:pPr lvl="0"/>
            <a:r>
              <a:rPr lang="ko-KR" altLang="ko-KR" sz="2400" dirty="0"/>
              <a:t>여러 기준 에서는 "&lt;" 대신 이름 있는 비교 기준, 함수 객체가 명확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827D-DDE1-2C4A-6E8C-54E2F809BFC6}"/>
              </a:ext>
            </a:extLst>
          </p:cNvPr>
          <p:cNvSpPr txBox="1"/>
          <p:nvPr/>
        </p:nvSpPr>
        <p:spPr>
          <a:xfrm>
            <a:off x="539750" y="3139027"/>
            <a:ext cx="7704658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CompareVectorByLength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321A027-46E0-F666-03D8-C36C1F35B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652026"/>
              </p:ext>
            </p:extLst>
          </p:nvPr>
        </p:nvGraphicFramePr>
        <p:xfrm>
          <a:off x="1799791" y="4392631"/>
          <a:ext cx="5184575" cy="2061080"/>
        </p:xfrm>
        <a:graphic>
          <a:graphicData uri="http://schemas.openxmlformats.org/drawingml/2006/table">
            <a:tbl>
              <a:tblPr/>
              <a:tblGrid>
                <a:gridCol w="1365088">
                  <a:extLst>
                    <a:ext uri="{9D8B030D-6E8A-4147-A177-3AD203B41FA5}">
                      <a16:colId xmlns:a16="http://schemas.microsoft.com/office/drawing/2014/main" val="2202007973"/>
                    </a:ext>
                  </a:extLst>
                </a:gridCol>
                <a:gridCol w="3819487">
                  <a:extLst>
                    <a:ext uri="{9D8B030D-6E8A-4147-A177-3AD203B41FA5}">
                      <a16:colId xmlns:a16="http://schemas.microsoft.com/office/drawing/2014/main" val="3702417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순서 비교 제공 여부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053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버전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자연스러운 순서가 있음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421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날짜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자연스러운 순서가 있음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98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좌표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기준에 따라 달라짐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81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3차원 벡터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길이, </a:t>
                      </a: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x좌표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사전식 등 기준이 여러 개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059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044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BD808-E4C1-2BD1-2360-DF6488C4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58461-40AE-AE99-1634-D29B9D365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6.4.3 </a:t>
            </a:r>
            <a:r>
              <a:rPr lang="ko-KR" altLang="en-US" dirty="0" err="1"/>
              <a:t>삼방향</a:t>
            </a:r>
            <a:r>
              <a:rPr lang="ko-KR" altLang="en-US" dirty="0"/>
              <a:t> 비교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2EE5F9-F91F-01FF-CBE2-5C1B7567C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C++20의 &lt;=&gt;는 두 값을 한 번 비교하여 작음, 같음, 큼을 표현</a:t>
            </a:r>
          </a:p>
          <a:p>
            <a:pPr lvl="0"/>
            <a:r>
              <a:rPr lang="ko-KR" altLang="ko-KR" sz="2400" dirty="0"/>
              <a:t>컴파일러는 &lt;=&gt;</a:t>
            </a:r>
            <a:r>
              <a:rPr lang="ko-KR" altLang="ko-KR" sz="2400" dirty="0" err="1"/>
              <a:t>를</a:t>
            </a:r>
            <a:r>
              <a:rPr lang="ko-KR" altLang="ko-KR" sz="2400" dirty="0"/>
              <a:t> 이용해 &lt;, &lt;=, &gt;, &gt;= 표현을 처리 가능</a:t>
            </a:r>
          </a:p>
          <a:p>
            <a:pPr lvl="0"/>
            <a:r>
              <a:rPr lang="ko-KR" altLang="ko-KR" sz="2400" dirty="0"/>
              <a:t>비교 결과는 0과 비교 가능</a:t>
            </a:r>
          </a:p>
          <a:p>
            <a:pPr lvl="0"/>
            <a:r>
              <a:rPr lang="ko-KR" altLang="ko-KR" sz="2400" dirty="0"/>
              <a:t>부동소수점형은 NaN 때문에 부분 순서를 가짐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5A927-483B-D46B-0656-3B4F34E061E1}"/>
              </a:ext>
            </a:extLst>
          </p:cNvPr>
          <p:cNvSpPr txBox="1"/>
          <p:nvPr/>
        </p:nvSpPr>
        <p:spPr>
          <a:xfrm>
            <a:off x="809631" y="2581173"/>
            <a:ext cx="7524737" cy="39434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</a:pPr>
            <a:r>
              <a:rPr lang="ko-KR" altLang="ko-KR" sz="1600" b="1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compare</a:t>
            </a:r>
            <a:r>
              <a:rPr lang="ko-KR" altLang="ko-KR" sz="16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major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patch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strong_ordering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&lt;=&gt; 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rhs)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major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rhs.major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major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&lt;=&gt;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rhs.major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rhs.minor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&lt;=&gt;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rhs.minor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patch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&lt;=&gt;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rhs.patch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==(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rhs)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3311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C265E-0285-9441-96D2-5A4F17C5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67AF0-31AC-CA82-85EC-29E261111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6.4.3 </a:t>
            </a:r>
            <a:r>
              <a:rPr lang="ko-KR" altLang="en-US" dirty="0"/>
              <a:t>비교 범주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E2696B4-1E42-BB73-6EA3-E6840014C7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9100150"/>
              </p:ext>
            </p:extLst>
          </p:nvPr>
        </p:nvGraphicFramePr>
        <p:xfrm>
          <a:off x="365472" y="908720"/>
          <a:ext cx="8413055" cy="2648608"/>
        </p:xfrm>
        <a:graphic>
          <a:graphicData uri="http://schemas.openxmlformats.org/drawingml/2006/table">
            <a:tbl>
              <a:tblPr/>
              <a:tblGrid>
                <a:gridCol w="2808312">
                  <a:extLst>
                    <a:ext uri="{9D8B030D-6E8A-4147-A177-3AD203B41FA5}">
                      <a16:colId xmlns:a16="http://schemas.microsoft.com/office/drawing/2014/main" val="3247578918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3119183673"/>
                    </a:ext>
                  </a:extLst>
                </a:gridCol>
                <a:gridCol w="2292375">
                  <a:extLst>
                    <a:ext uri="{9D8B030D-6E8A-4147-A177-3AD203B41FA5}">
                      <a16:colId xmlns:a16="http://schemas.microsoft.com/office/drawing/2014/main" val="738244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비교 범주</a:t>
                      </a:r>
                      <a:endParaRPr lang="ko-KR" sz="28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8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대표 사례</a:t>
                      </a:r>
                      <a:endParaRPr lang="ko-KR" sz="28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6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spc="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spc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spc="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strong_ordering</a:t>
                      </a:r>
                      <a:endParaRPr lang="ko-KR" sz="3600" spc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동등성과 순서가 </a:t>
                      </a:r>
                      <a:br>
                        <a:rPr lang="en-US" alt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완전하게 일치</a:t>
                      </a:r>
                      <a:endParaRPr lang="ko-KR" sz="36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spc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정수, 버전 번호</a:t>
                      </a:r>
                      <a:endParaRPr lang="ko-KR" sz="3600" spc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81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spc="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spc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spc="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weak_ordering</a:t>
                      </a:r>
                      <a:endParaRPr lang="ko-KR" sz="3600" spc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순서는 있지만 서로 다른 값이</a:t>
                      </a:r>
                      <a:br>
                        <a:rPr lang="en-US" alt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동등한 순서로 취급될 수 있음</a:t>
                      </a:r>
                      <a:endParaRPr lang="ko-KR" sz="36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대소문자 무시</a:t>
                      </a:r>
                      <a:br>
                        <a:rPr lang="en-US" alt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문자열 비교</a:t>
                      </a:r>
                      <a:endParaRPr lang="ko-KR" sz="36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282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spc="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spc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spc="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partial_ordering</a:t>
                      </a:r>
                      <a:endParaRPr lang="ko-KR" sz="3600" spc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비교할 수 없는 값이</a:t>
                      </a:r>
                      <a:br>
                        <a:rPr lang="en-US" alt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존재할 수 있음</a:t>
                      </a:r>
                      <a:endParaRPr lang="ko-KR" sz="36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NaN을</a:t>
                      </a:r>
                      <a:r>
                        <a:rPr 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포함하는</a:t>
                      </a:r>
                      <a:br>
                        <a:rPr lang="en-US" alt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부동소수점 비교</a:t>
                      </a:r>
                      <a:endParaRPr lang="ko-KR" sz="36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6090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6859A5-0452-D6B6-4028-7BC0E9CAA9CF}"/>
              </a:ext>
            </a:extLst>
          </p:cNvPr>
          <p:cNvSpPr txBox="1"/>
          <p:nvPr/>
        </p:nvSpPr>
        <p:spPr>
          <a:xfrm>
            <a:off x="1013544" y="4061390"/>
            <a:ext cx="3558456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&lt;=&gt;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first가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이전 버전\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DCE8CB-0F99-793A-9EBD-B94E35CED14A}"/>
              </a:ext>
            </a:extLst>
          </p:cNvPr>
          <p:cNvSpPr txBox="1"/>
          <p:nvPr/>
        </p:nvSpPr>
        <p:spPr>
          <a:xfrm>
            <a:off x="4572000" y="4747449"/>
            <a:ext cx="3240360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older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8285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36D94-5AB5-5F20-2678-961833AC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3398B-80FB-45FB-E9AE-07FE61A0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6.4.4 </a:t>
            </a:r>
            <a:r>
              <a:rPr lang="ko-KR" altLang="en-US" dirty="0"/>
              <a:t>기본 비교 연산자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A7B64C-62B1-07C8-3D0F-3E32D318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spc="-150" dirty="0"/>
              <a:t>모든 멤버를 선언 순서대로 비교해도 타입 의미와 일치하면 기본 생성 가능</a:t>
            </a:r>
          </a:p>
          <a:p>
            <a:pPr lvl="0"/>
            <a:r>
              <a:rPr lang="ko-KR" altLang="ko-KR" sz="2400" spc="-150" dirty="0"/>
              <a:t>반복되는 비교 코드를 줄일 수 있음</a:t>
            </a:r>
          </a:p>
          <a:p>
            <a:pPr lvl="0"/>
            <a:r>
              <a:rPr lang="ko-KR" altLang="ko-KR" sz="2400" spc="-150" dirty="0"/>
              <a:t>값 의미에 포함하지 않아야 하는 멤버가 있으면 직접 구현 필요</a:t>
            </a:r>
          </a:p>
          <a:p>
            <a:endParaRPr lang="ko-KR" altLang="en-US" sz="2400" spc="-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2FD0F-6322-FE23-766A-049976919456}"/>
              </a:ext>
            </a:extLst>
          </p:cNvPr>
          <p:cNvSpPr txBox="1"/>
          <p:nvPr/>
        </p:nvSpPr>
        <p:spPr>
          <a:xfrm>
            <a:off x="319931" y="2132856"/>
            <a:ext cx="5548213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compare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major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&lt;=&gt;(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major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patch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5ACD14-333D-040E-E3AC-6194E236E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023328"/>
              </p:ext>
            </p:extLst>
          </p:nvPr>
        </p:nvGraphicFramePr>
        <p:xfrm>
          <a:off x="3197249" y="5501468"/>
          <a:ext cx="5908253" cy="1193976"/>
        </p:xfrm>
        <a:graphic>
          <a:graphicData uri="http://schemas.openxmlformats.org/drawingml/2006/table">
            <a:tbl>
              <a:tblPr/>
              <a:tblGrid>
                <a:gridCol w="2778136">
                  <a:extLst>
                    <a:ext uri="{9D8B030D-6E8A-4147-A177-3AD203B41FA5}">
                      <a16:colId xmlns:a16="http://schemas.microsoft.com/office/drawing/2014/main" val="3112461911"/>
                    </a:ext>
                  </a:extLst>
                </a:gridCol>
                <a:gridCol w="3130117">
                  <a:extLst>
                    <a:ext uri="{9D8B030D-6E8A-4147-A177-3AD203B41FA5}">
                      <a16:colId xmlns:a16="http://schemas.microsoft.com/office/drawing/2014/main" val="2024098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FF99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기본 비교가 적합한 경우</a:t>
                      </a:r>
                      <a:endParaRPr lang="ko-KR" sz="2400" dirty="0">
                        <a:solidFill>
                          <a:srgbClr val="FF990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직접 구현이 필요한 경우</a:t>
                      </a:r>
                      <a:endParaRPr lang="ko-KR" sz="2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60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FF99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모든 멤버가 값 의미에 포함</a:t>
                      </a:r>
                      <a:endParaRPr lang="ko-KR" sz="3200" dirty="0">
                        <a:solidFill>
                          <a:srgbClr val="FF990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캐시, 통계, 디버깅 번호 제외 필요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03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FF99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선언 순서가 비교 순서와 일치</a:t>
                      </a:r>
                      <a:endParaRPr lang="ko-KR" sz="3200" dirty="0">
                        <a:solidFill>
                          <a:srgbClr val="FF990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비교 기준이 여러 개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745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210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69FD1-AB8C-15E7-A74D-BDC3ED13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2CD28-C8B0-B2B0-D21C-1F9F0860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 </a:t>
            </a:r>
            <a:r>
              <a:rPr lang="ko-KR" altLang="en-US" dirty="0"/>
              <a:t>첨자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3CE82-669D-D33F-FB2D-304779285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[] 오버로딩</a:t>
            </a:r>
            <a:r>
              <a:rPr lang="en-US" altLang="ko-KR" sz="2000" dirty="0"/>
              <a:t> </a:t>
            </a:r>
            <a:r>
              <a:rPr lang="ko-KR" altLang="en-US" sz="2000" dirty="0"/>
              <a:t>→</a:t>
            </a:r>
            <a:r>
              <a:rPr lang="ko-KR" altLang="ko-KR" sz="2000" dirty="0"/>
              <a:t> 사용자 정의 타입의 요소에 배열처럼 접근 가능</a:t>
            </a:r>
          </a:p>
          <a:p>
            <a:pPr lvl="0"/>
            <a:r>
              <a:rPr lang="ko-KR" altLang="ko-KR" sz="2000" dirty="0"/>
              <a:t>실제 요소의 참조 반환</a:t>
            </a:r>
          </a:p>
          <a:p>
            <a:pPr lvl="0"/>
            <a:r>
              <a:rPr lang="ko-KR" altLang="ko-KR" sz="2000" dirty="0"/>
              <a:t>일반 객체와 상수 객체의 접근 권한을 구분하려면 </a:t>
            </a:r>
            <a:r>
              <a:rPr lang="ko-KR" altLang="ko-KR" sz="2000" dirty="0" err="1"/>
              <a:t>const</a:t>
            </a:r>
            <a:r>
              <a:rPr lang="ko-KR" altLang="ko-KR" sz="2000" dirty="0"/>
              <a:t> 오버로딩 사용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4564C-51FE-A3B8-003E-4326CDD1B1CA}"/>
              </a:ext>
            </a:extLst>
          </p:cNvPr>
          <p:cNvSpPr txBox="1"/>
          <p:nvPr/>
        </p:nvSpPr>
        <p:spPr>
          <a:xfrm>
            <a:off x="323528" y="2050299"/>
            <a:ext cx="5328592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ABB4B-66B8-88FE-3D97-EFC11238DCF5}"/>
              </a:ext>
            </a:extLst>
          </p:cNvPr>
          <p:cNvSpPr txBox="1"/>
          <p:nvPr/>
        </p:nvSpPr>
        <p:spPr>
          <a:xfrm>
            <a:off x="4767411" y="2354396"/>
            <a:ext cx="4248472" cy="132343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A1BE1C9-46FD-61E2-8320-39F5654A6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95121"/>
              </p:ext>
            </p:extLst>
          </p:nvPr>
        </p:nvGraphicFramePr>
        <p:xfrm>
          <a:off x="2375853" y="5239209"/>
          <a:ext cx="4932452" cy="1285416"/>
        </p:xfrm>
        <a:graphic>
          <a:graphicData uri="http://schemas.openxmlformats.org/drawingml/2006/table">
            <a:tbl>
              <a:tblPr/>
              <a:tblGrid>
                <a:gridCol w="2048863">
                  <a:extLst>
                    <a:ext uri="{9D8B030D-6E8A-4147-A177-3AD203B41FA5}">
                      <a16:colId xmlns:a16="http://schemas.microsoft.com/office/drawing/2014/main" val="1428191533"/>
                    </a:ext>
                  </a:extLst>
                </a:gridCol>
                <a:gridCol w="1138258">
                  <a:extLst>
                    <a:ext uri="{9D8B030D-6E8A-4147-A177-3AD203B41FA5}">
                      <a16:colId xmlns:a16="http://schemas.microsoft.com/office/drawing/2014/main" val="2055371529"/>
                    </a:ext>
                  </a:extLst>
                </a:gridCol>
                <a:gridCol w="1745331">
                  <a:extLst>
                    <a:ext uri="{9D8B030D-6E8A-4147-A177-3AD203B41FA5}">
                      <a16:colId xmlns:a16="http://schemas.microsoft.com/office/drawing/2014/main" val="2813795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객체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선택 함수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반환 타입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294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Vector3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버전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float</a:t>
                      </a: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763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Vector3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상수 버전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float</a:t>
                      </a: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952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653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C3E29-AF85-B0CB-89FB-044DBD99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065D6-B276-3BC8-5ED1-069F754E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6.5.3 </a:t>
            </a:r>
            <a:r>
              <a:rPr lang="ko-KR" altLang="en-US" dirty="0"/>
              <a:t>범위 검사와 </a:t>
            </a:r>
            <a:r>
              <a:rPr lang="en-US" altLang="ko-KR" dirty="0"/>
              <a:t>At()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FE2F1-A90D-5376-CEE2-E8C5AB8AF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operator</a:t>
            </a:r>
            <a:r>
              <a:rPr lang="ko-KR" altLang="ko-KR" sz="2400" dirty="0"/>
              <a:t>[]는 빠른 요소 접근 제공</a:t>
            </a:r>
          </a:p>
          <a:p>
            <a:pPr lvl="0"/>
            <a:r>
              <a:rPr lang="ko-KR" altLang="ko-KR" sz="2400" dirty="0"/>
              <a:t>범위를 검사하지 않는 형태가 많음</a:t>
            </a:r>
          </a:p>
          <a:p>
            <a:pPr lvl="0"/>
            <a:r>
              <a:rPr lang="ko-KR" altLang="ko-KR" sz="2400" dirty="0"/>
              <a:t>범위를 검사하는 별도 함수는 </a:t>
            </a:r>
            <a:r>
              <a:rPr lang="ko-KR" altLang="ko-KR" sz="2400" dirty="0" err="1"/>
              <a:t>At</a:t>
            </a:r>
            <a:r>
              <a:rPr lang="ko-KR" altLang="ko-KR" sz="2400" dirty="0"/>
              <a:t>() 형태로 제공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8B145-67B2-5727-E1B1-54F3002B08BB}"/>
              </a:ext>
            </a:extLst>
          </p:cNvPr>
          <p:cNvSpPr txBox="1"/>
          <p:nvPr/>
        </p:nvSpPr>
        <p:spPr>
          <a:xfrm>
            <a:off x="323528" y="2132856"/>
            <a:ext cx="4572000" cy="44012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out_of_range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"Vector3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out_of_range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"Vector3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{};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A74EE41-B407-AF52-D1D2-5718D59F3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094146"/>
              </p:ext>
            </p:extLst>
          </p:nvPr>
        </p:nvGraphicFramePr>
        <p:xfrm>
          <a:off x="4684712" y="3570914"/>
          <a:ext cx="4351784" cy="1955976"/>
        </p:xfrm>
        <a:graphic>
          <a:graphicData uri="http://schemas.openxmlformats.org/drawingml/2006/table">
            <a:tbl>
              <a:tblPr/>
              <a:tblGrid>
                <a:gridCol w="1512168">
                  <a:extLst>
                    <a:ext uri="{9D8B030D-6E8A-4147-A177-3AD203B41FA5}">
                      <a16:colId xmlns:a16="http://schemas.microsoft.com/office/drawing/2014/main" val="211376417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205027819"/>
                    </a:ext>
                  </a:extLst>
                </a:gridCol>
                <a:gridCol w="2119536">
                  <a:extLst>
                    <a:ext uri="{9D8B030D-6E8A-4147-A177-3AD203B41FA5}">
                      <a16:colId xmlns:a16="http://schemas.microsoft.com/office/drawing/2014/main" val="20472319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범위</a:t>
                      </a:r>
                      <a:b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검사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일반적인 목적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00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operator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[]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인덱스가 유효하다고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보장된 빠른 접근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287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외부 입력이나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계산 결과 접근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383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258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1851-CC0B-0531-8467-C9D6BE90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0B464-042B-5D19-ACE5-29CF41BA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6.6 역참조와 멤버 접근 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D1AA60-DE41-6F70-0ACA-F279561D7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*, -&gt; 오버로딩</a:t>
            </a:r>
            <a:r>
              <a:rPr lang="en-US" altLang="ko-KR" sz="2400" dirty="0"/>
              <a:t> </a:t>
            </a:r>
            <a:r>
              <a:rPr lang="ko-KR" altLang="en-US" sz="2400" dirty="0"/>
              <a:t>가능</a:t>
            </a:r>
            <a:endParaRPr lang="ko-KR" altLang="ko-KR" sz="2400" dirty="0"/>
          </a:p>
          <a:p>
            <a:pPr lvl="0"/>
            <a:r>
              <a:rPr lang="ko-KR" altLang="ko-KR" sz="2400" dirty="0"/>
              <a:t>포인터처럼 동작하는 사용자 정의 타입에서 사용</a:t>
            </a:r>
          </a:p>
          <a:p>
            <a:pPr lvl="0"/>
            <a:r>
              <a:rPr lang="ko-KR" altLang="ko-KR" sz="2400" dirty="0"/>
              <a:t>대표 사례: 스마트 포인터, 반복자, 포인터 래퍼</a:t>
            </a:r>
          </a:p>
          <a:p>
            <a:pPr lvl="0"/>
            <a:endParaRPr lang="ko-KR" altLang="ko-KR" sz="2000" dirty="0"/>
          </a:p>
          <a:p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C5708CF-4F2D-BD76-B8E4-4D1DEFB21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689930"/>
              </p:ext>
            </p:extLst>
          </p:nvPr>
        </p:nvGraphicFramePr>
        <p:xfrm>
          <a:off x="611560" y="2519025"/>
          <a:ext cx="6336704" cy="1295400"/>
        </p:xfrm>
        <a:graphic>
          <a:graphicData uri="http://schemas.openxmlformats.org/drawingml/2006/table">
            <a:tbl>
              <a:tblPr/>
              <a:tblGrid>
                <a:gridCol w="1144799">
                  <a:extLst>
                    <a:ext uri="{9D8B030D-6E8A-4147-A177-3AD203B41FA5}">
                      <a16:colId xmlns:a16="http://schemas.microsoft.com/office/drawing/2014/main" val="3717001256"/>
                    </a:ext>
                  </a:extLst>
                </a:gridCol>
                <a:gridCol w="3257033">
                  <a:extLst>
                    <a:ext uri="{9D8B030D-6E8A-4147-A177-3AD203B41FA5}">
                      <a16:colId xmlns:a16="http://schemas.microsoft.com/office/drawing/2014/main" val="3591951591"/>
                    </a:ext>
                  </a:extLst>
                </a:gridCol>
                <a:gridCol w="1934872">
                  <a:extLst>
                    <a:ext uri="{9D8B030D-6E8A-4147-A177-3AD203B41FA5}">
                      <a16:colId xmlns:a16="http://schemas.microsoft.com/office/drawing/2014/main" val="28430164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연산자</a:t>
                      </a:r>
                      <a:endParaRPr lang="ko-KR" sz="3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sz="3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일반적인 반환</a:t>
                      </a:r>
                      <a:endParaRPr lang="ko-KR" sz="3600">
                        <a:effectLst/>
                        <a:latin typeface="+mn-ea"/>
                        <a:ea typeface="+mn-ea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03624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가리키는 대상 객체에 접근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&amp;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11539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-&gt;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대상 객체의 멤버에 접근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17261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CA804FA-27BA-031C-74E6-D4BD3DE3D60B}"/>
              </a:ext>
            </a:extLst>
          </p:cNvPr>
          <p:cNvSpPr txBox="1"/>
          <p:nvPr/>
        </p:nvSpPr>
        <p:spPr>
          <a:xfrm>
            <a:off x="611560" y="4103201"/>
            <a:ext cx="6336704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(*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).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endParaRPr lang="ko-KR" altLang="ko-KR" sz="16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-&gt;()-&gt;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0312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458C9-7CD4-FA6A-41CE-D044E7BB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EB7E4-B78F-5698-FF5B-B639E1AF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 </a:t>
            </a:r>
            <a:r>
              <a:rPr lang="ko-KR" altLang="en-US" dirty="0"/>
              <a:t>형 변환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A8BDA5-9996-F64B-6521-C2714CAE9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형 변환 연산자는 객체를 다른 타입의 값으로 변환</a:t>
            </a:r>
          </a:p>
          <a:p>
            <a:pPr lvl="0"/>
            <a:r>
              <a:rPr lang="ko-KR" altLang="ko-KR" sz="2400" dirty="0"/>
              <a:t>반환 타입을 별도로 작성</a:t>
            </a:r>
            <a:r>
              <a:rPr lang="en-US" altLang="ko-KR" sz="2400" dirty="0"/>
              <a:t> </a:t>
            </a:r>
            <a:r>
              <a:rPr lang="ko-KR" altLang="en-US" sz="2400" dirty="0"/>
              <a:t>안함</a:t>
            </a:r>
            <a:endParaRPr lang="ko-KR" altLang="ko-KR" sz="2400" dirty="0"/>
          </a:p>
          <a:p>
            <a:pPr lvl="0"/>
            <a:r>
              <a:rPr lang="ko-KR" altLang="ko-KR" sz="2400" dirty="0"/>
              <a:t>변환할 타입이 함수 이름의 일부</a:t>
            </a:r>
          </a:p>
          <a:p>
            <a:pPr lvl="0"/>
            <a:r>
              <a:rPr lang="ko-KR" altLang="ko-KR" sz="2400" dirty="0"/>
              <a:t>암시적 변환은 타입 의미가 명확하고 정보 손실이 없을 때만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ACD91-8BF1-C533-25F4-0A931464FBF5}"/>
              </a:ext>
            </a:extLst>
          </p:cNvPr>
          <p:cNvSpPr txBox="1"/>
          <p:nvPr/>
        </p:nvSpPr>
        <p:spPr>
          <a:xfrm>
            <a:off x="611560" y="2697882"/>
            <a:ext cx="4176464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A3717-7A55-C75C-FD38-B86331F94D2C}"/>
              </a:ext>
            </a:extLst>
          </p:cNvPr>
          <p:cNvSpPr txBox="1"/>
          <p:nvPr/>
        </p:nvSpPr>
        <p:spPr>
          <a:xfrm>
            <a:off x="4788024" y="4657160"/>
            <a:ext cx="3888829" cy="1569660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PrintMeters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PrintMeters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7548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6479-E771-C766-4B01-5E31CAC1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EB214-0BE2-AE0C-A66F-9E8B1D17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6.7.2 explicit </a:t>
            </a:r>
            <a:r>
              <a:rPr lang="ko-KR" altLang="en-US" dirty="0"/>
              <a:t>형 변환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60BE7-1C55-3874-F6F3-A35C4952C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암시적 변환 제한</a:t>
            </a:r>
            <a:r>
              <a:rPr lang="en-US" altLang="ko-KR" sz="2400" dirty="0"/>
              <a:t> </a:t>
            </a:r>
            <a:r>
              <a:rPr lang="ko-KR" altLang="en-US" sz="2400" dirty="0"/>
              <a:t>→ </a:t>
            </a:r>
            <a:r>
              <a:rPr lang="ko-KR" altLang="ko-KR" sz="2400" dirty="0"/>
              <a:t>형 변환 연산자에 </a:t>
            </a:r>
            <a:r>
              <a:rPr lang="ko-KR" altLang="ko-KR" sz="2400" dirty="0" err="1"/>
              <a:t>explicit</a:t>
            </a:r>
            <a:r>
              <a:rPr lang="ko-KR" altLang="ko-KR" sz="2400" dirty="0"/>
              <a:t> 지정</a:t>
            </a:r>
          </a:p>
          <a:p>
            <a:pPr lvl="0"/>
            <a:r>
              <a:rPr lang="ko-KR" altLang="ko-KR" sz="2400" dirty="0"/>
              <a:t>명시적 변환은 허용</a:t>
            </a:r>
          </a:p>
          <a:p>
            <a:pPr lvl="0"/>
            <a:r>
              <a:rPr lang="ko-KR" altLang="ko-KR" sz="2400" dirty="0"/>
              <a:t>정보 손실, 큰 비용, 특별한 의미가 있으면 </a:t>
            </a:r>
            <a:r>
              <a:rPr lang="ko-KR" altLang="ko-KR" sz="2400" dirty="0" err="1"/>
              <a:t>explicit</a:t>
            </a:r>
            <a:endParaRPr lang="ko-KR" altLang="ko-KR" sz="2400" dirty="0"/>
          </a:p>
          <a:p>
            <a:pPr lvl="0"/>
            <a:r>
              <a:rPr lang="ko-KR" altLang="ko-KR" sz="2400" dirty="0"/>
              <a:t>파일 크기가 </a:t>
            </a:r>
            <a:r>
              <a:rPr lang="ko-KR" altLang="ko-KR" sz="2400" dirty="0" err="1"/>
              <a:t>int</a:t>
            </a:r>
            <a:r>
              <a:rPr lang="ko-KR" altLang="ko-KR" sz="2400" dirty="0"/>
              <a:t> 범위를 벗어날 수 있다면 암시적 변환은 위험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61005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87A6C-AB79-3FB6-9C1A-16D6C1246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12924-F3E1-C198-A26A-FB93A832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6.7.3 explicit operator bool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5D2704-FB2F-C7EC-0A18-2F336A810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객체가 유효한 상태인지 확인할 때</a:t>
            </a:r>
          </a:p>
          <a:p>
            <a:pPr lvl="0"/>
            <a:r>
              <a:rPr lang="ko-KR" altLang="ko-KR" sz="2400" dirty="0" err="1"/>
              <a:t>explicit</a:t>
            </a:r>
            <a:r>
              <a:rPr lang="en-US" altLang="ko-KR" sz="2400" dirty="0"/>
              <a:t> </a:t>
            </a:r>
            <a:r>
              <a:rPr lang="ko-KR" altLang="ko-KR" sz="2400" dirty="0"/>
              <a:t>이어도 조건식에서 사용 가능</a:t>
            </a:r>
          </a:p>
          <a:p>
            <a:pPr lvl="0"/>
            <a:r>
              <a:rPr lang="ko-KR" altLang="ko-KR" sz="2400" dirty="0"/>
              <a:t>일반적인 정수 변환 제한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BFF7EC-9655-51C8-6DBE-F6EB7200225C}"/>
              </a:ext>
            </a:extLst>
          </p:cNvPr>
          <p:cNvSpPr txBox="1"/>
          <p:nvPr/>
        </p:nvSpPr>
        <p:spPr>
          <a:xfrm>
            <a:off x="323528" y="2276872"/>
            <a:ext cx="4248472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ResourceHandle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7D56A2-62B3-A06A-45A3-1FCC8BA8417B}"/>
              </a:ext>
            </a:extLst>
          </p:cNvPr>
          <p:cNvSpPr txBox="1"/>
          <p:nvPr/>
        </p:nvSpPr>
        <p:spPr>
          <a:xfrm>
            <a:off x="4572000" y="3261757"/>
            <a:ext cx="4392488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ResourceHandle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"자원을 사용할 수 있음\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오류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20462B-40EA-52E7-634A-7B7DB5F68D09}"/>
              </a:ext>
            </a:extLst>
          </p:cNvPr>
          <p:cNvSpPr txBox="1"/>
          <p:nvPr/>
        </p:nvSpPr>
        <p:spPr>
          <a:xfrm>
            <a:off x="1583668" y="5293301"/>
            <a:ext cx="5976664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)는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()의 결과를 반전하여 처리 가능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5239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69353-FE6D-CBEA-3ECA-D39EECB2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C3B57-81CD-1C91-EB6A-719BA49ED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6.7.4 </a:t>
            </a:r>
            <a:r>
              <a:rPr lang="ko-KR" altLang="en-US" dirty="0"/>
              <a:t>변환 생성자와 형 변환 연산자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E68462E-1B17-1D05-52E3-01F7FFF6C4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985715"/>
              </p:ext>
            </p:extLst>
          </p:nvPr>
        </p:nvGraphicFramePr>
        <p:xfrm>
          <a:off x="899592" y="764704"/>
          <a:ext cx="6669706" cy="1315896"/>
        </p:xfrm>
        <a:graphic>
          <a:graphicData uri="http://schemas.openxmlformats.org/drawingml/2006/table">
            <a:tbl>
              <a:tblPr/>
              <a:tblGrid>
                <a:gridCol w="1875382">
                  <a:extLst>
                    <a:ext uri="{9D8B030D-6E8A-4147-A177-3AD203B41FA5}">
                      <a16:colId xmlns:a16="http://schemas.microsoft.com/office/drawing/2014/main" val="4121458845"/>
                    </a:ext>
                  </a:extLst>
                </a:gridCol>
                <a:gridCol w="1875382">
                  <a:extLst>
                    <a:ext uri="{9D8B030D-6E8A-4147-A177-3AD203B41FA5}">
                      <a16:colId xmlns:a16="http://schemas.microsoft.com/office/drawing/2014/main" val="3493918110"/>
                    </a:ext>
                  </a:extLst>
                </a:gridCol>
                <a:gridCol w="2918942">
                  <a:extLst>
                    <a:ext uri="{9D8B030D-6E8A-4147-A177-3AD203B41FA5}">
                      <a16:colId xmlns:a16="http://schemas.microsoft.com/office/drawing/2014/main" val="1381731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선언 위치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변환 방향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903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변환 생성자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변환 결과 타입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다른 타입 → 현재 클래스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894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형 변환 연산자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변환 원본 타입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현재 클래스 → 다른 타입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2481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64249D-DD7C-8114-5348-C71A927246E9}"/>
              </a:ext>
            </a:extLst>
          </p:cNvPr>
          <p:cNvSpPr txBox="1"/>
          <p:nvPr/>
        </p:nvSpPr>
        <p:spPr>
          <a:xfrm>
            <a:off x="539750" y="2324604"/>
            <a:ext cx="3672408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837D9-0178-450A-FBD8-EF514F9318D6}"/>
              </a:ext>
            </a:extLst>
          </p:cNvPr>
          <p:cNvSpPr txBox="1"/>
          <p:nvPr/>
        </p:nvSpPr>
        <p:spPr>
          <a:xfrm>
            <a:off x="539750" y="5036983"/>
            <a:ext cx="7920682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변환 결과 타입이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입력값으로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객체를 생성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변환 생성자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원본 타입이 자신의 값을 다른 표현으로 제공</a:t>
            </a:r>
            <a:r>
              <a:rPr lang="en-US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</a:t>
            </a:r>
            <a:r>
              <a:rPr lang="ko-KR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형 변환 연산자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변환 경로를 양쪽에 모두 제공</a:t>
            </a:r>
            <a:r>
              <a:rPr lang="en-US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</a:t>
            </a:r>
            <a:r>
              <a:rPr lang="ko-KR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함수 선택이 모호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</a:t>
            </a:r>
            <a:r>
              <a:rPr lang="ko-KR" altLang="ko-KR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하나의 변환 책임만 제공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4D63E-F662-1DCE-FA20-C8DC513340BF}"/>
              </a:ext>
            </a:extLst>
          </p:cNvPr>
          <p:cNvSpPr txBox="1"/>
          <p:nvPr/>
        </p:nvSpPr>
        <p:spPr>
          <a:xfrm>
            <a:off x="4427984" y="2324604"/>
            <a:ext cx="4032448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Fahrenheit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Fahrenheit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Celsius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Celsius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Fahrenheit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0172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23358-01C2-2AC2-4DF3-95528417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CA20C-0C0D-5A82-0AA1-1329CE50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6.7.4 </a:t>
            </a:r>
            <a:r>
              <a:rPr lang="ko-KR" altLang="en-US" dirty="0"/>
              <a:t>명시적 변환 또는 이름 있는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D04A7E-8F85-F270-51B5-1872A8B0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암시적 변환은 변환의 의미가 분명하고 안전할 때 사용</a:t>
            </a:r>
          </a:p>
          <a:p>
            <a:pPr lvl="0"/>
            <a:r>
              <a:rPr lang="ko-KR" altLang="ko-KR" sz="2400" dirty="0"/>
              <a:t>중요한 동작을 숨기지 않아야 함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02E190A-4986-6D75-CCE3-40AB2CB9C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172545"/>
              </p:ext>
            </p:extLst>
          </p:nvPr>
        </p:nvGraphicFramePr>
        <p:xfrm>
          <a:off x="5543996" y="1996385"/>
          <a:ext cx="2376264" cy="2723232"/>
        </p:xfrm>
        <a:graphic>
          <a:graphicData uri="http://schemas.openxmlformats.org/drawingml/2006/table">
            <a:tbl>
              <a:tblPr/>
              <a:tblGrid>
                <a:gridCol w="2376264">
                  <a:extLst>
                    <a:ext uri="{9D8B030D-6E8A-4147-A177-3AD203B41FA5}">
                      <a16:colId xmlns:a16="http://schemas.microsoft.com/office/drawing/2014/main" val="236687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ko-KR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명시적 변환 또는</a:t>
                      </a:r>
                      <a:br>
                        <a:rPr lang="en-US" altLang="ko-KR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altLang="ko-KR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이름이 있는 함수를 사용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1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정보 손실이 발생함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74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단위나 의미가 달라짐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240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비용이 큼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428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실패할 수 있음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178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변환 기준이 존재함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1965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9FA37BC-1E91-24E3-713D-E683BEC51124}"/>
              </a:ext>
            </a:extLst>
          </p:cNvPr>
          <p:cNvSpPr txBox="1"/>
          <p:nvPr/>
        </p:nvSpPr>
        <p:spPr>
          <a:xfrm>
            <a:off x="539750" y="1996385"/>
            <a:ext cx="4572000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Duration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TryToInt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FileSize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TryToInt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Bytes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5D2AF-09D2-1267-CE63-2E5ECD883630}"/>
              </a:ext>
            </a:extLst>
          </p:cNvPr>
          <p:cNvSpPr txBox="1"/>
          <p:nvPr/>
        </p:nvSpPr>
        <p:spPr>
          <a:xfrm>
            <a:off x="539750" y="5229108"/>
            <a:ext cx="738051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실패 가능성이 있으면 결과를 분명하게 표현하는 함수가 적합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단위 변환은 함수 이름으로 의미를 드러내는 편이 안전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3254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521E1-77F4-519B-7609-5C8C5D0B1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F14ED-2B1A-EDA0-E85F-742DC0E52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6.8 </a:t>
            </a:r>
            <a:r>
              <a:rPr lang="ko-KR" altLang="en-US" dirty="0"/>
              <a:t>스트림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527E5C-0E7D-3A0B-82DF-6F2AD91ED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사용자 정의 타입에 &lt;&lt;, &gt;&gt;</a:t>
            </a:r>
            <a:r>
              <a:rPr lang="ko-KR" altLang="ko-KR" sz="2400" dirty="0" err="1"/>
              <a:t>를</a:t>
            </a:r>
            <a:r>
              <a:rPr lang="ko-KR" altLang="ko-KR" sz="2400" dirty="0"/>
              <a:t> 제공하면 표준 스트림과 함께 사용 가능</a:t>
            </a:r>
          </a:p>
          <a:p>
            <a:pPr lvl="0"/>
            <a:r>
              <a:rPr lang="ko-KR" altLang="ko-KR" sz="2400" dirty="0"/>
              <a:t>왼쪽 피연산자가 스트림이므로 비 멤버 함수로 구현</a:t>
            </a:r>
          </a:p>
          <a:p>
            <a:pPr lvl="0"/>
            <a:r>
              <a:rPr lang="ko-KR" altLang="ko-KR" sz="2400" dirty="0"/>
              <a:t>스트림 참조를 반환하면 입출력을 연결할 수 있음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3964B-5C87-2A40-AF5A-BC58D33B33F0}"/>
              </a:ext>
            </a:extLst>
          </p:cNvPr>
          <p:cNvSpPr txBox="1"/>
          <p:nvPr/>
        </p:nvSpPr>
        <p:spPr>
          <a:xfrm>
            <a:off x="535905" y="2296050"/>
            <a:ext cx="7488832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&lt;&lt;(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Vector3&amp;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F4FB1F8-5932-02DA-8128-0EEB297BF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358865"/>
              </p:ext>
            </p:extLst>
          </p:nvPr>
        </p:nvGraphicFramePr>
        <p:xfrm>
          <a:off x="535904" y="3669123"/>
          <a:ext cx="7488831" cy="1224456"/>
        </p:xfrm>
        <a:graphic>
          <a:graphicData uri="http://schemas.openxmlformats.org/drawingml/2006/table">
            <a:tbl>
              <a:tblPr/>
              <a:tblGrid>
                <a:gridCol w="1126498">
                  <a:extLst>
                    <a:ext uri="{9D8B030D-6E8A-4147-A177-3AD203B41FA5}">
                      <a16:colId xmlns:a16="http://schemas.microsoft.com/office/drawing/2014/main" val="2614230015"/>
                    </a:ext>
                  </a:extLst>
                </a:gridCol>
                <a:gridCol w="1967405">
                  <a:extLst>
                    <a:ext uri="{9D8B030D-6E8A-4147-A177-3AD203B41FA5}">
                      <a16:colId xmlns:a16="http://schemas.microsoft.com/office/drawing/2014/main" val="4242392981"/>
                    </a:ext>
                  </a:extLst>
                </a:gridCol>
                <a:gridCol w="2126066">
                  <a:extLst>
                    <a:ext uri="{9D8B030D-6E8A-4147-A177-3AD203B41FA5}">
                      <a16:colId xmlns:a16="http://schemas.microsoft.com/office/drawing/2014/main" val="636472196"/>
                    </a:ext>
                  </a:extLst>
                </a:gridCol>
                <a:gridCol w="2268862">
                  <a:extLst>
                    <a:ext uri="{9D8B030D-6E8A-4147-A177-3AD203B41FA5}">
                      <a16:colId xmlns:a16="http://schemas.microsoft.com/office/drawing/2014/main" val="24835258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연산자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왼쪽 피연산자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오른쪽 피연산자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변경 대상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95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&lt;&lt;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ostream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출력할 객체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스트림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776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&gt;&gt;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std::istream&amp;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입력받을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객체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스트림, 입력 대상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1764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715BBB-3797-0F81-3F08-86C43F474655}"/>
              </a:ext>
            </a:extLst>
          </p:cNvPr>
          <p:cNvSpPr txBox="1"/>
          <p:nvPr/>
        </p:nvSpPr>
        <p:spPr>
          <a:xfrm>
            <a:off x="535903" y="5124326"/>
            <a:ext cx="7488831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출력 대상은 보통 </a:t>
            </a:r>
            <a:r>
              <a:rPr lang="ko-KR" altLang="ko-KR" sz="18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참조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입력 대상은 값이 바뀌어야 하므로 </a:t>
            </a:r>
            <a:r>
              <a:rPr lang="ko-KR" altLang="ko-KR" sz="18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비상수</a:t>
            </a:r>
            <a:r>
              <a:rPr lang="ko-KR" altLang="ko-KR" sz="18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참조</a:t>
            </a:r>
          </a:p>
        </p:txBody>
      </p:sp>
    </p:spTree>
    <p:extLst>
      <p:ext uri="{BB962C8B-B14F-4D97-AF65-F5344CB8AC3E}">
        <p14:creationId xmlns:p14="http://schemas.microsoft.com/office/powerpoint/2010/main" val="2865105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0072E-7FD7-5E04-A4D5-A4F19CBEE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3DE7E-C0EB-F2D4-564C-60CFAE77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6.8.1 </a:t>
            </a:r>
            <a:r>
              <a:rPr lang="ko-KR" altLang="en-US" dirty="0"/>
              <a:t>출력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61EF2A-A330-007E-816B-23D431EC7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출력 연산자는 줄 바꿈을 포함하지 않음</a:t>
            </a:r>
          </a:p>
          <a:p>
            <a:pPr lvl="0"/>
            <a:r>
              <a:rPr lang="ko-KR" altLang="ko-KR" dirty="0"/>
              <a:t>호출자가 출력 위치와 줄 바꿈을 결정</a:t>
            </a:r>
          </a:p>
          <a:p>
            <a:pPr lvl="0"/>
            <a:r>
              <a:rPr lang="ko-KR" altLang="ko-KR" dirty="0"/>
              <a:t>공개 접근자로 구현할 수 있으면 </a:t>
            </a:r>
            <a:r>
              <a:rPr lang="ko-KR" altLang="ko-KR" dirty="0" err="1"/>
              <a:t>friend가</a:t>
            </a:r>
            <a:r>
              <a:rPr lang="ko-KR" altLang="ko-KR" dirty="0"/>
              <a:t> 필요하지 않음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EE8D2-AE59-ABC0-82E9-D528D5EA7D80}"/>
              </a:ext>
            </a:extLst>
          </p:cNvPr>
          <p:cNvSpPr txBox="1"/>
          <p:nvPr/>
        </p:nvSpPr>
        <p:spPr>
          <a:xfrm>
            <a:off x="539750" y="2420888"/>
            <a:ext cx="7344618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&lt;&lt;(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'('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.GetX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 "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.GetY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 "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.GetZ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')'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CEBE38-DBAB-33FB-DD62-766E95DC31D5}"/>
              </a:ext>
            </a:extLst>
          </p:cNvPr>
          <p:cNvSpPr txBox="1"/>
          <p:nvPr/>
        </p:nvSpPr>
        <p:spPr>
          <a:xfrm>
            <a:off x="4032250" y="3914781"/>
            <a:ext cx="4572000" cy="58477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 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6C8C9C-23D6-3D51-2059-636EC6960B4E}"/>
              </a:ext>
            </a:extLst>
          </p:cNvPr>
          <p:cNvSpPr txBox="1"/>
          <p:nvPr/>
        </p:nvSpPr>
        <p:spPr>
          <a:xfrm>
            <a:off x="539750" y="4671006"/>
            <a:ext cx="7344618" cy="120032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b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 "</a:t>
            </a:r>
            <a:r>
              <a:rPr lang="ko-KR" altLang="ko-KR" sz="18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 출력</a:t>
            </a:r>
            <a:b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 </a:t>
            </a:r>
            <a:r>
              <a:rPr lang="ko-KR" altLang="ko-KR" sz="18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출력</a:t>
            </a:r>
            <a:b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 '\</a:t>
            </a:r>
            <a:r>
              <a:rPr lang="ko-KR" altLang="ko-KR" sz="18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endParaRPr lang="ko-KR" altLang="en-US" sz="4000" dirty="0">
              <a:solidFill>
                <a:schemeClr val="tx1">
                  <a:lumMod val="50000"/>
                  <a:lumOff val="5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39879-F965-D227-58BF-065B3B256504}"/>
              </a:ext>
            </a:extLst>
          </p:cNvPr>
          <p:cNvSpPr txBox="1"/>
          <p:nvPr/>
        </p:nvSpPr>
        <p:spPr>
          <a:xfrm>
            <a:off x="539750" y="6140493"/>
            <a:ext cx="7344618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스트림 참조 반환으로 연속 출력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16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EBEA-DC1F-CC15-38DE-658CF773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8B01F-232B-842F-92BD-DCA342A9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6.8.2 </a:t>
            </a:r>
            <a:r>
              <a:rPr lang="ko-KR" altLang="en-US" dirty="0"/>
              <a:t>입력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C69247-3AF7-4F54-415B-67244CB35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입력 연산자는 비 멤버 함수로 구현</a:t>
            </a:r>
          </a:p>
          <a:p>
            <a:pPr lvl="0"/>
            <a:r>
              <a:rPr lang="ko-KR" altLang="ko-KR" dirty="0"/>
              <a:t>입력 대상 객체를 </a:t>
            </a:r>
            <a:r>
              <a:rPr lang="ko-KR" altLang="ko-KR" dirty="0" err="1"/>
              <a:t>비상수</a:t>
            </a:r>
            <a:r>
              <a:rPr lang="ko-KR" altLang="ko-KR" dirty="0"/>
              <a:t> 참조로 받음</a:t>
            </a:r>
          </a:p>
          <a:p>
            <a:pPr lvl="0"/>
            <a:r>
              <a:rPr lang="ko-KR" altLang="ko-KR" dirty="0"/>
              <a:t>임시 변수에 먼저 저장하고 입력이 성공한 뒤 객체에 반영</a:t>
            </a:r>
          </a:p>
          <a:p>
            <a:pPr lvl="0"/>
            <a:r>
              <a:rPr lang="ko-KR" altLang="ko-KR" dirty="0"/>
              <a:t>일부 입력 실패 시 기존 객체 상태 유지 가능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78C3E-841B-1E3D-75C8-E3C092B19D3C}"/>
              </a:ext>
            </a:extLst>
          </p:cNvPr>
          <p:cNvSpPr txBox="1"/>
          <p:nvPr/>
        </p:nvSpPr>
        <p:spPr>
          <a:xfrm>
            <a:off x="533598" y="3115340"/>
            <a:ext cx="6198642" cy="160043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Vector3&amp;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Vector3(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5B4F39-E89F-F11A-6006-88FF721FA9D1}"/>
              </a:ext>
            </a:extLst>
          </p:cNvPr>
          <p:cNvSpPr txBox="1"/>
          <p:nvPr/>
        </p:nvSpPr>
        <p:spPr>
          <a:xfrm>
            <a:off x="5054823" y="3763412"/>
            <a:ext cx="3354834" cy="138499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E8D347-93C8-55D4-3A40-00945704F775}"/>
              </a:ext>
            </a:extLst>
          </p:cNvPr>
          <p:cNvSpPr txBox="1"/>
          <p:nvPr/>
        </p:nvSpPr>
        <p:spPr>
          <a:xfrm>
            <a:off x="533598" y="5363924"/>
            <a:ext cx="6198642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입력 형식이 복잡하면 구분 문자 검사와 실패 상태 설정 필요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856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AE04D-E31F-B62A-45E6-EED4BA26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593AA-6157-29AC-EF00-B9A90356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6.8.3 </a:t>
            </a:r>
            <a:r>
              <a:rPr lang="ko-KR" altLang="en-US" dirty="0"/>
              <a:t>비 멤버 함수와 </a:t>
            </a:r>
            <a:r>
              <a:rPr lang="en-US" altLang="ko-KR" dirty="0"/>
              <a:t>friend </a:t>
            </a:r>
            <a:r>
              <a:rPr lang="ko-KR" altLang="en-US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C46E8-EAD7-534D-7F92-5C3FBABF7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스트림 연산자는 비 멤버 함수</a:t>
            </a:r>
          </a:p>
          <a:p>
            <a:pPr lvl="0"/>
            <a:r>
              <a:rPr lang="ko-KR" altLang="ko-KR" sz="2400" dirty="0"/>
              <a:t>비공개 멤버에 직접 접근할 수 없음</a:t>
            </a:r>
          </a:p>
          <a:p>
            <a:pPr lvl="0"/>
            <a:r>
              <a:rPr lang="ko-KR" altLang="ko-KR" sz="2400" dirty="0"/>
              <a:t>공개 </a:t>
            </a:r>
            <a:r>
              <a:rPr lang="ko-KR" altLang="ko-KR" sz="2400" dirty="0" err="1"/>
              <a:t>접근자</a:t>
            </a:r>
            <a:r>
              <a:rPr lang="ko-KR" altLang="ko-KR" sz="2400" dirty="0"/>
              <a:t> 함수로 구현하면 </a:t>
            </a:r>
            <a:r>
              <a:rPr lang="ko-KR" altLang="ko-KR" sz="2400" dirty="0" err="1"/>
              <a:t>friend</a:t>
            </a:r>
            <a:r>
              <a:rPr lang="ko-KR" altLang="ko-KR" sz="2400" dirty="0"/>
              <a:t> 불필요</a:t>
            </a:r>
          </a:p>
          <a:p>
            <a:pPr lvl="0"/>
            <a:r>
              <a:rPr lang="ko-KR" altLang="ko-KR" sz="2400" dirty="0"/>
              <a:t>출력 형식이 내부 표현과 밀접</a:t>
            </a:r>
            <a:r>
              <a:rPr lang="en-US" altLang="ko-KR" sz="2400" dirty="0"/>
              <a:t>, </a:t>
            </a:r>
            <a:r>
              <a:rPr lang="ko-KR" altLang="ko-KR" sz="2400" dirty="0"/>
              <a:t>비공개 멤버 직접 접근</a:t>
            </a:r>
            <a:br>
              <a:rPr lang="en-US" altLang="ko-KR" sz="2400" dirty="0"/>
            </a:br>
            <a:r>
              <a:rPr lang="en-US" altLang="ko-KR" sz="2400" dirty="0"/>
              <a:t> </a:t>
            </a:r>
            <a:r>
              <a:rPr lang="ko-KR" altLang="en-US" sz="2400" dirty="0"/>
              <a:t>→</a:t>
            </a:r>
            <a:r>
              <a:rPr lang="en-US" altLang="ko-KR" sz="2400" dirty="0"/>
              <a:t> </a:t>
            </a:r>
            <a:r>
              <a:rPr lang="ko-KR" altLang="ko-KR" sz="2400" dirty="0"/>
              <a:t>제한적 </a:t>
            </a:r>
            <a:r>
              <a:rPr lang="ko-KR" altLang="ko-KR" sz="2400" dirty="0" err="1"/>
              <a:t>friend</a:t>
            </a:r>
            <a:endParaRPr lang="ko-KR" altLang="ko-KR" sz="24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AF8AB-3D86-CDE0-B138-CD40A4C3552D}"/>
              </a:ext>
            </a:extLst>
          </p:cNvPr>
          <p:cNvSpPr txBox="1"/>
          <p:nvPr/>
        </p:nvSpPr>
        <p:spPr>
          <a:xfrm>
            <a:off x="431639" y="2995250"/>
            <a:ext cx="8280722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= 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friend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&lt;&lt;(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friend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&gt;&gt;(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istream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Vector3&amp;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8E98C03-EF9B-CA62-AE08-2AEBF29AA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036274"/>
              </p:ext>
            </p:extLst>
          </p:nvPr>
        </p:nvGraphicFramePr>
        <p:xfrm>
          <a:off x="431639" y="4982582"/>
          <a:ext cx="4464297" cy="1133016"/>
        </p:xfrm>
        <a:graphic>
          <a:graphicData uri="http://schemas.openxmlformats.org/drawingml/2006/table">
            <a:tbl>
              <a:tblPr/>
              <a:tblGrid>
                <a:gridCol w="1654766">
                  <a:extLst>
                    <a:ext uri="{9D8B030D-6E8A-4147-A177-3AD203B41FA5}">
                      <a16:colId xmlns:a16="http://schemas.microsoft.com/office/drawing/2014/main" val="329326797"/>
                    </a:ext>
                  </a:extLst>
                </a:gridCol>
                <a:gridCol w="2809531">
                  <a:extLst>
                    <a:ext uri="{9D8B030D-6E8A-4147-A177-3AD203B41FA5}">
                      <a16:colId xmlns:a16="http://schemas.microsoft.com/office/drawing/2014/main" val="1191357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선택</a:t>
                      </a:r>
                      <a:endParaRPr lang="ko-KR" sz="24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기준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113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공개 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접근자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사용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내부 표현 의존을 줄이고 싶음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8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friend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사용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비공개 표현에 직접 접근해야 함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2828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A37CCE2-B7E6-148D-CB1A-B66C81F38448}"/>
              </a:ext>
            </a:extLst>
          </p:cNvPr>
          <p:cNvSpPr txBox="1"/>
          <p:nvPr/>
        </p:nvSpPr>
        <p:spPr>
          <a:xfrm>
            <a:off x="5220071" y="4982582"/>
            <a:ext cx="3492290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friend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함수는 멤버 함수가 아님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함수는 여전히 비 멤버이며 스트림을</a:t>
            </a:r>
            <a:b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첫 번째 매개변수로 받음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7939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A459-A407-D0F1-E99D-F14D350C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6BD76-C524-15AE-FF8D-1E1B1AB3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6.9 </a:t>
            </a:r>
            <a:r>
              <a:rPr lang="ko-KR" altLang="en-US" dirty="0"/>
              <a:t>연산자 오버로딩의 설계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C7AE91-5F56-5795-271A-DED532F5D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구현할 수 있다는 이유만으로 모든 연산자를 제공하지 않음</a:t>
            </a:r>
          </a:p>
          <a:p>
            <a:pPr lvl="0"/>
            <a:r>
              <a:rPr lang="ko-KR" altLang="ko-KR" sz="2400" dirty="0"/>
              <a:t>타입의 의미와 호출자의 기대를 기준으로 선택</a:t>
            </a:r>
          </a:p>
          <a:p>
            <a:pPr lvl="0"/>
            <a:r>
              <a:rPr lang="ko-KR" altLang="ko-KR" sz="2400" dirty="0"/>
              <a:t>연산자만 보고도 동작을 예측할 수 있어야 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DD451-839E-82C8-802D-43E6D6688178}"/>
              </a:ext>
            </a:extLst>
          </p:cNvPr>
          <p:cNvSpPr txBox="1"/>
          <p:nvPr/>
        </p:nvSpPr>
        <p:spPr>
          <a:xfrm>
            <a:off x="395536" y="2424481"/>
            <a:ext cx="5832648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dirty="0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678F3-0223-45FE-501D-A345876C3224}"/>
              </a:ext>
            </a:extLst>
          </p:cNvPr>
          <p:cNvSpPr txBox="1"/>
          <p:nvPr/>
        </p:nvSpPr>
        <p:spPr>
          <a:xfrm>
            <a:off x="1835696" y="2830989"/>
            <a:ext cx="6768752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두 벡터의 성분별 덧셈으로 새로운 벡터를 만든다고 예상 가능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227117-937D-777E-9FFA-CC30717D35B4}"/>
              </a:ext>
            </a:extLst>
          </p:cNvPr>
          <p:cNvSpPr txBox="1"/>
          <p:nvPr/>
        </p:nvSpPr>
        <p:spPr>
          <a:xfrm>
            <a:off x="395536" y="3441228"/>
            <a:ext cx="5832648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dirty="0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version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9399B4-A761-248E-0D52-5B59E942EC48}"/>
              </a:ext>
            </a:extLst>
          </p:cNvPr>
          <p:cNvSpPr txBox="1"/>
          <p:nvPr/>
        </p:nvSpPr>
        <p:spPr>
          <a:xfrm>
            <a:off x="1835696" y="3845955"/>
            <a:ext cx="6768752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주 버전, 부 버전, 패치 버전 중 무엇을 증가시키는지 불분명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NextMajor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NextMinor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NextPatch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()가 더 명확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2F30E-A009-1686-C7CA-B0D4DC11EE21}"/>
              </a:ext>
            </a:extLst>
          </p:cNvPr>
          <p:cNvSpPr txBox="1"/>
          <p:nvPr/>
        </p:nvSpPr>
        <p:spPr>
          <a:xfrm>
            <a:off x="395536" y="4614227"/>
            <a:ext cx="6552728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</a:t>
            </a:r>
            <a:r>
              <a:rPr lang="ko-KR" altLang="ko-KR" sz="1600" dirty="0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distance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dirty="0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dirty="0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MetersPerSecond</a:t>
            </a:r>
            <a:r>
              <a:rPr lang="en-US" altLang="ko-KR" sz="1600" dirty="0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MetersPerSecond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speed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distance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/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time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3E5364-50B3-738D-FE7F-15B9A9DE42AE}"/>
              </a:ext>
            </a:extLst>
          </p:cNvPr>
          <p:cNvSpPr txBox="1"/>
          <p:nvPr/>
        </p:nvSpPr>
        <p:spPr>
          <a:xfrm>
            <a:off x="1832620" y="5517232"/>
            <a:ext cx="6768752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단위를 포함한다면 올바른 물리적 연산만 제공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9499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B9F2-2CD5-FBAD-5830-6035D617D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68B1C-BF3A-1BF1-08BD-7C32851B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6.9.2 </a:t>
            </a:r>
            <a:r>
              <a:rPr lang="ko-KR" altLang="en-US" dirty="0"/>
              <a:t>예상하지 못한 부작용 피하기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6E4827-CBD2-93D9-D721-6F1C9C46D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값을 계산하거나 비교하는 연산에서 피연산자를 몰래 변경하지 않음</a:t>
            </a:r>
          </a:p>
          <a:p>
            <a:pPr lvl="0"/>
            <a:r>
              <a:rPr lang="ko-KR" altLang="ko-KR" sz="2400" dirty="0"/>
              <a:t>연산 비용과 실패 가능성을 숨기지 않음</a:t>
            </a:r>
          </a:p>
          <a:p>
            <a:pPr lvl="0"/>
            <a:r>
              <a:rPr lang="ko-KR" altLang="ko-KR" sz="2400" dirty="0"/>
              <a:t>논리 연산자 &amp;&amp;, || 오버로딩은 일반적인 타입에서 피함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7A4ED-4A47-493B-3787-4A04D25BCA90}"/>
              </a:ext>
            </a:extLst>
          </p:cNvPr>
          <p:cNvSpPr txBox="1"/>
          <p:nvPr/>
        </p:nvSpPr>
        <p:spPr>
          <a:xfrm>
            <a:off x="1547664" y="2276872"/>
            <a:ext cx="4572000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dirty="0">
                <a:solidFill>
                  <a:srgbClr val="C1840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r>
              <a:rPr lang="ko-KR" altLang="ko-KR" sz="16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1DB6E-EEFB-6932-CEB5-D67AFC4F7E5E}"/>
              </a:ext>
            </a:extLst>
          </p:cNvPr>
          <p:cNvSpPr txBox="1"/>
          <p:nvPr/>
        </p:nvSpPr>
        <p:spPr>
          <a:xfrm>
            <a:off x="3131840" y="2605504"/>
            <a:ext cx="417646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first가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변경되면 기본형의 +와 다른 의미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상태 변경이 목적이면 += 사용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23551-B898-DE4B-E27A-05EFC233F6F7}"/>
              </a:ext>
            </a:extLst>
          </p:cNvPr>
          <p:cNvSpPr txBox="1"/>
          <p:nvPr/>
        </p:nvSpPr>
        <p:spPr>
          <a:xfrm>
            <a:off x="1547664" y="3398887"/>
            <a:ext cx="4572000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593896-10F0-8694-D2F9-C45526EDD8FF}"/>
              </a:ext>
            </a:extLst>
          </p:cNvPr>
          <p:cNvSpPr txBox="1"/>
          <p:nvPr/>
        </p:nvSpPr>
        <p:spPr>
          <a:xfrm>
            <a:off x="3131840" y="3737441"/>
            <a:ext cx="417646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비교 연산에서 파일 출력, 로그 기록,</a:t>
            </a:r>
            <a:b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통계 증가 같은 부작용은 피하는 편이 좋음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EE063C-B0BB-1087-118B-60DD72D9906A}"/>
              </a:ext>
            </a:extLst>
          </p:cNvPr>
          <p:cNvSpPr txBox="1"/>
          <p:nvPr/>
        </p:nvSpPr>
        <p:spPr>
          <a:xfrm>
            <a:off x="1547664" y="4581128"/>
            <a:ext cx="4572000" cy="1754326"/>
          </a:xfrm>
          <a:prstGeom prst="rect">
            <a:avLst/>
          </a:prstGeom>
          <a:solidFill>
            <a:srgbClr val="EFEFED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피해야 할 설계 예</a:t>
            </a:r>
            <a:endParaRPr lang="ko-KR" altLang="ko-KR" sz="18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+에서 파일 읽기나 네트워크 요청 수행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==에서 대규모 데이터베이스 조회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[]에서 예상하지 못한 요소 생성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형 변환에서 큰 데이터 복사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출력 연산자에서 객체 상태 변경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94202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A065-E65A-CFD6-AF89-A7D9850C8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173E8-DEEE-98D8-BD41-25B10D51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6.9.3 </a:t>
            </a:r>
            <a:r>
              <a:rPr lang="ko-KR" altLang="en-US" dirty="0"/>
              <a:t>일반 함수가 더 적합한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EA39E-18BF-0782-B0B9-F2EB41357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동작을 여러 의미로 해석할 수 있으면 이름이 있는 함수 사용</a:t>
            </a:r>
          </a:p>
          <a:p>
            <a:pPr lvl="0"/>
            <a:r>
              <a:rPr lang="ko-KR" altLang="ko-KR" sz="2400" dirty="0"/>
              <a:t>연산자의 일반적인 기대와 맞지 않으면 이름이 있는 함수 사용</a:t>
            </a:r>
          </a:p>
          <a:p>
            <a:pPr lvl="0"/>
            <a:r>
              <a:rPr lang="ko-KR" altLang="ko-KR" sz="2400" dirty="0"/>
              <a:t>비용, 실패 가능성, 변환 기준을 숨기지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32781-2E0B-DCEB-7ED7-629F3C4A96A7}"/>
              </a:ext>
            </a:extLst>
          </p:cNvPr>
          <p:cNvSpPr txBox="1"/>
          <p:nvPr/>
        </p:nvSpPr>
        <p:spPr>
          <a:xfrm>
            <a:off x="323528" y="2420888"/>
            <a:ext cx="5043016" cy="34163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.Normalize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.Length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.Dot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(rhs);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.Cross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(rhs);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.NearlyEquals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(rhs,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epsilon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first.Dot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cross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first.Cross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object.Save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path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object.ToString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object.TryToInt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CBC952-6DBD-A8A9-E6B4-47F5183D7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392190"/>
              </p:ext>
            </p:extLst>
          </p:nvPr>
        </p:nvGraphicFramePr>
        <p:xfrm>
          <a:off x="5420153" y="2780928"/>
          <a:ext cx="3562734" cy="2928184"/>
        </p:xfrm>
        <a:graphic>
          <a:graphicData uri="http://schemas.openxmlformats.org/drawingml/2006/table">
            <a:tbl>
              <a:tblPr/>
              <a:tblGrid>
                <a:gridCol w="3562734">
                  <a:extLst>
                    <a:ext uri="{9D8B030D-6E8A-4147-A177-3AD203B41FA5}">
                      <a16:colId xmlns:a16="http://schemas.microsoft.com/office/drawing/2014/main" val="15272597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연산자 제공 여부 기준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57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타입에서 자연스럽게 기대되는 연산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180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기본형의 같은 연산자와 비슷한 의미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38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예상 가능한 피연산자의 변경 여부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93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자연스러운 반환 타입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89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숨겨지지 않는 연산 비용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실패 가능성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39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함수 이름보다 명확한 의미 전달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326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170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003B8-67D3-6C9B-4B7E-A887A1B99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B11F6-32A7-135D-6C0F-9390C617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6.10 </a:t>
            </a:r>
            <a:r>
              <a:rPr lang="ko-KR" altLang="en-US" dirty="0"/>
              <a:t>종합 예제</a:t>
            </a:r>
            <a:r>
              <a:rPr lang="en-US" altLang="ko-KR" dirty="0"/>
              <a:t>: Vector3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A80642-CCF0-1C13-D46C-18AEEDC5E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값 의미 가지는 사용자 정의 타입</a:t>
            </a:r>
          </a:p>
          <a:p>
            <a:pPr lvl="0"/>
            <a:r>
              <a:rPr lang="ko-KR" altLang="ko-KR" sz="2000" dirty="0"/>
              <a:t>산술 연산</a:t>
            </a:r>
          </a:p>
          <a:p>
            <a:pPr lvl="0"/>
            <a:r>
              <a:rPr lang="ko-KR" altLang="ko-KR" sz="2000" dirty="0" err="1"/>
              <a:t>단항</a:t>
            </a:r>
            <a:r>
              <a:rPr lang="ko-KR" altLang="ko-KR" sz="2000" dirty="0"/>
              <a:t> 부호 반전</a:t>
            </a:r>
          </a:p>
          <a:p>
            <a:pPr lvl="0"/>
            <a:r>
              <a:rPr lang="ko-KR" altLang="ko-KR" sz="2000" dirty="0"/>
              <a:t>동등 비교와 근사 비교</a:t>
            </a:r>
          </a:p>
          <a:p>
            <a:pPr lvl="0"/>
            <a:r>
              <a:rPr lang="ko-KR" altLang="ko-KR" sz="2000" dirty="0"/>
              <a:t>인덱스 접근과 범위 검사</a:t>
            </a:r>
          </a:p>
          <a:p>
            <a:pPr lvl="0"/>
            <a:r>
              <a:rPr lang="ko-KR" altLang="ko-KR" sz="2000" dirty="0"/>
              <a:t>스트림 입출력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F2E99-5CC7-B591-1561-8BD97E40767D}"/>
              </a:ext>
            </a:extLst>
          </p:cNvPr>
          <p:cNvSpPr txBox="1"/>
          <p:nvPr/>
        </p:nvSpPr>
        <p:spPr>
          <a:xfrm>
            <a:off x="4067944" y="1015425"/>
            <a:ext cx="4896544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{}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rhs);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rhs);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Vector3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rhs)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NearlyEquals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rhs,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epsilon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0.0001f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123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7692-B74A-008C-4BDF-5F69E2E97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6E4D5-08A3-0F9F-6F94-78E20406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6.10 Vector3 </a:t>
            </a:r>
            <a:r>
              <a:rPr lang="ko-KR" altLang="en-US" dirty="0"/>
              <a:t>산술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FBD994-0B7C-906E-49CC-0E6EAA44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+, *는 새 값을 반환</a:t>
            </a:r>
          </a:p>
          <a:p>
            <a:pPr lvl="0"/>
            <a:r>
              <a:rPr lang="ko-KR" altLang="ko-KR" sz="2000" dirty="0"/>
              <a:t>+=, *=는 현재 객체 변경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48D8F-AA66-5BDE-BFE3-ED0D18D12F11}"/>
              </a:ext>
            </a:extLst>
          </p:cNvPr>
          <p:cNvSpPr txBox="1"/>
          <p:nvPr/>
        </p:nvSpPr>
        <p:spPr>
          <a:xfrm>
            <a:off x="3419872" y="692150"/>
            <a:ext cx="5112568" cy="547842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Vector3&amp; Vector3::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+=(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rhs)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Vector3&amp; Vector3::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*=(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+(Vector3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*(Vector3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Vector3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Vector3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scalar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94335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B7C0B-EC67-AF53-218D-5A90E43E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C0D29-EAC0-BD05-09CE-6DC7F9DB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6.10 Vector3 </a:t>
            </a:r>
            <a:r>
              <a:rPr lang="ko-KR" altLang="en-US" dirty="0"/>
              <a:t>비교와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BF1C7B-4CF8-037F-1965-B59FC716D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 err="1"/>
              <a:t>operator</a:t>
            </a:r>
            <a:r>
              <a:rPr lang="ko-KR" altLang="ko-KR" sz="2000" dirty="0"/>
              <a:t>==는 정확한 비교</a:t>
            </a:r>
          </a:p>
          <a:p>
            <a:pPr lvl="0"/>
            <a:r>
              <a:rPr lang="ko-KR" altLang="ko-KR" sz="2000" dirty="0" err="1"/>
              <a:t>NearlyEquals</a:t>
            </a:r>
            <a:r>
              <a:rPr lang="ko-KR" altLang="ko-KR" sz="2000" dirty="0"/>
              <a:t>()는 부동소수점 계산 결과를 허용 오차로 비교</a:t>
            </a:r>
          </a:p>
          <a:p>
            <a:pPr lvl="0"/>
            <a:r>
              <a:rPr lang="ko-KR" altLang="ko-KR" sz="2000" dirty="0"/>
              <a:t>서로 다른 비교 의미를 하나의 연산자에 섞지 않음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DC0A0-BDC1-9C72-FDB2-2CFE919EC7AD}"/>
              </a:ext>
            </a:extLst>
          </p:cNvPr>
          <p:cNvSpPr txBox="1"/>
          <p:nvPr/>
        </p:nvSpPr>
        <p:spPr>
          <a:xfrm>
            <a:off x="683568" y="1988840"/>
            <a:ext cx="6624736" cy="44012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==(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rhs)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rhs.x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&amp;&amp;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rhs.y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&amp;&amp;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NearlyEquals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rhs,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epsilon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fabs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epsilon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&amp;&amp;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fabs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epsilon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&amp;&amp;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fabs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rhs.z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epsilon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&lt;&lt;(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Vector3&amp;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'('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 "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 "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&lt;&lt;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.z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')'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08221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A54DF-82DE-6725-9B77-B4FA7273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6C742-4484-661D-30B3-DC3F010F6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6.11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8B64D7-4F40-04FB-ED47-FF5AE6383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400" dirty="0"/>
              <a:t>연산자 오버로딩은 클래스와 열거형에 기존 연산자 의미를 정의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새로운 연산자를 만들 수 없음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우선순위, 결합 방향, 피연산자 개수를 변경할 수 없음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하나 이상의 피연산자는 사용자 정의 타입이어야 함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 err="1"/>
              <a:t>기본형끼리의</a:t>
            </a:r>
            <a:r>
              <a:rPr lang="ko-KR" altLang="ko-KR" sz="2400" dirty="0"/>
              <a:t> 연산을 다시 정의할 수 없음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멤버 연산자는 왼쪽 피연산자를 현재 객체로 사용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복합 대입, 인덱스와 상태 변경 연산은 멤버 함수가 자연스러움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비 멤버 연산자는 모든 피연산자를 매개변수로 받음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대칭적인 이항 연산과 왼쪽 피연산자의 형 변환을 지원하기 쉬움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비공개 멤버 접근이 필요할 때만 </a:t>
            </a:r>
            <a:r>
              <a:rPr lang="ko-KR" altLang="ko-KR" sz="2400" dirty="0" err="1"/>
              <a:t>friend를</a:t>
            </a:r>
            <a:r>
              <a:rPr lang="ko-KR" altLang="ko-KR" sz="2400" dirty="0"/>
              <a:t> 제한적으로 활용</a:t>
            </a:r>
          </a:p>
          <a:p>
            <a:pPr>
              <a:lnSpc>
                <a:spcPct val="12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77347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2A26-CF4E-0466-786F-09DD28FF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013E1-B2BB-0D5C-E88F-D9191A36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6.11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4EC73B-C48C-66A5-2A2C-4E8FF75D3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200" dirty="0"/>
              <a:t>복합 대입 연산자는 현재 객체를 변경하고 참조 반환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이항 산술 연산자는 왼쪽 값을 복사한 뒤 복합 대입 연산자를 적용하여 구현 가능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증가와 감소 연산자는 전위형과 후위형의 반환 의미를 구분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동등 비교는 객체가 나타내는 값의 의미를 기준으로 구현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자연스러운 순서가 있는 타입만 순서 비교 제공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 err="1"/>
              <a:t>삼방향</a:t>
            </a:r>
            <a:r>
              <a:rPr lang="ko-KR" altLang="ko-KR" sz="2200" dirty="0"/>
              <a:t> 비교 연산자와 기본 비교 생성으로 비교 코드 단순화 가능</a:t>
            </a:r>
          </a:p>
          <a:p>
            <a:pPr lvl="0">
              <a:lnSpc>
                <a:spcPct val="120000"/>
              </a:lnSpc>
            </a:pPr>
            <a:r>
              <a:rPr lang="ko-KR" altLang="en-US" sz="2200" dirty="0"/>
              <a:t>첨자 연산자</a:t>
            </a:r>
            <a:r>
              <a:rPr lang="ko-KR" altLang="ko-KR" sz="2200" dirty="0"/>
              <a:t>는 요소의 참조를 반환하여 배열 같은 접근 제공</a:t>
            </a:r>
            <a:endParaRPr lang="en-US" altLang="ko-KR" sz="2200" dirty="0"/>
          </a:p>
          <a:p>
            <a:pPr lvl="0">
              <a:lnSpc>
                <a:spcPct val="120000"/>
              </a:lnSpc>
            </a:pPr>
            <a:r>
              <a:rPr lang="ko-KR" altLang="ko-KR" sz="2200" dirty="0" err="1"/>
              <a:t>역참조</a:t>
            </a:r>
            <a:r>
              <a:rPr lang="ko-KR" altLang="ko-KR" sz="2200" dirty="0"/>
              <a:t> 연산자 </a:t>
            </a:r>
            <a:r>
              <a:rPr lang="en-US" altLang="ko-KR" sz="2200" dirty="0"/>
              <a:t>"</a:t>
            </a:r>
            <a:r>
              <a:rPr lang="ko-KR" altLang="ko-KR" sz="2200" dirty="0"/>
              <a:t>*</a:t>
            </a:r>
            <a:r>
              <a:rPr lang="en-US" altLang="ko-KR" sz="2200" dirty="0"/>
              <a:t>" </a:t>
            </a:r>
            <a:r>
              <a:rPr lang="ko-KR" altLang="en-US" sz="2200" dirty="0"/>
              <a:t>는</a:t>
            </a:r>
            <a:r>
              <a:rPr lang="ko-KR" altLang="ko-KR" sz="2200" dirty="0"/>
              <a:t> 대상 객체 자체에 접근, -&gt;는 객체 멤버에 직접 접근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일반 객체와 상수 객체는 </a:t>
            </a:r>
            <a:r>
              <a:rPr lang="ko-KR" altLang="ko-KR" sz="2200" dirty="0" err="1"/>
              <a:t>const</a:t>
            </a:r>
            <a:r>
              <a:rPr lang="ko-KR" altLang="ko-KR" sz="2200" dirty="0"/>
              <a:t> 오버로딩으로 접근 권한 구분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빠른 </a:t>
            </a:r>
            <a:r>
              <a:rPr lang="ko-KR" altLang="ko-KR" sz="2200" dirty="0" err="1"/>
              <a:t>비검사</a:t>
            </a:r>
            <a:r>
              <a:rPr lang="ko-KR" altLang="ko-KR" sz="2200" dirty="0"/>
              <a:t> 접근과 범위를 확인하는 </a:t>
            </a:r>
            <a:r>
              <a:rPr lang="ko-KR" altLang="ko-KR" sz="2200" dirty="0" err="1"/>
              <a:t>At</a:t>
            </a:r>
            <a:r>
              <a:rPr lang="ko-KR" altLang="ko-KR" sz="2200" dirty="0"/>
              <a:t>()을 구분 가능</a:t>
            </a:r>
          </a:p>
          <a:p>
            <a:pPr>
              <a:lnSpc>
                <a:spcPct val="120000"/>
              </a:lnSpc>
            </a:pP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2738411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E9C2B-C69E-15CB-771E-5579018A6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6BBE0-46C8-8C32-A1C6-2E97CA6A7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6.11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290D94-B666-04DA-8ADB-E8EE31816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200" dirty="0"/>
              <a:t>형 변환 연산자는 객체를 다른 타입으로 변환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반환 타입을 별도로 작성하지 않음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예상하지 못한 암시적 변환을 막으려면 </a:t>
            </a:r>
            <a:r>
              <a:rPr lang="ko-KR" altLang="ko-KR" sz="2200" dirty="0" err="1"/>
              <a:t>explicit</a:t>
            </a:r>
            <a:r>
              <a:rPr lang="ko-KR" altLang="ko-KR" sz="2200" dirty="0"/>
              <a:t> 지정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객체의 유효성 조건식에서 확인</a:t>
            </a:r>
            <a:r>
              <a:rPr lang="en-US" altLang="ko-KR" sz="2200" dirty="0"/>
              <a:t> </a:t>
            </a:r>
            <a:r>
              <a:rPr lang="ko-KR" altLang="en-US" sz="2200" dirty="0"/>
              <a:t>→</a:t>
            </a:r>
            <a:r>
              <a:rPr lang="ko-KR" altLang="ko-KR" sz="2200" dirty="0"/>
              <a:t> </a:t>
            </a:r>
            <a:r>
              <a:rPr lang="ko-KR" altLang="ko-KR" sz="2200" dirty="0" err="1"/>
              <a:t>explicit</a:t>
            </a:r>
            <a:r>
              <a:rPr lang="ko-KR" altLang="ko-KR" sz="2200" dirty="0"/>
              <a:t> </a:t>
            </a:r>
            <a:r>
              <a:rPr lang="ko-KR" altLang="ko-KR" sz="2200" dirty="0" err="1"/>
              <a:t>operator</a:t>
            </a:r>
            <a:r>
              <a:rPr lang="ko-KR" altLang="ko-KR" sz="2200" dirty="0"/>
              <a:t> </a:t>
            </a:r>
            <a:r>
              <a:rPr lang="ko-KR" altLang="ko-KR" sz="2200" dirty="0" err="1"/>
              <a:t>bool</a:t>
            </a:r>
            <a:r>
              <a:rPr lang="ko-KR" altLang="ko-KR" sz="2200" dirty="0"/>
              <a:t>()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변환 생성자와 형 변환 연산자를 같은 변환 경로에 중복 제공</a:t>
            </a:r>
            <a:r>
              <a:rPr lang="en-US" altLang="ko-KR" sz="2200" dirty="0"/>
              <a:t> </a:t>
            </a:r>
            <a:r>
              <a:rPr lang="ko-KR" altLang="en-US" sz="2200" dirty="0"/>
              <a:t>안함</a:t>
            </a:r>
            <a:endParaRPr lang="ko-KR" altLang="ko-KR" sz="2200" dirty="0"/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스트림 연산자는 왼쪽 피연산자가 스트림이므로 비 멤버 함수로 구현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스트림 참조를 반환하면 입출력 연결 가능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입력은 임시 값에 먼저 저장하고 검증 후 객체에 반영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연산자 오버로딩은 기본 연산자의 의미와 일관성을 유지할 때 활용</a:t>
            </a:r>
          </a:p>
          <a:p>
            <a:pPr lvl="0">
              <a:lnSpc>
                <a:spcPct val="120000"/>
              </a:lnSpc>
            </a:pPr>
            <a:r>
              <a:rPr lang="ko-KR" altLang="ko-KR" sz="2200" dirty="0"/>
              <a:t>동작이 특별하거나 여러 의미로 해석되면 이름이 있는 일반 함수가 더 적합</a:t>
            </a:r>
          </a:p>
          <a:p>
            <a:pPr>
              <a:lnSpc>
                <a:spcPct val="120000"/>
              </a:lnSpc>
            </a:pP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576899423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1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11298</TotalTime>
  <Words>5642</Words>
  <Application>Microsoft Office PowerPoint</Application>
  <PresentationFormat>화면 슬라이드 쇼(4:3)</PresentationFormat>
  <Paragraphs>587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7" baseType="lpstr">
      <vt:lpstr>HY견고딕</vt:lpstr>
      <vt:lpstr>Consolas</vt:lpstr>
      <vt:lpstr>Pretendard ExtraBold</vt:lpstr>
      <vt:lpstr>굴림</vt:lpstr>
      <vt:lpstr>Wingdings</vt:lpstr>
      <vt:lpstr>나눔바른고딕</vt:lpstr>
      <vt:lpstr>나눔고딕 ExtraBold</vt:lpstr>
      <vt:lpstr>가을체</vt:lpstr>
      <vt:lpstr>Arial</vt:lpstr>
      <vt:lpstr>기본 디자인</vt:lpstr>
      <vt:lpstr>06. 연산자 오버로딩</vt:lpstr>
      <vt:lpstr>6. 연산자 오버로딩과 사용자 정의 타입</vt:lpstr>
      <vt:lpstr>6.1 연산자 오버로딩의 목적</vt:lpstr>
      <vt:lpstr>6.1.1 사용자 정의 타입과 연산</vt:lpstr>
      <vt:lpstr>6.1.2 기존 연산자 의미 유지</vt:lpstr>
      <vt:lpstr>6.1.3 오버로딩 규칙</vt:lpstr>
      <vt:lpstr>6.1.3 오버로딩할 수 없는 연산자</vt:lpstr>
      <vt:lpstr>6.2 멤버 연산자와 비 멤버 연산자</vt:lpstr>
      <vt:lpstr>6.2.1 멤버 함수로 구현하는 연산자</vt:lpstr>
      <vt:lpstr>6.2.1 단항 연산자와 const</vt:lpstr>
      <vt:lpstr>6.2.2 비 멤버 함수로 구현하는 연산자</vt:lpstr>
      <vt:lpstr>6.2.3 friend와 대칭적인 이항 연산자</vt:lpstr>
      <vt:lpstr>6.3 복합 대입 연산자와 산술 연산자</vt:lpstr>
      <vt:lpstr>6.3.1 복합 대입 연산자</vt:lpstr>
      <vt:lpstr>6.3.1 상태 규칙이 있는 복합 대입</vt:lpstr>
      <vt:lpstr>6.3.2 이항 산술 연산자</vt:lpstr>
      <vt:lpstr>6.3.2 피연산자 순서</vt:lpstr>
      <vt:lpstr>6.3.3 단항 연산자</vt:lpstr>
      <vt:lpstr>6.3.4 증가와 감소 연산자</vt:lpstr>
      <vt:lpstr>6.4 비교 연산자</vt:lpstr>
      <vt:lpstr>6.4.1 동등 비교와 근사 비교</vt:lpstr>
      <vt:lpstr>6.4.2 순서 비교</vt:lpstr>
      <vt:lpstr>6.4.2 일관된 순서</vt:lpstr>
      <vt:lpstr>6.4.3 삼방향 비교 연산자</vt:lpstr>
      <vt:lpstr>6.4.3 비교 범주</vt:lpstr>
      <vt:lpstr>6.4.4 기본 비교 연산자 생성</vt:lpstr>
      <vt:lpstr>6.5 첨자 연산자</vt:lpstr>
      <vt:lpstr>6.5.3 범위 검사와 At()</vt:lpstr>
      <vt:lpstr>6.6 역참조와 멤버 접근 연산자</vt:lpstr>
      <vt:lpstr>6.7 형 변환 연산자</vt:lpstr>
      <vt:lpstr>6.7.2 explicit 형 변환 연산자</vt:lpstr>
      <vt:lpstr>6.7.3 explicit operator bool</vt:lpstr>
      <vt:lpstr>6.7.4 변환 생성자와 형 변환 연산자</vt:lpstr>
      <vt:lpstr>6.7.4 명시적 변환 또는 이름 있는 함수</vt:lpstr>
      <vt:lpstr>6.8 스트림 연산자</vt:lpstr>
      <vt:lpstr>6.8.1 출력 연산자</vt:lpstr>
      <vt:lpstr>6.8.2 입력 연산자</vt:lpstr>
      <vt:lpstr>6.8.3 비 멤버 함수와 friend 사용</vt:lpstr>
      <vt:lpstr>6.9 연산자 오버로딩의 설계 기준</vt:lpstr>
      <vt:lpstr>6.9.2 예상하지 못한 부작용 피하기</vt:lpstr>
      <vt:lpstr>6.9.3 일반 함수가 더 적합한 경우</vt:lpstr>
      <vt:lpstr>6.10 종합 예제: Vector3</vt:lpstr>
      <vt:lpstr>6.10 Vector3 산술 연산</vt:lpstr>
      <vt:lpstr>6.10 Vector3 비교와 출력</vt:lpstr>
      <vt:lpstr>6.11 학습 정리</vt:lpstr>
      <vt:lpstr>6.11 학습 정리</vt:lpstr>
      <vt:lpstr>6.11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395</cp:revision>
  <dcterms:created xsi:type="dcterms:W3CDTF">2003-11-30T16:03:20Z</dcterms:created>
  <dcterms:modified xsi:type="dcterms:W3CDTF">2026-08-19T00:52:05Z</dcterms:modified>
</cp:coreProperties>
</file>