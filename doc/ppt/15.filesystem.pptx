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49"/>
    </p:embeddedFont>
    <p:embeddedFont>
      <p:font typeface="Pretendard ExtraBold" panose="02000903000000020004" pitchFamily="50" charset="-127"/>
      <p:bold r:id="rId50"/>
    </p:embeddedFont>
    <p:embeddedFont>
      <p:font typeface="가을체" panose="02030600000101010101" pitchFamily="18" charset="-127"/>
      <p:regular r:id="rId51"/>
    </p:embeddedFont>
    <p:embeddedFont>
      <p:font typeface="나눔고딕 ExtraBold" panose="020D0904000000000000" pitchFamily="50" charset="-127"/>
      <p:bold r:id="rId52"/>
    </p:embeddedFont>
    <p:embeddedFont>
      <p:font typeface="나눔바른고딕" panose="020B0603020101020101" pitchFamily="50" charset="-127"/>
      <p:regular r:id="rId53"/>
      <p:bold r:id="rId5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FEFED"/>
    <a:srgbClr val="FFFFCC"/>
    <a:srgbClr val="CC00CC"/>
    <a:srgbClr val="CC00FF"/>
    <a:srgbClr val="C18401"/>
    <a:srgbClr val="FF9900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582" autoAdjust="0"/>
  </p:normalViewPr>
  <p:slideViewPr>
    <p:cSldViewPr>
      <p:cViewPr>
        <p:scale>
          <a:sx n="100" d="100"/>
          <a:sy n="100" d="100"/>
        </p:scale>
        <p:origin x="160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15. </a:t>
            </a:r>
            <a:r>
              <a:rPr lang="ko-KR" altLang="en-US" dirty="0"/>
              <a:t>입출력과 표준 유틸리티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E050F-B3AE-4C0D-DDB6-D84586A8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 </a:t>
            </a:r>
            <a:r>
              <a:rPr lang="ko-KR" altLang="en-US" dirty="0"/>
              <a:t>입출력과 표준 유틸리티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C10B4-F2FB-0376-1BFA-30DF8EC92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스트림 입출력</a:t>
            </a:r>
          </a:p>
          <a:p>
            <a:r>
              <a:rPr lang="ko-KR" altLang="en-US" dirty="0"/>
              <a:t>문자열 스트림</a:t>
            </a:r>
          </a:p>
          <a:p>
            <a:r>
              <a:rPr lang="ko-KR" altLang="en-US" dirty="0"/>
              <a:t>형식화된 출력</a:t>
            </a:r>
          </a:p>
          <a:p>
            <a:r>
              <a:rPr lang="ko-KR" altLang="en-US" dirty="0"/>
              <a:t>텍스트 파일 입출력</a:t>
            </a:r>
          </a:p>
          <a:p>
            <a:r>
              <a:rPr lang="ko-KR" altLang="en-US" dirty="0"/>
              <a:t>바이너리 파일 입출력</a:t>
            </a:r>
          </a:p>
          <a:p>
            <a:r>
              <a:rPr lang="ko-KR" altLang="en-US" dirty="0"/>
              <a:t>파일 시스템</a:t>
            </a:r>
          </a:p>
          <a:p>
            <a:r>
              <a:rPr lang="ko-KR" altLang="en-US" dirty="0"/>
              <a:t>난수</a:t>
            </a:r>
          </a:p>
          <a:p>
            <a:r>
              <a:rPr lang="ko-KR" altLang="en-US" dirty="0"/>
              <a:t>시간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723B09-9E93-791B-D09F-A28754222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039804"/>
              </p:ext>
            </p:extLst>
          </p:nvPr>
        </p:nvGraphicFramePr>
        <p:xfrm>
          <a:off x="4804469" y="836712"/>
          <a:ext cx="3325639" cy="3854160"/>
        </p:xfrm>
        <a:graphic>
          <a:graphicData uri="http://schemas.openxmlformats.org/drawingml/2006/table">
            <a:tbl>
              <a:tblPr/>
              <a:tblGrid>
                <a:gridCol w="3325639">
                  <a:extLst>
                    <a:ext uri="{9D8B030D-6E8A-4147-A177-3AD203B41FA5}">
                      <a16:colId xmlns:a16="http://schemas.microsoft.com/office/drawing/2014/main" val="505761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3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프로그램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콘솔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디렉터리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스트림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filesystem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b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random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/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chrono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 실패, 저장 형식,</a:t>
                      </a:r>
                      <a:b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재현성,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시간 단위 관리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401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0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3E12-0507-E0CF-96FE-BDE99F2D8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107EB-E66C-0BC7-744A-B69ABC1E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15.1.1 </a:t>
            </a:r>
            <a:r>
              <a:rPr lang="ko-KR" altLang="en-US" dirty="0"/>
              <a:t>입력 스트림과 출력 스트림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FD0EA-F574-9755-1ED5-295BF42A7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operator</a:t>
            </a:r>
            <a:r>
              <a:rPr lang="ko-KR" altLang="ko-KR" sz="2400" dirty="0"/>
              <a:t>&gt;&gt;는 타입에 맞게 문자를 해석</a:t>
            </a:r>
          </a:p>
          <a:p>
            <a:pPr lvl="0"/>
            <a:r>
              <a:rPr lang="ko-KR" altLang="ko-KR" sz="2400" dirty="0" err="1"/>
              <a:t>int에는</a:t>
            </a:r>
            <a:r>
              <a:rPr lang="ko-KR" altLang="ko-KR" sz="2400" dirty="0"/>
              <a:t> 정수 형식 필요</a:t>
            </a:r>
          </a:p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string은</a:t>
            </a:r>
            <a:r>
              <a:rPr lang="ko-KR" altLang="ko-KR" sz="2400" dirty="0"/>
              <a:t> 앞쪽 공백을 건너뛴 뒤 공백 전까지 읽음</a:t>
            </a:r>
            <a:endParaRPr lang="en-US" altLang="ko-KR" sz="2400" dirty="0"/>
          </a:p>
          <a:p>
            <a:pPr lvl="0"/>
            <a:r>
              <a:rPr lang="ko-KR" altLang="ko-KR" sz="2400" dirty="0"/>
              <a:t>공백을 포함한 한 줄은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getline</a:t>
            </a:r>
            <a:r>
              <a:rPr lang="ko-KR" altLang="ko-KR" sz="2400" dirty="0"/>
              <a:t>() 사용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151C1-1234-8AD1-356E-B6BF4BE9A671}"/>
              </a:ext>
            </a:extLst>
          </p:cNvPr>
          <p:cNvSpPr txBox="1"/>
          <p:nvPr/>
        </p:nvSpPr>
        <p:spPr>
          <a:xfrm>
            <a:off x="539750" y="2974300"/>
            <a:ext cx="331217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77492-A39B-2638-0A7A-132C130EF658}"/>
              </a:ext>
            </a:extLst>
          </p:cNvPr>
          <p:cNvSpPr txBox="1"/>
          <p:nvPr/>
        </p:nvSpPr>
        <p:spPr>
          <a:xfrm>
            <a:off x="3851920" y="2967275"/>
            <a:ext cx="4572000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입력: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Dark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20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→ "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Dark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"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Knight"에서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입력 실패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fullName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fullName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8808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CFD3-0CF2-6964-F38D-B4EA551F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0D053-16EE-07F9-3A24-0927FCD2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15.1.2 </a:t>
            </a:r>
            <a:r>
              <a:rPr lang="ko-KR" altLang="en-US" dirty="0"/>
              <a:t>스트림 상태와 오류 플래그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3D6461-824E-F17C-2526-289F41C3C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스트림은 입출력 결과를 상태 플래그로 기록</a:t>
            </a:r>
          </a:p>
          <a:p>
            <a:r>
              <a:rPr lang="ko-KR" altLang="en-US" dirty="0"/>
              <a:t>실패한 입력 스트림은 복구 전까지 후속 입력을 수행 안함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7EB8F-3B14-3489-9F5C-2E695C235AC7}"/>
              </a:ext>
            </a:extLst>
          </p:cNvPr>
          <p:cNvSpPr txBox="1"/>
          <p:nvPr/>
        </p:nvSpPr>
        <p:spPr>
          <a:xfrm>
            <a:off x="539750" y="1916832"/>
            <a:ext cx="589151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6AE4E1-9A31-60FC-AD9E-D777DC414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21154"/>
              </p:ext>
            </p:extLst>
          </p:nvPr>
        </p:nvGraphicFramePr>
        <p:xfrm>
          <a:off x="529878" y="4145040"/>
          <a:ext cx="5891510" cy="2213480"/>
        </p:xfrm>
        <a:graphic>
          <a:graphicData uri="http://schemas.openxmlformats.org/drawingml/2006/table">
            <a:tbl>
              <a:tblPr/>
              <a:tblGrid>
                <a:gridCol w="2191527">
                  <a:extLst>
                    <a:ext uri="{9D8B030D-6E8A-4147-A177-3AD203B41FA5}">
                      <a16:colId xmlns:a16="http://schemas.microsoft.com/office/drawing/2014/main" val="3623432842"/>
                    </a:ext>
                  </a:extLst>
                </a:gridCol>
                <a:gridCol w="3699983">
                  <a:extLst>
                    <a:ext uri="{9D8B030D-6E8A-4147-A177-3AD203B41FA5}">
                      <a16:colId xmlns:a16="http://schemas.microsoft.com/office/drawing/2014/main" val="4125858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상태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84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goodbit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오류 상태 없음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4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eofbit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 과정에서 파일 끝 도달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1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failbit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형식 변환 실패 등 복구 가능한 오류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6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badbit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장치 오류 등 심각한 오류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12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CA0F59-2847-984B-E026-B35A5637DFD5}"/>
              </a:ext>
            </a:extLst>
          </p:cNvPr>
          <p:cNvSpPr txBox="1"/>
          <p:nvPr/>
        </p:nvSpPr>
        <p:spPr>
          <a:xfrm>
            <a:off x="4355976" y="3351429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failbit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또는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badbit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확인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 검사 함수는 완전히 배타적이지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092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EB75-CB7B-DE4E-A7EC-B7B05704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D87C9-7968-B758-9166-CFE1A731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15.1.2 </a:t>
            </a:r>
            <a:r>
              <a:rPr lang="en-US" altLang="ko-KR" dirty="0" err="1"/>
              <a:t>eof</a:t>
            </a:r>
            <a:r>
              <a:rPr lang="en-US" altLang="ko-KR" dirty="0"/>
              <a:t> </a:t>
            </a:r>
            <a:r>
              <a:rPr lang="ko-KR" altLang="en-US" dirty="0"/>
              <a:t>반복 조건 주의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45844E-E629-8B3F-94B5-75A416E89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값을 읽는 연산 자체를 반복 조건으로 사용</a:t>
            </a:r>
          </a:p>
          <a:p>
            <a:r>
              <a:rPr lang="ko-KR" altLang="en-US" sz="2400" dirty="0"/>
              <a:t>마지막 값 처리 뒤의 읽기 실패에서 </a:t>
            </a:r>
            <a:r>
              <a:rPr lang="en-US" altLang="ko-KR" sz="2400" dirty="0"/>
              <a:t>EOF</a:t>
            </a:r>
            <a:r>
              <a:rPr lang="ko-KR" altLang="en-US" sz="2400" dirty="0"/>
              <a:t>가 설정될 수 있음</a:t>
            </a:r>
            <a:endParaRPr lang="en-US" altLang="ko-KR" sz="2400" dirty="0"/>
          </a:p>
          <a:p>
            <a:r>
              <a:rPr lang="ko-KR" altLang="ko-KR" sz="2400" dirty="0" err="1"/>
              <a:t>EOF가</a:t>
            </a:r>
            <a:r>
              <a:rPr lang="ko-KR" altLang="ko-KR" sz="2400" dirty="0"/>
              <a:t> 아닌 종료는 형식 오류나 장치 오류일 수 있음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46CDD-E2E9-4C46-2338-71F4AA13024D}"/>
              </a:ext>
            </a:extLst>
          </p:cNvPr>
          <p:cNvSpPr txBox="1"/>
          <p:nvPr/>
        </p:nvSpPr>
        <p:spPr>
          <a:xfrm>
            <a:off x="539750" y="2495331"/>
            <a:ext cx="3384475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AF4D7-D500-B67A-2633-FD644A691385}"/>
              </a:ext>
            </a:extLst>
          </p:cNvPr>
          <p:cNvSpPr txBox="1"/>
          <p:nvPr/>
        </p:nvSpPr>
        <p:spPr>
          <a:xfrm>
            <a:off x="3924225" y="2495331"/>
            <a:ext cx="4536207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권장하지 않음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반복 종료 원인 확인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836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4ACD-2F07-3A02-8F4F-7E2A9DB6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1AA3C-3760-FA3F-09CA-D344F81F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15.1.3 </a:t>
            </a:r>
            <a:r>
              <a:rPr lang="ko-KR" altLang="en-US" dirty="0"/>
              <a:t>입력 실패 복구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6FA5D9-1504-7A8C-3AB5-2CDAEBAFB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잘못된 입력을 다시 받으려면</a:t>
            </a:r>
            <a:br>
              <a:rPr lang="en-US" altLang="ko-KR" sz="2400" dirty="0"/>
            </a:br>
            <a:r>
              <a:rPr lang="ko-KR" altLang="en-US" sz="2400" dirty="0"/>
              <a:t>상태 플래그와 입력 버퍼를 모두 정리</a:t>
            </a:r>
            <a:br>
              <a:rPr lang="en-US" altLang="ko-KR" sz="2400" dirty="0"/>
            </a:br>
            <a:r>
              <a:rPr lang="ko-KR" altLang="en-US" sz="2400" dirty="0"/>
              <a:t>→ </a:t>
            </a:r>
            <a:r>
              <a:rPr lang="ko-KR" altLang="ko-KR" sz="2400" dirty="0"/>
              <a:t>잘못된 문자가 버퍼에 남으면 입력이 계속 실패</a:t>
            </a:r>
            <a:endParaRPr lang="en-US" altLang="ko-KR" sz="24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clear() </a:t>
            </a:r>
            <a:r>
              <a:rPr lang="ko-KR" altLang="en-US" sz="2400" dirty="0"/>
              <a:t>→ 오류 플래그 초기화</a:t>
            </a:r>
          </a:p>
          <a:p>
            <a:r>
              <a:rPr lang="en-US" altLang="ko-KR" sz="2400" dirty="0"/>
              <a:t>ignore()</a:t>
            </a:r>
            <a:r>
              <a:rPr lang="ko-KR" altLang="en-US" sz="2400" dirty="0"/>
              <a:t>→ 버퍼의 남은 잘못된 입력 제거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E1EBB-A0A4-DA82-C6A3-B885E4A9C25E}"/>
              </a:ext>
            </a:extLst>
          </p:cNvPr>
          <p:cNvSpPr txBox="1"/>
          <p:nvPr/>
        </p:nvSpPr>
        <p:spPr>
          <a:xfrm>
            <a:off x="539750" y="3200638"/>
            <a:ext cx="7491288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ReadInteger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"정수를 입력하세요: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.clear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.ignore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numeric_limits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streamsize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235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5B70-5AC2-AB5F-E764-48B254A5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71424-E4E5-3A36-04D5-D5FB7CC6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15.1.4 </a:t>
            </a:r>
            <a:r>
              <a:rPr lang="ko-KR" altLang="en-US" dirty="0"/>
              <a:t>형식 지정과 스트림 상태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67818-DDF8-CE6F-8CC2-E18DFB38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출력 스트림은 형식 상태를 보관</a:t>
            </a:r>
          </a:p>
          <a:p>
            <a:r>
              <a:rPr lang="ko-KR" altLang="en-US" sz="2400" dirty="0"/>
              <a:t>진법</a:t>
            </a:r>
            <a:r>
              <a:rPr lang="en-US" altLang="ko-KR" sz="2400" dirty="0"/>
              <a:t>, </a:t>
            </a:r>
            <a:r>
              <a:rPr lang="ko-KR" altLang="en-US" sz="2400" dirty="0"/>
              <a:t>정렬</a:t>
            </a:r>
            <a:r>
              <a:rPr lang="en-US" altLang="ko-KR" sz="2400" dirty="0"/>
              <a:t>, </a:t>
            </a:r>
            <a:r>
              <a:rPr lang="ko-KR" altLang="en-US" sz="2400" dirty="0"/>
              <a:t>폭</a:t>
            </a:r>
            <a:r>
              <a:rPr lang="en-US" altLang="ko-KR" sz="2400" dirty="0"/>
              <a:t>, </a:t>
            </a:r>
            <a:r>
              <a:rPr lang="ko-KR" altLang="en-US" sz="2400" dirty="0"/>
              <a:t>채움 문자</a:t>
            </a:r>
            <a:r>
              <a:rPr lang="en-US" altLang="ko-KR" sz="2400" dirty="0"/>
              <a:t>, </a:t>
            </a:r>
            <a:r>
              <a:rPr lang="ko-KR" altLang="en-US" sz="2400" dirty="0"/>
              <a:t>정밀도 설정 가능</a:t>
            </a:r>
          </a:p>
          <a:p>
            <a:r>
              <a:rPr lang="ko-KR" altLang="en-US" sz="2400" dirty="0"/>
              <a:t>일부 조정자는 변경할 때까지 유지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setw</a:t>
            </a:r>
            <a:r>
              <a:rPr lang="en-US" altLang="ko-KR" sz="2400" dirty="0"/>
              <a:t>()</a:t>
            </a:r>
            <a:r>
              <a:rPr lang="ko-KR" altLang="en-US" sz="2400" dirty="0"/>
              <a:t>는 바로 뒤의 한 필드에만 적용</a:t>
            </a:r>
            <a:endParaRPr lang="en-US" altLang="ko-KR" sz="2400" dirty="0"/>
          </a:p>
          <a:p>
            <a:r>
              <a:rPr lang="ko-KR" altLang="ko-KR" sz="2400" dirty="0"/>
              <a:t>라이브러리 성격의 출력 함수는 스트림 상태 복원 검토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3B2ED-195D-7B12-29EF-51774A03DF33}"/>
              </a:ext>
            </a:extLst>
          </p:cNvPr>
          <p:cNvSpPr txBox="1"/>
          <p:nvPr/>
        </p:nvSpPr>
        <p:spPr>
          <a:xfrm>
            <a:off x="539750" y="3284984"/>
            <a:ext cx="7560642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iomanip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10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85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211B-5FA7-69A9-675C-C7CA9479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29883-84BE-A50A-3E34-D8B2E5D7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15.1.5 </a:t>
            </a:r>
            <a:r>
              <a:rPr lang="ko-KR" altLang="en-US" dirty="0"/>
              <a:t>사용자 정의 타입의 입력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C76549-DBFC-EB34-3099-04E5D6DC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입력 실패 시 객체가 일부만 변경되지 않도록 임시 변수에 읽음</a:t>
            </a:r>
          </a:p>
          <a:p>
            <a:r>
              <a:rPr lang="ko-KR" altLang="en-US" sz="2400" dirty="0"/>
              <a:t>모든 입력과 의미 검사가 성공한 뒤 객체 갱신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failbit는</a:t>
            </a:r>
            <a:r>
              <a:rPr lang="ko-KR" altLang="ko-KR" sz="2400" dirty="0"/>
              <a:t> 형식 자체의 의미 오류를 표현할 때 사용 가능</a:t>
            </a:r>
          </a:p>
          <a:p>
            <a:pPr lvl="0"/>
            <a:r>
              <a:rPr lang="ko-KR" altLang="ko-KR" sz="2400" dirty="0"/>
              <a:t>저장 형식은 </a:t>
            </a:r>
            <a:r>
              <a:rPr lang="ko-KR" altLang="ko-KR" sz="2400" dirty="0" err="1"/>
              <a:t>구분자</a:t>
            </a:r>
            <a:r>
              <a:rPr lang="ko-KR" altLang="ko-KR" sz="2400" dirty="0"/>
              <a:t>, 공백, 버전 규칙 필요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652A8-F5CB-76F1-DAB8-9C4D7366C23F}"/>
              </a:ext>
            </a:extLst>
          </p:cNvPr>
          <p:cNvSpPr txBox="1"/>
          <p:nvPr/>
        </p:nvSpPr>
        <p:spPr>
          <a:xfrm>
            <a:off x="539750" y="2687975"/>
            <a:ext cx="7632650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||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input.setstate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failbit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94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3126-E72A-FB0B-4CD1-19D75938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0E5BB-C81D-71B4-9A7D-8000E111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15.1.6 </a:t>
            </a:r>
            <a:r>
              <a:rPr lang="ko-KR" altLang="en-US" dirty="0"/>
              <a:t>버퍼링과 출력 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BD330-243C-EEC3-954B-235F8756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출력 스트림은 데이터를 버퍼에 모은 뒤 장치로 보낼 수 있음</a:t>
            </a:r>
          </a:p>
          <a:p>
            <a:r>
              <a:rPr lang="ko-KR" altLang="en-US" sz="2400" dirty="0"/>
              <a:t>작은 출력마다 장치 접근을 반복하지 않아 성능에 유리</a:t>
            </a:r>
          </a:p>
          <a:p>
            <a:r>
              <a:rPr lang="ko-KR" altLang="en-US" sz="2400" dirty="0"/>
              <a:t>즉시 출력이 필요하면 </a:t>
            </a:r>
            <a:r>
              <a:rPr lang="en-US" altLang="ko-KR" sz="2400" dirty="0"/>
              <a:t>std::flush</a:t>
            </a:r>
          </a:p>
          <a:p>
            <a:r>
              <a:rPr lang="ko-KR" altLang="ko-KR" sz="2400" dirty="0"/>
              <a:t>반복 출력에서는 불필요한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endl</a:t>
            </a:r>
            <a:r>
              <a:rPr lang="ko-KR" altLang="ko-KR" sz="2400" dirty="0"/>
              <a:t> 사용 지양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A02D0-28D8-4F77-8EB5-EF3D1A02EF0F}"/>
              </a:ext>
            </a:extLst>
          </p:cNvPr>
          <p:cNvSpPr txBox="1"/>
          <p:nvPr/>
        </p:nvSpPr>
        <p:spPr>
          <a:xfrm>
            <a:off x="543695" y="2792228"/>
            <a:ext cx="402830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flush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Completed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Completed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239A1-75F6-56C0-DEE7-CFDD17798EA7}"/>
              </a:ext>
            </a:extLst>
          </p:cNvPr>
          <p:cNvSpPr txBox="1"/>
          <p:nvPr/>
        </p:nvSpPr>
        <p:spPr>
          <a:xfrm>
            <a:off x="543695" y="4368006"/>
            <a:ext cx="4028306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i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944FD07-D797-BE2C-DA3D-9860E729F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2069"/>
              </p:ext>
            </p:extLst>
          </p:nvPr>
        </p:nvGraphicFramePr>
        <p:xfrm>
          <a:off x="5008192" y="3680536"/>
          <a:ext cx="3592113" cy="1764688"/>
        </p:xfrm>
        <a:graphic>
          <a:graphicData uri="http://schemas.openxmlformats.org/drawingml/2006/table">
            <a:tbl>
              <a:tblPr/>
              <a:tblGrid>
                <a:gridCol w="1520314">
                  <a:extLst>
                    <a:ext uri="{9D8B030D-6E8A-4147-A177-3AD203B41FA5}">
                      <a16:colId xmlns:a16="http://schemas.microsoft.com/office/drawing/2014/main" val="3644849336"/>
                    </a:ext>
                  </a:extLst>
                </a:gridCol>
                <a:gridCol w="2071799">
                  <a:extLst>
                    <a:ext uri="{9D8B030D-6E8A-4147-A177-3AD203B41FA5}">
                      <a16:colId xmlns:a16="http://schemas.microsoft.com/office/drawing/2014/main" val="2180502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40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'\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'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줄바꿈 문자 출력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04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flush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버퍼 강제 출력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380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endl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줄바꿈 + 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flush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23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6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3904F-687F-936B-F804-118748C1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01E9A-F623-8419-4F91-1371918B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15.1.7 </a:t>
            </a:r>
            <a:r>
              <a:rPr lang="ko-KR" altLang="en-US" dirty="0"/>
              <a:t>형식 입력과 행 입력의 혼합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0BBA21-F4EA-968C-53C9-007FACBEE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operator&gt;&gt;</a:t>
            </a:r>
            <a:r>
              <a:rPr lang="ko-KR" altLang="en-US" sz="2400" dirty="0"/>
              <a:t>는 값을 읽은 뒤 구분 문자를 버퍼에 남길 수 있음</a:t>
            </a:r>
          </a:p>
          <a:p>
            <a:r>
              <a:rPr lang="ko-KR" altLang="en-US" sz="2400" dirty="0"/>
              <a:t>정수 입력 뒤 </a:t>
            </a:r>
            <a:r>
              <a:rPr lang="en-US" altLang="ko-KR" sz="2400" dirty="0" err="1"/>
              <a:t>getline</a:t>
            </a:r>
            <a:r>
              <a:rPr lang="en-US" altLang="ko-KR" sz="2400" dirty="0"/>
              <a:t>()</a:t>
            </a:r>
            <a:r>
              <a:rPr lang="ko-KR" altLang="en-US" sz="2400" dirty="0"/>
              <a:t>을 바로 호출하면 남은 </a:t>
            </a:r>
            <a:r>
              <a:rPr lang="ko-KR" altLang="en-US" sz="2400" dirty="0" err="1"/>
              <a:t>줄바꿈만</a:t>
            </a:r>
            <a:r>
              <a:rPr lang="ko-KR" altLang="en-US" sz="2400" dirty="0"/>
              <a:t> 읽을 수 있음</a:t>
            </a:r>
            <a:endParaRPr lang="en-US" altLang="ko-KR" sz="2400" dirty="0"/>
          </a:p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ws는</a:t>
            </a:r>
            <a:r>
              <a:rPr lang="ko-KR" altLang="ko-KR" sz="2400" dirty="0"/>
              <a:t> </a:t>
            </a:r>
            <a:r>
              <a:rPr lang="ko-KR" altLang="ko-KR" sz="2400" dirty="0" err="1"/>
              <a:t>줄바꿈뿐</a:t>
            </a:r>
            <a:r>
              <a:rPr lang="ko-KR" altLang="ko-KR" sz="2400" dirty="0"/>
              <a:t> 아니라 이어지는 모든 공백 제거</a:t>
            </a:r>
          </a:p>
          <a:p>
            <a:pPr lvl="0"/>
            <a:r>
              <a:rPr lang="ko-KR" altLang="ko-KR" sz="2400" dirty="0"/>
              <a:t>앞쪽 공백 보존이 필요하면 </a:t>
            </a:r>
            <a:r>
              <a:rPr lang="ko-KR" altLang="ko-KR" sz="2400" dirty="0" err="1"/>
              <a:t>ignore</a:t>
            </a:r>
            <a:r>
              <a:rPr lang="ko-KR" altLang="ko-KR" sz="2400" dirty="0"/>
              <a:t>() 방식 검토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EED88-DA26-416E-8117-A7BCDC56413B}"/>
              </a:ext>
            </a:extLst>
          </p:cNvPr>
          <p:cNvSpPr txBox="1"/>
          <p:nvPr/>
        </p:nvSpPr>
        <p:spPr>
          <a:xfrm>
            <a:off x="539750" y="2780928"/>
            <a:ext cx="7704658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현재 행의 나머지 제거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.ignore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numeric_limits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streamsize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앞쪽 공백 제거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82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EE93-3DDC-069D-6430-A0F64E46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BBBEB-1A34-4C46-28D3-6E7D818C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 </a:t>
            </a:r>
            <a:r>
              <a:rPr lang="ko-KR" altLang="en-US" dirty="0"/>
              <a:t>문자열 스트림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289BB-A59F-525A-D5AA-B22E0D195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std::string</a:t>
            </a:r>
            <a:r>
              <a:rPr lang="ko-KR" altLang="en-US" sz="2400" dirty="0"/>
              <a:t>을 입력 또는 출력 장치처럼 사용</a:t>
            </a:r>
          </a:p>
          <a:p>
            <a:r>
              <a:rPr lang="ko-KR" altLang="en-US" sz="2400" dirty="0"/>
              <a:t>문자열 파싱</a:t>
            </a:r>
          </a:p>
          <a:p>
            <a:r>
              <a:rPr lang="ko-KR" altLang="en-US" sz="2400" dirty="0"/>
              <a:t>메시지 조립</a:t>
            </a:r>
          </a:p>
          <a:p>
            <a:r>
              <a:rPr lang="ko-KR" altLang="en-US" sz="2400" dirty="0"/>
              <a:t>테스트 코드에서 활용</a:t>
            </a:r>
          </a:p>
          <a:p>
            <a:r>
              <a:rPr lang="ko-KR" altLang="en-US" sz="2400" dirty="0"/>
              <a:t>콘솔이나 파일 없이 스트림 형식 변환 사용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CA405-D9DE-3E60-8BD2-7C6C3C23074F}"/>
              </a:ext>
            </a:extLst>
          </p:cNvPr>
          <p:cNvSpPr txBox="1"/>
          <p:nvPr/>
        </p:nvSpPr>
        <p:spPr>
          <a:xfrm>
            <a:off x="467544" y="3013501"/>
            <a:ext cx="7704658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"1001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10"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istringstream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1001,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"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E2312-BE65-6AFE-1C71-AB95C3397178}"/>
              </a:ext>
            </a:extLst>
          </p:cNvPr>
          <p:cNvSpPr txBox="1"/>
          <p:nvPr/>
        </p:nvSpPr>
        <p:spPr>
          <a:xfrm>
            <a:off x="4788123" y="4941168"/>
            <a:ext cx="3983534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tabLst/>
              <a:defRPr/>
            </a:pP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</a:t>
            </a:r>
            <a:r>
              <a:rPr kumimoji="1" lang="ko-KR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문자열 안의 공백은</a:t>
            </a:r>
            <a:b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kumimoji="1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</a:t>
            </a:r>
            <a:r>
              <a:rPr kumimoji="1" lang="ko-KR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형식 입력에서 구분자로 사용</a:t>
            </a:r>
            <a:endParaRPr kumimoji="1" lang="ko-KR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587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8A1F-C5F9-13E4-EF2B-50C18242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5CB96-0B30-F6B5-1B20-1F4D0B17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15.2.1 </a:t>
            </a:r>
            <a:r>
              <a:rPr lang="ko-KR" altLang="en-US" dirty="0" err="1"/>
              <a:t>구분자</a:t>
            </a:r>
            <a:r>
              <a:rPr lang="ko-KR" altLang="en-US" dirty="0"/>
              <a:t> 기반 문자열 파싱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9C8189-FD58-DF22-F73A-24049B041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행 전체를 읽고 내부를 구분자로 분리</a:t>
            </a:r>
          </a:p>
          <a:p>
            <a:pPr lvl="0"/>
            <a:r>
              <a:rPr lang="ko-KR" altLang="ko-KR" sz="2400" dirty="0"/>
              <a:t>숫자 필드는 별도 변환 필요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960B5-7737-F8AE-97B0-E89D18495A90}"/>
              </a:ext>
            </a:extLst>
          </p:cNvPr>
          <p:cNvSpPr txBox="1"/>
          <p:nvPr/>
        </p:nvSpPr>
        <p:spPr>
          <a:xfrm>
            <a:off x="539750" y="1772816"/>
            <a:ext cx="5616426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"1001,Potion,10"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istringstream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','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','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E7D681B-FBB6-3C59-7041-7E8FC3CC8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53875"/>
              </p:ext>
            </p:extLst>
          </p:nvPr>
        </p:nvGraphicFramePr>
        <p:xfrm>
          <a:off x="539750" y="4653136"/>
          <a:ext cx="5616426" cy="1315896"/>
        </p:xfrm>
        <a:graphic>
          <a:graphicData uri="http://schemas.openxmlformats.org/drawingml/2006/table">
            <a:tbl>
              <a:tblPr/>
              <a:tblGrid>
                <a:gridCol w="2304058">
                  <a:extLst>
                    <a:ext uri="{9D8B030D-6E8A-4147-A177-3AD203B41FA5}">
                      <a16:colId xmlns:a16="http://schemas.microsoft.com/office/drawing/2014/main" val="1587479056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4061093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변환 방식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605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 스트림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타입, 공백 규칙 처리 편리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from_chars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 숫자 변환, 예외 없음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8083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C5243B-8789-9347-7BD8-8FD60BD7B1B1}"/>
              </a:ext>
            </a:extLst>
          </p:cNvPr>
          <p:cNvSpPr txBox="1"/>
          <p:nvPr/>
        </p:nvSpPr>
        <p:spPr>
          <a:xfrm>
            <a:off x="4788123" y="3113816"/>
            <a:ext cx="3816424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형식이 단순하고 빠른 숫자 변환이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필요하면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from_chars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검토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ko-KR" sz="12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스트림 방식은 여러 타입을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문법으로 처리하기 쉬움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85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514D-E498-7355-5CE9-FEF2B138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31D6E-F7E8-CA34-8DA5-967FD417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15.2.3 </a:t>
            </a:r>
            <a:r>
              <a:rPr lang="ko-KR" altLang="en-US" dirty="0"/>
              <a:t>입력 전체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4C758-ED8B-FEDB-57EC-CF6AA7F13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입력 성공만 확인하면 일부 문자열만 변환될 수 있음</a:t>
            </a:r>
          </a:p>
          <a:p>
            <a:r>
              <a:rPr lang="en-US" altLang="ko-KR" sz="2400" dirty="0"/>
              <a:t>"100abc"</a:t>
            </a:r>
            <a:r>
              <a:rPr lang="ko-KR" altLang="en-US" sz="2400" dirty="0"/>
              <a:t>에서 정수 </a:t>
            </a:r>
            <a:r>
              <a:rPr lang="en-US" altLang="ko-KR" sz="2400" dirty="0"/>
              <a:t>100</a:t>
            </a:r>
            <a:r>
              <a:rPr lang="ko-KR" altLang="en-US" sz="2400" dirty="0"/>
              <a:t>을 읽는 시점까지는 성공</a:t>
            </a:r>
          </a:p>
          <a:p>
            <a:r>
              <a:rPr lang="ko-KR" altLang="en-US" sz="2400" dirty="0"/>
              <a:t>전체가 형식에 맞는지 확인하려면 남은 문자 검사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C2106-422B-C1C0-7E0E-DD89F15349C9}"/>
              </a:ext>
            </a:extLst>
          </p:cNvPr>
          <p:cNvSpPr txBox="1"/>
          <p:nvPr/>
        </p:nvSpPr>
        <p:spPr>
          <a:xfrm>
            <a:off x="574055" y="2204864"/>
            <a:ext cx="5726138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ParseInteger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istringstream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CBD0A-8175-9BF8-B770-DB0DACA96DEE}"/>
              </a:ext>
            </a:extLst>
          </p:cNvPr>
          <p:cNvSpPr txBox="1"/>
          <p:nvPr/>
        </p:nvSpPr>
        <p:spPr>
          <a:xfrm>
            <a:off x="4370685" y="5412991"/>
            <a:ext cx="419926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ws는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끝의 공백 제거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추출 결과를 기준으로 오류 처리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377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E21C-73AD-F93F-B9A8-8B3EBCD6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52199-3C04-9F19-363A-3FC7EE3A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 </a:t>
            </a:r>
            <a:r>
              <a:rPr lang="ko-KR" altLang="en-US" dirty="0"/>
              <a:t>형식화된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39EB6D-ECCD-9C5E-B94A-2213AD02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값의 의미를 바꾸지 않고 출력 표현을 정함</a:t>
            </a:r>
          </a:p>
          <a:p>
            <a:r>
              <a:rPr lang="ko-KR" altLang="en-US" dirty="0"/>
              <a:t>표</a:t>
            </a:r>
            <a:r>
              <a:rPr lang="en-US" altLang="ko-KR" dirty="0"/>
              <a:t>, </a:t>
            </a:r>
            <a:r>
              <a:rPr lang="ko-KR" altLang="en-US" dirty="0"/>
              <a:t>로그</a:t>
            </a:r>
            <a:r>
              <a:rPr lang="en-US" altLang="ko-KR" dirty="0"/>
              <a:t>, </a:t>
            </a:r>
            <a:r>
              <a:rPr lang="ko-KR" altLang="en-US" dirty="0"/>
              <a:t>사용자 인터페이스 가독성 개선</a:t>
            </a:r>
          </a:p>
          <a:p>
            <a:r>
              <a:rPr lang="ko-KR" altLang="en-US" dirty="0"/>
              <a:t>스트림 조정자와 </a:t>
            </a:r>
            <a:r>
              <a:rPr lang="en-US" altLang="ko-KR" dirty="0"/>
              <a:t>std::format() </a:t>
            </a:r>
            <a:r>
              <a:rPr lang="ko-KR" altLang="en-US" dirty="0"/>
              <a:t>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0C089-DAE1-4B37-54BA-74183B6510CD}"/>
              </a:ext>
            </a:extLst>
          </p:cNvPr>
          <p:cNvSpPr txBox="1"/>
          <p:nvPr/>
        </p:nvSpPr>
        <p:spPr>
          <a:xfrm>
            <a:off x="546596" y="2708920"/>
            <a:ext cx="4529460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iomanip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1500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AC851-50DE-443D-8697-900F5E4B0034}"/>
              </a:ext>
            </a:extLst>
          </p:cNvPr>
          <p:cNvSpPr txBox="1"/>
          <p:nvPr/>
        </p:nvSpPr>
        <p:spPr>
          <a:xfrm>
            <a:off x="5076056" y="5406315"/>
            <a:ext cx="2663850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출력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       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1500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79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9F85-3499-F86C-DD00-D19519FB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2A272-5D69-3AF0-1BD1-83D60B2F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15.3.2 std::format (C++20)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9EAE2-D6F0-A02A-AFE8-D021C51F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형식 문자열에 값을 대입해 </a:t>
            </a:r>
            <a:r>
              <a:rPr lang="en-US" altLang="ko-KR" dirty="0"/>
              <a:t>std::string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스트림 상태를 변경하지 않음</a:t>
            </a:r>
          </a:p>
          <a:p>
            <a:r>
              <a:rPr lang="ko-KR" altLang="en-US" dirty="0"/>
              <a:t>호출 하나의 형식이 문자열 안에 표현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68CF7-3095-905D-2718-1ED656B40800}"/>
              </a:ext>
            </a:extLst>
          </p:cNvPr>
          <p:cNvSpPr txBox="1"/>
          <p:nvPr/>
        </p:nvSpPr>
        <p:spPr>
          <a:xfrm>
            <a:off x="539750" y="2564904"/>
            <a:ext cx="457200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{},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{}"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"{1}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{0}"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F1EA4-F9AB-A1D2-40FD-2E4CC83F0C0D}"/>
              </a:ext>
            </a:extLst>
          </p:cNvPr>
          <p:cNvSpPr txBox="1"/>
          <p:nvPr/>
        </p:nvSpPr>
        <p:spPr>
          <a:xfrm>
            <a:off x="4283968" y="5027117"/>
            <a:ext cx="432028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{}는 교체 필드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인수 위치를 명시할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자동 인덱스와 수동 인덱스를 한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형식 문자열에서 섞지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2469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56FE-6056-B0C7-8547-159E353A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121EF-3DD3-75CF-C1F7-674A808F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15.3.3 </a:t>
            </a:r>
            <a:r>
              <a:rPr lang="ko-KR" altLang="en-US" dirty="0"/>
              <a:t>형식 문자열과 서식 지정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9FF94-E613-3339-29C6-5809BE3A3788}"/>
              </a:ext>
            </a:extLst>
          </p:cNvPr>
          <p:cNvSpPr txBox="1"/>
          <p:nvPr/>
        </p:nvSpPr>
        <p:spPr>
          <a:xfrm>
            <a:off x="4716016" y="764704"/>
            <a:ext cx="4005958" cy="39703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"{:8}"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"{:08}"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"{:+}"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"{:#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255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"{:&lt;10}"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"{:&gt;10}"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"{:^10}"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center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"{:*^10}"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title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"{:.2f}"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12.3456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"{:.3e}"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12.3456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"{:8.2f}"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12.3456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4142BE3-A697-E67A-4AF9-53A7F757D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590623"/>
              </p:ext>
            </p:extLst>
          </p:nvPr>
        </p:nvGraphicFramePr>
        <p:xfrm>
          <a:off x="559568" y="764704"/>
          <a:ext cx="4012432" cy="3970320"/>
        </p:xfrm>
        <a:graphic>
          <a:graphicData uri="http://schemas.openxmlformats.org/drawingml/2006/table">
            <a:tbl>
              <a:tblPr/>
              <a:tblGrid>
                <a:gridCol w="1492152">
                  <a:extLst>
                    <a:ext uri="{9D8B030D-6E8A-4147-A177-3AD203B41FA5}">
                      <a16:colId xmlns:a16="http://schemas.microsoft.com/office/drawing/2014/main" val="315607323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181545852"/>
                    </a:ext>
                  </a:extLst>
                </a:gridCol>
              </a:tblGrid>
              <a:tr h="623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서식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814255"/>
                  </a:ext>
                </a:extLst>
              </a:tr>
              <a:tr h="6692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폭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최소 출력 너비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196091"/>
                  </a:ext>
                </a:extLst>
              </a:tr>
              <a:tr h="6692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채움 문자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남은 칸을 채울 문자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59674"/>
                  </a:ext>
                </a:extLst>
              </a:tr>
              <a:tr h="6692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정렬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왼쪽, 오른쪽, 가운데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94903"/>
                  </a:ext>
                </a:extLst>
              </a:tr>
              <a:tr h="6692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정밀도</a:t>
                      </a:r>
                      <a:endParaRPr lang="ko-KR" sz="36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부동소수점 자릿수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22368"/>
                  </a:ext>
                </a:extLst>
              </a:tr>
              <a:tr h="6692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진법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2진, 8진, 10진, 16진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121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7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2DC4-98AB-438F-2CE5-04DE47B4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6D22-F705-6F62-C1CD-1D5FCFAF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 </a:t>
            </a:r>
            <a:r>
              <a:rPr lang="ko-KR" altLang="en-US" dirty="0"/>
              <a:t>텍스트 파일 입출력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9DBCA-A1FF-39A6-83B7-899194A98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파일은 데이터를 문자 형태로 저장</a:t>
            </a:r>
          </a:p>
          <a:p>
            <a:r>
              <a:rPr lang="ko-KR" altLang="en-US" dirty="0"/>
              <a:t>사람이 읽고 수정하기 쉬움</a:t>
            </a:r>
          </a:p>
          <a:p>
            <a:r>
              <a:rPr lang="ko-KR" altLang="en-US" dirty="0" err="1"/>
              <a:t>구분자</a:t>
            </a:r>
            <a:r>
              <a:rPr lang="en-US" altLang="ko-KR" dirty="0"/>
              <a:t>, </a:t>
            </a:r>
            <a:r>
              <a:rPr lang="ko-KR" altLang="en-US" dirty="0"/>
              <a:t>인코딩</a:t>
            </a:r>
            <a:r>
              <a:rPr lang="en-US" altLang="ko-KR" dirty="0"/>
              <a:t>, </a:t>
            </a:r>
            <a:r>
              <a:rPr lang="ko-KR" altLang="en-US" dirty="0"/>
              <a:t>형식 규칙 필요</a:t>
            </a:r>
          </a:p>
          <a:p>
            <a:r>
              <a:rPr lang="ko-KR" altLang="en-US" dirty="0"/>
              <a:t>숫자를 문자열로 변환하는 비용 존재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7E55E-0385-36DA-F78E-752A3F1700EB}"/>
              </a:ext>
            </a:extLst>
          </p:cNvPr>
          <p:cNvSpPr txBox="1"/>
          <p:nvPr/>
        </p:nvSpPr>
        <p:spPr>
          <a:xfrm>
            <a:off x="539750" y="2924944"/>
            <a:ext cx="547241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&lt;&lt;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3775E-B6E4-7212-4D87-E8A2E1B9F242}"/>
              </a:ext>
            </a:extLst>
          </p:cNvPr>
          <p:cNvSpPr txBox="1"/>
          <p:nvPr/>
        </p:nvSpPr>
        <p:spPr>
          <a:xfrm>
            <a:off x="4788123" y="3717032"/>
            <a:ext cx="417646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 스트림 객체 생성</a:t>
            </a:r>
            <a:r>
              <a:rPr lang="en-US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오픈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열기 실패 시 스트림은 실패 상태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3563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D5AC-5AD7-DFB9-EE97-BED337D8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D7F13-804A-13AC-E2F2-994675EB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15.4.2 </a:t>
            </a:r>
            <a:r>
              <a:rPr lang="ko-KR" altLang="en-US" dirty="0"/>
              <a:t>파일 열기 모드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CBFEB2C-DC4B-3726-9BAC-09F8827478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139988"/>
              </p:ext>
            </p:extLst>
          </p:nvPr>
        </p:nvGraphicFramePr>
        <p:xfrm>
          <a:off x="395536" y="764704"/>
          <a:ext cx="5616624" cy="3111064"/>
        </p:xfrm>
        <a:graphic>
          <a:graphicData uri="http://schemas.openxmlformats.org/drawingml/2006/table">
            <a:tbl>
              <a:tblPr/>
              <a:tblGrid>
                <a:gridCol w="2016224">
                  <a:extLst>
                    <a:ext uri="{9D8B030D-6E8A-4147-A177-3AD203B41FA5}">
                      <a16:colId xmlns:a16="http://schemas.microsoft.com/office/drawing/2014/main" val="2244347606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433156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모드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2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 허용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72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out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쓰기 허용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443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app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쓰기를 파일 끝에서 수행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624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ate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파일을 연 직후 위치를 끝으로 이동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90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trunc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내용 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293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ios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binary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텍스트 변환 없이 바이트 단위 처리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564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941166-FC8C-F512-1851-9C34B5BB97ED}"/>
              </a:ext>
            </a:extLst>
          </p:cNvPr>
          <p:cNvSpPr txBox="1"/>
          <p:nvPr/>
        </p:nvSpPr>
        <p:spPr>
          <a:xfrm>
            <a:off x="395536" y="4296555"/>
            <a:ext cx="5976664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CAB08-BC7E-E4F1-46C6-49A0B1A853C3}"/>
              </a:ext>
            </a:extLst>
          </p:cNvPr>
          <p:cNvSpPr txBox="1"/>
          <p:nvPr/>
        </p:nvSpPr>
        <p:spPr>
          <a:xfrm>
            <a:off x="3491880" y="4634466"/>
            <a:ext cx="5184576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기존 파일 내용을 자를 수 있음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1A0D3-3314-8F4D-DC2C-AEFCA1A55B3A}"/>
              </a:ext>
            </a:extLst>
          </p:cNvPr>
          <p:cNvSpPr txBox="1"/>
          <p:nvPr/>
        </p:nvSpPr>
        <p:spPr>
          <a:xfrm>
            <a:off x="395536" y="5530712"/>
            <a:ext cx="5976664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C600C-6401-18B2-230E-09D6C1846ACE}"/>
              </a:ext>
            </a:extLst>
          </p:cNvPr>
          <p:cNvSpPr txBox="1"/>
          <p:nvPr/>
        </p:nvSpPr>
        <p:spPr>
          <a:xfrm>
            <a:off x="3491880" y="5867980"/>
            <a:ext cx="5184576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기존 내용 뒤에 추가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812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564F-317E-3B04-8B17-9590F872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A9C2D-DFBC-47BF-30E2-232A2271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15.4.3 </a:t>
            </a:r>
            <a:r>
              <a:rPr lang="ko-KR" altLang="en-US" dirty="0"/>
              <a:t>행 단위 입력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34CE8-D21A-36D7-EF2A-776C53D9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한 행이 하나의 레코드이면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getline</a:t>
            </a:r>
            <a:r>
              <a:rPr lang="en-US" altLang="ko-KR" sz="2400" dirty="0"/>
              <a:t>() </a:t>
            </a:r>
            <a:r>
              <a:rPr lang="ko-KR" altLang="en-US" sz="2400" dirty="0"/>
              <a:t>사용</a:t>
            </a:r>
          </a:p>
          <a:p>
            <a:r>
              <a:rPr lang="ko-KR" altLang="en-US" sz="2400" dirty="0"/>
              <a:t>줄바꿈 문자는 결과 문자열에 포함되지 않음</a:t>
            </a:r>
          </a:p>
          <a:p>
            <a:r>
              <a:rPr lang="ko-KR" altLang="en-US" sz="2400" dirty="0"/>
              <a:t>빈 행도 정상 데이터일 수 있음</a:t>
            </a:r>
          </a:p>
          <a:p>
            <a:r>
              <a:rPr lang="ko-KR" altLang="en-US" sz="2400" dirty="0"/>
              <a:t>행 번호를 기록하면 오류 위치 추적이 쉬움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490EE-163F-5DA5-36CF-BFE397975890}"/>
              </a:ext>
            </a:extLst>
          </p:cNvPr>
          <p:cNvSpPr txBox="1"/>
          <p:nvPr/>
        </p:nvSpPr>
        <p:spPr>
          <a:xfrm>
            <a:off x="546993" y="2656657"/>
            <a:ext cx="6120680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continue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config.txt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'#'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continue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54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08E8-3E42-1AE8-A550-FCB5C23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57922-9E9F-83F5-4E33-B5AB5E71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15.4.4 </a:t>
            </a:r>
            <a:r>
              <a:rPr lang="ko-KR" altLang="en-US" dirty="0" err="1"/>
              <a:t>구분자</a:t>
            </a:r>
            <a:r>
              <a:rPr lang="ko-KR" altLang="en-US" dirty="0"/>
              <a:t> 기반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B78E-A6E2-178D-55A6-0F2DD684366A}"/>
              </a:ext>
            </a:extLst>
          </p:cNvPr>
          <p:cNvSpPr txBox="1"/>
          <p:nvPr/>
        </p:nvSpPr>
        <p:spPr>
          <a:xfrm>
            <a:off x="467545" y="764704"/>
            <a:ext cx="3888432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"1001,Potion,10"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istringstream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','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&amp;&amp;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','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&amp;&amp;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countText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세 필드 읽음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6F841-AFF7-CAE5-A6D0-B116BB475530}"/>
              </a:ext>
            </a:extLst>
          </p:cNvPr>
          <p:cNvSpPr txBox="1"/>
          <p:nvPr/>
        </p:nvSpPr>
        <p:spPr>
          <a:xfrm>
            <a:off x="4355976" y="2211254"/>
            <a:ext cx="4032448" cy="184665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텍스트 파일은 먼저 행을 읽고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행 내부를 분리하면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오류 위치 추적이 쉬움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ko-KR" sz="14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숫자 필드는 별도 변환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필드 수와 변환 성공 여부 확인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8B3D1-3B12-F4E9-3DAF-D8E38E7CBBBE}"/>
              </a:ext>
            </a:extLst>
          </p:cNvPr>
          <p:cNvSpPr txBox="1"/>
          <p:nvPr/>
        </p:nvSpPr>
        <p:spPr>
          <a:xfrm>
            <a:off x="467545" y="4221088"/>
            <a:ext cx="3888431" cy="2392001"/>
          </a:xfrm>
          <a:prstGeom prst="rect">
            <a:avLst/>
          </a:prstGeom>
          <a:solidFill>
            <a:srgbClr val="EFEFED"/>
          </a:solidFill>
          <a:ln w="25400"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items.csv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line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행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getline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record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field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','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필드 분리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타입 변환과 검증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79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5E6B-C946-536D-E1D8-3176D2EA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4512C-E433-EF31-3CDC-F5A1CF37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15.4.5 </a:t>
            </a:r>
            <a:r>
              <a:rPr lang="ko-KR" altLang="en-US" dirty="0"/>
              <a:t>파일 오류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7EF82-3DB5-190B-5C77-C2515C19E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열기 실패</a:t>
            </a:r>
          </a:p>
          <a:p>
            <a:r>
              <a:rPr lang="ko-KR" altLang="en-US" dirty="0"/>
              <a:t>읽기 실패</a:t>
            </a:r>
          </a:p>
          <a:p>
            <a:r>
              <a:rPr lang="ko-KR" altLang="en-US" dirty="0"/>
              <a:t>쓰기 실패</a:t>
            </a:r>
          </a:p>
          <a:p>
            <a:r>
              <a:rPr lang="ko-KR" altLang="en-US" dirty="0"/>
              <a:t>형식 오류</a:t>
            </a:r>
          </a:p>
          <a:p>
            <a:r>
              <a:rPr lang="ko-KR" altLang="en-US" dirty="0"/>
              <a:t>장치 오류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5C60A-6624-094E-DA03-BA327DD40ED5}"/>
              </a:ext>
            </a:extLst>
          </p:cNvPr>
          <p:cNvSpPr txBox="1"/>
          <p:nvPr/>
        </p:nvSpPr>
        <p:spPr>
          <a:xfrm>
            <a:off x="3563888" y="797510"/>
            <a:ext cx="4896544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input.is_open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input.bad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Device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reading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format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74BA3-7E46-47C0-50DC-5DA93D115679}"/>
              </a:ext>
            </a:extLst>
          </p:cNvPr>
          <p:cNvSpPr txBox="1"/>
          <p:nvPr/>
        </p:nvSpPr>
        <p:spPr>
          <a:xfrm>
            <a:off x="323528" y="5845046"/>
            <a:ext cx="813690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is_open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()은 파일 연결 여부 확인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스트림 상태는 최근 입출력 연산 성공 여부 표현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1852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507E-056A-9FFC-E057-62B70383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A0EA5-35C5-3113-A786-FF120194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 </a:t>
            </a:r>
            <a:r>
              <a:rPr lang="ko-KR" altLang="en-US" dirty="0"/>
              <a:t>바이너리 파일 입출력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7CEE0-CD2D-A2FA-1593-0A0C321B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값을 문자로 변환하지 않고 바이트 형식으로 저장</a:t>
            </a:r>
          </a:p>
          <a:p>
            <a:r>
              <a:rPr lang="ko-KR" altLang="en-US" dirty="0"/>
              <a:t>파일 크기</a:t>
            </a:r>
            <a:r>
              <a:rPr lang="en-US" altLang="ko-KR" dirty="0"/>
              <a:t>, </a:t>
            </a:r>
            <a:r>
              <a:rPr lang="ko-KR" altLang="en-US" dirty="0"/>
              <a:t>변환 비용 축소</a:t>
            </a:r>
          </a:p>
          <a:p>
            <a:r>
              <a:rPr lang="ko-KR" altLang="en-US" dirty="0"/>
              <a:t>저장 형식 크기</a:t>
            </a:r>
            <a:r>
              <a:rPr lang="en-US" altLang="ko-KR" dirty="0"/>
              <a:t>, </a:t>
            </a:r>
            <a:r>
              <a:rPr lang="ko-KR" altLang="en-US" dirty="0"/>
              <a:t>바이트 순서</a:t>
            </a:r>
            <a:r>
              <a:rPr lang="en-US" altLang="ko-KR" dirty="0"/>
              <a:t>, </a:t>
            </a:r>
            <a:r>
              <a:rPr lang="ko-KR" altLang="en-US" dirty="0"/>
              <a:t>버전 호환성 직접 정의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CA09FC-ABF8-8FAF-0C03-7107561D6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9906"/>
              </p:ext>
            </p:extLst>
          </p:nvPr>
        </p:nvGraphicFramePr>
        <p:xfrm>
          <a:off x="536352" y="2348880"/>
          <a:ext cx="7685980" cy="1315896"/>
        </p:xfrm>
        <a:graphic>
          <a:graphicData uri="http://schemas.openxmlformats.org/drawingml/2006/table">
            <a:tbl>
              <a:tblPr/>
              <a:tblGrid>
                <a:gridCol w="1837286">
                  <a:extLst>
                    <a:ext uri="{9D8B030D-6E8A-4147-A177-3AD203B41FA5}">
                      <a16:colId xmlns:a16="http://schemas.microsoft.com/office/drawing/2014/main" val="1393411393"/>
                    </a:ext>
                  </a:extLst>
                </a:gridCol>
                <a:gridCol w="5848694">
                  <a:extLst>
                    <a:ext uri="{9D8B030D-6E8A-4147-A177-3AD203B41FA5}">
                      <a16:colId xmlns:a16="http://schemas.microsoft.com/office/drawing/2014/main" val="244869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모드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역할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22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텍스트 모드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운영체제에 따라 줄바꿈 변환 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50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바이너리 모드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기록한 바이트와 읽은 바이트 사이의 텍스트 변환 방지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3447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953572-43EF-1C5D-2A37-C08D5D5E3096}"/>
              </a:ext>
            </a:extLst>
          </p:cNvPr>
          <p:cNvSpPr txBox="1"/>
          <p:nvPr/>
        </p:nvSpPr>
        <p:spPr>
          <a:xfrm>
            <a:off x="536352" y="3851456"/>
            <a:ext cx="7685980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data.bin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 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20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data.bin</a:t>
            </a:r>
            <a:r>
              <a:rPr lang="ko-KR" altLang="ko-KR" sz="20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F4290-751F-CA0F-30EE-CD46D68C3E79}"/>
              </a:ext>
            </a:extLst>
          </p:cNvPr>
          <p:cNvSpPr txBox="1"/>
          <p:nvPr/>
        </p:nvSpPr>
        <p:spPr>
          <a:xfrm>
            <a:off x="536352" y="5321506"/>
            <a:ext cx="768598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바이너리 모드가 객체를 자동 직렬화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안함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저장과 복원 규칙은 프로그램이 정의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234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B4FE-BFB8-BBF9-A888-8F8E0F93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05473-B522-154F-4CD8-13C239EA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15.5.2 read</a:t>
            </a:r>
            <a:r>
              <a:rPr lang="ko-KR" altLang="en-US" dirty="0"/>
              <a:t>와 </a:t>
            </a:r>
            <a:r>
              <a:rPr lang="en-US" altLang="ko-KR" dirty="0"/>
              <a:t>write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1449A-6EEE-F523-2D82-0E79F341EE20}"/>
              </a:ext>
            </a:extLst>
          </p:cNvPr>
          <p:cNvSpPr txBox="1"/>
          <p:nvPr/>
        </p:nvSpPr>
        <p:spPr>
          <a:xfrm>
            <a:off x="539750" y="908720"/>
            <a:ext cx="799269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cstdint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score.bin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output.write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reinterpret_cast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7A11C-87BE-FC3D-2E8E-EADC6FAAE060}"/>
              </a:ext>
            </a:extLst>
          </p:cNvPr>
          <p:cNvSpPr txBox="1"/>
          <p:nvPr/>
        </p:nvSpPr>
        <p:spPr>
          <a:xfrm>
            <a:off x="539750" y="3208908"/>
            <a:ext cx="799269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score.bin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binary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reinterpret_cast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Failed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068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1619-2CB8-02C0-F3A0-735FF1ED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4B0F3-E5A0-7642-BB8F-D7F4CD28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15.5.4 </a:t>
            </a:r>
            <a:r>
              <a:rPr lang="ko-KR" altLang="en-US" dirty="0"/>
              <a:t>고정 길이 데이터와 문자열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DE1AD3-3C68-EAFA-32F1-8C003383E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고정 크기 정수형은 파일 필드 크기 명시에 도움</a:t>
            </a:r>
          </a:p>
          <a:p>
            <a:r>
              <a:rPr lang="ko-KR" altLang="en-US" dirty="0"/>
              <a:t>메모리 그대로 기록하면 바이트 순서는 여전히 환경 의존</a:t>
            </a:r>
          </a:p>
          <a:p>
            <a:r>
              <a:rPr lang="ko-KR" altLang="en-US" dirty="0"/>
              <a:t>파일 형식의 </a:t>
            </a:r>
            <a:r>
              <a:rPr lang="ko-KR" altLang="en-US" dirty="0" err="1"/>
              <a:t>엔디언을</a:t>
            </a:r>
            <a:r>
              <a:rPr lang="ko-KR" altLang="en-US" dirty="0"/>
              <a:t> 정하면 바이트를 명시적으로 분리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014A8-3E5D-689A-D8A9-D5BC3609D54C}"/>
              </a:ext>
            </a:extLst>
          </p:cNvPr>
          <p:cNvSpPr txBox="1"/>
          <p:nvPr/>
        </p:nvSpPr>
        <p:spPr>
          <a:xfrm>
            <a:off x="539750" y="2636912"/>
            <a:ext cx="7704658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WriteUint32LE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0xFF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0xFF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0xFF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&amp;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0xFF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output.write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reinterpret_cast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bytes.data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streamsize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884F75-8B11-0869-D57C-47696CEB4561}"/>
              </a:ext>
            </a:extLst>
          </p:cNvPr>
          <p:cNvSpPr txBox="1"/>
          <p:nvPr/>
        </p:nvSpPr>
        <p:spPr>
          <a:xfrm>
            <a:off x="539750" y="5805264"/>
            <a:ext cx="763265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문자열은 길이와 바이트를 함께 기록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읽을 때 길이 상한 검사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052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D0818-8550-40CD-2412-B364A6A2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BCF4C-016E-FD57-4B3F-C2586A2B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15.5.5 </a:t>
            </a:r>
            <a:r>
              <a:rPr lang="ko-KR" altLang="en-US" dirty="0"/>
              <a:t>객체를 그대로 저장할 때의 문제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3312F-9404-6895-1251-2C35836F3034}"/>
              </a:ext>
            </a:extLst>
          </p:cNvPr>
          <p:cNvSpPr txBox="1"/>
          <p:nvPr/>
        </p:nvSpPr>
        <p:spPr>
          <a:xfrm>
            <a:off x="467544" y="836712"/>
            <a:ext cx="7992888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PlayerRecord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PlayerRecord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output.write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reinterpret_cast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293456-4AD9-1258-08D8-A93A0F1A759C}"/>
              </a:ext>
            </a:extLst>
          </p:cNvPr>
          <p:cNvSpPr txBox="1"/>
          <p:nvPr/>
        </p:nvSpPr>
        <p:spPr>
          <a:xfrm>
            <a:off x="467544" y="2889290"/>
            <a:ext cx="799288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객체에는 문자 데이터가 아니라 관리 정보와 포인터 포함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다시 읽어 객체로 사용하면 불변식과 소유권이 깨짐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B23BA8-991E-B08C-C9E7-490F5830EC6D}"/>
              </a:ext>
            </a:extLst>
          </p:cNvPr>
          <p:cNvSpPr txBox="1"/>
          <p:nvPr/>
        </p:nvSpPr>
        <p:spPr>
          <a:xfrm>
            <a:off x="467544" y="4090953"/>
            <a:ext cx="457200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단순 구조체도 문제 가능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SimpleRecord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uint16_t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182B0F-D3C7-34BD-F98E-078C1DD68CFF}"/>
              </a:ext>
            </a:extLst>
          </p:cNvPr>
          <p:cNvSpPr txBox="1"/>
          <p:nvPr/>
        </p:nvSpPr>
        <p:spPr>
          <a:xfrm>
            <a:off x="3888432" y="4789314"/>
            <a:ext cx="4572000" cy="163121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사이 패딩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정수 바이트 순서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컴파일러 옵션과 정렬 규칙 차이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파일에는 객체 메모리가 아니라 복원에 필요한 논리적 필드 기록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81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5C54-6482-F695-7905-53DBB89D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DA189-BFE5-77A7-EB1E-BB67974D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15.5.6 </a:t>
            </a:r>
            <a:r>
              <a:rPr lang="ko-KR" altLang="en-US" dirty="0"/>
              <a:t>파일 형식과 버전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80D1A-928F-20C3-E2BC-F806B2E92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지속적으로 사용하는 파일은 종류와 버전을 식별해야 함</a:t>
            </a:r>
          </a:p>
          <a:p>
            <a:r>
              <a:rPr lang="ko-KR" altLang="en-US" sz="2400" dirty="0"/>
              <a:t>필드 순서만 정하면 확장과 오류 검증이 어려움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DA8B0-DB43-F6BE-2C30-AE02F3CD75EA}"/>
              </a:ext>
            </a:extLst>
          </p:cNvPr>
          <p:cNvSpPr txBox="1"/>
          <p:nvPr/>
        </p:nvSpPr>
        <p:spPr>
          <a:xfrm>
            <a:off x="288032" y="1685816"/>
            <a:ext cx="6048672" cy="501675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output.write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"PLYR"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WriteUint32LE(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4&gt;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input.read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magic.data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magic.size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||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ReadUint32LE(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LoadVersion1(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break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LoadVersion2(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break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Unsupported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D7110-EEC0-2300-CA64-9EFFBB05F5FB}"/>
              </a:ext>
            </a:extLst>
          </p:cNvPr>
          <p:cNvSpPr txBox="1"/>
          <p:nvPr/>
        </p:nvSpPr>
        <p:spPr>
          <a:xfrm>
            <a:off x="4572000" y="4725144"/>
            <a:ext cx="428396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필드 타입, 크기, 바이트 순서, 인코딩, 개수, 버전, 오류 검증 방법 정의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798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D3F9-825F-250B-A961-F17F03C6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DF6B5-B4AA-E8AA-4A95-FA616E90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15.6 </a:t>
            </a:r>
            <a:r>
              <a:rPr lang="ko-KR" altLang="en-US" dirty="0"/>
              <a:t>파일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878F57-5632-6AD0-24C7-343786B6F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FF"/>
                </a:solidFill>
              </a:rPr>
              <a:t>&lt;filesystem&gt;</a:t>
            </a:r>
            <a:r>
              <a:rPr lang="ko-KR" altLang="en-US" dirty="0"/>
              <a:t>은 경로</a:t>
            </a:r>
            <a:r>
              <a:rPr lang="en-US" altLang="ko-KR" dirty="0"/>
              <a:t>, 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디렉터리와 파일 속성 처리</a:t>
            </a:r>
          </a:p>
          <a:p>
            <a:r>
              <a:rPr lang="ko-KR" altLang="en-US" dirty="0"/>
              <a:t>문자열 직접 결합보다 </a:t>
            </a:r>
            <a:r>
              <a:rPr lang="en-US" altLang="ko-KR" dirty="0">
                <a:solidFill>
                  <a:srgbClr val="0000FF"/>
                </a:solidFill>
              </a:rPr>
              <a:t>std::filesystem::path </a:t>
            </a:r>
            <a:r>
              <a:rPr lang="ko-KR" altLang="en-US" dirty="0"/>
              <a:t>사용</a:t>
            </a:r>
          </a:p>
          <a:p>
            <a:r>
              <a:rPr lang="ko-KR" altLang="en-US" dirty="0"/>
              <a:t>운영체제별 경로 구분과 구성 요소를 타입으로 처리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7F353-4AEB-ABD5-9946-1A410F5D47EE}"/>
              </a:ext>
            </a:extLst>
          </p:cNvPr>
          <p:cNvSpPr txBox="1"/>
          <p:nvPr/>
        </p:nvSpPr>
        <p:spPr>
          <a:xfrm>
            <a:off x="539750" y="2492896"/>
            <a:ext cx="547241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filesystem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filesystem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player.dat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fullPath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연산자는 운영체제에 맞는 경로 구분자로 결합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knight.png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path.filename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path.stem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path.extension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path.parent_path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7828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4D93-7C9A-A3A6-17ED-769AEFA0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3DED3-6A7D-C66B-A272-A40F4D8F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15.6.1 path </a:t>
            </a:r>
            <a:r>
              <a:rPr lang="ko-KR" altLang="en-US" dirty="0"/>
              <a:t>조작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A49B2C2F-7E20-5D4E-AE51-F3BBF6D8F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675133"/>
              </p:ext>
            </p:extLst>
          </p:nvPr>
        </p:nvGraphicFramePr>
        <p:xfrm>
          <a:off x="325462" y="2781345"/>
          <a:ext cx="5758705" cy="3111064"/>
        </p:xfrm>
        <a:graphic>
          <a:graphicData uri="http://schemas.openxmlformats.org/drawingml/2006/table">
            <a:tbl>
              <a:tblPr/>
              <a:tblGrid>
                <a:gridCol w="2662362">
                  <a:extLst>
                    <a:ext uri="{9D8B030D-6E8A-4147-A177-3AD203B41FA5}">
                      <a16:colId xmlns:a16="http://schemas.microsoft.com/office/drawing/2014/main" val="3095140735"/>
                    </a:ext>
                  </a:extLst>
                </a:gridCol>
                <a:gridCol w="3096343">
                  <a:extLst>
                    <a:ext uri="{9D8B030D-6E8A-4147-A177-3AD203B41FA5}">
                      <a16:colId xmlns:a16="http://schemas.microsoft.com/office/drawing/2014/main" val="1580926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2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filename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 이름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53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stem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확장자를 제외한 이름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27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extension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확장자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83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parent_path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부모 경로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268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absolute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절대 경로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1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lexically_normal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어휘 규칙으로 경로 정리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8451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44CB98-4D8E-45D9-B1E9-FB8373C64BA4}"/>
              </a:ext>
            </a:extLst>
          </p:cNvPr>
          <p:cNvSpPr txBox="1"/>
          <p:nvPr/>
        </p:nvSpPr>
        <p:spPr>
          <a:xfrm>
            <a:off x="323528" y="620688"/>
            <a:ext cx="5760640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path.replace_extension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".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bin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path.replace_filename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monster.bin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relative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absolute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absolute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relative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/../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potion.png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normalized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path.lexically_normal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50561-20B3-42D5-F84C-8112D4FB8561}"/>
              </a:ext>
            </a:extLst>
          </p:cNvPr>
          <p:cNvSpPr txBox="1"/>
          <p:nvPr/>
        </p:nvSpPr>
        <p:spPr>
          <a:xfrm>
            <a:off x="323528" y="5982553"/>
            <a:ext cx="871296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파일 위치와 심볼릭 링크까지 반영하려면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canonical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계열 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파일 시스템 접근과 오류 처리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952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3730-9E4B-9E31-FCC1-034276D4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55CC9-8DB5-D459-FFF4-60283012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15.6.2 </a:t>
            </a:r>
            <a:r>
              <a:rPr lang="ko-KR" altLang="en-US" dirty="0"/>
              <a:t>파일과 디렉터리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4D509-FF3F-0991-FE67-C310DFBAC4AC}"/>
              </a:ext>
            </a:extLst>
          </p:cNvPr>
          <p:cNvSpPr txBox="1"/>
          <p:nvPr/>
        </p:nvSpPr>
        <p:spPr>
          <a:xfrm>
            <a:off x="251520" y="692696"/>
            <a:ext cx="4464496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player.txt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exists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is_regular_file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regular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is_directory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uintmax_t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file_size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last_write_time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9754D-E394-ADE8-D534-36D4F8EDBCF7}"/>
              </a:ext>
            </a:extLst>
          </p:cNvPr>
          <p:cNvSpPr txBox="1"/>
          <p:nvPr/>
        </p:nvSpPr>
        <p:spPr>
          <a:xfrm>
            <a:off x="4716016" y="692696"/>
            <a:ext cx="4104357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error_code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오버로드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error_code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exists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exists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cerr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error.message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exists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found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CCB30-CC88-8D67-7E19-38FA926A3838}"/>
              </a:ext>
            </a:extLst>
          </p:cNvPr>
          <p:cNvSpPr txBox="1"/>
          <p:nvPr/>
        </p:nvSpPr>
        <p:spPr>
          <a:xfrm>
            <a:off x="251519" y="4725144"/>
            <a:ext cx="8568853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권한 문제와 파일 없음은 구분 필요 가능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6775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503C-2D86-E14D-2163-C7E50502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1AB7B-825D-58EE-7A1D-9C16D4EE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15.6.3 </a:t>
            </a:r>
            <a:r>
              <a:rPr lang="ko-KR" altLang="en-US" dirty="0"/>
              <a:t>디렉터리 생성과 순회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C5A8C-4E5F-F89B-4C0A-7E3401311A43}"/>
              </a:ext>
            </a:extLst>
          </p:cNvPr>
          <p:cNvSpPr txBox="1"/>
          <p:nvPr/>
        </p:nvSpPr>
        <p:spPr>
          <a:xfrm>
            <a:off x="467544" y="764704"/>
            <a:ext cx="8064896" cy="452431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create_directory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create_directories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/slot1"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create_directories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profile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/slot1"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직접 자식 순회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directory_entry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entry.path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하위 디렉터리까지 순회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directory_entry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entry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recursive_directory_iterator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entry.is_regular_file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entry.path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7522D-701C-6FBE-CB11-0245D151CB07}"/>
              </a:ext>
            </a:extLst>
          </p:cNvPr>
          <p:cNvSpPr txBox="1"/>
          <p:nvPr/>
        </p:nvSpPr>
        <p:spPr>
          <a:xfrm>
            <a:off x="462583" y="5425445"/>
            <a:ext cx="8064896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순회 순서는 정렬 보장 없음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이름 순서가 필요하면 모은 뒤 정렬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7536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0F56-DE8E-E1E2-F421-5BDE6E02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467B6-37FA-D45C-6E5D-CD39C241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 </a:t>
            </a:r>
            <a:r>
              <a:rPr lang="ko-KR" altLang="en-US" dirty="0"/>
              <a:t>난수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DB18A-1D2D-6A5F-17E9-3E375ABE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컴퓨터 난수는 대부분 결정적 계산으로 생성되는 의사 난수</a:t>
            </a:r>
          </a:p>
          <a:p>
            <a:r>
              <a:rPr lang="ko-KR" altLang="en-US" sz="2400" dirty="0"/>
              <a:t>같은 엔진 상태에서 시작하면 같은 수열 생성</a:t>
            </a:r>
          </a:p>
          <a:p>
            <a:r>
              <a:rPr lang="ko-KR" altLang="en-US" sz="2400" dirty="0"/>
              <a:t>난수 라이브러리는 엔진과 분포를 분리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2B19A-9086-D4D0-D0F7-ED109E98458A}"/>
              </a:ext>
            </a:extLst>
          </p:cNvPr>
          <p:cNvSpPr txBox="1"/>
          <p:nvPr/>
        </p:nvSpPr>
        <p:spPr>
          <a:xfrm>
            <a:off x="611560" y="2564904"/>
            <a:ext cx="4572000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1234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1234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1234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2B95B2F-234C-023B-C020-A03B86AA2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49994"/>
              </p:ext>
            </p:extLst>
          </p:nvPr>
        </p:nvGraphicFramePr>
        <p:xfrm>
          <a:off x="5707013" y="2530187"/>
          <a:ext cx="3041451" cy="3031200"/>
        </p:xfrm>
        <a:graphic>
          <a:graphicData uri="http://schemas.openxmlformats.org/drawingml/2006/table">
            <a:tbl>
              <a:tblPr/>
              <a:tblGrid>
                <a:gridCol w="3041451">
                  <a:extLst>
                    <a:ext uri="{9D8B030D-6E8A-4147-A177-3AD203B41FA5}">
                      <a16:colId xmlns:a16="http://schemas.microsoft.com/office/drawing/2014/main" val="3282369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시드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엔진 상태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엔진 출력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분포 변환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프로그램에서 사용할 값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344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0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3BD5-4D91-FCCF-CB09-11084335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692CE-8D98-759B-4799-68D0D70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15.7.2 </a:t>
            </a:r>
            <a:r>
              <a:rPr lang="ko-KR" altLang="en-US" dirty="0"/>
              <a:t>난수 엔진과 분포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F8EA7-0D4B-16C5-D422-493E97C03474}"/>
              </a:ext>
            </a:extLst>
          </p:cNvPr>
          <p:cNvSpPr txBox="1"/>
          <p:nvPr/>
        </p:nvSpPr>
        <p:spPr>
          <a:xfrm>
            <a:off x="482600" y="692696"/>
            <a:ext cx="6703392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1234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uniform_int_distribution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3DC1E-E95F-FDCF-A25D-9B7DCB7C16F8}"/>
              </a:ext>
            </a:extLst>
          </p:cNvPr>
          <p:cNvSpPr txBox="1"/>
          <p:nvPr/>
        </p:nvSpPr>
        <p:spPr>
          <a:xfrm>
            <a:off x="482600" y="3488863"/>
            <a:ext cx="670339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uniform_int_distribution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&gt;{1, 6}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은 양 끝 포함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엔진은 넓은 정수 범위 생성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분포는 원하는 의미의 값으로 변환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296A9-8B90-5741-2D57-64F0DBABB8A3}"/>
              </a:ext>
            </a:extLst>
          </p:cNvPr>
          <p:cNvSpPr txBox="1"/>
          <p:nvPr/>
        </p:nvSpPr>
        <p:spPr>
          <a:xfrm>
            <a:off x="482600" y="4662959"/>
            <a:ext cx="670339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uniform_real_distribution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피함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EB500-522D-B649-B218-0A9FE28CAEC8}"/>
              </a:ext>
            </a:extLst>
          </p:cNvPr>
          <p:cNvSpPr txBox="1"/>
          <p:nvPr/>
        </p:nvSpPr>
        <p:spPr>
          <a:xfrm>
            <a:off x="482600" y="5982984"/>
            <a:ext cx="670339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% 방식은 균등 분포를 깨뜨릴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3952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5642-61E4-77EE-6213-42785DC0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CAFBC-ACE4-D7FE-6B1F-0C503414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15.7.3 </a:t>
            </a:r>
            <a:r>
              <a:rPr lang="ko-KR" altLang="en-US" dirty="0" err="1"/>
              <a:t>시드와</a:t>
            </a:r>
            <a:r>
              <a:rPr lang="ko-KR" altLang="en-US" dirty="0"/>
              <a:t> 엔진 상태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D4145-C1BF-0E42-20BD-A1DF80DF5FDE}"/>
              </a:ext>
            </a:extLst>
          </p:cNvPr>
          <p:cNvSpPr txBox="1"/>
          <p:nvPr/>
        </p:nvSpPr>
        <p:spPr>
          <a:xfrm>
            <a:off x="395536" y="663203"/>
            <a:ext cx="6624736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2026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시드는 엔진의 초기 상태 결정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고정 시드는 실행마다 같은 수열 필요할 때 사용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random_device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078A8-7354-D103-C949-799D7FC90321}"/>
              </a:ext>
            </a:extLst>
          </p:cNvPr>
          <p:cNvSpPr txBox="1"/>
          <p:nvPr/>
        </p:nvSpPr>
        <p:spPr>
          <a:xfrm>
            <a:off x="395536" y="2615114"/>
            <a:ext cx="662473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실행마다 다른 시작 상태가 필요할 때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재료 획득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random_device를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매 난수마다 새로 호출하지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7C8A4-539F-595C-81B4-46A4F6D7C6AA}"/>
              </a:ext>
            </a:extLst>
          </p:cNvPr>
          <p:cNvSpPr txBox="1"/>
          <p:nvPr/>
        </p:nvSpPr>
        <p:spPr>
          <a:xfrm>
            <a:off x="395536" y="3535001"/>
            <a:ext cx="6624736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seed_seq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randomDevice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RollDice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uniform_int_distribution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89358-F5B7-4EB8-C4D8-B47BA640414E}"/>
              </a:ext>
            </a:extLst>
          </p:cNvPr>
          <p:cNvSpPr txBox="1"/>
          <p:nvPr/>
        </p:nvSpPr>
        <p:spPr>
          <a:xfrm>
            <a:off x="4283968" y="4704552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엔진은 상태를 가진 객체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하나의 수열을 계속 사용하려면 참조 전달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014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5799-7CEA-C942-8967-22699409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B2887-043E-4E46-EA94-52D9D055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15.7.4 </a:t>
            </a:r>
            <a:r>
              <a:rPr lang="ko-KR" altLang="en-US" dirty="0"/>
              <a:t>재현 가능한 난수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18590-B5D7-1723-8773-86F5CC480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버그 재현에는 </a:t>
            </a:r>
            <a:r>
              <a:rPr lang="ko-KR" altLang="en-US" sz="2400" dirty="0" err="1"/>
              <a:t>시드와</a:t>
            </a:r>
            <a:r>
              <a:rPr lang="ko-KR" altLang="en-US" sz="2400" dirty="0"/>
              <a:t> 호출 순서 기록이 효율적</a:t>
            </a:r>
          </a:p>
          <a:p>
            <a:r>
              <a:rPr lang="ko-KR" altLang="en-US" sz="2400" dirty="0"/>
              <a:t>같은 엔진 종류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시드</a:t>
            </a:r>
            <a:r>
              <a:rPr lang="en-US" altLang="ko-KR" sz="2400" dirty="0"/>
              <a:t>, </a:t>
            </a:r>
            <a:r>
              <a:rPr lang="ko-KR" altLang="en-US" sz="2400" dirty="0"/>
              <a:t>분포 매개변수</a:t>
            </a:r>
            <a:r>
              <a:rPr lang="en-US" altLang="ko-KR" sz="2400" dirty="0"/>
              <a:t>, </a:t>
            </a:r>
            <a:r>
              <a:rPr lang="ko-KR" altLang="en-US" sz="2400" dirty="0"/>
              <a:t>호출 순서 필요</a:t>
            </a:r>
          </a:p>
          <a:p>
            <a:r>
              <a:rPr lang="ko-KR" altLang="en-US" sz="2400" dirty="0"/>
              <a:t>코드 변경으로 난수 호출 횟수가 바뀌면 결과가 달라질 수 있음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4E275-C037-47B7-27A4-BF2835103D6F}"/>
              </a:ext>
            </a:extLst>
          </p:cNvPr>
          <p:cNvSpPr txBox="1"/>
          <p:nvPr/>
        </p:nvSpPr>
        <p:spPr>
          <a:xfrm>
            <a:off x="539750" y="2276872"/>
            <a:ext cx="7754193" cy="418576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uint32_t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20260802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엔진 상태 저장과 복원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ofstream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random_state.txt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random_state.txt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테스트를 위한 엔진 주입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DamageCalculator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DamageCalculator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::mt19937&amp;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8487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85F9-6318-B614-6B43-A1F45EA2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1F1D2-3063-794A-F0AD-A99EEB9A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15.7.5 </a:t>
            </a:r>
            <a:r>
              <a:rPr lang="ko-KR" altLang="en-US" dirty="0"/>
              <a:t>대표 분포와 </a:t>
            </a:r>
            <a:r>
              <a:rPr lang="ko-KR" altLang="en-US" dirty="0" err="1"/>
              <a:t>셔플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AC03D1-41E2-583C-2A6C-553DD26480B6}"/>
              </a:ext>
            </a:extLst>
          </p:cNvPr>
          <p:cNvSpPr txBox="1"/>
          <p:nvPr/>
        </p:nvSpPr>
        <p:spPr>
          <a:xfrm>
            <a:off x="571351" y="764704"/>
            <a:ext cx="7704658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uniform_int_distribution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integerRange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uniform_real_distribution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realRange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bernoulli_distribution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criticalHit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170.0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criticalHit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cards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shuffle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cards.begin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cards.end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무작위 원소 선택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items.empty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uniform_int_distribution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-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engine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)];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69C822-EC26-AABA-0756-D287574D036F}"/>
              </a:ext>
            </a:extLst>
          </p:cNvPr>
          <p:cNvSpPr txBox="1"/>
          <p:nvPr/>
        </p:nvSpPr>
        <p:spPr>
          <a:xfrm>
            <a:off x="571351" y="5239896"/>
            <a:ext cx="7704658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빈 컨테이너에서는 먼저 원소 존재 여부 확인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분포는 데이터의 실제 의미에 맞게 선택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322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B6AE-7C59-6A4E-17AC-7A9C0FD96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19DB-17AE-6D32-8C3E-6E2097A5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15.7.6 rand</a:t>
            </a:r>
            <a:r>
              <a:rPr lang="ko-KR" altLang="en-US" dirty="0"/>
              <a:t>와 </a:t>
            </a:r>
            <a:r>
              <a:rPr lang="en-US" altLang="ko-KR" dirty="0"/>
              <a:t>random </a:t>
            </a:r>
            <a:r>
              <a:rPr lang="ko-KR" altLang="en-US" dirty="0"/>
              <a:t>라이브러리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2C54D-C6D5-510F-F614-13B89D65E095}"/>
              </a:ext>
            </a:extLst>
          </p:cNvPr>
          <p:cNvSpPr txBox="1"/>
          <p:nvPr/>
        </p:nvSpPr>
        <p:spPr>
          <a:xfrm>
            <a:off x="539750" y="764704"/>
            <a:ext cx="7200602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cstdlib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ctime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::srand(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unsigned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%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050C104-F4C1-E94B-8D43-B83038C59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705989"/>
              </p:ext>
            </p:extLst>
          </p:nvPr>
        </p:nvGraphicFramePr>
        <p:xfrm>
          <a:off x="543570" y="2824590"/>
          <a:ext cx="7196783" cy="2662272"/>
        </p:xfrm>
        <a:graphic>
          <a:graphicData uri="http://schemas.openxmlformats.org/drawingml/2006/table">
            <a:tbl>
              <a:tblPr/>
              <a:tblGrid>
                <a:gridCol w="1853249">
                  <a:extLst>
                    <a:ext uri="{9D8B030D-6E8A-4147-A177-3AD203B41FA5}">
                      <a16:colId xmlns:a16="http://schemas.microsoft.com/office/drawing/2014/main" val="2594675778"/>
                    </a:ext>
                  </a:extLst>
                </a:gridCol>
                <a:gridCol w="2671767">
                  <a:extLst>
                    <a:ext uri="{9D8B030D-6E8A-4147-A177-3AD203B41FA5}">
                      <a16:colId xmlns:a16="http://schemas.microsoft.com/office/drawing/2014/main" val="1184434518"/>
                    </a:ext>
                  </a:extLst>
                </a:gridCol>
                <a:gridCol w="2671767">
                  <a:extLst>
                    <a:ext uri="{9D8B030D-6E8A-4147-A177-3AD203B41FA5}">
                      <a16:colId xmlns:a16="http://schemas.microsoft.com/office/drawing/2014/main" val="1274667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r>
                        <a:rPr lang="ko-KR" sz="18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rand</a:t>
                      </a: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random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9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상태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전역 상태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엔진 객체별 상태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086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 변환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사용자가 직접 처리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분포 객체가 처리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38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재현성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전역 호출 순서에 의존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시드와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엔진 명시 관리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54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알고리즘 선택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구현에 의존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엔진 타입 선택 가능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53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확률 분포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별도 구현 필요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표준 분포 제공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7897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593BBEF-0717-C6BF-ECC4-E69EFD7CCD2E}"/>
              </a:ext>
            </a:extLst>
          </p:cNvPr>
          <p:cNvSpPr txBox="1"/>
          <p:nvPr/>
        </p:nvSpPr>
        <p:spPr>
          <a:xfrm>
            <a:off x="539749" y="5662756"/>
            <a:ext cx="7196783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새로운 C++ 코드에서는 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우선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엔진을 적절한 소유 객체에 두고 필요한 함수에 참조로 전달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656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D9DC0-73D7-39CA-712E-4EB5E51D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8D018-C16C-C74C-4726-E9906BA74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 </a:t>
            </a:r>
            <a:r>
              <a:rPr lang="ko-KR" altLang="en-US" dirty="0"/>
              <a:t>시간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8388F-5815-9588-BC9A-82FFD36B1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std::chrono</a:t>
            </a:r>
            <a:r>
              <a:rPr lang="ko-KR" altLang="en-US" sz="2400" dirty="0"/>
              <a:t>는 시간을 단위와 기준을 포함한 타입으로 표현</a:t>
            </a:r>
          </a:p>
          <a:p>
            <a:r>
              <a:rPr lang="ko-KR" altLang="en-US" sz="2400" dirty="0"/>
              <a:t>시간의 길이</a:t>
            </a:r>
            <a:r>
              <a:rPr lang="en-US" altLang="ko-KR" sz="2400" dirty="0"/>
              <a:t>: duration</a:t>
            </a:r>
          </a:p>
          <a:p>
            <a:r>
              <a:rPr lang="ko-KR" altLang="en-US" sz="2400" dirty="0"/>
              <a:t>특정 시점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time_point</a:t>
            </a:r>
            <a:endParaRPr lang="en-US" altLang="ko-KR" sz="2400" dirty="0"/>
          </a:p>
          <a:p>
            <a:r>
              <a:rPr lang="ko-KR" altLang="en-US" sz="2400" dirty="0"/>
              <a:t>시점을 생성하는 기준</a:t>
            </a:r>
            <a:r>
              <a:rPr lang="en-US" altLang="ko-KR" sz="2400" dirty="0"/>
              <a:t>: </a:t>
            </a:r>
            <a:r>
              <a:rPr lang="ko-KR" altLang="en-US" sz="2400" dirty="0"/>
              <a:t>시계 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C0879-D765-3A20-E443-220A3A88068F}"/>
              </a:ext>
            </a:extLst>
          </p:cNvPr>
          <p:cNvSpPr txBox="1"/>
          <p:nvPr/>
        </p:nvSpPr>
        <p:spPr>
          <a:xfrm>
            <a:off x="485167" y="2708920"/>
            <a:ext cx="8173665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microseconds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microseconds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seconds.count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milliseconds.count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chrono_literals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total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16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4704E-EF02-73B8-40A5-7685E9E36177}"/>
              </a:ext>
            </a:extLst>
          </p:cNvPr>
          <p:cNvSpPr txBox="1"/>
          <p:nvPr/>
        </p:nvSpPr>
        <p:spPr>
          <a:xfrm>
            <a:off x="3512679" y="5858112"/>
            <a:ext cx="5146154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서로 다른 단위끼리 연산하면 공통 단위로 변환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7777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5736-41F1-E208-8FD9-2C77CDB4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BBB7E-092A-977F-0400-3400070A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15.8.2 </a:t>
            </a:r>
            <a:r>
              <a:rPr lang="en-US" altLang="ko-KR" dirty="0" err="1"/>
              <a:t>time_point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B2C37-044A-C5F5-6C36-CFDE8FCA72A8}"/>
              </a:ext>
            </a:extLst>
          </p:cNvPr>
          <p:cNvSpPr txBox="1"/>
          <p:nvPr/>
        </p:nvSpPr>
        <p:spPr>
          <a:xfrm>
            <a:off x="179512" y="764704"/>
            <a:ext cx="8712968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elapsed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4F033-1B5D-5248-5DD3-7C17190F910E}"/>
              </a:ext>
            </a:extLst>
          </p:cNvPr>
          <p:cNvSpPr txBox="1"/>
          <p:nvPr/>
        </p:nvSpPr>
        <p:spPr>
          <a:xfrm>
            <a:off x="5220072" y="2180476"/>
            <a:ext cx="3672408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시점의 차이는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EB618-A419-98FA-29BE-849B95867731}"/>
              </a:ext>
            </a:extLst>
          </p:cNvPr>
          <p:cNvSpPr txBox="1"/>
          <p:nvPr/>
        </p:nvSpPr>
        <p:spPr>
          <a:xfrm>
            <a:off x="179512" y="2871526"/>
            <a:ext cx="8712968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deadline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+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&gt;=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deadline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Timeout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system_clock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systemNow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en-US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::chrono::system_clock::now();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1FC14-2A5B-A511-597C-4EEB39134BCE}"/>
              </a:ext>
            </a:extLst>
          </p:cNvPr>
          <p:cNvSpPr txBox="1"/>
          <p:nvPr/>
        </p:nvSpPr>
        <p:spPr>
          <a:xfrm>
            <a:off x="179512" y="4933629"/>
            <a:ext cx="871296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서로 다른 시계의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비교하지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시계에서 얻은 시점끼리 차이를 계산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80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DFAE-B6B4-8DA9-69C7-8DDA07ED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7E3A7-5F70-2B55-F32D-F2D3FDC3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15.8.3 </a:t>
            </a:r>
            <a:r>
              <a:rPr lang="ko-KR" altLang="en-US" dirty="0"/>
              <a:t>시계의 종류와 선택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EEEEEEF-48A8-3A2F-43EB-42EAAF949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297051"/>
              </p:ext>
            </p:extLst>
          </p:nvPr>
        </p:nvGraphicFramePr>
        <p:xfrm>
          <a:off x="395536" y="764704"/>
          <a:ext cx="8208912" cy="1429408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391760855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58624326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880688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시계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특성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적합한 용도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435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chrono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system_clock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시스템 달력 시각과 연결</a:t>
                      </a:r>
                      <a:endParaRPr lang="ko-KR" sz="24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 시각, 로그 시각, 외부 시간 표현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75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chrono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steady_clock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시간이 역행하지 않음</a:t>
                      </a:r>
                      <a:endParaRPr lang="ko-KR" sz="24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경과 시간, 제한 시간, 성능 측정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54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chrono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high_resolution_clock</a:t>
                      </a:r>
                      <a:endParaRPr lang="ko-KR" sz="24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짧은 </a:t>
                      </a:r>
                      <a:r>
                        <a:rPr lang="ko-KR" sz="14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틱</a:t>
                      </a:r>
                      <a:r>
                        <a:rPr lang="ko-KR" sz="14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주기 목표로 구현 별칭</a:t>
                      </a:r>
                      <a:endParaRPr lang="ko-KR" sz="24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 특성을 확인한 특수 측정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683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447508-F7B7-428F-6689-70279A0BAED9}"/>
              </a:ext>
            </a:extLst>
          </p:cNvPr>
          <p:cNvSpPr txBox="1"/>
          <p:nvPr/>
        </p:nvSpPr>
        <p:spPr>
          <a:xfrm>
            <a:off x="395536" y="2481277"/>
            <a:ext cx="820891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is_steady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53DDE-73DC-694E-D06B-F55F3CB0DBDF}"/>
              </a:ext>
            </a:extLst>
          </p:cNvPr>
          <p:cNvSpPr txBox="1"/>
          <p:nvPr/>
        </p:nvSpPr>
        <p:spPr>
          <a:xfrm>
            <a:off x="395536" y="4789601"/>
            <a:ext cx="8208912" cy="1015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system_clock</a:t>
            </a:r>
            <a:r>
              <a:rPr lang="en-US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은 시간 동기화와 사용자 설정으로 조정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실행 구간 길이 측정에는 </a:t>
            </a: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high_resolution_clock</a:t>
            </a:r>
            <a:r>
              <a:rPr lang="en-US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은 구현에 따라 다른 시계의 별칭일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45A8-FF27-7A4B-539B-84BD1822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31C55-5C41-FB57-7A99-7319EF8A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15.8.4 </a:t>
            </a:r>
            <a:r>
              <a:rPr lang="ko-KR" altLang="en-US" dirty="0"/>
              <a:t>시간 단위 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2F631-B95C-95C9-2DC0-E4C1DE6F2966}"/>
              </a:ext>
            </a:extLst>
          </p:cNvPr>
          <p:cNvSpPr txBox="1"/>
          <p:nvPr/>
        </p:nvSpPr>
        <p:spPr>
          <a:xfrm>
            <a:off x="539750" y="673869"/>
            <a:ext cx="7488634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namespace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wholeSeconds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890C4-A530-6273-E30D-FC11E64303D4}"/>
              </a:ext>
            </a:extLst>
          </p:cNvPr>
          <p:cNvSpPr txBox="1"/>
          <p:nvPr/>
        </p:nvSpPr>
        <p:spPr>
          <a:xfrm>
            <a:off x="539750" y="1994173"/>
            <a:ext cx="748863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wholeSeconds에는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2 저장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정수 단위 변환에서 남는 500ms는 절삭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F62A6-B815-9205-E3D5-22FE123CB5FA}"/>
              </a:ext>
            </a:extLst>
          </p:cNvPr>
          <p:cNvSpPr txBox="1"/>
          <p:nvPr/>
        </p:nvSpPr>
        <p:spPr>
          <a:xfrm>
            <a:off x="535955" y="3095564"/>
            <a:ext cx="748863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secondsPart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millisecondsPart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secondsPart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84C7E-D4AF-5AE8-5A15-8FB2D05DE995}"/>
              </a:ext>
            </a:extLst>
          </p:cNvPr>
          <p:cNvSpPr txBox="1"/>
          <p:nvPr/>
        </p:nvSpPr>
        <p:spPr>
          <a:xfrm>
            <a:off x="535955" y="4092703"/>
            <a:ext cx="7488634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반올림 계열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down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ceil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nearest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859366-55BF-ABCB-711C-A1AE6274884D}"/>
              </a:ext>
            </a:extLst>
          </p:cNvPr>
          <p:cNvSpPr txBox="1"/>
          <p:nvPr/>
        </p:nvSpPr>
        <p:spPr>
          <a:xfrm>
            <a:off x="535955" y="5645605"/>
            <a:ext cx="7488634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실수 단위 변환은 소수 부분 보존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단위 변환은 표현 정밀도를 바꾸는 작업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54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39E4-306C-B4E4-65B2-20FDD492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7E95F-E589-AF58-F2D6-147FA4DD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15.8.5 </a:t>
            </a:r>
            <a:r>
              <a:rPr lang="ko-KR" altLang="en-US" dirty="0"/>
              <a:t>경과 시간 측정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971C1-D38B-6C88-F9F9-159DD1BD77BD}"/>
              </a:ext>
            </a:extLst>
          </p:cNvPr>
          <p:cNvSpPr txBox="1"/>
          <p:nvPr/>
        </p:nvSpPr>
        <p:spPr>
          <a:xfrm>
            <a:off x="539750" y="687983"/>
            <a:ext cx="7920682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RunTask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elapsed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&gt;{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elapsed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milliseconds.count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3DB9BB-7988-516A-FB40-F849E87A66DD}"/>
              </a:ext>
            </a:extLst>
          </p:cNvPr>
          <p:cNvSpPr txBox="1"/>
          <p:nvPr/>
        </p:nvSpPr>
        <p:spPr>
          <a:xfrm>
            <a:off x="539750" y="4941168"/>
            <a:ext cx="792068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시작과 종료 시점을 같은 </a:t>
            </a: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en-US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에서 얻음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번의 측정은 캐시, 스케줄링, 다른 프로세스 영향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짧은 함수는 여러 번 반복하고 평균 계산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결과가 사용되지 않는 계산은 컴파일러가 제거할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695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2E54-DA86-BB67-14F1-CFC000FA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4ADF-45DB-E738-1EA3-E7E3BBF0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15.8.6 </a:t>
            </a:r>
            <a:r>
              <a:rPr lang="ko-KR" altLang="en-US" dirty="0"/>
              <a:t>시간 기반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A6C6C-F4E8-28D6-3BE9-217CC785C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 err="1"/>
              <a:t>position</a:t>
            </a:r>
            <a:r>
              <a:rPr lang="ko-KR" altLang="ko-KR" sz="2400" dirty="0"/>
              <a:t> += </a:t>
            </a:r>
            <a:r>
              <a:rPr lang="ko-KR" altLang="ko-KR" sz="2400" dirty="0" err="1"/>
              <a:t>speed</a:t>
            </a:r>
            <a:r>
              <a:rPr lang="ko-KR" altLang="ko-KR" sz="2400" dirty="0"/>
              <a:t>;</a:t>
            </a:r>
            <a:endParaRPr lang="en-US" altLang="ko-KR" sz="2400" dirty="0"/>
          </a:p>
          <a:p>
            <a:pPr lvl="1"/>
            <a:r>
              <a:rPr lang="ko-KR" altLang="ko-KR" sz="2000" dirty="0"/>
              <a:t>프레임 횟수 기준이면 실행 속도에 따라 결과가 달라짐</a:t>
            </a:r>
            <a:endParaRPr lang="en-US" altLang="ko-KR" sz="2000" dirty="0"/>
          </a:p>
          <a:p>
            <a:r>
              <a:rPr lang="ko-KR" altLang="ko-KR" sz="2400" dirty="0" err="1"/>
              <a:t>position</a:t>
            </a:r>
            <a:r>
              <a:rPr lang="ko-KR" altLang="ko-KR" sz="2400" dirty="0"/>
              <a:t> += </a:t>
            </a:r>
            <a:r>
              <a:rPr lang="ko-KR" altLang="ko-KR" sz="2400" dirty="0" err="1"/>
              <a:t>speed</a:t>
            </a:r>
            <a:r>
              <a:rPr lang="ko-KR" altLang="ko-KR" sz="2400" dirty="0"/>
              <a:t> * </a:t>
            </a:r>
            <a:r>
              <a:rPr lang="ko-KR" altLang="ko-KR" sz="2400" dirty="0" err="1"/>
              <a:t>deltaSeconds</a:t>
            </a:r>
            <a:r>
              <a:rPr lang="ko-KR" altLang="ko-KR" sz="2400" dirty="0"/>
              <a:t>;</a:t>
            </a:r>
            <a:endParaRPr lang="en-US" altLang="ko-KR" sz="2400" dirty="0"/>
          </a:p>
          <a:p>
            <a:pPr lvl="1"/>
            <a:r>
              <a:rPr lang="ko-KR" altLang="ko-KR" sz="2000" dirty="0"/>
              <a:t>속도가 초당 </a:t>
            </a:r>
            <a:r>
              <a:rPr lang="ko-KR" altLang="ko-KR" sz="2000" dirty="0" err="1"/>
              <a:t>이동량</a:t>
            </a:r>
            <a:r>
              <a:rPr lang="en-US" altLang="ko-KR" sz="2000" dirty="0"/>
              <a:t> </a:t>
            </a:r>
            <a:r>
              <a:rPr lang="ko-KR" altLang="ko-KR" sz="2000" dirty="0"/>
              <a:t>이면 경과 시간을 곱함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9028C-0E74-BEE8-E156-CD18560AE1FB}"/>
              </a:ext>
            </a:extLst>
          </p:cNvPr>
          <p:cNvSpPr txBox="1"/>
          <p:nvPr/>
        </p:nvSpPr>
        <p:spPr>
          <a:xfrm>
            <a:off x="755774" y="2478807"/>
            <a:ext cx="7488634" cy="30777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84991-26D6-A43A-7E9A-F2431334DA51}"/>
              </a:ext>
            </a:extLst>
          </p:cNvPr>
          <p:cNvSpPr txBox="1"/>
          <p:nvPr/>
        </p:nvSpPr>
        <p:spPr>
          <a:xfrm>
            <a:off x="755774" y="2888645"/>
            <a:ext cx="7488634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deltaTime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speed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deltaTime.count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쿨다운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Cooldown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Cooldown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interval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interval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interval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readyTime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  {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interval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steady_clock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time_point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readyTime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021B9-2489-9702-6A91-49A2B2D73715}"/>
              </a:ext>
            </a:extLst>
          </p:cNvPr>
          <p:cNvSpPr txBox="1"/>
          <p:nvPr/>
        </p:nvSpPr>
        <p:spPr>
          <a:xfrm>
            <a:off x="755774" y="6279703"/>
            <a:ext cx="7488634" cy="46166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시간 길이와 완료 시점을 타입으로 구분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0454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D849-02B8-AB04-C98D-2D515FF7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9351B-A275-C0E6-9FE9-3AFB605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15.8.6 </a:t>
            </a:r>
            <a:r>
              <a:rPr lang="ko-KR" altLang="en-US" dirty="0"/>
              <a:t>고정 업데이트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3A9F5-8BD5-AC30-0524-3CED6305D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일정 간격 갱신에는 누적 시간 사용</a:t>
            </a:r>
          </a:p>
          <a:p>
            <a:pPr lvl="0"/>
            <a:r>
              <a:rPr lang="ko-KR" altLang="ko-KR" sz="2000" dirty="0"/>
              <a:t>프레임이 오래 지연되면 반복 횟수가 급격히 늘 수 있음</a:t>
            </a:r>
          </a:p>
          <a:p>
            <a:pPr lvl="0"/>
            <a:r>
              <a:rPr lang="ko-KR" altLang="ko-KR" sz="2000" dirty="0"/>
              <a:t>최대 프레임 시간 또는 한 프레임의 최대 업데이트 횟수 정책 필요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CE3A7-471F-E89C-4341-11F417309EFD}"/>
              </a:ext>
            </a:extLst>
          </p:cNvPr>
          <p:cNvSpPr txBox="1"/>
          <p:nvPr/>
        </p:nvSpPr>
        <p:spPr>
          <a:xfrm>
            <a:off x="546646" y="1844824"/>
            <a:ext cx="7704658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fixedStep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frameTime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frameTime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while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fixedStep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fixedStep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accumulator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fixedStep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5B2FD-69BB-277C-815A-71C92D3729CB}"/>
              </a:ext>
            </a:extLst>
          </p:cNvPr>
          <p:cNvSpPr txBox="1"/>
          <p:nvPr/>
        </p:nvSpPr>
        <p:spPr>
          <a:xfrm>
            <a:off x="539750" y="5337979"/>
            <a:ext cx="771155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thread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this_thread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sleep_for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chrono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milliseconds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40D6E-650C-D6D5-8A4B-5066B9E8C078}"/>
              </a:ext>
            </a:extLst>
          </p:cNvPr>
          <p:cNvSpPr txBox="1"/>
          <p:nvPr/>
        </p:nvSpPr>
        <p:spPr>
          <a:xfrm>
            <a:off x="546646" y="5913229"/>
            <a:ext cx="7704658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수면 함수는 정확한 실시간 스케줄을 보장하지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운영체제 스케줄러 지연으로 더 늦게 깨어날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1710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3C543-39CF-317D-6B9F-C5528D1B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D528B-F073-29EE-B4C4-C3FD7506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7B7A5-728C-D554-67AF-B9F094CE9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스트림은 콘솔</a:t>
            </a:r>
            <a:r>
              <a:rPr lang="en-US" altLang="ko-KR" sz="2400" dirty="0"/>
              <a:t>, </a:t>
            </a:r>
            <a:r>
              <a:rPr lang="ko-KR" altLang="en-US" sz="2400" dirty="0"/>
              <a:t>문자열</a:t>
            </a:r>
            <a:r>
              <a:rPr lang="en-US" altLang="ko-KR" sz="2400" dirty="0"/>
              <a:t>, </a:t>
            </a:r>
            <a:r>
              <a:rPr lang="ko-KR" altLang="en-US" sz="2400" dirty="0"/>
              <a:t>파일을 공통된 읽기</a:t>
            </a:r>
            <a:r>
              <a:rPr lang="en-US" altLang="ko-KR" sz="2400" dirty="0"/>
              <a:t>·</a:t>
            </a:r>
            <a:r>
              <a:rPr lang="ko-KR" altLang="en-US" sz="2400" dirty="0"/>
              <a:t>쓰기 인터페이스로 다룸</a:t>
            </a:r>
          </a:p>
          <a:p>
            <a:r>
              <a:rPr lang="ko-KR" altLang="en-US" sz="2400" dirty="0"/>
              <a:t>입력 성공 여부는 실제 추출 연산으로 확인</a:t>
            </a:r>
          </a:p>
          <a:p>
            <a:r>
              <a:rPr lang="ko-KR" altLang="en-US" sz="2400" dirty="0"/>
              <a:t>입력 실패 복구에는 </a:t>
            </a:r>
            <a:r>
              <a:rPr lang="en-US" altLang="ko-KR" sz="2400" dirty="0"/>
              <a:t>clear()</a:t>
            </a:r>
            <a:r>
              <a:rPr lang="ko-KR" altLang="en-US" sz="2400" dirty="0"/>
              <a:t>와 </a:t>
            </a:r>
            <a:r>
              <a:rPr lang="en-US" altLang="ko-KR" sz="2400" dirty="0"/>
              <a:t>ignore()</a:t>
            </a:r>
            <a:r>
              <a:rPr lang="ko-KR" altLang="en-US" sz="2400" dirty="0"/>
              <a:t>가 함께 필요</a:t>
            </a:r>
          </a:p>
          <a:p>
            <a:r>
              <a:rPr lang="en-US" altLang="ko-KR" sz="2400" dirty="0"/>
              <a:t>operator&gt;&gt;</a:t>
            </a:r>
            <a:r>
              <a:rPr lang="ko-KR" altLang="en-US" sz="2400" dirty="0"/>
              <a:t>와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getline</a:t>
            </a:r>
            <a:r>
              <a:rPr lang="en-US" altLang="ko-KR" sz="2400" dirty="0"/>
              <a:t>()</a:t>
            </a:r>
            <a:r>
              <a:rPr lang="ko-KR" altLang="en-US" sz="2400" dirty="0"/>
              <a:t>을 함께 쓸 때는 남은 줄바꿈 처리</a:t>
            </a:r>
          </a:p>
          <a:p>
            <a:r>
              <a:rPr lang="ko-KR" altLang="en-US" sz="2400" dirty="0"/>
              <a:t>스트림 조정자 중 일부 상태는 이후 출력에도 유지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setw</a:t>
            </a:r>
            <a:r>
              <a:rPr lang="en-US" altLang="ko-KR" sz="2400" dirty="0"/>
              <a:t>()</a:t>
            </a:r>
            <a:r>
              <a:rPr lang="ko-KR" altLang="en-US" sz="2400" dirty="0"/>
              <a:t>는 한 필드에만 적용</a:t>
            </a:r>
          </a:p>
          <a:p>
            <a:r>
              <a:rPr lang="en-US" altLang="ko-KR" sz="2400" dirty="0"/>
              <a:t>std::format()</a:t>
            </a:r>
            <a:r>
              <a:rPr lang="ko-KR" altLang="en-US" sz="2400" dirty="0"/>
              <a:t>은 호출 하나에 형식 규칙을 모아 문자열 생성</a:t>
            </a:r>
          </a:p>
          <a:p>
            <a:r>
              <a:rPr lang="en-US" altLang="ko-KR" sz="2400" dirty="0"/>
              <a:t>std::</a:t>
            </a:r>
            <a:r>
              <a:rPr lang="en-US" altLang="ko-KR" sz="2400" dirty="0" err="1"/>
              <a:t>format_to</a:t>
            </a:r>
            <a:r>
              <a:rPr lang="en-US" altLang="ko-KR" sz="2400" dirty="0"/>
              <a:t>()</a:t>
            </a:r>
            <a:r>
              <a:rPr lang="ko-KR" altLang="en-US" sz="2400" dirty="0"/>
              <a:t>는 기존 출력 대상에 기록</a:t>
            </a:r>
          </a:p>
          <a:p>
            <a:r>
              <a:rPr lang="ko-KR" altLang="en-US" sz="2400" dirty="0"/>
              <a:t>사용자 정의 타입은 스트림 연산자 또는 </a:t>
            </a:r>
            <a:r>
              <a:rPr lang="en-US" altLang="ko-KR" sz="2400" dirty="0"/>
              <a:t>std::formatter</a:t>
            </a:r>
            <a:r>
              <a:rPr lang="ko-KR" altLang="en-US" sz="2400" dirty="0"/>
              <a:t>로 출력 문법에 연결</a:t>
            </a:r>
          </a:p>
          <a:p>
            <a:r>
              <a:rPr lang="ko-KR" altLang="en-US" sz="2400" dirty="0"/>
              <a:t>문자열 스트림은 문자열 파싱과 조립에 유용</a:t>
            </a:r>
          </a:p>
        </p:txBody>
      </p:sp>
    </p:spTree>
    <p:extLst>
      <p:ext uri="{BB962C8B-B14F-4D97-AF65-F5344CB8AC3E}">
        <p14:creationId xmlns:p14="http://schemas.microsoft.com/office/powerpoint/2010/main" val="3694636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544-A1CD-B765-DA65-14B0F25F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47AC-77B2-9CDB-796D-FE77F5DF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CBBB-0227-8456-3393-22A6EE07F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텍스트 파일은 사람이 읽기 쉽지만 </a:t>
            </a:r>
            <a:r>
              <a:rPr lang="ko-KR" altLang="en-US" sz="2400" dirty="0" err="1"/>
              <a:t>구분자</a:t>
            </a:r>
            <a:r>
              <a:rPr lang="en-US" altLang="ko-KR" sz="2400" dirty="0"/>
              <a:t>, </a:t>
            </a:r>
            <a:r>
              <a:rPr lang="ko-KR" altLang="en-US" sz="2400" dirty="0"/>
              <a:t>인코딩</a:t>
            </a:r>
            <a:r>
              <a:rPr lang="en-US" altLang="ko-KR" sz="2400" dirty="0"/>
              <a:t>, </a:t>
            </a:r>
            <a:r>
              <a:rPr lang="ko-KR" altLang="en-US" sz="2400" dirty="0"/>
              <a:t>버전 규칙 필요</a:t>
            </a:r>
          </a:p>
          <a:p>
            <a:r>
              <a:rPr lang="ko-KR" altLang="en-US" sz="2400" dirty="0"/>
              <a:t>바이너리 모드는 텍스트 변환을 막을 뿐 객체를 자동 </a:t>
            </a:r>
            <a:r>
              <a:rPr lang="ko-KR" altLang="en-US" sz="2400" dirty="0" err="1"/>
              <a:t>직렬화하지</a:t>
            </a:r>
            <a:r>
              <a:rPr lang="ko-KR" altLang="en-US" sz="2400" dirty="0"/>
              <a:t> 않음</a:t>
            </a:r>
          </a:p>
          <a:p>
            <a:r>
              <a:rPr lang="ko-KR" altLang="en-US" sz="2400" dirty="0"/>
              <a:t>지속 가능한 바이너리 형식은 필드 크기</a:t>
            </a:r>
            <a:r>
              <a:rPr lang="en-US" altLang="ko-KR" sz="2400" dirty="0"/>
              <a:t>, </a:t>
            </a:r>
            <a:r>
              <a:rPr lang="ko-KR" altLang="en-US" sz="2400" dirty="0"/>
              <a:t>바이트 순서</a:t>
            </a:r>
            <a:r>
              <a:rPr lang="en-US" altLang="ko-KR" sz="2400" dirty="0"/>
              <a:t>, </a:t>
            </a:r>
            <a:r>
              <a:rPr lang="ko-KR" altLang="en-US" sz="2400" dirty="0"/>
              <a:t>문자열 길이</a:t>
            </a:r>
            <a:r>
              <a:rPr lang="en-US" altLang="ko-KR" sz="2400" dirty="0"/>
              <a:t>, </a:t>
            </a:r>
            <a:r>
              <a:rPr lang="ko-KR" altLang="en-US" sz="2400" dirty="0"/>
              <a:t>버전을 명시</a:t>
            </a:r>
          </a:p>
          <a:p>
            <a:r>
              <a:rPr lang="ko-KR" altLang="en-US" sz="2400" dirty="0"/>
              <a:t>포인터와 동적 메모리를 포함한 객체를 메모리 그대로 저장하면 안 됨</a:t>
            </a:r>
          </a:p>
          <a:p>
            <a:r>
              <a:rPr lang="en-US" altLang="ko-KR" sz="2400" dirty="0"/>
              <a:t>std::filesystem::path</a:t>
            </a:r>
            <a:r>
              <a:rPr lang="ko-KR" altLang="en-US" sz="2400" dirty="0"/>
              <a:t>는 운영체제 경로를 타입으로 표현</a:t>
            </a:r>
          </a:p>
          <a:p>
            <a:r>
              <a:rPr lang="ko-KR" altLang="en-US" sz="2400" dirty="0"/>
              <a:t>파일 시스템 함수는 예외 방식과 </a:t>
            </a:r>
            <a:r>
              <a:rPr lang="en-US" altLang="ko-KR" sz="2400" dirty="0"/>
              <a:t>std::</a:t>
            </a:r>
            <a:r>
              <a:rPr lang="en-US" altLang="ko-KR" sz="2400" dirty="0" err="1"/>
              <a:t>error_code</a:t>
            </a:r>
            <a:r>
              <a:rPr lang="en-US" altLang="ko-KR" sz="2400" dirty="0"/>
              <a:t> </a:t>
            </a:r>
            <a:r>
              <a:rPr lang="ko-KR" altLang="en-US" sz="2400" dirty="0"/>
              <a:t>방식 제공</a:t>
            </a:r>
          </a:p>
          <a:p>
            <a:r>
              <a:rPr lang="ko-KR" altLang="en-US" sz="2400" dirty="0"/>
              <a:t>파일은 검사 직후에도 외부 요인으로 변경될 수 있음</a:t>
            </a:r>
          </a:p>
          <a:p>
            <a:r>
              <a:rPr lang="ko-KR" altLang="en-US" sz="2400" dirty="0"/>
              <a:t>실제 작업 실패 처리가 필요</a:t>
            </a:r>
          </a:p>
        </p:txBody>
      </p:sp>
    </p:spTree>
    <p:extLst>
      <p:ext uri="{BB962C8B-B14F-4D97-AF65-F5344CB8AC3E}">
        <p14:creationId xmlns:p14="http://schemas.microsoft.com/office/powerpoint/2010/main" val="31107205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25E3-329C-4241-9965-EE7602F7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B0A80-2263-08DD-2BA2-3DC498F0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E8562-57F8-587A-69E3-8166BDD4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난수 라이브러리는 엔진과 분포를 분리</a:t>
            </a:r>
          </a:p>
          <a:p>
            <a:r>
              <a:rPr lang="ko-KR" altLang="en-US" sz="2400" dirty="0"/>
              <a:t>엔진은 상태를 가진 의사 난수 수열 생성</a:t>
            </a:r>
          </a:p>
          <a:p>
            <a:r>
              <a:rPr lang="ko-KR" altLang="en-US" sz="2400" dirty="0"/>
              <a:t>분포는 원하는 범위와 확률 모델로 변환</a:t>
            </a:r>
          </a:p>
          <a:p>
            <a:r>
              <a:rPr lang="ko-KR" altLang="en-US" sz="2400" dirty="0"/>
              <a:t>고정 시드는 테스트와 재현에 사용</a:t>
            </a:r>
          </a:p>
          <a:p>
            <a:r>
              <a:rPr lang="ko-KR" altLang="en-US" sz="2400" dirty="0"/>
              <a:t>실행마다 다른 수열이 필요하면 </a:t>
            </a:r>
            <a:r>
              <a:rPr lang="ko-KR" altLang="en-US" sz="2400" dirty="0" err="1"/>
              <a:t>시드</a:t>
            </a:r>
            <a:r>
              <a:rPr lang="ko-KR" altLang="en-US" sz="2400" dirty="0"/>
              <a:t> 재료를 외부에서 얻음</a:t>
            </a:r>
          </a:p>
          <a:p>
            <a:r>
              <a:rPr lang="ko-KR" altLang="en-US" sz="2400" dirty="0"/>
              <a:t>엔진 결과에 </a:t>
            </a:r>
            <a:r>
              <a:rPr lang="en-US" altLang="ko-KR" sz="2400" dirty="0"/>
              <a:t>%</a:t>
            </a:r>
            <a:r>
              <a:rPr lang="ko-KR" altLang="en-US" sz="2400" dirty="0"/>
              <a:t>를 적용하기보다 표준 분포 사용</a:t>
            </a:r>
          </a:p>
          <a:p>
            <a:r>
              <a:rPr lang="en-US" altLang="ko-KR" sz="2400" dirty="0"/>
              <a:t>std::chrono::duration</a:t>
            </a:r>
            <a:r>
              <a:rPr lang="ko-KR" altLang="en-US" sz="2400" dirty="0"/>
              <a:t>은 시간의 길이 표현</a:t>
            </a:r>
          </a:p>
          <a:p>
            <a:r>
              <a:rPr lang="en-US" altLang="ko-KR" sz="2400" dirty="0" err="1"/>
              <a:t>time_point</a:t>
            </a:r>
            <a:r>
              <a:rPr lang="ko-KR" altLang="en-US" sz="2400" dirty="0"/>
              <a:t>는 특정 시계의 시점 표현</a:t>
            </a:r>
          </a:p>
          <a:p>
            <a:r>
              <a:rPr lang="ko-KR" altLang="en-US" sz="2400" dirty="0"/>
              <a:t>달력 시각은 </a:t>
            </a:r>
            <a:r>
              <a:rPr lang="en-US" altLang="ko-KR" sz="2400" dirty="0" err="1"/>
              <a:t>system_clock</a:t>
            </a:r>
            <a:endParaRPr lang="en-US" altLang="ko-KR" sz="2400" dirty="0"/>
          </a:p>
          <a:p>
            <a:r>
              <a:rPr lang="ko-KR" altLang="en-US" sz="2400" dirty="0"/>
              <a:t>경과 시간과 제한 시간은 </a:t>
            </a:r>
            <a:r>
              <a:rPr lang="en-US" altLang="ko-KR" sz="2400" dirty="0" err="1"/>
              <a:t>steady_clock</a:t>
            </a:r>
            <a:endParaRPr lang="en-US" altLang="ko-KR" sz="2400" dirty="0"/>
          </a:p>
          <a:p>
            <a:r>
              <a:rPr lang="ko-KR" altLang="en-US" sz="2400" dirty="0"/>
              <a:t>시간 기반 처리는 프레임 횟수가 아니라 실제 경과 시간 기준</a:t>
            </a:r>
          </a:p>
        </p:txBody>
      </p:sp>
    </p:spTree>
    <p:extLst>
      <p:ext uri="{BB962C8B-B14F-4D97-AF65-F5344CB8AC3E}">
        <p14:creationId xmlns:p14="http://schemas.microsoft.com/office/powerpoint/2010/main" val="218219879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0" i="0" u="none" strike="noStrike" dirty="0">
            <a:solidFill>
              <a:srgbClr val="4078F2"/>
            </a:solidFill>
            <a:effectLst/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10922</TotalTime>
  <Words>6154</Words>
  <Application>Microsoft Office PowerPoint</Application>
  <PresentationFormat>화면 슬라이드 쇼(4:3)</PresentationFormat>
  <Paragraphs>407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5" baseType="lpstr">
      <vt:lpstr>Pretendard ExtraBold</vt:lpstr>
      <vt:lpstr>가을체</vt:lpstr>
      <vt:lpstr>굴림</vt:lpstr>
      <vt:lpstr>Arial</vt:lpstr>
      <vt:lpstr>나눔고딕 ExtraBold</vt:lpstr>
      <vt:lpstr>나눔바른고딕</vt:lpstr>
      <vt:lpstr>Wingdings</vt:lpstr>
      <vt:lpstr>HY견고딕</vt:lpstr>
      <vt:lpstr>기본 디자인</vt:lpstr>
      <vt:lpstr>15. 입출력과 표준 유틸리티</vt:lpstr>
      <vt:lpstr>15. 입출력과 표준 유틸리티</vt:lpstr>
      <vt:lpstr>15.1.1 입력 스트림과 출력 스트림</vt:lpstr>
      <vt:lpstr>15.1.2 스트림 상태와 오류 플래그</vt:lpstr>
      <vt:lpstr>15.1.2 eof 반복 조건 주의</vt:lpstr>
      <vt:lpstr>15.1.3 입력 실패 복구</vt:lpstr>
      <vt:lpstr>15.1.4 형식 지정과 스트림 상태</vt:lpstr>
      <vt:lpstr>15.1.5 사용자 정의 타입의 입력</vt:lpstr>
      <vt:lpstr>15.1.6 버퍼링과 출력 시점</vt:lpstr>
      <vt:lpstr>15.1.7 형식 입력과 행 입력의 혼합</vt:lpstr>
      <vt:lpstr>15.2 문자열 스트림</vt:lpstr>
      <vt:lpstr>15.2.1 구분자 기반 문자열 파싱</vt:lpstr>
      <vt:lpstr>15.2.3 입력 전체 확인</vt:lpstr>
      <vt:lpstr>15.3 형식화된 출력</vt:lpstr>
      <vt:lpstr>15.3.2 std::format (C++20)</vt:lpstr>
      <vt:lpstr>15.3.3 형식 문자열과 서식 지정</vt:lpstr>
      <vt:lpstr>15.4 텍스트 파일 입출력</vt:lpstr>
      <vt:lpstr>15.4.2 파일 열기 모드</vt:lpstr>
      <vt:lpstr>15.4.3 행 단위 입력</vt:lpstr>
      <vt:lpstr>15.4.4 구분자 기반 입력</vt:lpstr>
      <vt:lpstr>15.4.5 파일 오류 처리</vt:lpstr>
      <vt:lpstr>15.5 바이너리 파일 입출력</vt:lpstr>
      <vt:lpstr>15.5.2 read와 write</vt:lpstr>
      <vt:lpstr>15.5.4 고정 길이 데이터와 문자열</vt:lpstr>
      <vt:lpstr>15.5.5 객체를 그대로 저장할 때의 문제</vt:lpstr>
      <vt:lpstr>15.5.6 파일 형식과 버전 관리</vt:lpstr>
      <vt:lpstr>15.6 파일 시스템</vt:lpstr>
      <vt:lpstr>15.6.1 path 조작</vt:lpstr>
      <vt:lpstr>15.6.2 파일과 디렉터리 확인</vt:lpstr>
      <vt:lpstr>15.6.3 디렉터리 생성과 순회</vt:lpstr>
      <vt:lpstr>15.7 난수</vt:lpstr>
      <vt:lpstr>15.7.2 난수 엔진과 분포</vt:lpstr>
      <vt:lpstr>15.7.3 시드와 엔진 상태</vt:lpstr>
      <vt:lpstr>15.7.4 재현 가능한 난수</vt:lpstr>
      <vt:lpstr>15.7.5 대표 분포와 셔플</vt:lpstr>
      <vt:lpstr>15.7.6 rand와 random 라이브러리</vt:lpstr>
      <vt:lpstr>15.8 시간</vt:lpstr>
      <vt:lpstr>15.8.2 time_point</vt:lpstr>
      <vt:lpstr>15.8.3 시계의 종류와 선택</vt:lpstr>
      <vt:lpstr>15.8.4 시간 단위 변환</vt:lpstr>
      <vt:lpstr>15.8.5 경과 시간 측정</vt:lpstr>
      <vt:lpstr>15.8.6 시간 기반 처리</vt:lpstr>
      <vt:lpstr>15.8.6 고정 업데이트</vt:lpstr>
      <vt:lpstr>15.9 학습 정리</vt:lpstr>
      <vt:lpstr>15.9 학습 정리</vt:lpstr>
      <vt:lpstr>15.9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388</cp:revision>
  <dcterms:created xsi:type="dcterms:W3CDTF">2003-11-30T16:03:20Z</dcterms:created>
  <dcterms:modified xsi:type="dcterms:W3CDTF">2026-09-09T12:59:09Z</dcterms:modified>
</cp:coreProperties>
</file>