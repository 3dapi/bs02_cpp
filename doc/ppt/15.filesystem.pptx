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8"/>
  </p:notesMasterIdLst>
  <p:sldIdLst>
    <p:sldId id="328" r:id="rId2"/>
    <p:sldId id="329" r:id="rId3"/>
    <p:sldId id="330" r:id="rId4"/>
    <p:sldId id="331" r:id="rId5"/>
    <p:sldId id="332" r:id="rId6"/>
    <p:sldId id="333" r:id="rId7"/>
    <p:sldId id="334" r:id="rId8"/>
    <p:sldId id="335" r:id="rId9"/>
    <p:sldId id="336" r:id="rId10"/>
    <p:sldId id="337" r:id="rId11"/>
    <p:sldId id="338" r:id="rId12"/>
    <p:sldId id="339" r:id="rId13"/>
    <p:sldId id="340" r:id="rId14"/>
    <p:sldId id="341" r:id="rId15"/>
    <p:sldId id="342" r:id="rId16"/>
    <p:sldId id="343" r:id="rId17"/>
    <p:sldId id="344" r:id="rId18"/>
    <p:sldId id="345" r:id="rId19"/>
    <p:sldId id="346" r:id="rId20"/>
    <p:sldId id="347" r:id="rId21"/>
    <p:sldId id="348" r:id="rId22"/>
    <p:sldId id="349" r:id="rId23"/>
    <p:sldId id="350" r:id="rId24"/>
    <p:sldId id="351" r:id="rId25"/>
    <p:sldId id="352" r:id="rId26"/>
    <p:sldId id="353" r:id="rId27"/>
    <p:sldId id="354" r:id="rId28"/>
    <p:sldId id="355" r:id="rId29"/>
    <p:sldId id="356" r:id="rId30"/>
    <p:sldId id="357" r:id="rId31"/>
    <p:sldId id="358" r:id="rId32"/>
    <p:sldId id="359" r:id="rId33"/>
    <p:sldId id="360" r:id="rId34"/>
    <p:sldId id="361" r:id="rId35"/>
    <p:sldId id="362" r:id="rId36"/>
    <p:sldId id="363" r:id="rId37"/>
    <p:sldId id="364" r:id="rId38"/>
    <p:sldId id="365" r:id="rId39"/>
    <p:sldId id="366" r:id="rId40"/>
    <p:sldId id="367" r:id="rId41"/>
    <p:sldId id="368" r:id="rId42"/>
    <p:sldId id="369" r:id="rId43"/>
    <p:sldId id="370" r:id="rId44"/>
    <p:sldId id="371" r:id="rId45"/>
    <p:sldId id="372" r:id="rId46"/>
    <p:sldId id="373" r:id="rId47"/>
  </p:sldIdLst>
  <p:sldSz cx="9144000" cy="6858000" type="screen4x3"/>
  <p:notesSz cx="6858000" cy="9144000"/>
  <p:embeddedFontLst>
    <p:embeddedFont>
      <p:font typeface="Pretendard ExtraBold" panose="02000903000000020004" pitchFamily="50" charset="-127"/>
      <p:bold r:id="rId49"/>
    </p:embeddedFont>
    <p:embeddedFont>
      <p:font typeface="HY견고딕" panose="02030600000101010101" pitchFamily="18" charset="-127"/>
      <p:regular r:id="rId50"/>
    </p:embeddedFont>
    <p:embeddedFont>
      <p:font typeface="가을체" panose="02030600000101010101" pitchFamily="18" charset="-127"/>
      <p:regular r:id="rId51"/>
    </p:embeddedFont>
    <p:embeddedFont>
      <p:font typeface="나눔고딕 ExtraBold" panose="020D0904000000000000" pitchFamily="50" charset="-127"/>
      <p:bold r:id="rId52"/>
    </p:embeddedFont>
    <p:embeddedFont>
      <p:font typeface="나눔바른고딕" panose="020B0603020101020101" pitchFamily="50" charset="-127"/>
      <p:regular r:id="rId53"/>
      <p:bold r:id="rId54"/>
    </p:embeddedFont>
  </p:embeddedFontLst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EFED"/>
    <a:srgbClr val="0000FF"/>
    <a:srgbClr val="FFFFCC"/>
    <a:srgbClr val="CC00CC"/>
    <a:srgbClr val="CC00FF"/>
    <a:srgbClr val="C18401"/>
    <a:srgbClr val="FF9900"/>
    <a:srgbClr val="FF00FF"/>
    <a:srgbClr val="CCFFFF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106" autoAdjust="0"/>
    <p:restoredTop sz="94582" autoAdjust="0"/>
  </p:normalViewPr>
  <p:slideViewPr>
    <p:cSldViewPr>
      <p:cViewPr>
        <p:scale>
          <a:sx n="100" d="100"/>
          <a:sy n="100" d="100"/>
        </p:scale>
        <p:origin x="1608" y="678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font" Target="fonts/font2.fntdata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5.fntdata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font" Target="fonts/font3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.fntdata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>
            <a:lvl1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>
            <a:lvl1pPr>
              <a:buSzPct val="80000"/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buSzPct val="60000"/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 sz="28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 sz="24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 sz="20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 sz="20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D37CE4-DC6E-0507-7ADF-E2E78392D644}"/>
              </a:ext>
            </a:extLst>
          </p:cNvPr>
          <p:cNvSpPr txBox="1"/>
          <p:nvPr userDrawn="1"/>
        </p:nvSpPr>
        <p:spPr>
          <a:xfrm>
            <a:off x="7253184" y="6610716"/>
            <a:ext cx="1542657" cy="234286"/>
          </a:xfrm>
          <a:prstGeom prst="rect">
            <a:avLst/>
          </a:prstGeom>
          <a:noFill/>
          <a:ln w="25400">
            <a:noFill/>
            <a:prstDash val="sysDot"/>
          </a:ln>
        </p:spPr>
        <p:txBody>
          <a:bodyPr wrap="none" lIns="36000" tIns="36000" rIns="36000" bIns="36000" rtlCol="0">
            <a:spAutoFit/>
          </a:bodyPr>
          <a:lstStyle/>
          <a:p>
            <a:pPr>
              <a:defRPr/>
            </a:pPr>
            <a:r>
              <a:rPr lang="ko-KR" altLang="en-US" sz="1050" b="0" dirty="0">
                <a:solidFill>
                  <a:schemeClr val="bg2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게임 프로그래밍 교육과정</a:t>
            </a:r>
            <a:endParaRPr lang="ko-KR" altLang="en-US" b="0" dirty="0">
              <a:solidFill>
                <a:schemeClr val="bg2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38BED-C94A-AD80-6433-3377FEE75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B0E0D7-1C34-C1FB-CCCC-F954324174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5576" y="1122363"/>
            <a:ext cx="7560840" cy="2387600"/>
          </a:xfrm>
        </p:spPr>
        <p:txBody>
          <a:bodyPr/>
          <a:lstStyle/>
          <a:p>
            <a:r>
              <a:rPr lang="en-US" altLang="ko-KR" dirty="0"/>
              <a:t>15. </a:t>
            </a:r>
            <a:r>
              <a:rPr lang="ko-KR" altLang="en-US" dirty="0"/>
              <a:t>입출력과 표준 유틸리티</a:t>
            </a:r>
            <a:endParaRPr lang="ko-KR" altLang="en-US" sz="28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1FEA1F-7311-E697-BFC8-C48378530F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0957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5E050F-B3AE-4C0D-DDB6-D84586A8F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 </a:t>
            </a:r>
            <a:r>
              <a:rPr lang="ko-KR" altLang="en-US" dirty="0"/>
              <a:t>입출력과 표준 유틸리티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8C10B4-F2FB-0376-1BFA-30DF8EC92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스트림 입출력</a:t>
            </a:r>
          </a:p>
          <a:p>
            <a:r>
              <a:rPr lang="ko-KR" altLang="en-US" dirty="0"/>
              <a:t>문자열 스트림</a:t>
            </a:r>
          </a:p>
          <a:p>
            <a:r>
              <a:rPr lang="ko-KR" altLang="en-US" dirty="0"/>
              <a:t>형식화된 출력</a:t>
            </a:r>
          </a:p>
          <a:p>
            <a:r>
              <a:rPr lang="ko-KR" altLang="en-US" dirty="0"/>
              <a:t>텍스트 파일 입출력</a:t>
            </a:r>
          </a:p>
          <a:p>
            <a:r>
              <a:rPr lang="ko-KR" altLang="en-US" dirty="0"/>
              <a:t>바이너리 파일 입출력</a:t>
            </a:r>
          </a:p>
          <a:p>
            <a:r>
              <a:rPr lang="ko-KR" altLang="en-US" dirty="0"/>
              <a:t>파일 시스템</a:t>
            </a:r>
          </a:p>
          <a:p>
            <a:r>
              <a:rPr lang="ko-KR" altLang="en-US" dirty="0"/>
              <a:t>난수</a:t>
            </a:r>
          </a:p>
          <a:p>
            <a:r>
              <a:rPr lang="ko-KR" altLang="en-US" dirty="0"/>
              <a:t>시간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D723B09-9E93-791B-D09F-A28754222D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5039804"/>
              </p:ext>
            </p:extLst>
          </p:nvPr>
        </p:nvGraphicFramePr>
        <p:xfrm>
          <a:off x="4804469" y="836712"/>
          <a:ext cx="3325639" cy="3854160"/>
        </p:xfrm>
        <a:graphic>
          <a:graphicData uri="http://schemas.openxmlformats.org/drawingml/2006/table">
            <a:tbl>
              <a:tblPr/>
              <a:tblGrid>
                <a:gridCol w="3325639">
                  <a:extLst>
                    <a:ext uri="{9D8B030D-6E8A-4147-A177-3AD203B41FA5}">
                      <a16:colId xmlns:a16="http://schemas.microsoft.com/office/drawing/2014/main" val="5057611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t">
                        <a:lnSpc>
                          <a:spcPct val="130000"/>
                        </a:lnSpc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프로그램</a:t>
                      </a:r>
                      <a:b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↓</a:t>
                      </a:r>
                      <a:b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콘솔</a:t>
                      </a:r>
                      <a:r>
                        <a:rPr lang="en-US" alt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/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문자열</a:t>
                      </a:r>
                      <a:r>
                        <a:rPr lang="en-US" alt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/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파일</a:t>
                      </a:r>
                      <a:r>
                        <a:rPr lang="en-US" alt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/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디렉터리</a:t>
                      </a:r>
                      <a:b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↓</a:t>
                      </a:r>
                      <a:b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스트림</a:t>
                      </a:r>
                      <a:r>
                        <a:rPr lang="en-US" alt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/</a:t>
                      </a:r>
                      <a:r>
                        <a:rPr lang="ko-KR" sz="20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filesystem</a:t>
                      </a:r>
                      <a:r>
                        <a:rPr lang="en-US" alt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/</a:t>
                      </a:r>
                      <a:br>
                        <a:rPr lang="en-US" alt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random</a:t>
                      </a:r>
                      <a:r>
                        <a:rPr lang="en-US" alt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/</a:t>
                      </a:r>
                      <a:r>
                        <a:rPr lang="ko-KR" sz="2000" b="0" i="0" u="none" strike="noStrike" dirty="0" err="1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chrono</a:t>
                      </a:r>
                      <a:b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↓</a:t>
                      </a:r>
                      <a:b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입력 실패, 저장 형식,</a:t>
                      </a:r>
                      <a:br>
                        <a:rPr lang="en-US" alt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</a:b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재현성,</a:t>
                      </a:r>
                      <a:r>
                        <a:rPr lang="en-US" alt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 </a:t>
                      </a:r>
                      <a:r>
                        <a:rPr lang="ko-KR" sz="2000" b="0" i="0" u="none" strike="noStrike" dirty="0">
                          <a:solidFill>
                            <a:srgbClr val="383A42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시간 단위 관리</a:t>
                      </a:r>
                      <a:endParaRPr lang="ko-KR" sz="2000" dirty="0"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216000" marR="216000" marT="144000" marB="144000" anchor="ctr">
                    <a:lnL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74014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06064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53E12-0507-E0CF-96FE-BDE99F2D8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5107EB-E66C-0BC7-744A-B69ABC1E8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15.1.1 </a:t>
            </a:r>
            <a:r>
              <a:rPr lang="ko-KR" altLang="en-US" dirty="0"/>
              <a:t>입력 스트림과 출력 스트림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7FFD0EA-F574-9755-1ED5-295BF42A7C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 err="1"/>
              <a:t>operator</a:t>
            </a:r>
            <a:r>
              <a:rPr lang="ko-KR" altLang="ko-KR" sz="2400" dirty="0"/>
              <a:t>&gt;&gt;는 타입에 맞게 문자를 해석</a:t>
            </a:r>
          </a:p>
          <a:p>
            <a:pPr lvl="0"/>
            <a:r>
              <a:rPr lang="ko-KR" altLang="ko-KR" sz="2400" dirty="0" err="1"/>
              <a:t>int에는</a:t>
            </a:r>
            <a:r>
              <a:rPr lang="ko-KR" altLang="ko-KR" sz="2400" dirty="0"/>
              <a:t> 정수 형식 필요</a:t>
            </a:r>
          </a:p>
          <a:p>
            <a:pPr lvl="0"/>
            <a:r>
              <a:rPr lang="ko-KR" altLang="ko-KR" sz="2400" dirty="0" err="1"/>
              <a:t>std</a:t>
            </a:r>
            <a:r>
              <a:rPr lang="ko-KR" altLang="ko-KR" sz="2400" dirty="0"/>
              <a:t>::</a:t>
            </a:r>
            <a:r>
              <a:rPr lang="ko-KR" altLang="ko-KR" sz="2400" dirty="0" err="1"/>
              <a:t>string은</a:t>
            </a:r>
            <a:r>
              <a:rPr lang="ko-KR" altLang="ko-KR" sz="2400" dirty="0"/>
              <a:t> 앞쪽 공백을 건너뛴 뒤 공백 전까지 읽음</a:t>
            </a:r>
            <a:endParaRPr lang="en-US" altLang="ko-KR" sz="2400" dirty="0"/>
          </a:p>
          <a:p>
            <a:pPr lvl="0"/>
            <a:r>
              <a:rPr lang="ko-KR" altLang="ko-KR" sz="2400" dirty="0"/>
              <a:t>공백을 포함한 한 줄은 </a:t>
            </a:r>
            <a:r>
              <a:rPr lang="ko-KR" altLang="ko-KR" sz="2400" dirty="0" err="1"/>
              <a:t>std</a:t>
            </a:r>
            <a:r>
              <a:rPr lang="ko-KR" altLang="ko-KR" sz="2400" dirty="0"/>
              <a:t>::</a:t>
            </a:r>
            <a:r>
              <a:rPr lang="ko-KR" altLang="ko-KR" sz="2400" dirty="0" err="1"/>
              <a:t>getline</a:t>
            </a:r>
            <a:r>
              <a:rPr lang="ko-KR" altLang="ko-KR" sz="2400" dirty="0"/>
              <a:t>() 사용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5151C1-1234-8AD1-356E-B6BF4BE9A671}"/>
              </a:ext>
            </a:extLst>
          </p:cNvPr>
          <p:cNvSpPr txBox="1"/>
          <p:nvPr/>
        </p:nvSpPr>
        <p:spPr>
          <a:xfrm>
            <a:off x="539750" y="2974300"/>
            <a:ext cx="3312170" cy="1077218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level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cin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&gt;&gt;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&gt;&gt;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level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577492-A39B-2638-0A7A-132C130EF658}"/>
              </a:ext>
            </a:extLst>
          </p:cNvPr>
          <p:cNvSpPr txBox="1"/>
          <p:nvPr/>
        </p:nvSpPr>
        <p:spPr>
          <a:xfrm>
            <a:off x="3851920" y="2967275"/>
            <a:ext cx="4572000" cy="2554545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입력: 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Dark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Knight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20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level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cin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&gt;&gt;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&gt;&gt;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level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→ "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Dark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level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→ "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Knight"에서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입력 실패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fullName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getline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cin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fullName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288088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ACFD3-0CF2-6964-F38D-B4EA551F3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80D053-16EE-07F9-3A24-0927FCD24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15.1.2 </a:t>
            </a:r>
            <a:r>
              <a:rPr lang="ko-KR" altLang="en-US" dirty="0"/>
              <a:t>스트림 상태와 오류 플래그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3D6461-824E-F17C-2526-289F41C3C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스트림은 입출력 결과를 상태 플래그로 기록</a:t>
            </a:r>
          </a:p>
          <a:p>
            <a:r>
              <a:rPr lang="ko-KR" altLang="en-US" dirty="0"/>
              <a:t>실패한 입력 스트림은 복구 전까지 후속 입력을 수행 안함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97EB8F-3B14-3489-9F5C-2E695C235AC7}"/>
              </a:ext>
            </a:extLst>
          </p:cNvPr>
          <p:cNvSpPr txBox="1"/>
          <p:nvPr/>
        </p:nvSpPr>
        <p:spPr>
          <a:xfrm>
            <a:off x="539750" y="1916832"/>
            <a:ext cx="5891510" cy="2062103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cin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&gt;&gt;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 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else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Invalid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E6AE4E1-9A31-60FC-AD9E-D777DC4141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0021154"/>
              </p:ext>
            </p:extLst>
          </p:nvPr>
        </p:nvGraphicFramePr>
        <p:xfrm>
          <a:off x="529878" y="4145040"/>
          <a:ext cx="5891510" cy="2213480"/>
        </p:xfrm>
        <a:graphic>
          <a:graphicData uri="http://schemas.openxmlformats.org/drawingml/2006/table">
            <a:tbl>
              <a:tblPr/>
              <a:tblGrid>
                <a:gridCol w="2191527">
                  <a:extLst>
                    <a:ext uri="{9D8B030D-6E8A-4147-A177-3AD203B41FA5}">
                      <a16:colId xmlns:a16="http://schemas.microsoft.com/office/drawing/2014/main" val="3623432842"/>
                    </a:ext>
                  </a:extLst>
                </a:gridCol>
                <a:gridCol w="3699983">
                  <a:extLst>
                    <a:ext uri="{9D8B030D-6E8A-4147-A177-3AD203B41FA5}">
                      <a16:colId xmlns:a16="http://schemas.microsoft.com/office/drawing/2014/main" val="41258586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상태</a:t>
                      </a:r>
                      <a:endParaRPr lang="ko-KR" sz="3200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sz="320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08457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std</a:t>
                      </a: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ios</a:t>
                      </a: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goodbit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오류 상태 없음</a:t>
                      </a:r>
                      <a:endParaRPr lang="ko-KR" sz="36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949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std</a:t>
                      </a: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ios</a:t>
                      </a: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eofbit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입력 과정에서 파일 끝 도달</a:t>
                      </a:r>
                      <a:endParaRPr lang="ko-KR" sz="36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5516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std</a:t>
                      </a: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ios</a:t>
                      </a: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failbit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형식 변환 실패 등 복구 가능한 오류</a:t>
                      </a:r>
                      <a:endParaRPr lang="ko-KR" sz="36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42606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std</a:t>
                      </a: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ios</a:t>
                      </a: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badbit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장치 오류 등 심각한 오류</a:t>
                      </a:r>
                      <a:endParaRPr lang="ko-KR" sz="36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3312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1CA0F59-2847-984B-E026-B35A5637DFD5}"/>
              </a:ext>
            </a:extLst>
          </p:cNvPr>
          <p:cNvSpPr txBox="1"/>
          <p:nvPr/>
        </p:nvSpPr>
        <p:spPr>
          <a:xfrm>
            <a:off x="4355976" y="3351429"/>
            <a:ext cx="4572000" cy="707886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20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fail</a:t>
            </a:r>
            <a:r>
              <a:rPr lang="ko-KR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()은 </a:t>
            </a:r>
            <a:r>
              <a:rPr lang="ko-KR" altLang="ko-KR" sz="20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failbit</a:t>
            </a:r>
            <a:r>
              <a:rPr lang="ko-KR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또는 </a:t>
            </a:r>
            <a:r>
              <a:rPr lang="ko-KR" altLang="ko-KR" sz="20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badbit</a:t>
            </a:r>
            <a:r>
              <a:rPr lang="ko-KR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확인</a:t>
            </a:r>
            <a:endParaRPr lang="ko-KR" altLang="ko-KR" sz="20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상태 검사 함수는 완전히 배타적이지 않음</a:t>
            </a:r>
            <a:endParaRPr lang="ko-KR" altLang="ko-KR" sz="20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0929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EB75-CB7B-DE4E-A7EC-B7B057043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BD87C9-7968-B758-9166-CFE1A7317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15.1.2 </a:t>
            </a:r>
            <a:r>
              <a:rPr lang="en-US" altLang="ko-KR" dirty="0" err="1"/>
              <a:t>eof</a:t>
            </a:r>
            <a:r>
              <a:rPr lang="en-US" altLang="ko-KR" dirty="0"/>
              <a:t> </a:t>
            </a:r>
            <a:r>
              <a:rPr lang="ko-KR" altLang="en-US" dirty="0"/>
              <a:t>반복 조건 주의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45844E-E629-8B3F-94B5-75A416E892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값을 읽는 연산 자체를 반복 조건으로 사용</a:t>
            </a:r>
          </a:p>
          <a:p>
            <a:r>
              <a:rPr lang="ko-KR" altLang="en-US" sz="2400" dirty="0"/>
              <a:t>마지막 값 처리 뒤의 읽기 실패에서 </a:t>
            </a:r>
            <a:r>
              <a:rPr lang="en-US" altLang="ko-KR" sz="2400" dirty="0"/>
              <a:t>EOF</a:t>
            </a:r>
            <a:r>
              <a:rPr lang="ko-KR" altLang="en-US" sz="2400" dirty="0"/>
              <a:t>가 설정될 수 있음</a:t>
            </a:r>
            <a:endParaRPr lang="en-US" altLang="ko-KR" sz="2400" dirty="0"/>
          </a:p>
          <a:p>
            <a:r>
              <a:rPr lang="ko-KR" altLang="ko-KR" sz="2400" dirty="0" err="1"/>
              <a:t>EOF가</a:t>
            </a:r>
            <a:r>
              <a:rPr lang="ko-KR" altLang="ko-KR" sz="2400" dirty="0"/>
              <a:t> 아닌 종료는 형식 오류나 장치 오류일 수 있음</a:t>
            </a:r>
            <a:endParaRPr lang="ko-KR" altLang="en-US" sz="2400" dirty="0"/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D46CDD-E2E9-4C46-2338-71F4AA13024D}"/>
              </a:ext>
            </a:extLst>
          </p:cNvPr>
          <p:cNvSpPr txBox="1"/>
          <p:nvPr/>
        </p:nvSpPr>
        <p:spPr>
          <a:xfrm>
            <a:off x="539750" y="2495331"/>
            <a:ext cx="3384475" cy="1569660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while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&gt;&gt;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Process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4AF4D7-D500-B67A-2633-FD644A691385}"/>
              </a:ext>
            </a:extLst>
          </p:cNvPr>
          <p:cNvSpPr txBox="1"/>
          <p:nvPr/>
        </p:nvSpPr>
        <p:spPr>
          <a:xfrm>
            <a:off x="3924225" y="2495331"/>
            <a:ext cx="4536207" cy="4031873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권장하지 않음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while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(!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input.eof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&gt;&gt;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Process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반복 종료 원인 확인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while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&gt;&gt;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Process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(!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input.eof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cerr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Invalid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data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format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83612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74ACD-2F07-3A02-8F4F-7E2A9DB6D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21AA3C-3760-FA3F-09CA-D344F81FC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15.1.3 </a:t>
            </a:r>
            <a:r>
              <a:rPr lang="ko-KR" altLang="en-US" dirty="0"/>
              <a:t>입력 실패 복구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66FA5D9-1504-7A8C-3AB5-2CDAEBAFBA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잘못된 입력을 다시 받으려면</a:t>
            </a:r>
            <a:br>
              <a:rPr lang="en-US" altLang="ko-KR" sz="2400" dirty="0"/>
            </a:br>
            <a:r>
              <a:rPr lang="ko-KR" altLang="en-US" sz="2400" dirty="0"/>
              <a:t>상태 플래그와 입력 버퍼를 모두 정리</a:t>
            </a:r>
            <a:br>
              <a:rPr lang="en-US" altLang="ko-KR" sz="2400" dirty="0"/>
            </a:br>
            <a:r>
              <a:rPr lang="ko-KR" altLang="en-US" sz="2400" dirty="0"/>
              <a:t>→ </a:t>
            </a:r>
            <a:r>
              <a:rPr lang="ko-KR" altLang="ko-KR" sz="2400" dirty="0"/>
              <a:t>잘못된 문자가 버퍼에 남으면 입력이 계속 실패</a:t>
            </a:r>
            <a:endParaRPr lang="en-US" altLang="ko-KR" sz="2400" dirty="0"/>
          </a:p>
          <a:p>
            <a:pPr lvl="2"/>
            <a:endParaRPr lang="en-US" altLang="ko-KR" sz="1800" dirty="0"/>
          </a:p>
          <a:p>
            <a:r>
              <a:rPr lang="en-US" altLang="ko-KR" sz="2400" dirty="0"/>
              <a:t>clear() </a:t>
            </a:r>
            <a:r>
              <a:rPr lang="ko-KR" altLang="en-US" sz="2400" dirty="0"/>
              <a:t>→ 오류 플래그 초기화</a:t>
            </a:r>
          </a:p>
          <a:p>
            <a:r>
              <a:rPr lang="en-US" altLang="ko-KR" sz="2400" dirty="0"/>
              <a:t>ignore()</a:t>
            </a:r>
            <a:r>
              <a:rPr lang="ko-KR" altLang="en-US" sz="2400" dirty="0"/>
              <a:t>→ 버퍼의 남은 잘못된 입력 제거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4E1EBB-A0A4-DA82-C6A3-B885E4A9C25E}"/>
              </a:ext>
            </a:extLst>
          </p:cNvPr>
          <p:cNvSpPr txBox="1"/>
          <p:nvPr/>
        </p:nvSpPr>
        <p:spPr>
          <a:xfrm>
            <a:off x="539750" y="3200638"/>
            <a:ext cx="7491288" cy="3323987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400" b="0" i="0" u="none" strike="noStrike" dirty="0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#include 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iostream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#include 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limits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ReadInteger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4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while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(!(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cin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&gt;&gt;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))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"정수를 입력하세요: "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cin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.clear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cin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.ignore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numeric_limits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4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streamsize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&gt;::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max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(), 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4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4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4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4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4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32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523523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85B70-5AC2-AB5F-E764-48B254A50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771424-E4E5-3A36-04D5-D5FB7CC6B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15.1.4 </a:t>
            </a:r>
            <a:r>
              <a:rPr lang="ko-KR" altLang="en-US" dirty="0"/>
              <a:t>형식 지정과 스트림 상태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167818-DDF8-CE6F-8CC2-E18DFB389C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출력 스트림은 형식 상태를 보관</a:t>
            </a:r>
          </a:p>
          <a:p>
            <a:r>
              <a:rPr lang="ko-KR" altLang="en-US" sz="2400" dirty="0"/>
              <a:t>진법</a:t>
            </a:r>
            <a:r>
              <a:rPr lang="en-US" altLang="ko-KR" sz="2400" dirty="0"/>
              <a:t>, </a:t>
            </a:r>
            <a:r>
              <a:rPr lang="ko-KR" altLang="en-US" sz="2400" dirty="0"/>
              <a:t>정렬</a:t>
            </a:r>
            <a:r>
              <a:rPr lang="en-US" altLang="ko-KR" sz="2400" dirty="0"/>
              <a:t>, </a:t>
            </a:r>
            <a:r>
              <a:rPr lang="ko-KR" altLang="en-US" sz="2400" dirty="0"/>
              <a:t>폭</a:t>
            </a:r>
            <a:r>
              <a:rPr lang="en-US" altLang="ko-KR" sz="2400" dirty="0"/>
              <a:t>, </a:t>
            </a:r>
            <a:r>
              <a:rPr lang="ko-KR" altLang="en-US" sz="2400" dirty="0"/>
              <a:t>채움 문자</a:t>
            </a:r>
            <a:r>
              <a:rPr lang="en-US" altLang="ko-KR" sz="2400" dirty="0"/>
              <a:t>, </a:t>
            </a:r>
            <a:r>
              <a:rPr lang="ko-KR" altLang="en-US" sz="2400" dirty="0"/>
              <a:t>정밀도 설정 가능</a:t>
            </a:r>
          </a:p>
          <a:p>
            <a:r>
              <a:rPr lang="ko-KR" altLang="en-US" sz="2400" dirty="0"/>
              <a:t>일부 조정자는 변경할 때까지 유지</a:t>
            </a:r>
          </a:p>
          <a:p>
            <a:r>
              <a:rPr lang="en-US" altLang="ko-KR" sz="2400" dirty="0"/>
              <a:t>std::</a:t>
            </a:r>
            <a:r>
              <a:rPr lang="en-US" altLang="ko-KR" sz="2400" dirty="0" err="1"/>
              <a:t>setw</a:t>
            </a:r>
            <a:r>
              <a:rPr lang="en-US" altLang="ko-KR" sz="2400" dirty="0"/>
              <a:t>()</a:t>
            </a:r>
            <a:r>
              <a:rPr lang="ko-KR" altLang="en-US" sz="2400" dirty="0"/>
              <a:t>는 바로 뒤의 한 필드에만 적용</a:t>
            </a:r>
            <a:endParaRPr lang="en-US" altLang="ko-KR" sz="2400" dirty="0"/>
          </a:p>
          <a:p>
            <a:r>
              <a:rPr lang="ko-KR" altLang="ko-KR" sz="2400" dirty="0"/>
              <a:t>라이브러리 성격의 출력 함수는 스트림 상태 복원 검토</a:t>
            </a:r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E3B2ED-195D-7B12-29EF-51774A03DF33}"/>
              </a:ext>
            </a:extLst>
          </p:cNvPr>
          <p:cNvSpPr txBox="1"/>
          <p:nvPr/>
        </p:nvSpPr>
        <p:spPr>
          <a:xfrm>
            <a:off x="539750" y="3284984"/>
            <a:ext cx="7560642" cy="2800767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#include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iomanip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#include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iostream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255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hex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oct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hex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255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16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       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10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dec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16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0856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6211B-5FA7-69A9-675C-C7CA9479F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629883-84BE-A50A-3E34-D8B2E5D7E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15.1.5 </a:t>
            </a:r>
            <a:r>
              <a:rPr lang="ko-KR" altLang="en-US" dirty="0"/>
              <a:t>사용자 정의 타입의 입력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C76549-DBFC-EB34-3099-04E5D6DCD6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입력 실패 시 객체가 일부만 변경되지 않도록 임시 변수에 읽음</a:t>
            </a:r>
          </a:p>
          <a:p>
            <a:r>
              <a:rPr lang="ko-KR" altLang="en-US" sz="2400" dirty="0"/>
              <a:t>모든 입력과 의미 검사가 성공한 뒤 객체 갱신</a:t>
            </a:r>
            <a:endParaRPr lang="en-US" altLang="ko-KR" sz="2400" dirty="0"/>
          </a:p>
          <a:p>
            <a:pPr lvl="0"/>
            <a:r>
              <a:rPr lang="ko-KR" altLang="ko-KR" sz="2400" dirty="0" err="1"/>
              <a:t>failbit는</a:t>
            </a:r>
            <a:r>
              <a:rPr lang="ko-KR" altLang="ko-KR" sz="2400" dirty="0"/>
              <a:t> 형식 자체의 의미 오류를 표현할 때 사용 가능</a:t>
            </a:r>
          </a:p>
          <a:p>
            <a:pPr lvl="0"/>
            <a:r>
              <a:rPr lang="ko-KR" altLang="ko-KR" sz="2400" dirty="0"/>
              <a:t>저장 형식은 </a:t>
            </a:r>
            <a:r>
              <a:rPr lang="ko-KR" altLang="ko-KR" sz="2400" dirty="0" err="1"/>
              <a:t>구분자</a:t>
            </a:r>
            <a:r>
              <a:rPr lang="ko-KR" altLang="ko-KR" sz="2400" dirty="0"/>
              <a:t>, 공백, 버전 규칙 필요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B652A8-F5CB-76F1-DAB8-9C4D7366C23F}"/>
              </a:ext>
            </a:extLst>
          </p:cNvPr>
          <p:cNvSpPr txBox="1"/>
          <p:nvPr/>
        </p:nvSpPr>
        <p:spPr>
          <a:xfrm>
            <a:off x="539750" y="2687975"/>
            <a:ext cx="7632650" cy="4031873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istream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operator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&gt;&gt;(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istream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(!(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&gt;&gt;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&gt;&gt;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&gt;&gt;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))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||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input.setstate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ios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failbit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move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),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539491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D3126-E72A-FB0B-4CD1-19D759388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F0E5BB-C81D-71B4-9A7D-8000E111E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15.1.6 </a:t>
            </a:r>
            <a:r>
              <a:rPr lang="ko-KR" altLang="en-US" dirty="0"/>
              <a:t>버퍼링과 출력 시점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3EBD330-243C-EEC3-954B-235F87566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출력 스트림은 데이터를 버퍼에 모은 뒤 장치로 보낼 수 있음</a:t>
            </a:r>
          </a:p>
          <a:p>
            <a:r>
              <a:rPr lang="ko-KR" altLang="en-US" sz="2400" dirty="0"/>
              <a:t>작은 출력마다 장치 접근을 반복하지 않아 성능에 유리</a:t>
            </a:r>
          </a:p>
          <a:p>
            <a:r>
              <a:rPr lang="ko-KR" altLang="en-US" sz="2400" dirty="0"/>
              <a:t>즉시 출력이 필요하면 </a:t>
            </a:r>
            <a:r>
              <a:rPr lang="en-US" altLang="ko-KR" sz="2400" dirty="0"/>
              <a:t>std::flush</a:t>
            </a:r>
          </a:p>
          <a:p>
            <a:r>
              <a:rPr lang="ko-KR" altLang="ko-KR" sz="2400" dirty="0"/>
              <a:t>반복 출력에서는 불필요한 </a:t>
            </a:r>
            <a:r>
              <a:rPr lang="ko-KR" altLang="ko-KR" sz="2400" dirty="0" err="1"/>
              <a:t>std</a:t>
            </a:r>
            <a:r>
              <a:rPr lang="ko-KR" altLang="ko-KR" sz="2400" dirty="0"/>
              <a:t>::</a:t>
            </a:r>
            <a:r>
              <a:rPr lang="ko-KR" altLang="ko-KR" sz="2400" dirty="0" err="1"/>
              <a:t>endl</a:t>
            </a:r>
            <a:r>
              <a:rPr lang="ko-KR" altLang="ko-KR" sz="2400" dirty="0"/>
              <a:t> 사용 지양</a:t>
            </a:r>
            <a:endParaRPr lang="en-US" altLang="ko-KR" sz="2400" dirty="0"/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4A02D0-28D8-4F77-8EB5-EF3D1A02EF0F}"/>
              </a:ext>
            </a:extLst>
          </p:cNvPr>
          <p:cNvSpPr txBox="1"/>
          <p:nvPr/>
        </p:nvSpPr>
        <p:spPr>
          <a:xfrm>
            <a:off x="543695" y="2792228"/>
            <a:ext cx="4028306" cy="1323439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Loading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..."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Loading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..."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flush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Completed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endl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Completed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1239A1-75F6-56C0-DEE7-CFDD17798EA7}"/>
              </a:ext>
            </a:extLst>
          </p:cNvPr>
          <p:cNvSpPr txBox="1"/>
          <p:nvPr/>
        </p:nvSpPr>
        <p:spPr>
          <a:xfrm>
            <a:off x="543695" y="4368006"/>
            <a:ext cx="4028306" cy="1077218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for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i 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 i &lt;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10000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 ++i)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i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944FD07-D797-BE2C-DA3D-9860E729F6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152069"/>
              </p:ext>
            </p:extLst>
          </p:nvPr>
        </p:nvGraphicFramePr>
        <p:xfrm>
          <a:off x="5008192" y="3680536"/>
          <a:ext cx="3592113" cy="1764688"/>
        </p:xfrm>
        <a:graphic>
          <a:graphicData uri="http://schemas.openxmlformats.org/drawingml/2006/table">
            <a:tbl>
              <a:tblPr/>
              <a:tblGrid>
                <a:gridCol w="1520314">
                  <a:extLst>
                    <a:ext uri="{9D8B030D-6E8A-4147-A177-3AD203B41FA5}">
                      <a16:colId xmlns:a16="http://schemas.microsoft.com/office/drawing/2014/main" val="3644849336"/>
                    </a:ext>
                  </a:extLst>
                </a:gridCol>
                <a:gridCol w="2071799">
                  <a:extLst>
                    <a:ext uri="{9D8B030D-6E8A-4147-A177-3AD203B41FA5}">
                      <a16:colId xmlns:a16="http://schemas.microsoft.com/office/drawing/2014/main" val="21805026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표현</a:t>
                      </a:r>
                      <a:endParaRPr lang="ko-KR" sz="32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sz="32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4040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'\</a:t>
                      </a:r>
                      <a:r>
                        <a:rPr lang="ko-KR" sz="2000" b="0" i="0" u="none" strike="noStrike" dirty="0" err="1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n</a:t>
                      </a: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'</a:t>
                      </a:r>
                      <a:endParaRPr lang="ko-KR" sz="36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줄바꿈 문자 출력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0423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std</a:t>
                      </a: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2000" b="0" i="0" u="none" strike="noStrike" dirty="0" err="1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flush</a:t>
                      </a:r>
                      <a:endParaRPr lang="ko-KR" sz="36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버퍼 강제 출력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33807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std</a:t>
                      </a: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2000" b="0" i="0" u="none" strike="noStrike" dirty="0" err="1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endl</a:t>
                      </a:r>
                      <a:endParaRPr lang="ko-KR" sz="36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줄바꿈 + </a:t>
                      </a:r>
                      <a:r>
                        <a:rPr lang="ko-KR" sz="2000" b="0" i="0" u="none" strike="noStrike" dirty="0" err="1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flush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2236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665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3904F-687F-936B-F804-118748C1B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801E9A-F623-8419-4F91-1371918B3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15.1.7 </a:t>
            </a:r>
            <a:r>
              <a:rPr lang="ko-KR" altLang="en-US" dirty="0"/>
              <a:t>형식 입력과 행 입력의 혼합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0BBA21-F4EA-968C-53C9-007FACBEE2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operator&gt;&gt;</a:t>
            </a:r>
            <a:r>
              <a:rPr lang="ko-KR" altLang="en-US" sz="2400" dirty="0"/>
              <a:t>는 값을 읽은 뒤 구분 문자를 버퍼에 남길 수 있음</a:t>
            </a:r>
          </a:p>
          <a:p>
            <a:r>
              <a:rPr lang="ko-KR" altLang="en-US" sz="2400" dirty="0"/>
              <a:t>정수 입력 뒤 </a:t>
            </a:r>
            <a:r>
              <a:rPr lang="en-US" altLang="ko-KR" sz="2400" dirty="0" err="1"/>
              <a:t>getline</a:t>
            </a:r>
            <a:r>
              <a:rPr lang="en-US" altLang="ko-KR" sz="2400" dirty="0"/>
              <a:t>()</a:t>
            </a:r>
            <a:r>
              <a:rPr lang="ko-KR" altLang="en-US" sz="2400" dirty="0"/>
              <a:t>을 바로 호출하면 남은 </a:t>
            </a:r>
            <a:r>
              <a:rPr lang="ko-KR" altLang="en-US" sz="2400" dirty="0" err="1"/>
              <a:t>줄바꿈만</a:t>
            </a:r>
            <a:r>
              <a:rPr lang="ko-KR" altLang="en-US" sz="2400" dirty="0"/>
              <a:t> 읽을 수 있음</a:t>
            </a:r>
            <a:endParaRPr lang="en-US" altLang="ko-KR" sz="2400" dirty="0"/>
          </a:p>
          <a:p>
            <a:pPr lvl="0"/>
            <a:r>
              <a:rPr lang="ko-KR" altLang="ko-KR" sz="2400" dirty="0" err="1"/>
              <a:t>std</a:t>
            </a:r>
            <a:r>
              <a:rPr lang="ko-KR" altLang="ko-KR" sz="2400" dirty="0"/>
              <a:t>::</a:t>
            </a:r>
            <a:r>
              <a:rPr lang="ko-KR" altLang="ko-KR" sz="2400" dirty="0" err="1"/>
              <a:t>ws는</a:t>
            </a:r>
            <a:r>
              <a:rPr lang="ko-KR" altLang="ko-KR" sz="2400" dirty="0"/>
              <a:t> </a:t>
            </a:r>
            <a:r>
              <a:rPr lang="ko-KR" altLang="ko-KR" sz="2400" dirty="0" err="1"/>
              <a:t>줄바꿈뿐</a:t>
            </a:r>
            <a:r>
              <a:rPr lang="ko-KR" altLang="ko-KR" sz="2400" dirty="0"/>
              <a:t> 아니라 이어지는 모든 공백 제거</a:t>
            </a:r>
          </a:p>
          <a:p>
            <a:pPr lvl="0"/>
            <a:r>
              <a:rPr lang="ko-KR" altLang="ko-KR" sz="2400" dirty="0"/>
              <a:t>앞쪽 공백 보존이 필요하면 </a:t>
            </a:r>
            <a:r>
              <a:rPr lang="ko-KR" altLang="ko-KR" sz="2400" dirty="0" err="1"/>
              <a:t>ignore</a:t>
            </a:r>
            <a:r>
              <a:rPr lang="ko-KR" altLang="ko-KR" sz="2400" dirty="0"/>
              <a:t>() 방식 검토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EED88-DA26-416E-8117-A7BCDC56413B}"/>
              </a:ext>
            </a:extLst>
          </p:cNvPr>
          <p:cNvSpPr txBox="1"/>
          <p:nvPr/>
        </p:nvSpPr>
        <p:spPr>
          <a:xfrm>
            <a:off x="539750" y="2780928"/>
            <a:ext cx="7704658" cy="3785652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age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cin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&gt;&gt;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age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getline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cin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현재 행의 나머지 제거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cin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&gt;&gt;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age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cin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.ignore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numeric_limits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streamsize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max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(),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getline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cin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앞쪽 공백 제거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cin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&gt;&gt;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age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getline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cin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&gt;&gt;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48298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2EE93-3DDC-069D-6430-A0F64E46B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EBBBEB-1A34-4C46-28D3-6E7D818C4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15.2 </a:t>
            </a:r>
            <a:r>
              <a:rPr lang="ko-KR" altLang="en-US" dirty="0"/>
              <a:t>문자열 스트림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3289BB-A59F-525A-D5AA-B22E0D195F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std::string</a:t>
            </a:r>
            <a:r>
              <a:rPr lang="ko-KR" altLang="en-US" sz="2400" dirty="0"/>
              <a:t>을 입력 또는 출력 장치처럼 사용</a:t>
            </a:r>
          </a:p>
          <a:p>
            <a:r>
              <a:rPr lang="ko-KR" altLang="en-US" sz="2400" dirty="0"/>
              <a:t>문자열 파싱</a:t>
            </a:r>
          </a:p>
          <a:p>
            <a:r>
              <a:rPr lang="ko-KR" altLang="en-US" sz="2400" dirty="0"/>
              <a:t>메시지 조립</a:t>
            </a:r>
          </a:p>
          <a:p>
            <a:r>
              <a:rPr lang="ko-KR" altLang="en-US" sz="2400" dirty="0"/>
              <a:t>테스트 코드에서 활용</a:t>
            </a:r>
          </a:p>
          <a:p>
            <a:r>
              <a:rPr lang="ko-KR" altLang="en-US" sz="2400" dirty="0"/>
              <a:t>콘솔이나 파일 없이 스트림 형식 변환 사용 가능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BCA405-D9DE-3E60-8BD2-7C6C3C23074F}"/>
              </a:ext>
            </a:extLst>
          </p:cNvPr>
          <p:cNvSpPr txBox="1"/>
          <p:nvPr/>
        </p:nvSpPr>
        <p:spPr>
          <a:xfrm>
            <a:off x="467544" y="3013501"/>
            <a:ext cx="7704658" cy="3539430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#include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sstream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#include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text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"1001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Potion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10"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istringstream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text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&gt;&gt;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&gt;&gt;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&gt;&gt;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1001, 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"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Potion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", 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count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10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FE2312-BE65-6AFE-1C71-AB95C3397178}"/>
              </a:ext>
            </a:extLst>
          </p:cNvPr>
          <p:cNvSpPr txBox="1"/>
          <p:nvPr/>
        </p:nvSpPr>
        <p:spPr>
          <a:xfrm>
            <a:off x="4788123" y="4941168"/>
            <a:ext cx="3983534" cy="830997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R="0" lvl="0" algn="l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tabLst/>
              <a:defRPr/>
            </a:pPr>
            <a:r>
              <a:rPr kumimoji="1" lang="en-US" altLang="ko-KR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- </a:t>
            </a:r>
            <a:r>
              <a:rPr kumimoji="1" lang="ko-KR" altLang="ko-KR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문자열 안의 공백은</a:t>
            </a:r>
            <a:br>
              <a:rPr kumimoji="1" lang="en-US" altLang="ko-KR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kumimoji="1" lang="en-US" altLang="ko-KR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  </a:t>
            </a:r>
            <a:r>
              <a:rPr kumimoji="1" lang="ko-KR" altLang="ko-KR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형식 입력에서 구분자로 사용</a:t>
            </a:r>
            <a:endParaRPr kumimoji="1" lang="ko-KR" altLang="en-US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158771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D8A1F-C5F9-13E4-EF2B-50C18242F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55CB96-0B30-F6B5-1B20-1F4D0B170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15.2.1 </a:t>
            </a:r>
            <a:r>
              <a:rPr lang="ko-KR" altLang="en-US" dirty="0" err="1"/>
              <a:t>구분자</a:t>
            </a:r>
            <a:r>
              <a:rPr lang="ko-KR" altLang="en-US" dirty="0"/>
              <a:t> 기반 문자열 파싱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9C8189-FD58-DF22-F73A-24049B041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ko-KR" sz="2400" dirty="0"/>
              <a:t>행 전체를 읽고 내부를 구분자로 분리</a:t>
            </a:r>
          </a:p>
          <a:p>
            <a:pPr lvl="0"/>
            <a:r>
              <a:rPr lang="ko-KR" altLang="ko-KR" sz="2400" dirty="0"/>
              <a:t>숫자 필드는 별도 변환 필요</a:t>
            </a:r>
          </a:p>
          <a:p>
            <a:endParaRPr lang="ko-KR" alt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F960B5-7737-F8AE-97B0-E89D18495A90}"/>
              </a:ext>
            </a:extLst>
          </p:cNvPr>
          <p:cNvSpPr txBox="1"/>
          <p:nvPr/>
        </p:nvSpPr>
        <p:spPr>
          <a:xfrm>
            <a:off x="539750" y="1772816"/>
            <a:ext cx="5616426" cy="2554545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record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"1001,Potion,10"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istringstream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record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idText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countText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getline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idText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','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getline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','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getline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countText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2E7D681B-FBB6-3C59-7041-7E8FC3CC8D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8553875"/>
              </p:ext>
            </p:extLst>
          </p:nvPr>
        </p:nvGraphicFramePr>
        <p:xfrm>
          <a:off x="539750" y="4653136"/>
          <a:ext cx="5616426" cy="1315896"/>
        </p:xfrm>
        <a:graphic>
          <a:graphicData uri="http://schemas.openxmlformats.org/drawingml/2006/table">
            <a:tbl>
              <a:tblPr/>
              <a:tblGrid>
                <a:gridCol w="2304058">
                  <a:extLst>
                    <a:ext uri="{9D8B030D-6E8A-4147-A177-3AD203B41FA5}">
                      <a16:colId xmlns:a16="http://schemas.microsoft.com/office/drawing/2014/main" val="1587479056"/>
                    </a:ext>
                  </a:extLst>
                </a:gridCol>
                <a:gridCol w="3312368">
                  <a:extLst>
                    <a:ext uri="{9D8B030D-6E8A-4147-A177-3AD203B41FA5}">
                      <a16:colId xmlns:a16="http://schemas.microsoft.com/office/drawing/2014/main" val="40610936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변환 방식</a:t>
                      </a:r>
                      <a:endParaRPr lang="ko-KR" sz="32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특징</a:t>
                      </a:r>
                      <a:endParaRPr lang="ko-KR" sz="32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6058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문자열 스트림</a:t>
                      </a:r>
                      <a:endParaRPr lang="ko-KR" sz="36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206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여러 타입, 공백 규칙 처리 편리</a:t>
                      </a:r>
                      <a:endParaRPr lang="ko-KR" sz="3600" dirty="0">
                        <a:solidFill>
                          <a:srgbClr val="00206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8336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std</a:t>
                      </a: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2000" b="0" i="0" u="none" strike="noStrike" dirty="0" err="1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from_chars</a:t>
                      </a: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()</a:t>
                      </a:r>
                      <a:endParaRPr lang="ko-KR" sz="36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206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단순 숫자 변환, 예외 없음</a:t>
                      </a:r>
                      <a:endParaRPr lang="ko-KR" sz="3600" dirty="0">
                        <a:solidFill>
                          <a:srgbClr val="00206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88083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1C5243B-8789-9347-7BD8-8FD60BD7B1B1}"/>
              </a:ext>
            </a:extLst>
          </p:cNvPr>
          <p:cNvSpPr txBox="1"/>
          <p:nvPr/>
        </p:nvSpPr>
        <p:spPr>
          <a:xfrm>
            <a:off x="4788123" y="3113816"/>
            <a:ext cx="3816424" cy="1384995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형식이 단순하고 빠른 숫자 변환이</a:t>
            </a:r>
            <a:b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필요하면 </a:t>
            </a:r>
            <a:r>
              <a:rPr lang="ko-KR" altLang="ko-KR" sz="18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from_chars</a:t>
            </a: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검토</a:t>
            </a:r>
            <a:b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endParaRPr lang="ko-KR" altLang="ko-KR" sz="12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스트림 방식은 여러 타입을</a:t>
            </a:r>
            <a:b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같은 문법으로 처리하기 쉬움</a:t>
            </a:r>
            <a:endParaRPr lang="ko-KR" altLang="ko-KR" sz="18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48564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0514D-E498-7355-5CE9-FEF2B1385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C31D6E-F7E8-CA34-8DA5-967FD417E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15.2.3 </a:t>
            </a:r>
            <a:r>
              <a:rPr lang="ko-KR" altLang="en-US" dirty="0"/>
              <a:t>입력 전체 확인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74C758-ED8B-FEDB-57EC-CF6AA7F137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입력 성공만 확인하면 일부 문자열만 변환될 수 있음</a:t>
            </a:r>
          </a:p>
          <a:p>
            <a:r>
              <a:rPr lang="en-US" altLang="ko-KR" sz="2400" dirty="0"/>
              <a:t>"100abc"</a:t>
            </a:r>
            <a:r>
              <a:rPr lang="ko-KR" altLang="en-US" sz="2400" dirty="0"/>
              <a:t>에서 정수 </a:t>
            </a:r>
            <a:r>
              <a:rPr lang="en-US" altLang="ko-KR" sz="2400" dirty="0"/>
              <a:t>100</a:t>
            </a:r>
            <a:r>
              <a:rPr lang="ko-KR" altLang="en-US" sz="2400" dirty="0"/>
              <a:t>을 읽는 시점까지는 성공</a:t>
            </a:r>
          </a:p>
          <a:p>
            <a:r>
              <a:rPr lang="ko-KR" altLang="en-US" sz="2400" dirty="0"/>
              <a:t>전체가 형식에 맞는지 확인하려면 남은 문자 검사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0C2106-422B-C1C0-7E0E-DD89F15349C9}"/>
              </a:ext>
            </a:extLst>
          </p:cNvPr>
          <p:cNvSpPr txBox="1"/>
          <p:nvPr/>
        </p:nvSpPr>
        <p:spPr>
          <a:xfrm>
            <a:off x="574055" y="2204864"/>
            <a:ext cx="5726138" cy="4278094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optional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ParseInteger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text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istringstream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text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(!(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&gt;&gt;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nullopt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&gt;&gt;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(!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input.eof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nullopt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6CBD0A-8175-9BF8-B770-DB0DACA96DEE}"/>
              </a:ext>
            </a:extLst>
          </p:cNvPr>
          <p:cNvSpPr txBox="1"/>
          <p:nvPr/>
        </p:nvSpPr>
        <p:spPr>
          <a:xfrm>
            <a:off x="4370685" y="5412991"/>
            <a:ext cx="4199260" cy="707886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20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ws는</a:t>
            </a:r>
            <a:r>
              <a:rPr lang="ko-KR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끝의 공백 제거</a:t>
            </a:r>
            <a:endParaRPr lang="ko-KR" altLang="ko-KR" sz="20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실제 추출 결과를 기준으로 오류 처리</a:t>
            </a:r>
            <a:endParaRPr lang="ko-KR" altLang="ko-KR" sz="20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137712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4E21C-73AD-F93F-B9A8-8B3EBCD68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252199-3C04-9F19-363A-3FC7EE3A4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15.3 </a:t>
            </a:r>
            <a:r>
              <a:rPr lang="ko-KR" altLang="en-US" dirty="0"/>
              <a:t>형식화된 출력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39EB6D-ECCD-9C5E-B94A-2213AD028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값의 의미를 바꾸지 않고 출력 표현을 정함</a:t>
            </a:r>
          </a:p>
          <a:p>
            <a:r>
              <a:rPr lang="ko-KR" altLang="en-US" dirty="0"/>
              <a:t>표</a:t>
            </a:r>
            <a:r>
              <a:rPr lang="en-US" altLang="ko-KR" dirty="0"/>
              <a:t>, </a:t>
            </a:r>
            <a:r>
              <a:rPr lang="ko-KR" altLang="en-US" dirty="0"/>
              <a:t>로그</a:t>
            </a:r>
            <a:r>
              <a:rPr lang="en-US" altLang="ko-KR" dirty="0"/>
              <a:t>, </a:t>
            </a:r>
            <a:r>
              <a:rPr lang="ko-KR" altLang="en-US" dirty="0"/>
              <a:t>사용자 인터페이스 가독성 개선</a:t>
            </a:r>
          </a:p>
          <a:p>
            <a:r>
              <a:rPr lang="ko-KR" altLang="en-US" dirty="0"/>
              <a:t>스트림 조정자와 </a:t>
            </a:r>
            <a:r>
              <a:rPr lang="en-US" altLang="ko-KR" dirty="0"/>
              <a:t>std::format() </a:t>
            </a:r>
            <a:r>
              <a:rPr lang="ko-KR" altLang="en-US" dirty="0"/>
              <a:t>활용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F0C089-DAE1-4B37-54BA-74183B6510CD}"/>
              </a:ext>
            </a:extLst>
          </p:cNvPr>
          <p:cNvSpPr txBox="1"/>
          <p:nvPr/>
        </p:nvSpPr>
        <p:spPr>
          <a:xfrm>
            <a:off x="546596" y="2708920"/>
            <a:ext cx="4529460" cy="3539430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#include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iomanip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#include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iostream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left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&lt;&lt;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setw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12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&lt;&lt;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right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&lt;&lt;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setw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8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Score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left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&lt;&lt;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setw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12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Knight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&lt;&lt;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right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&lt;&lt;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setw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8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&lt;&lt;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1500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1AC851-50DE-443D-8697-900F5E4B0034}"/>
              </a:ext>
            </a:extLst>
          </p:cNvPr>
          <p:cNvSpPr txBox="1"/>
          <p:nvPr/>
        </p:nvSpPr>
        <p:spPr>
          <a:xfrm>
            <a:off x="5076056" y="5406315"/>
            <a:ext cx="2663850" cy="830997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출력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          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Score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</a:t>
            </a:r>
            <a:r>
              <a:rPr lang="ko-KR" altLang="ko-KR" sz="1600" b="0" i="1" u="none" strike="noStrike" dirty="0" err="1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Knight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  1500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57999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C9F85-3499-F86C-DD00-D19519FB6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22A272-5D69-3AF0-1BD1-83D60B2FE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15.3.2 std::format (C++20)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C99EAE2-D6F0-A02A-AFE8-D021C51FF5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형식 문자열에 값을 대입해 </a:t>
            </a:r>
            <a:r>
              <a:rPr lang="en-US" altLang="ko-KR" dirty="0"/>
              <a:t>std::string </a:t>
            </a:r>
            <a:r>
              <a:rPr lang="ko-KR" altLang="en-US" dirty="0"/>
              <a:t>생성</a:t>
            </a:r>
          </a:p>
          <a:p>
            <a:r>
              <a:rPr lang="ko-KR" altLang="en-US" dirty="0"/>
              <a:t>스트림 상태를 변경하지 않음</a:t>
            </a:r>
          </a:p>
          <a:p>
            <a:r>
              <a:rPr lang="ko-KR" altLang="en-US" dirty="0"/>
              <a:t>호출 하나의 형식이 문자열 안에 표현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C68CF7-3095-905D-2718-1ED656B40800}"/>
              </a:ext>
            </a:extLst>
          </p:cNvPr>
          <p:cNvSpPr txBox="1"/>
          <p:nvPr/>
        </p:nvSpPr>
        <p:spPr>
          <a:xfrm>
            <a:off x="539750" y="2564904"/>
            <a:ext cx="4572000" cy="3785652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#include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format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#include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Knight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level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12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text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format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 {},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Level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 {}"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level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text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format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"{1}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has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level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{0}"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level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BF1EA4-F9AB-A1D2-40FD-2E4CC83F0C0D}"/>
              </a:ext>
            </a:extLst>
          </p:cNvPr>
          <p:cNvSpPr txBox="1"/>
          <p:nvPr/>
        </p:nvSpPr>
        <p:spPr>
          <a:xfrm>
            <a:off x="4283968" y="5027117"/>
            <a:ext cx="4320282" cy="1323439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{}는 교체 필드</a:t>
            </a:r>
            <a:endParaRPr lang="ko-KR" altLang="ko-KR" sz="20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인수 위치를 명시할 수 있음</a:t>
            </a:r>
            <a:endParaRPr lang="ko-KR" altLang="ko-KR" sz="20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자동 인덱스와 수동 인덱스를 한</a:t>
            </a:r>
            <a:br>
              <a:rPr lang="en-US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형식 문자열에서 섞지 않음</a:t>
            </a:r>
            <a:endParaRPr lang="ko-KR" altLang="ko-KR" sz="20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24696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56FE-6056-B0C7-8547-159E353A5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9121EF-3DD3-75CF-C1F7-674A808F1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15.3.3 </a:t>
            </a:r>
            <a:r>
              <a:rPr lang="ko-KR" altLang="en-US" dirty="0"/>
              <a:t>형식 문자열과 서식 지정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D9FF94-E613-3339-29C6-5809BE3A3788}"/>
              </a:ext>
            </a:extLst>
          </p:cNvPr>
          <p:cNvSpPr txBox="1"/>
          <p:nvPr/>
        </p:nvSpPr>
        <p:spPr>
          <a:xfrm>
            <a:off x="4716016" y="764704"/>
            <a:ext cx="4005958" cy="3970318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format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"{}"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42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format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"{:8}"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42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format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"{:08}"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42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format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"{:+}"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42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format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"{:#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x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255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format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"{:&lt;10}"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left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format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"{:&gt;10}"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right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format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"{:^10}"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center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format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"{:*^10}"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title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format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"{:.2f}"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12.3456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format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"{:.3e}"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12.3456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format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"{:8.2f}"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12.3456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endParaRPr lang="ko-KR" altLang="en-US" sz="40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94142BE3-A697-E67A-4AF9-53A7F757D56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69590623"/>
              </p:ext>
            </p:extLst>
          </p:nvPr>
        </p:nvGraphicFramePr>
        <p:xfrm>
          <a:off x="559568" y="764704"/>
          <a:ext cx="4012432" cy="3970320"/>
        </p:xfrm>
        <a:graphic>
          <a:graphicData uri="http://schemas.openxmlformats.org/drawingml/2006/table">
            <a:tbl>
              <a:tblPr/>
              <a:tblGrid>
                <a:gridCol w="1492152">
                  <a:extLst>
                    <a:ext uri="{9D8B030D-6E8A-4147-A177-3AD203B41FA5}">
                      <a16:colId xmlns:a16="http://schemas.microsoft.com/office/drawing/2014/main" val="3156073233"/>
                    </a:ext>
                  </a:extLst>
                </a:gridCol>
                <a:gridCol w="2520280">
                  <a:extLst>
                    <a:ext uri="{9D8B030D-6E8A-4147-A177-3AD203B41FA5}">
                      <a16:colId xmlns:a16="http://schemas.microsoft.com/office/drawing/2014/main" val="2181545852"/>
                    </a:ext>
                  </a:extLst>
                </a:gridCol>
              </a:tblGrid>
              <a:tr h="62384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서식</a:t>
                      </a:r>
                      <a:endParaRPr lang="ko-KR" sz="32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sz="32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5814255"/>
                  </a:ext>
                </a:extLst>
              </a:tr>
              <a:tr h="66929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폭</a:t>
                      </a:r>
                      <a:endParaRPr lang="ko-KR" sz="36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최소 출력 너비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6196091"/>
                  </a:ext>
                </a:extLst>
              </a:tr>
              <a:tr h="66929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채움 문자</a:t>
                      </a:r>
                      <a:endParaRPr lang="ko-KR" sz="360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남은 칸을 채울 문자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659674"/>
                  </a:ext>
                </a:extLst>
              </a:tr>
              <a:tr h="66929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정렬</a:t>
                      </a:r>
                      <a:endParaRPr lang="ko-KR" sz="360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왼쪽, 오른쪽, 가운데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5094903"/>
                  </a:ext>
                </a:extLst>
              </a:tr>
              <a:tr h="66929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0" i="0" u="none" strike="noStrike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정밀도</a:t>
                      </a:r>
                      <a:endParaRPr lang="ko-KR" sz="360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부동소수점 자릿수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3122368"/>
                  </a:ext>
                </a:extLst>
              </a:tr>
              <a:tr h="66929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진법</a:t>
                      </a:r>
                      <a:endParaRPr lang="ko-KR" sz="36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2진, 8진, 10진, 16진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1215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12788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A2DC4-98AB-438F-2CE5-04DE47B4C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1A6D22-F705-6F62-C1CD-1D5FCFAF0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15.4 </a:t>
            </a:r>
            <a:r>
              <a:rPr lang="ko-KR" altLang="en-US" dirty="0"/>
              <a:t>텍스트 파일 입출력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19DBCA-A1FF-39A6-83B7-899194A982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텍스트 파일은 데이터를 문자 형태로 저장</a:t>
            </a:r>
          </a:p>
          <a:p>
            <a:r>
              <a:rPr lang="ko-KR" altLang="en-US" dirty="0"/>
              <a:t>사람이 읽고 수정하기 쉬움</a:t>
            </a:r>
          </a:p>
          <a:p>
            <a:r>
              <a:rPr lang="ko-KR" altLang="en-US" dirty="0" err="1"/>
              <a:t>구분자</a:t>
            </a:r>
            <a:r>
              <a:rPr lang="en-US" altLang="ko-KR" dirty="0"/>
              <a:t>, </a:t>
            </a:r>
            <a:r>
              <a:rPr lang="ko-KR" altLang="en-US" dirty="0"/>
              <a:t>인코딩</a:t>
            </a:r>
            <a:r>
              <a:rPr lang="en-US" altLang="ko-KR" dirty="0"/>
              <a:t>, </a:t>
            </a:r>
            <a:r>
              <a:rPr lang="ko-KR" altLang="en-US" dirty="0"/>
              <a:t>형식 규칙 필요</a:t>
            </a:r>
          </a:p>
          <a:p>
            <a:r>
              <a:rPr lang="ko-KR" altLang="en-US" dirty="0"/>
              <a:t>숫자를 문자열로 변환하는 비용 존재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97E55E-0385-36DA-F78E-752A3F1700EB}"/>
              </a:ext>
            </a:extLst>
          </p:cNvPr>
          <p:cNvSpPr txBox="1"/>
          <p:nvPr/>
        </p:nvSpPr>
        <p:spPr>
          <a:xfrm>
            <a:off x="539750" y="2924944"/>
            <a:ext cx="5472410" cy="3785652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#include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fstream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#include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ofstream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output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player.txt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(!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output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output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 '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Knight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 '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&lt;&lt;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100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ifstream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player.txt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(!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cerr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Failed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to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open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player.txt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03775E-B6E4-7212-4D87-E8A2E1B9F242}"/>
              </a:ext>
            </a:extLst>
          </p:cNvPr>
          <p:cNvSpPr txBox="1"/>
          <p:nvPr/>
        </p:nvSpPr>
        <p:spPr>
          <a:xfrm>
            <a:off x="4788123" y="3717032"/>
            <a:ext cx="4176464" cy="707886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파일 스트림 객체 생성</a:t>
            </a:r>
            <a:r>
              <a:rPr lang="en-US" altLang="ko-KR" sz="2000" dirty="0">
                <a:solidFill>
                  <a:srgbClr val="00000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&amp; </a:t>
            </a:r>
            <a:r>
              <a:rPr lang="ko-KR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파일</a:t>
            </a:r>
            <a:r>
              <a:rPr lang="en-US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en-US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오픈</a:t>
            </a:r>
            <a:endParaRPr lang="en-US" altLang="ko-KR" sz="2000" b="0" i="0" u="none" strike="noStrike" dirty="0">
              <a:solidFill>
                <a:srgbClr val="000000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열기 실패 시 스트림은 실패 상태</a:t>
            </a:r>
            <a:endParaRPr lang="ko-KR" altLang="ko-KR" sz="20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435633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BD5AC-5AD7-DFB9-EE97-BED337D84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1D7F13-804A-13AC-E2F2-994675EBB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15.4.2 </a:t>
            </a:r>
            <a:r>
              <a:rPr lang="ko-KR" altLang="en-US" dirty="0"/>
              <a:t>파일 열기 모드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3CBFEB2C-DC4B-3726-9BAC-09F88274780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64139988"/>
              </p:ext>
            </p:extLst>
          </p:nvPr>
        </p:nvGraphicFramePr>
        <p:xfrm>
          <a:off x="395536" y="764704"/>
          <a:ext cx="5616624" cy="3111064"/>
        </p:xfrm>
        <a:graphic>
          <a:graphicData uri="http://schemas.openxmlformats.org/drawingml/2006/table">
            <a:tbl>
              <a:tblPr/>
              <a:tblGrid>
                <a:gridCol w="2016224">
                  <a:extLst>
                    <a:ext uri="{9D8B030D-6E8A-4147-A177-3AD203B41FA5}">
                      <a16:colId xmlns:a16="http://schemas.microsoft.com/office/drawing/2014/main" val="2244347606"/>
                    </a:ext>
                  </a:extLst>
                </a:gridCol>
                <a:gridCol w="3600400">
                  <a:extLst>
                    <a:ext uri="{9D8B030D-6E8A-4147-A177-3AD203B41FA5}">
                      <a16:colId xmlns:a16="http://schemas.microsoft.com/office/drawing/2014/main" val="43315606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모드</a:t>
                      </a:r>
                      <a:endParaRPr lang="ko-KR" sz="32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sz="3200" b="1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5275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std</a:t>
                      </a: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ios</a:t>
                      </a: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in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읽기 허용</a:t>
                      </a:r>
                      <a:endParaRPr lang="ko-KR" sz="36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65726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std</a:t>
                      </a: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ios</a:t>
                      </a: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out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쓰기 허용</a:t>
                      </a:r>
                      <a:endParaRPr lang="ko-KR" sz="36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94437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std</a:t>
                      </a: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ios</a:t>
                      </a: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app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모든 쓰기를 파일 끝에서 수행</a:t>
                      </a:r>
                      <a:endParaRPr lang="ko-KR" sz="36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624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std</a:t>
                      </a: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ios</a:t>
                      </a: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ate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파일을 연 직후 위치를 끝으로 이동</a:t>
                      </a:r>
                      <a:endParaRPr lang="ko-KR" sz="36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9908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std</a:t>
                      </a: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ios</a:t>
                      </a: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trunc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기존 내용 제거</a:t>
                      </a:r>
                      <a:endParaRPr lang="ko-KR" sz="36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02932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std</a:t>
                      </a: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ios</a:t>
                      </a:r>
                      <a:r>
                        <a:rPr lang="ko-KR" sz="2000" b="0" i="0" u="none" strike="noStrike" dirty="0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::</a:t>
                      </a:r>
                      <a:r>
                        <a:rPr lang="ko-KR" sz="2000" b="0" i="0" u="none" strike="noStrike" dirty="0" err="1">
                          <a:solidFill>
                            <a:srgbClr val="0000FF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binary</a:t>
                      </a:r>
                      <a:endParaRPr lang="ko-KR" sz="3600" dirty="0">
                        <a:solidFill>
                          <a:srgbClr val="0000FF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텍스트 변환 없이 바이트 단위 처리</a:t>
                      </a:r>
                      <a:endParaRPr lang="ko-KR" sz="36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295641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3941166-FC8C-F512-1851-9C34B5BB97ED}"/>
              </a:ext>
            </a:extLst>
          </p:cNvPr>
          <p:cNvSpPr txBox="1"/>
          <p:nvPr/>
        </p:nvSpPr>
        <p:spPr>
          <a:xfrm>
            <a:off x="395536" y="4296555"/>
            <a:ext cx="5976664" cy="338554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ofstream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output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log.txt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1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7CAB08-BC7E-E4F1-46C6-49A0B1A853C3}"/>
              </a:ext>
            </a:extLst>
          </p:cNvPr>
          <p:cNvSpPr txBox="1"/>
          <p:nvPr/>
        </p:nvSpPr>
        <p:spPr>
          <a:xfrm>
            <a:off x="3491880" y="4634466"/>
            <a:ext cx="5184576" cy="369332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기본 </a:t>
            </a:r>
            <a:r>
              <a:rPr lang="ko-KR" altLang="ko-KR" sz="18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ofstream은</a:t>
            </a: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기존 파일 내용을 자를 수 있음</a:t>
            </a:r>
            <a:endParaRPr lang="ko-KR" altLang="ko-KR" sz="18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21A0D3-3314-8F4D-DC2C-AEFCA1A55B3A}"/>
              </a:ext>
            </a:extLst>
          </p:cNvPr>
          <p:cNvSpPr txBox="1"/>
          <p:nvPr/>
        </p:nvSpPr>
        <p:spPr>
          <a:xfrm>
            <a:off x="395536" y="5530712"/>
            <a:ext cx="5976664" cy="338554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ofstream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output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log.txt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ios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|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ios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app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1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CC600C-6401-18B2-230E-09D6C1846ACE}"/>
              </a:ext>
            </a:extLst>
          </p:cNvPr>
          <p:cNvSpPr txBox="1"/>
          <p:nvPr/>
        </p:nvSpPr>
        <p:spPr>
          <a:xfrm>
            <a:off x="3491880" y="5867980"/>
            <a:ext cx="5184576" cy="369332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18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기존 내용 뒤에 추가</a:t>
            </a:r>
            <a:endParaRPr lang="ko-KR" altLang="ko-KR" sz="18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78123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8564F-317E-3B04-8B17-9590F8721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AA9C2D-DFBC-47BF-30E2-232A22715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15.4.3 </a:t>
            </a:r>
            <a:r>
              <a:rPr lang="ko-KR" altLang="en-US" dirty="0"/>
              <a:t>행 단위 입력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834CE8-D21A-36D7-EF2A-776C53D994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한 행이 하나의 레코드이면 </a:t>
            </a:r>
            <a:r>
              <a:rPr lang="en-US" altLang="ko-KR" sz="2400" dirty="0"/>
              <a:t>std::</a:t>
            </a:r>
            <a:r>
              <a:rPr lang="en-US" altLang="ko-KR" sz="2400" dirty="0" err="1"/>
              <a:t>getline</a:t>
            </a:r>
            <a:r>
              <a:rPr lang="en-US" altLang="ko-KR" sz="2400" dirty="0"/>
              <a:t>() </a:t>
            </a:r>
            <a:r>
              <a:rPr lang="ko-KR" altLang="en-US" sz="2400" dirty="0"/>
              <a:t>사용</a:t>
            </a:r>
          </a:p>
          <a:p>
            <a:r>
              <a:rPr lang="ko-KR" altLang="en-US" sz="2400" dirty="0"/>
              <a:t>줄바꿈 문자는 결과 문자열에 포함되지 않음</a:t>
            </a:r>
          </a:p>
          <a:p>
            <a:r>
              <a:rPr lang="ko-KR" altLang="en-US" sz="2400" dirty="0"/>
              <a:t>빈 행도 정상 데이터일 수 있음</a:t>
            </a:r>
          </a:p>
          <a:p>
            <a:r>
              <a:rPr lang="ko-KR" altLang="en-US" sz="2400" dirty="0"/>
              <a:t>행 번호를 기록하면 오류 위치 추적이 쉬움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1490EE-163F-5DA5-36CF-BFE397975890}"/>
              </a:ext>
            </a:extLst>
          </p:cNvPr>
          <p:cNvSpPr txBox="1"/>
          <p:nvPr/>
        </p:nvSpPr>
        <p:spPr>
          <a:xfrm>
            <a:off x="546993" y="2656657"/>
            <a:ext cx="6120680" cy="4031873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ifstream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config.txt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line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endParaRPr lang="en-US" altLang="ko-KR" sz="1600" b="0" i="0" u="none" strike="noStrike" dirty="0">
              <a:solidFill>
                <a:srgbClr val="383A42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while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getline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line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))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line.empty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())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continue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ProcessLine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line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endParaRPr lang="en-US" altLang="ko-KR" sz="1600" b="0" i="0" u="none" strike="noStrike" dirty="0">
              <a:solidFill>
                <a:srgbClr val="383A42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(!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input.eof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())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cerr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Failed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while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reading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config.txt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(!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line.empty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 &amp;&amp;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line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[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] ==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'#'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continue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095445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608E8-3E42-1AE8-A550-FCB5C2334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057922-9E9F-83F5-4E33-B5AB5E712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15.4.4 </a:t>
            </a:r>
            <a:r>
              <a:rPr lang="ko-KR" altLang="en-US" dirty="0" err="1"/>
              <a:t>구분자</a:t>
            </a:r>
            <a:r>
              <a:rPr lang="ko-KR" altLang="en-US" dirty="0"/>
              <a:t> 기반 입력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A9B78E-A6E2-178D-55A6-0F2DD684366A}"/>
              </a:ext>
            </a:extLst>
          </p:cNvPr>
          <p:cNvSpPr txBox="1"/>
          <p:nvPr/>
        </p:nvSpPr>
        <p:spPr>
          <a:xfrm>
            <a:off x="467545" y="764704"/>
            <a:ext cx="3888432" cy="3293209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line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"1001,Potion,10"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istringstream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line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idText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string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countText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getline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idText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','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&amp;&amp;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getline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name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','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&amp;&amp;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getline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countText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1" u="none" strike="noStrike" dirty="0">
                <a:solidFill>
                  <a:srgbClr val="A0A1A7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// 세 필드 읽음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B6F841-AFF7-CAE5-A6D0-B116BB475530}"/>
              </a:ext>
            </a:extLst>
          </p:cNvPr>
          <p:cNvSpPr txBox="1"/>
          <p:nvPr/>
        </p:nvSpPr>
        <p:spPr>
          <a:xfrm>
            <a:off x="4355976" y="2211254"/>
            <a:ext cx="4032448" cy="1846659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텍스트 파일은 먼저 행을 읽고</a:t>
            </a:r>
            <a:br>
              <a:rPr lang="en-US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행 내부를 분리하면</a:t>
            </a:r>
            <a:br>
              <a:rPr lang="en-US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오류 위치 추적이 쉬움</a:t>
            </a:r>
            <a:br>
              <a:rPr lang="en-US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endParaRPr lang="ko-KR" altLang="ko-KR" sz="14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숫자 필드는 별도 변환</a:t>
            </a:r>
            <a:endParaRPr lang="ko-KR" altLang="ko-KR" sz="20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필드 수와 변환 성공 여부 확인 필요</a:t>
            </a:r>
            <a:endParaRPr lang="ko-KR" altLang="ko-KR" sz="20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B8B3D1-3B12-F4E9-3DAF-D8E38E7CBBBE}"/>
              </a:ext>
            </a:extLst>
          </p:cNvPr>
          <p:cNvSpPr txBox="1"/>
          <p:nvPr/>
        </p:nvSpPr>
        <p:spPr>
          <a:xfrm>
            <a:off x="467545" y="4221088"/>
            <a:ext cx="3888431" cy="2392001"/>
          </a:xfrm>
          <a:prstGeom prst="rect">
            <a:avLst/>
          </a:prstGeom>
          <a:solidFill>
            <a:srgbClr val="EFEFED"/>
          </a:solidFill>
          <a:ln w="25400">
            <a:solidFill>
              <a:schemeClr val="bg1">
                <a:lumMod val="75000"/>
              </a:schemeClr>
            </a:solidFill>
            <a:prstDash val="solid"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   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items.csv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         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↓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getline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file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line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         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한 행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         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↓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getline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record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field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8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','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     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필드 분리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         </a:t>
            </a: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↓</a:t>
            </a:r>
            <a:b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8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타입 변환과 검증</a:t>
            </a:r>
            <a:endParaRPr lang="ko-KR" altLang="en-US" sz="18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237993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05E6B-C946-536D-E1D8-3176D2EA8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B4512C-E433-EF31-3CDC-F5A1CF376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15.4.5 </a:t>
            </a:r>
            <a:r>
              <a:rPr lang="ko-KR" altLang="en-US" dirty="0"/>
              <a:t>파일 오류 처리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B27EF82-3DB5-190B-5C77-C2515C19E7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파일 열기 실패</a:t>
            </a:r>
          </a:p>
          <a:p>
            <a:r>
              <a:rPr lang="ko-KR" altLang="en-US" dirty="0"/>
              <a:t>읽기 실패</a:t>
            </a:r>
          </a:p>
          <a:p>
            <a:r>
              <a:rPr lang="ko-KR" altLang="en-US" dirty="0"/>
              <a:t>쓰기 실패</a:t>
            </a:r>
          </a:p>
          <a:p>
            <a:r>
              <a:rPr lang="ko-KR" altLang="en-US" dirty="0"/>
              <a:t>형식 오류</a:t>
            </a:r>
          </a:p>
          <a:p>
            <a:r>
              <a:rPr lang="ko-KR" altLang="en-US" dirty="0"/>
              <a:t>장치 오류</a:t>
            </a:r>
          </a:p>
          <a:p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35C60A-6624-094E-DA03-BA327DD40ED5}"/>
              </a:ext>
            </a:extLst>
          </p:cNvPr>
          <p:cNvSpPr txBox="1"/>
          <p:nvPr/>
        </p:nvSpPr>
        <p:spPr>
          <a:xfrm>
            <a:off x="3563888" y="797510"/>
            <a:ext cx="4896544" cy="4524315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ifstream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items.txt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(!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input.is_open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())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cerr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File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open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failed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return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{};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while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&gt;&gt;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items.push_back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input.bad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())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cerr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Device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error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while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reading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else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(!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input.eof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())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cerr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Invalid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item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format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574BA3-7E46-47C0-50DC-5DA93D115679}"/>
              </a:ext>
            </a:extLst>
          </p:cNvPr>
          <p:cNvSpPr txBox="1"/>
          <p:nvPr/>
        </p:nvSpPr>
        <p:spPr>
          <a:xfrm>
            <a:off x="323528" y="5845046"/>
            <a:ext cx="8136904" cy="707886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2000" b="0" i="0" u="none" strike="noStrike" dirty="0" err="1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is_open</a:t>
            </a:r>
            <a:r>
              <a:rPr lang="ko-KR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()은 파일 연결 여부 확인</a:t>
            </a:r>
            <a:endParaRPr lang="ko-KR" altLang="ko-KR" sz="20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스트림 상태는 최근 입출력 연산 성공 여부 표현</a:t>
            </a:r>
            <a:endParaRPr lang="ko-KR" altLang="ko-KR" sz="20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18520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B507E-056A-9FFC-E057-62B703832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2A0EA5-35C5-3113-A786-FF120194E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15.5 </a:t>
            </a:r>
            <a:r>
              <a:rPr lang="ko-KR" altLang="en-US" dirty="0"/>
              <a:t>바이너리 파일 입출력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07CEE0-CD2D-A2FA-1593-0A0C321BA0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값을 문자로 변환하지 않고 바이트 형식으로 저장</a:t>
            </a:r>
          </a:p>
          <a:p>
            <a:r>
              <a:rPr lang="ko-KR" altLang="en-US" dirty="0"/>
              <a:t>파일 크기</a:t>
            </a:r>
            <a:r>
              <a:rPr lang="en-US" altLang="ko-KR" dirty="0"/>
              <a:t>, </a:t>
            </a:r>
            <a:r>
              <a:rPr lang="ko-KR" altLang="en-US" dirty="0"/>
              <a:t>변환 비용 축소</a:t>
            </a:r>
          </a:p>
          <a:p>
            <a:r>
              <a:rPr lang="ko-KR" altLang="en-US" dirty="0"/>
              <a:t>저장 형식 크기</a:t>
            </a:r>
            <a:r>
              <a:rPr lang="en-US" altLang="ko-KR" dirty="0"/>
              <a:t>, </a:t>
            </a:r>
            <a:r>
              <a:rPr lang="ko-KR" altLang="en-US" dirty="0"/>
              <a:t>바이트 순서</a:t>
            </a:r>
            <a:r>
              <a:rPr lang="en-US" altLang="ko-KR" dirty="0"/>
              <a:t>, </a:t>
            </a:r>
            <a:r>
              <a:rPr lang="ko-KR" altLang="en-US" dirty="0"/>
              <a:t>버전 호환성 직접 정의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8CA09FC-ABF8-8FAF-0C03-7107561D66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19906"/>
              </p:ext>
            </p:extLst>
          </p:nvPr>
        </p:nvGraphicFramePr>
        <p:xfrm>
          <a:off x="536352" y="2348880"/>
          <a:ext cx="7685980" cy="1315896"/>
        </p:xfrm>
        <a:graphic>
          <a:graphicData uri="http://schemas.openxmlformats.org/drawingml/2006/table">
            <a:tbl>
              <a:tblPr/>
              <a:tblGrid>
                <a:gridCol w="1837286">
                  <a:extLst>
                    <a:ext uri="{9D8B030D-6E8A-4147-A177-3AD203B41FA5}">
                      <a16:colId xmlns:a16="http://schemas.microsoft.com/office/drawing/2014/main" val="1393411393"/>
                    </a:ext>
                  </a:extLst>
                </a:gridCol>
                <a:gridCol w="5848694">
                  <a:extLst>
                    <a:ext uri="{9D8B030D-6E8A-4147-A177-3AD203B41FA5}">
                      <a16:colId xmlns:a16="http://schemas.microsoft.com/office/drawing/2014/main" val="2448696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모드</a:t>
                      </a:r>
                      <a:endParaRPr lang="ko-KR" sz="3200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역할</a:t>
                      </a:r>
                      <a:endParaRPr lang="ko-KR" sz="3200" dirty="0">
                        <a:effectLst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62248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텍스트 모드</a:t>
                      </a:r>
                      <a:endParaRPr lang="ko-KR" sz="36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운영체제에 따라 줄바꿈 변환 가능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35092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7030A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바이너리 모드</a:t>
                      </a:r>
                      <a:endParaRPr lang="ko-KR" sz="3600" dirty="0">
                        <a:solidFill>
                          <a:srgbClr val="7030A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sz="2000" b="0" i="0" u="none" strike="noStrike" dirty="0">
                          <a:solidFill>
                            <a:srgbClr val="0070C0"/>
                          </a:solidFill>
                          <a:effectLst/>
                          <a:latin typeface="Pretendard ExtraBold" panose="02000903000000020004" pitchFamily="50" charset="-127"/>
                          <a:ea typeface="Pretendard ExtraBold" panose="02000903000000020004" pitchFamily="50" charset="-127"/>
                          <a:cs typeface="Pretendard ExtraBold" panose="02000903000000020004" pitchFamily="50" charset="-127"/>
                        </a:rPr>
                        <a:t>기록한 바이트와 읽은 바이트 사이의 텍스트 변환 방지</a:t>
                      </a:r>
                      <a:endParaRPr lang="ko-KR" sz="3600" dirty="0">
                        <a:solidFill>
                          <a:srgbClr val="0070C0"/>
                        </a:solidFill>
                        <a:effectLst/>
                        <a:latin typeface="Pretendard ExtraBold" panose="02000903000000020004" pitchFamily="50" charset="-127"/>
                        <a:ea typeface="Pretendard ExtraBold" panose="02000903000000020004" pitchFamily="50" charset="-127"/>
                        <a:cs typeface="Pretendard ExtraBold" panose="02000903000000020004" pitchFamily="50" charset="-127"/>
                      </a:endParaRPr>
                    </a:p>
                  </a:txBody>
                  <a:tcPr marL="71996" marR="71996" marT="71996" marB="71996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34472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7953572-43EF-1C5D-2A37-C08D5D5E3096}"/>
              </a:ext>
            </a:extLst>
          </p:cNvPr>
          <p:cNvSpPr txBox="1"/>
          <p:nvPr/>
        </p:nvSpPr>
        <p:spPr>
          <a:xfrm>
            <a:off x="536352" y="3851456"/>
            <a:ext cx="7685980" cy="1015663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ofstream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output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20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data.bin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ios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out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| 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ios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binary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ifstream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 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20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data.bin</a:t>
            </a:r>
            <a:r>
              <a:rPr lang="ko-KR" altLang="ko-KR" sz="20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ios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| </a:t>
            </a:r>
            <a:r>
              <a:rPr lang="ko-KR" altLang="ko-KR" sz="20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ios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20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binary</a:t>
            </a:r>
            <a:r>
              <a:rPr lang="ko-KR" altLang="ko-KR" sz="20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ko-KR" altLang="en-US" sz="44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FF4290-751F-CA0F-30EE-CD46D68C3E79}"/>
              </a:ext>
            </a:extLst>
          </p:cNvPr>
          <p:cNvSpPr txBox="1"/>
          <p:nvPr/>
        </p:nvSpPr>
        <p:spPr>
          <a:xfrm>
            <a:off x="536352" y="5321506"/>
            <a:ext cx="7685980" cy="707886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바이너리 모드가 객체를 자동 직렬화</a:t>
            </a:r>
            <a:r>
              <a:rPr lang="en-US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en-US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안함</a:t>
            </a:r>
            <a:endParaRPr lang="en-US" altLang="ko-KR" sz="2000" b="0" i="0" u="none" strike="noStrike" dirty="0">
              <a:solidFill>
                <a:srgbClr val="000000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저장과 복원 규칙은 프로그램이 정의</a:t>
            </a:r>
            <a:endParaRPr lang="ko-KR" altLang="ko-KR" sz="20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2340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AB4FE-BFB8-BBF9-A888-8F8E0F93A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405473-B522-154F-4CD8-13C239EA5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15.5.2 read</a:t>
            </a:r>
            <a:r>
              <a:rPr lang="ko-KR" altLang="en-US" dirty="0"/>
              <a:t>와 </a:t>
            </a:r>
            <a:r>
              <a:rPr lang="en-US" altLang="ko-KR" dirty="0"/>
              <a:t>write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31449A-6EEE-F523-2D82-0E79F341EE20}"/>
              </a:ext>
            </a:extLst>
          </p:cNvPr>
          <p:cNvSpPr txBox="1"/>
          <p:nvPr/>
        </p:nvSpPr>
        <p:spPr>
          <a:xfrm>
            <a:off x="539750" y="908720"/>
            <a:ext cx="7992690" cy="2062103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#include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cstdint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#include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fstream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int32_t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score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1500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endParaRPr lang="en-US" altLang="ko-KR" sz="1600" b="0" i="0" u="none" strike="noStrike" dirty="0">
              <a:solidFill>
                <a:srgbClr val="383A42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ofstream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output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{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score.bin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ios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binary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endParaRPr lang="en-US" altLang="ko-KR" sz="1600" b="0" i="0" u="none" strike="noStrike" dirty="0">
              <a:solidFill>
                <a:srgbClr val="383A42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output.write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reinterpret_cast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*&gt;(&amp;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score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), </a:t>
            </a:r>
            <a:r>
              <a:rPr lang="ko-KR" altLang="ko-KR" sz="1600" b="0" i="0" u="none" strike="noStrike" dirty="0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sizeof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score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));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77A11C-87BE-FC3D-2E8E-EADC6FAAE060}"/>
              </a:ext>
            </a:extLst>
          </p:cNvPr>
          <p:cNvSpPr txBox="1"/>
          <p:nvPr/>
        </p:nvSpPr>
        <p:spPr>
          <a:xfrm>
            <a:off x="539750" y="3208908"/>
            <a:ext cx="7992690" cy="2308324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int32_t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score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=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endParaRPr lang="en-US" altLang="ko-KR" sz="1600" b="0" i="0" u="none" strike="noStrike" dirty="0">
              <a:solidFill>
                <a:srgbClr val="383A42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ifstream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{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score.bin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ios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binary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endParaRPr lang="en-US" altLang="ko-KR" sz="1600" b="0" i="0" u="none" strike="noStrike" dirty="0">
              <a:solidFill>
                <a:srgbClr val="383A42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input.read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reinterpret_cast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*&gt;(&amp;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score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), </a:t>
            </a:r>
            <a:r>
              <a:rPr lang="ko-KR" altLang="ko-KR" sz="1600" b="0" i="0" u="none" strike="noStrike" dirty="0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sizeof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score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(!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input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cerr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&lt;&lt; 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Failed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to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read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score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\</a:t>
            </a:r>
            <a:r>
              <a:rPr lang="ko-KR" altLang="ko-KR" sz="1600" b="0" i="0" u="none" strike="noStrike" dirty="0" err="1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</a:t>
            </a:r>
            <a:r>
              <a:rPr lang="ko-KR" altLang="ko-KR" sz="1600" b="0" i="0" u="none" strike="noStrike" dirty="0">
                <a:solidFill>
                  <a:srgbClr val="50A14F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"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406842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61619-2CB8-02C0-F3A0-735FF1ED1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C4B0F3-E5A0-7642-BB8F-D7F4CD283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15.5.4 </a:t>
            </a:r>
            <a:r>
              <a:rPr lang="ko-KR" altLang="en-US" dirty="0"/>
              <a:t>고정 길이 데이터와 문자열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FDE1AD3-3C68-EAFA-32F1-8C003383E1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고정 크기 정수형은 파일 필드 크기 명시에 도움</a:t>
            </a:r>
          </a:p>
          <a:p>
            <a:r>
              <a:rPr lang="ko-KR" altLang="en-US" dirty="0"/>
              <a:t>메모리 그대로 기록하면 바이트 순서는 여전히 환경 의존</a:t>
            </a:r>
          </a:p>
          <a:p>
            <a:r>
              <a:rPr lang="ko-KR" altLang="en-US" dirty="0"/>
              <a:t>파일 형식의 </a:t>
            </a:r>
            <a:r>
              <a:rPr lang="ko-KR" altLang="en-US" dirty="0" err="1"/>
              <a:t>엔디언을</a:t>
            </a:r>
            <a:r>
              <a:rPr lang="ko-KR" altLang="en-US" dirty="0"/>
              <a:t> 정하면 바이트를 명시적으로 분리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9014A8-3E5D-689A-D8A9-D5BC3609D54C}"/>
              </a:ext>
            </a:extLst>
          </p:cNvPr>
          <p:cNvSpPr txBox="1"/>
          <p:nvPr/>
        </p:nvSpPr>
        <p:spPr>
          <a:xfrm>
            <a:off x="539750" y="2636912"/>
            <a:ext cx="7704658" cy="3046988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void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>
                <a:solidFill>
                  <a:srgbClr val="4078F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WriteUint32LE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ostream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&amp;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output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uint32_t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array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unsigned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4&gt;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bytes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{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static_cast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unsigned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&amp;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0xFF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u),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static_cast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unsigned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&gt;((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&gt;&gt;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8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&amp;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0xFF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u),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static_cast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unsigned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&gt;((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&gt;&gt;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16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&amp;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0xFF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u),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static_cast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unsigned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&gt;((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value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&gt;&gt;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24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) &amp; </a:t>
            </a:r>
            <a:r>
              <a:rPr lang="ko-KR" altLang="ko-KR" sz="1600" b="0" i="0" u="none" strike="noStrike" dirty="0">
                <a:solidFill>
                  <a:srgbClr val="9868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0xFF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u)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};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output.write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reinterpret_cast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char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*&gt;(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bytes.data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()),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        </a:t>
            </a:r>
            <a:r>
              <a:rPr lang="ko-KR" altLang="ko-KR" sz="1600" b="0" i="0" u="none" strike="noStrike" dirty="0" err="1">
                <a:solidFill>
                  <a:srgbClr val="A626A4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static_cast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&lt;</a:t>
            </a:r>
            <a:r>
              <a:rPr lang="ko-KR" altLang="ko-KR" sz="1600" b="0" i="0" u="none" strike="noStrike" dirty="0" err="1">
                <a:solidFill>
                  <a:srgbClr val="C18401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std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::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streamsize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&gt;(</a:t>
            </a:r>
            <a:r>
              <a:rPr lang="ko-KR" altLang="ko-KR" sz="1600" b="0" i="0" u="none" strike="noStrike" dirty="0" err="1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bytes.size</a:t>
            </a: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()));</a:t>
            </a:r>
            <a:b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</a:br>
            <a:r>
              <a:rPr lang="ko-KR" altLang="ko-KR" sz="1600" b="0" i="0" u="none" strike="noStrike" dirty="0">
                <a:solidFill>
                  <a:srgbClr val="383A42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}</a:t>
            </a:r>
            <a:endParaRPr lang="ko-KR" altLang="en-US" sz="36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884F75-8B11-0869-D57C-47696CEB4561}"/>
              </a:ext>
            </a:extLst>
          </p:cNvPr>
          <p:cNvSpPr txBox="1"/>
          <p:nvPr/>
        </p:nvSpPr>
        <p:spPr>
          <a:xfrm>
            <a:off x="539750" y="5805264"/>
            <a:ext cx="7632650" cy="707886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문자열은 길이와 바이트를 함께 기록</a:t>
            </a:r>
            <a:endParaRPr lang="ko-KR" altLang="ko-KR" sz="20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ko-KR" altLang="ko-KR" sz="2000" b="0" i="0" u="none" strike="noStrike" dirty="0">
                <a:solidFill>
                  <a:srgbClr val="000000"/>
                </a:solidFill>
                <a:effectLst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읽을 때 길이 상한 검사 필요</a:t>
            </a:r>
            <a:endParaRPr lang="ko-KR" altLang="ko-KR" sz="2000" b="0" i="0" u="none" strike="noStrike" dirty="0">
              <a:solidFill>
                <a:srgbClr val="333333"/>
              </a:solidFill>
              <a:effectLst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540529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D0818-8550-40CD-2412-B364A6A23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EBCF4C-016E-FD57-4B3F-C2586A2BA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15.5.5 </a:t>
            </a:r>
            <a:r>
              <a:rPr lang="ko-KR" altLang="en-US" dirty="0"/>
              <a:t>객체를 그대로 저장할 때의 문제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6E3FD2-236D-8E17-2580-6D2AA5F646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6817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15C54-6482-F695-7905-53DBB89DC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BDA189-BFE5-77A7-EB1E-BB67974D0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15.5.6 </a:t>
            </a:r>
            <a:r>
              <a:rPr lang="ko-KR" altLang="en-US" dirty="0"/>
              <a:t>파일 형식과 버전 관리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380D1A-928F-20C3-E2BC-F806B2E92A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지속적으로 사용하는 파일은 종류와 버전을 식별해야 함</a:t>
            </a:r>
          </a:p>
          <a:p>
            <a:r>
              <a:rPr lang="ko-KR" altLang="en-US" dirty="0"/>
              <a:t>필드 순서만 정하면 확장과 오류 검증이 어려움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47980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8D3F9-825F-250B-A961-F17F03C6C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CDF6B5-B4AA-E8AA-4A95-FA616E90E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15.6 </a:t>
            </a:r>
            <a:r>
              <a:rPr lang="ko-KR" altLang="en-US" dirty="0"/>
              <a:t>파일 시스템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878F57-5632-6AD0-24C7-343786B6FC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&lt;filesystem&gt;</a:t>
            </a:r>
            <a:r>
              <a:rPr lang="ko-KR" altLang="en-US" dirty="0"/>
              <a:t>은 경로</a:t>
            </a:r>
            <a:r>
              <a:rPr lang="en-US" altLang="ko-KR" dirty="0"/>
              <a:t>, </a:t>
            </a:r>
            <a:r>
              <a:rPr lang="ko-KR" altLang="en-US" dirty="0"/>
              <a:t>파일</a:t>
            </a:r>
            <a:r>
              <a:rPr lang="en-US" altLang="ko-KR" dirty="0"/>
              <a:t>, </a:t>
            </a:r>
            <a:r>
              <a:rPr lang="ko-KR" altLang="en-US" dirty="0"/>
              <a:t>디렉터리와 파일 속성 처리</a:t>
            </a:r>
          </a:p>
          <a:p>
            <a:r>
              <a:rPr lang="ko-KR" altLang="en-US" dirty="0"/>
              <a:t>문자열 직접 결합보다 </a:t>
            </a:r>
            <a:r>
              <a:rPr lang="en-US" altLang="ko-KR" dirty="0"/>
              <a:t>std::filesystem::path </a:t>
            </a:r>
            <a:r>
              <a:rPr lang="ko-KR" altLang="en-US" dirty="0"/>
              <a:t>사용</a:t>
            </a:r>
          </a:p>
          <a:p>
            <a:r>
              <a:rPr lang="ko-KR" altLang="en-US" dirty="0"/>
              <a:t>운영체제별 경로 구분과 구성 요소를 타입으로 처리</a:t>
            </a:r>
          </a:p>
        </p:txBody>
      </p:sp>
    </p:spTree>
    <p:extLst>
      <p:ext uri="{BB962C8B-B14F-4D97-AF65-F5344CB8AC3E}">
        <p14:creationId xmlns:p14="http://schemas.microsoft.com/office/powerpoint/2010/main" val="17278288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24D93-7C9A-A3A6-17ED-769AEFA08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73DED3-6A7D-C66B-A272-A40F4D8F9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15.6.1 path </a:t>
            </a:r>
            <a:r>
              <a:rPr lang="ko-KR" altLang="en-US" dirty="0"/>
              <a:t>조작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2F9CBE-8275-4D60-5A95-16232242F4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29522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B3730-9E4B-9E31-FCC1-034276D42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855CC9-8DB5-D459-FFF4-602830121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15.6.2 </a:t>
            </a:r>
            <a:r>
              <a:rPr lang="ko-KR" altLang="en-US" dirty="0"/>
              <a:t>파일과 디렉터리 확인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0CADA8D-D3DC-9444-AA43-6BC39D2DCF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67753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3503C-2D86-E14D-2163-C7E505029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F1AB7B-825D-58EE-7A1D-9C16D4EE8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15.6.3 </a:t>
            </a:r>
            <a:r>
              <a:rPr lang="ko-KR" altLang="en-US" dirty="0"/>
              <a:t>디렉터리 생성과 순회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585FED-921E-0A00-F820-C78AF4297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75361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E0F56-DE8E-E1E2-F421-5BDE6E021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F467B6-37FA-D45C-6E5D-CD39C2416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15.7 </a:t>
            </a:r>
            <a:r>
              <a:rPr lang="ko-KR" altLang="en-US" dirty="0"/>
              <a:t>난수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CDB18A-1D2D-6A5F-17E9-3E375ABEF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컴퓨터 난수는 대부분 결정적 계산으로 생성되는 의사 난수</a:t>
            </a:r>
          </a:p>
          <a:p>
            <a:r>
              <a:rPr lang="ko-KR" altLang="en-US" dirty="0"/>
              <a:t>같은 엔진 상태에서 시작하면 같은 수열 생성</a:t>
            </a:r>
          </a:p>
          <a:p>
            <a:r>
              <a:rPr lang="ko-KR" altLang="en-US" dirty="0"/>
              <a:t>난수 라이브러리는 엔진과 분포를 분리</a:t>
            </a:r>
          </a:p>
        </p:txBody>
      </p:sp>
    </p:spTree>
    <p:extLst>
      <p:ext uri="{BB962C8B-B14F-4D97-AF65-F5344CB8AC3E}">
        <p14:creationId xmlns:p14="http://schemas.microsoft.com/office/powerpoint/2010/main" val="33545018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23BD5-4D91-FCCF-CB09-110843355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692CE-8D98-759B-4799-68D0D7022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15.7.2 </a:t>
            </a:r>
            <a:r>
              <a:rPr lang="ko-KR" altLang="en-US" dirty="0"/>
              <a:t>난수 엔진과 분포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4AE0A8-8865-6A94-1137-577CAB7AFF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39524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25642-61E4-77EE-6213-42785DC07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4CAFBC-ACE4-D7FE-6B1F-0C5034147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15.7.3 </a:t>
            </a:r>
            <a:r>
              <a:rPr lang="ko-KR" altLang="en-US" dirty="0" err="1"/>
              <a:t>시드와</a:t>
            </a:r>
            <a:r>
              <a:rPr lang="ko-KR" altLang="en-US" dirty="0"/>
              <a:t> 엔진 상태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0F61B4-BAE1-16DF-DD98-3B2AB66999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10145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E5799-7CEA-C942-8967-22699409F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BB2887-043E-4E46-EA94-52D9D055B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15.7.4 </a:t>
            </a:r>
            <a:r>
              <a:rPr lang="ko-KR" altLang="en-US" dirty="0"/>
              <a:t>재현 가능한 난수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518590-B5D7-1723-8773-86F5CC480A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버그 재현에는 </a:t>
            </a:r>
            <a:r>
              <a:rPr lang="ko-KR" altLang="en-US" dirty="0" err="1"/>
              <a:t>시드와</a:t>
            </a:r>
            <a:r>
              <a:rPr lang="ko-KR" altLang="en-US" dirty="0"/>
              <a:t> 호출 순서 기록이 효율적</a:t>
            </a:r>
          </a:p>
          <a:p>
            <a:r>
              <a:rPr lang="ko-KR" altLang="en-US" dirty="0"/>
              <a:t>같은 엔진 종류</a:t>
            </a:r>
            <a:r>
              <a:rPr lang="en-US" altLang="ko-KR" dirty="0"/>
              <a:t>, </a:t>
            </a:r>
            <a:r>
              <a:rPr lang="ko-KR" altLang="en-US" dirty="0" err="1"/>
              <a:t>시드</a:t>
            </a:r>
            <a:r>
              <a:rPr lang="en-US" altLang="ko-KR" dirty="0"/>
              <a:t>, </a:t>
            </a:r>
            <a:r>
              <a:rPr lang="ko-KR" altLang="en-US" dirty="0"/>
              <a:t>분포 매개변수</a:t>
            </a:r>
            <a:r>
              <a:rPr lang="en-US" altLang="ko-KR" dirty="0"/>
              <a:t>, </a:t>
            </a:r>
            <a:r>
              <a:rPr lang="ko-KR" altLang="en-US" dirty="0"/>
              <a:t>호출 순서 필요</a:t>
            </a:r>
          </a:p>
          <a:p>
            <a:r>
              <a:rPr lang="ko-KR" altLang="en-US" dirty="0"/>
              <a:t>코드 변경으로 난수 호출 횟수가 바뀌면 결과가 달라질 수 있음</a:t>
            </a:r>
          </a:p>
        </p:txBody>
      </p:sp>
    </p:spTree>
    <p:extLst>
      <p:ext uri="{BB962C8B-B14F-4D97-AF65-F5344CB8AC3E}">
        <p14:creationId xmlns:p14="http://schemas.microsoft.com/office/powerpoint/2010/main" val="10384874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C85F9-6318-B614-6B43-A1F45EA2C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1F1D2-3063-794A-F0AD-A99EEB9A8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15.7.5 </a:t>
            </a:r>
            <a:r>
              <a:rPr lang="ko-KR" altLang="en-US" dirty="0"/>
              <a:t>대표 분포와 </a:t>
            </a:r>
            <a:r>
              <a:rPr lang="ko-KR" altLang="en-US" dirty="0" err="1"/>
              <a:t>셔플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0E5024-6707-DB57-353F-ED093AACA0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132269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6B6AE-7C59-6A4E-17AC-7A9C0FD96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0819DB-17AE-6D32-8C3E-6E2097A54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15.7.6 rand</a:t>
            </a:r>
            <a:r>
              <a:rPr lang="ko-KR" altLang="en-US" dirty="0"/>
              <a:t>와 </a:t>
            </a:r>
            <a:r>
              <a:rPr lang="en-US" altLang="ko-KR" dirty="0"/>
              <a:t>random </a:t>
            </a:r>
            <a:r>
              <a:rPr lang="ko-KR" altLang="en-US" dirty="0"/>
              <a:t>라이브러리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0F30EE1-570C-290E-E3EF-07254459B6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86565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D9DC0-73D7-39CA-712E-4EB5E51DD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78D018-C16C-C74C-4726-E9906BA74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15.8 </a:t>
            </a:r>
            <a:r>
              <a:rPr lang="ko-KR" altLang="en-US" dirty="0"/>
              <a:t>시간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98388F-5815-9588-BC9A-82FFD36B1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std::chrono</a:t>
            </a:r>
            <a:r>
              <a:rPr lang="ko-KR" altLang="en-US" dirty="0"/>
              <a:t>는 시간을 단위와 기준을 포함한 타입으로 표현</a:t>
            </a:r>
          </a:p>
          <a:p>
            <a:r>
              <a:rPr lang="ko-KR" altLang="en-US" dirty="0"/>
              <a:t>시간의 길이</a:t>
            </a:r>
            <a:r>
              <a:rPr lang="en-US" altLang="ko-KR" dirty="0"/>
              <a:t>: duration</a:t>
            </a:r>
          </a:p>
          <a:p>
            <a:r>
              <a:rPr lang="ko-KR" altLang="en-US" dirty="0"/>
              <a:t>특정 시점</a:t>
            </a:r>
            <a:r>
              <a:rPr lang="en-US" altLang="ko-KR" dirty="0"/>
              <a:t>: </a:t>
            </a:r>
            <a:r>
              <a:rPr lang="en-US" altLang="ko-KR" dirty="0" err="1"/>
              <a:t>time_point</a:t>
            </a:r>
            <a:endParaRPr lang="en-US" altLang="ko-KR" dirty="0"/>
          </a:p>
          <a:p>
            <a:r>
              <a:rPr lang="ko-KR" altLang="en-US" dirty="0"/>
              <a:t>시점을 생성하는 기준</a:t>
            </a:r>
            <a:r>
              <a:rPr lang="en-US" altLang="ko-KR" dirty="0"/>
              <a:t>: </a:t>
            </a:r>
            <a:r>
              <a:rPr lang="ko-KR" altLang="en-US" dirty="0"/>
              <a:t>시계 타입</a:t>
            </a:r>
          </a:p>
        </p:txBody>
      </p:sp>
    </p:spTree>
    <p:extLst>
      <p:ext uri="{BB962C8B-B14F-4D97-AF65-F5344CB8AC3E}">
        <p14:creationId xmlns:p14="http://schemas.microsoft.com/office/powerpoint/2010/main" val="12477771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F5736-41F1-E208-8FD9-2C77CDB45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1BBB7E-092A-977F-0400-3400070A4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15.8.2 </a:t>
            </a:r>
            <a:r>
              <a:rPr lang="en-US" altLang="ko-KR" dirty="0" err="1"/>
              <a:t>time_point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0E89EF-13BA-BBE8-95D2-8B7431639F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44809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6DFAE-B6B4-8DA9-69C7-8DDA07EDE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07E3A7-5F70-2B55-F32D-F2D3FDC3F3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15.8.3 </a:t>
            </a:r>
            <a:r>
              <a:rPr lang="ko-KR" altLang="en-US" dirty="0"/>
              <a:t>시계의 종류와 선택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0E20A9-A18D-6AFF-6222-768BDE797A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3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145A8-FF27-7A4B-539B-84BD1822F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331C55-5C41-FB57-7A99-7319EF8AC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15.8.4 </a:t>
            </a:r>
            <a:r>
              <a:rPr lang="ko-KR" altLang="en-US" dirty="0"/>
              <a:t>시간 단위 변환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62EF46-F022-2ABE-07A7-82ECC656F0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554611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439E4-306C-B4E4-65B2-20FDD492F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A7E95F-E589-AF58-F2D6-147FA4DDD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15.8.5 </a:t>
            </a:r>
            <a:r>
              <a:rPr lang="ko-KR" altLang="en-US" dirty="0"/>
              <a:t>경과 시간 측정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EB3CB8-EAD7-3A9B-CF20-617DD7C282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6957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02E54-DA86-BB67-14F1-CFC000FA4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BF4ADF-45DB-E738-1EA3-E7E3BBF01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15.8.6 </a:t>
            </a:r>
            <a:r>
              <a:rPr lang="ko-KR" altLang="en-US" dirty="0"/>
              <a:t>시간 기반 처리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9A6C6C-F4E8-28D6-3BE9-217CC785C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045445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AD849-02B8-AB04-C98D-2D515FF7C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29351B-A275-C0E6-9FE9-3AFB605FE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15.8.6 </a:t>
            </a:r>
            <a:r>
              <a:rPr lang="ko-KR" altLang="en-US" dirty="0"/>
              <a:t>고정 업데이트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13A9F5-8BD5-AC30-0524-3CED6305DB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417102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3C543-39CF-317D-6B9F-C5528D1B1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8D528B-F073-29EE-B4C4-C3FD75060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15.9 </a:t>
            </a:r>
            <a:r>
              <a:rPr lang="ko-KR" altLang="en-US" dirty="0"/>
              <a:t>학습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17B7A5-728C-D554-67AF-B9F094CE99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스트림은 콘솔</a:t>
            </a:r>
            <a:r>
              <a:rPr lang="en-US" altLang="ko-KR" sz="2400" dirty="0"/>
              <a:t>, </a:t>
            </a:r>
            <a:r>
              <a:rPr lang="ko-KR" altLang="en-US" sz="2400" dirty="0"/>
              <a:t>문자열</a:t>
            </a:r>
            <a:r>
              <a:rPr lang="en-US" altLang="ko-KR" sz="2400" dirty="0"/>
              <a:t>, </a:t>
            </a:r>
            <a:r>
              <a:rPr lang="ko-KR" altLang="en-US" sz="2400" dirty="0"/>
              <a:t>파일을 공통된 읽기</a:t>
            </a:r>
            <a:r>
              <a:rPr lang="en-US" altLang="ko-KR" sz="2400" dirty="0"/>
              <a:t>·</a:t>
            </a:r>
            <a:r>
              <a:rPr lang="ko-KR" altLang="en-US" sz="2400" dirty="0"/>
              <a:t>쓰기 인터페이스로 다룸</a:t>
            </a:r>
          </a:p>
          <a:p>
            <a:r>
              <a:rPr lang="ko-KR" altLang="en-US" sz="2400" dirty="0"/>
              <a:t>입력 성공 여부는 실제 추출 연산으로 확인</a:t>
            </a:r>
          </a:p>
          <a:p>
            <a:r>
              <a:rPr lang="ko-KR" altLang="en-US" sz="2400" dirty="0"/>
              <a:t>입력 실패 복구에는 </a:t>
            </a:r>
            <a:r>
              <a:rPr lang="en-US" altLang="ko-KR" sz="2400" dirty="0"/>
              <a:t>clear()</a:t>
            </a:r>
            <a:r>
              <a:rPr lang="ko-KR" altLang="en-US" sz="2400" dirty="0"/>
              <a:t>와 </a:t>
            </a:r>
            <a:r>
              <a:rPr lang="en-US" altLang="ko-KR" sz="2400" dirty="0"/>
              <a:t>ignore()</a:t>
            </a:r>
            <a:r>
              <a:rPr lang="ko-KR" altLang="en-US" sz="2400" dirty="0"/>
              <a:t>가 함께 필요</a:t>
            </a:r>
          </a:p>
          <a:p>
            <a:r>
              <a:rPr lang="en-US" altLang="ko-KR" sz="2400" dirty="0"/>
              <a:t>operator&gt;&gt;</a:t>
            </a:r>
            <a:r>
              <a:rPr lang="ko-KR" altLang="en-US" sz="2400" dirty="0"/>
              <a:t>와 </a:t>
            </a:r>
            <a:r>
              <a:rPr lang="en-US" altLang="ko-KR" sz="2400" dirty="0"/>
              <a:t>std::</a:t>
            </a:r>
            <a:r>
              <a:rPr lang="en-US" altLang="ko-KR" sz="2400" dirty="0" err="1"/>
              <a:t>getline</a:t>
            </a:r>
            <a:r>
              <a:rPr lang="en-US" altLang="ko-KR" sz="2400" dirty="0"/>
              <a:t>()</a:t>
            </a:r>
            <a:r>
              <a:rPr lang="ko-KR" altLang="en-US" sz="2400" dirty="0"/>
              <a:t>을 함께 쓸 때는 남은 줄바꿈 처리</a:t>
            </a:r>
          </a:p>
          <a:p>
            <a:r>
              <a:rPr lang="ko-KR" altLang="en-US" sz="2400" dirty="0"/>
              <a:t>스트림 조정자 중 일부 상태는 이후 출력에도 유지</a:t>
            </a:r>
          </a:p>
          <a:p>
            <a:r>
              <a:rPr lang="en-US" altLang="ko-KR" sz="2400" dirty="0"/>
              <a:t>std::</a:t>
            </a:r>
            <a:r>
              <a:rPr lang="en-US" altLang="ko-KR" sz="2400" dirty="0" err="1"/>
              <a:t>setw</a:t>
            </a:r>
            <a:r>
              <a:rPr lang="en-US" altLang="ko-KR" sz="2400" dirty="0"/>
              <a:t>()</a:t>
            </a:r>
            <a:r>
              <a:rPr lang="ko-KR" altLang="en-US" sz="2400" dirty="0"/>
              <a:t>는 한 필드에만 적용</a:t>
            </a:r>
          </a:p>
          <a:p>
            <a:r>
              <a:rPr lang="en-US" altLang="ko-KR" sz="2400" dirty="0"/>
              <a:t>std::format()</a:t>
            </a:r>
            <a:r>
              <a:rPr lang="ko-KR" altLang="en-US" sz="2400" dirty="0"/>
              <a:t>은 호출 하나에 형식 규칙을 모아 문자열 생성</a:t>
            </a:r>
          </a:p>
          <a:p>
            <a:r>
              <a:rPr lang="en-US" altLang="ko-KR" sz="2400" dirty="0"/>
              <a:t>std::</a:t>
            </a:r>
            <a:r>
              <a:rPr lang="en-US" altLang="ko-KR" sz="2400" dirty="0" err="1"/>
              <a:t>format_to</a:t>
            </a:r>
            <a:r>
              <a:rPr lang="en-US" altLang="ko-KR" sz="2400" dirty="0"/>
              <a:t>()</a:t>
            </a:r>
            <a:r>
              <a:rPr lang="ko-KR" altLang="en-US" sz="2400" dirty="0"/>
              <a:t>는 기존 출력 대상에 기록</a:t>
            </a:r>
          </a:p>
          <a:p>
            <a:r>
              <a:rPr lang="ko-KR" altLang="en-US" sz="2400" dirty="0"/>
              <a:t>사용자 정의 타입은 스트림 연산자 또는 </a:t>
            </a:r>
            <a:r>
              <a:rPr lang="en-US" altLang="ko-KR" sz="2400" dirty="0"/>
              <a:t>std::formatter</a:t>
            </a:r>
            <a:r>
              <a:rPr lang="ko-KR" altLang="en-US" sz="2400" dirty="0"/>
              <a:t>로 출력 문법에 연결</a:t>
            </a:r>
          </a:p>
          <a:p>
            <a:r>
              <a:rPr lang="ko-KR" altLang="en-US" sz="2400" dirty="0"/>
              <a:t>문자열 스트림은 문자열 파싱과 조립에 유용</a:t>
            </a:r>
          </a:p>
        </p:txBody>
      </p:sp>
    </p:spTree>
    <p:extLst>
      <p:ext uri="{BB962C8B-B14F-4D97-AF65-F5344CB8AC3E}">
        <p14:creationId xmlns:p14="http://schemas.microsoft.com/office/powerpoint/2010/main" val="369463636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B4544-A1CD-B765-DA65-14B0F25F6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A047AC-77B2-9CDB-796D-FE77F5DF4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15.9 </a:t>
            </a:r>
            <a:r>
              <a:rPr lang="ko-KR" altLang="en-US" dirty="0"/>
              <a:t>학습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33CBBB-0227-8456-3393-22A6EE07F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텍스트 파일은 사람이 읽기 쉽지만 </a:t>
            </a:r>
            <a:r>
              <a:rPr lang="ko-KR" altLang="en-US" sz="2400" dirty="0" err="1"/>
              <a:t>구분자</a:t>
            </a:r>
            <a:r>
              <a:rPr lang="en-US" altLang="ko-KR" sz="2400" dirty="0"/>
              <a:t>, </a:t>
            </a:r>
            <a:r>
              <a:rPr lang="ko-KR" altLang="en-US" sz="2400" dirty="0"/>
              <a:t>인코딩</a:t>
            </a:r>
            <a:r>
              <a:rPr lang="en-US" altLang="ko-KR" sz="2400" dirty="0"/>
              <a:t>, </a:t>
            </a:r>
            <a:r>
              <a:rPr lang="ko-KR" altLang="en-US" sz="2400" dirty="0"/>
              <a:t>버전 규칙 필요</a:t>
            </a:r>
          </a:p>
          <a:p>
            <a:r>
              <a:rPr lang="ko-KR" altLang="en-US" sz="2400" dirty="0"/>
              <a:t>바이너리 모드는 텍스트 변환을 막을 뿐 객체를 자동 </a:t>
            </a:r>
            <a:r>
              <a:rPr lang="ko-KR" altLang="en-US" sz="2400" dirty="0" err="1"/>
              <a:t>직렬화하지</a:t>
            </a:r>
            <a:r>
              <a:rPr lang="ko-KR" altLang="en-US" sz="2400" dirty="0"/>
              <a:t> 않음</a:t>
            </a:r>
          </a:p>
          <a:p>
            <a:r>
              <a:rPr lang="ko-KR" altLang="en-US" sz="2400" dirty="0"/>
              <a:t>지속 가능한 바이너리 형식은 필드 크기</a:t>
            </a:r>
            <a:r>
              <a:rPr lang="en-US" altLang="ko-KR" sz="2400" dirty="0"/>
              <a:t>, </a:t>
            </a:r>
            <a:r>
              <a:rPr lang="ko-KR" altLang="en-US" sz="2400" dirty="0"/>
              <a:t>바이트 순서</a:t>
            </a:r>
            <a:r>
              <a:rPr lang="en-US" altLang="ko-KR" sz="2400" dirty="0"/>
              <a:t>, </a:t>
            </a:r>
            <a:r>
              <a:rPr lang="ko-KR" altLang="en-US" sz="2400" dirty="0"/>
              <a:t>문자열 길이</a:t>
            </a:r>
            <a:r>
              <a:rPr lang="en-US" altLang="ko-KR" sz="2400" dirty="0"/>
              <a:t>, </a:t>
            </a:r>
            <a:r>
              <a:rPr lang="ko-KR" altLang="en-US" sz="2400" dirty="0"/>
              <a:t>버전을 명시</a:t>
            </a:r>
          </a:p>
          <a:p>
            <a:r>
              <a:rPr lang="ko-KR" altLang="en-US" sz="2400" dirty="0"/>
              <a:t>포인터와 동적 메모리를 포함한 객체를 메모리 그대로 저장하면 안 됨</a:t>
            </a:r>
          </a:p>
          <a:p>
            <a:r>
              <a:rPr lang="en-US" altLang="ko-KR" sz="2400" dirty="0"/>
              <a:t>std::filesystem::path</a:t>
            </a:r>
            <a:r>
              <a:rPr lang="ko-KR" altLang="en-US" sz="2400" dirty="0"/>
              <a:t>는 운영체제 경로를 타입으로 표현</a:t>
            </a:r>
          </a:p>
          <a:p>
            <a:r>
              <a:rPr lang="ko-KR" altLang="en-US" sz="2400" dirty="0"/>
              <a:t>파일 시스템 함수는 예외 방식과 </a:t>
            </a:r>
            <a:r>
              <a:rPr lang="en-US" altLang="ko-KR" sz="2400" dirty="0"/>
              <a:t>std::</a:t>
            </a:r>
            <a:r>
              <a:rPr lang="en-US" altLang="ko-KR" sz="2400" dirty="0" err="1"/>
              <a:t>error_code</a:t>
            </a:r>
            <a:r>
              <a:rPr lang="en-US" altLang="ko-KR" sz="2400" dirty="0"/>
              <a:t> </a:t>
            </a:r>
            <a:r>
              <a:rPr lang="ko-KR" altLang="en-US" sz="2400" dirty="0"/>
              <a:t>방식 제공</a:t>
            </a:r>
          </a:p>
          <a:p>
            <a:r>
              <a:rPr lang="ko-KR" altLang="en-US" sz="2400" dirty="0"/>
              <a:t>파일은 검사 직후에도 외부 요인으로 변경될 수 있음</a:t>
            </a:r>
          </a:p>
          <a:p>
            <a:r>
              <a:rPr lang="ko-KR" altLang="en-US" sz="2400" dirty="0"/>
              <a:t>실제 작업 실패 처리가 필요</a:t>
            </a:r>
          </a:p>
        </p:txBody>
      </p:sp>
    </p:spTree>
    <p:extLst>
      <p:ext uri="{BB962C8B-B14F-4D97-AF65-F5344CB8AC3E}">
        <p14:creationId xmlns:p14="http://schemas.microsoft.com/office/powerpoint/2010/main" val="311072057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725E3-329C-4241-9965-EE7602F79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1B0A80-2263-08DD-2BA2-3DC498F0C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15.9 </a:t>
            </a:r>
            <a:r>
              <a:rPr lang="ko-KR" altLang="en-US" dirty="0"/>
              <a:t>학습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CEE8562-57F8-587A-69E3-8166BDD422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난수 라이브러리는 엔진과 분포를 분리</a:t>
            </a:r>
          </a:p>
          <a:p>
            <a:r>
              <a:rPr lang="ko-KR" altLang="en-US" sz="2400" dirty="0"/>
              <a:t>엔진은 상태를 가진 의사 난수 수열 생성</a:t>
            </a:r>
          </a:p>
          <a:p>
            <a:r>
              <a:rPr lang="ko-KR" altLang="en-US" sz="2400" dirty="0"/>
              <a:t>분포는 원하는 범위와 확률 모델로 변환</a:t>
            </a:r>
          </a:p>
          <a:p>
            <a:r>
              <a:rPr lang="ko-KR" altLang="en-US" sz="2400" dirty="0"/>
              <a:t>고정 시드는 테스트와 재현에 사용</a:t>
            </a:r>
          </a:p>
          <a:p>
            <a:r>
              <a:rPr lang="ko-KR" altLang="en-US" sz="2400" dirty="0"/>
              <a:t>실행마다 다른 수열이 필요하면 </a:t>
            </a:r>
            <a:r>
              <a:rPr lang="ko-KR" altLang="en-US" sz="2400" dirty="0" err="1"/>
              <a:t>시드</a:t>
            </a:r>
            <a:r>
              <a:rPr lang="ko-KR" altLang="en-US" sz="2400" dirty="0"/>
              <a:t> 재료를 외부에서 얻음</a:t>
            </a:r>
          </a:p>
          <a:p>
            <a:r>
              <a:rPr lang="ko-KR" altLang="en-US" sz="2400" dirty="0"/>
              <a:t>엔진 결과에 </a:t>
            </a:r>
            <a:r>
              <a:rPr lang="en-US" altLang="ko-KR" sz="2400" dirty="0"/>
              <a:t>%</a:t>
            </a:r>
            <a:r>
              <a:rPr lang="ko-KR" altLang="en-US" sz="2400" dirty="0"/>
              <a:t>를 적용하기보다 표준 분포 사용</a:t>
            </a:r>
          </a:p>
          <a:p>
            <a:r>
              <a:rPr lang="en-US" altLang="ko-KR" sz="2400" dirty="0"/>
              <a:t>std::chrono::duration</a:t>
            </a:r>
            <a:r>
              <a:rPr lang="ko-KR" altLang="en-US" sz="2400" dirty="0"/>
              <a:t>은 시간의 길이 표현</a:t>
            </a:r>
          </a:p>
          <a:p>
            <a:r>
              <a:rPr lang="en-US" altLang="ko-KR" sz="2400" dirty="0" err="1"/>
              <a:t>time_point</a:t>
            </a:r>
            <a:r>
              <a:rPr lang="ko-KR" altLang="en-US" sz="2400" dirty="0"/>
              <a:t>는 특정 시계의 시점 표현</a:t>
            </a:r>
          </a:p>
          <a:p>
            <a:r>
              <a:rPr lang="ko-KR" altLang="en-US" sz="2400" dirty="0"/>
              <a:t>달력 시각은 </a:t>
            </a:r>
            <a:r>
              <a:rPr lang="en-US" altLang="ko-KR" sz="2400" dirty="0" err="1"/>
              <a:t>system_clock</a:t>
            </a:r>
            <a:endParaRPr lang="en-US" altLang="ko-KR" sz="2400" dirty="0"/>
          </a:p>
          <a:p>
            <a:r>
              <a:rPr lang="ko-KR" altLang="en-US" sz="2400" dirty="0"/>
              <a:t>경과 시간과 제한 시간은 </a:t>
            </a:r>
            <a:r>
              <a:rPr lang="en-US" altLang="ko-KR" sz="2400" dirty="0" err="1"/>
              <a:t>steady_clock</a:t>
            </a:r>
            <a:endParaRPr lang="en-US" altLang="ko-KR" sz="2400" dirty="0"/>
          </a:p>
          <a:p>
            <a:r>
              <a:rPr lang="ko-KR" altLang="en-US" sz="2400" dirty="0"/>
              <a:t>시간 기반 처리는 프레임 횟수가 아니라 실제 경과 시간 기준</a:t>
            </a:r>
          </a:p>
        </p:txBody>
      </p:sp>
    </p:spTree>
    <p:extLst>
      <p:ext uri="{BB962C8B-B14F-4D97-AF65-F5344CB8AC3E}">
        <p14:creationId xmlns:p14="http://schemas.microsoft.com/office/powerpoint/2010/main" val="2182198795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바른고딕">
      <a:majorFont>
        <a:latin typeface="나눔바른고딕"/>
        <a:ea typeface="나눔바른고딕"/>
        <a:cs typeface=""/>
      </a:majorFont>
      <a:minorFont>
        <a:latin typeface="나눔바른고딕"/>
        <a:ea typeface="나눔바른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  <a:txDef>
      <a:spPr>
        <a:solidFill>
          <a:schemeClr val="bg1"/>
        </a:solidFill>
        <a:ln w="25400">
          <a:solidFill>
            <a:schemeClr val="bg1">
              <a:lumMod val="75000"/>
            </a:schemeClr>
          </a:solidFill>
          <a:prstDash val="sysDot"/>
        </a:ln>
      </a:spPr>
      <a:bodyPr wrap="square">
        <a:spAutoFit/>
      </a:bodyPr>
      <a:lstStyle>
        <a:defPPr algn="l">
          <a:defRPr sz="1800" b="0" i="0" u="none" strike="noStrike" dirty="0">
            <a:solidFill>
              <a:srgbClr val="4078F2"/>
            </a:solidFill>
            <a:effectLst/>
            <a:latin typeface="Pretendard ExtraBold" panose="02000903000000020004" pitchFamily="50" charset="-127"/>
            <a:ea typeface="Pretendard ExtraBold" panose="02000903000000020004" pitchFamily="50" charset="-127"/>
            <a:cs typeface="Pretendard ExtraBold" panose="02000903000000020004" pitchFamily="50" charset="-127"/>
          </a:defRPr>
        </a:defPPr>
      </a:lstStyle>
    </a:tx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10871</TotalTime>
  <Words>3484</Words>
  <Application>Microsoft Office PowerPoint</Application>
  <PresentationFormat>화면 슬라이드 쇼(4:3)</PresentationFormat>
  <Paragraphs>280</Paragraphs>
  <Slides>46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46</vt:i4>
      </vt:variant>
    </vt:vector>
  </HeadingPairs>
  <TitlesOfParts>
    <vt:vector size="55" baseType="lpstr">
      <vt:lpstr>Wingdings</vt:lpstr>
      <vt:lpstr>HY견고딕</vt:lpstr>
      <vt:lpstr>가을체</vt:lpstr>
      <vt:lpstr>나눔고딕 ExtraBold</vt:lpstr>
      <vt:lpstr>굴림</vt:lpstr>
      <vt:lpstr>Arial</vt:lpstr>
      <vt:lpstr>나눔바른고딕</vt:lpstr>
      <vt:lpstr>Pretendard ExtraBold</vt:lpstr>
      <vt:lpstr>기본 디자인</vt:lpstr>
      <vt:lpstr>15. 입출력과 표준 유틸리티</vt:lpstr>
      <vt:lpstr>15. 입출력과 표준 유틸리티</vt:lpstr>
      <vt:lpstr>15.1.1 입력 스트림과 출력 스트림</vt:lpstr>
      <vt:lpstr>15.1.2 스트림 상태와 오류 플래그</vt:lpstr>
      <vt:lpstr>15.1.2 eof 반복 조건 주의</vt:lpstr>
      <vt:lpstr>15.1.3 입력 실패 복구</vt:lpstr>
      <vt:lpstr>15.1.4 형식 지정과 스트림 상태</vt:lpstr>
      <vt:lpstr>15.1.5 사용자 정의 타입의 입력</vt:lpstr>
      <vt:lpstr>15.1.6 버퍼링과 출력 시점</vt:lpstr>
      <vt:lpstr>15.1.7 형식 입력과 행 입력의 혼합</vt:lpstr>
      <vt:lpstr>15.2 문자열 스트림</vt:lpstr>
      <vt:lpstr>15.2.1 구분자 기반 문자열 파싱</vt:lpstr>
      <vt:lpstr>15.2.3 입력 전체 확인</vt:lpstr>
      <vt:lpstr>15.3 형식화된 출력</vt:lpstr>
      <vt:lpstr>15.3.2 std::format (C++20)</vt:lpstr>
      <vt:lpstr>15.3.3 형식 문자열과 서식 지정</vt:lpstr>
      <vt:lpstr>15.4 텍스트 파일 입출력</vt:lpstr>
      <vt:lpstr>15.4.2 파일 열기 모드</vt:lpstr>
      <vt:lpstr>15.4.3 행 단위 입력</vt:lpstr>
      <vt:lpstr>15.4.4 구분자 기반 입력</vt:lpstr>
      <vt:lpstr>15.4.5 파일 오류 처리</vt:lpstr>
      <vt:lpstr>15.5 바이너리 파일 입출력</vt:lpstr>
      <vt:lpstr>15.5.2 read와 write</vt:lpstr>
      <vt:lpstr>15.5.4 고정 길이 데이터와 문자열</vt:lpstr>
      <vt:lpstr>15.5.5 객체를 그대로 저장할 때의 문제</vt:lpstr>
      <vt:lpstr>15.5.6 파일 형식과 버전 관리</vt:lpstr>
      <vt:lpstr>15.6 파일 시스템</vt:lpstr>
      <vt:lpstr>15.6.1 path 조작</vt:lpstr>
      <vt:lpstr>15.6.2 파일과 디렉터리 확인</vt:lpstr>
      <vt:lpstr>15.6.3 디렉터리 생성과 순회</vt:lpstr>
      <vt:lpstr>15.7 난수</vt:lpstr>
      <vt:lpstr>15.7.2 난수 엔진과 분포</vt:lpstr>
      <vt:lpstr>15.7.3 시드와 엔진 상태</vt:lpstr>
      <vt:lpstr>15.7.4 재현 가능한 난수</vt:lpstr>
      <vt:lpstr>15.7.5 대표 분포와 셔플</vt:lpstr>
      <vt:lpstr>15.7.6 rand와 random 라이브러리</vt:lpstr>
      <vt:lpstr>15.8 시간</vt:lpstr>
      <vt:lpstr>15.8.2 time_point</vt:lpstr>
      <vt:lpstr>15.8.3 시계의 종류와 선택</vt:lpstr>
      <vt:lpstr>15.8.4 시간 단위 변환</vt:lpstr>
      <vt:lpstr>15.8.5 경과 시간 측정</vt:lpstr>
      <vt:lpstr>15.8.6 시간 기반 처리</vt:lpstr>
      <vt:lpstr>15.8.6 고정 업데이트</vt:lpstr>
      <vt:lpstr>15.9 학습 정리</vt:lpstr>
      <vt:lpstr>15.9 학습 정리</vt:lpstr>
      <vt:lpstr>15.9 학습 정리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380</cp:revision>
  <dcterms:created xsi:type="dcterms:W3CDTF">2003-11-30T16:03:20Z</dcterms:created>
  <dcterms:modified xsi:type="dcterms:W3CDTF">2026-09-07T01:46:31Z</dcterms:modified>
</cp:coreProperties>
</file>